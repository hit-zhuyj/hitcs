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518" r:id="rId2"/>
    <p:sldId id="673" r:id="rId3"/>
    <p:sldId id="748" r:id="rId4"/>
    <p:sldId id="749" r:id="rId5"/>
    <p:sldId id="750" r:id="rId6"/>
    <p:sldId id="751" r:id="rId7"/>
    <p:sldId id="752" r:id="rId8"/>
    <p:sldId id="754" r:id="rId9"/>
    <p:sldId id="756" r:id="rId10"/>
    <p:sldId id="753" r:id="rId11"/>
    <p:sldId id="757" r:id="rId12"/>
    <p:sldId id="755" r:id="rId13"/>
    <p:sldId id="758" r:id="rId14"/>
    <p:sldId id="759" r:id="rId15"/>
    <p:sldId id="764" r:id="rId16"/>
    <p:sldId id="760" r:id="rId17"/>
    <p:sldId id="761" r:id="rId18"/>
    <p:sldId id="727" r:id="rId19"/>
    <p:sldId id="762" r:id="rId20"/>
    <p:sldId id="763" r:id="rId21"/>
    <p:sldId id="674" r:id="rId22"/>
    <p:sldId id="687" r:id="rId23"/>
    <p:sldId id="765" r:id="rId24"/>
    <p:sldId id="766" r:id="rId25"/>
    <p:sldId id="769" r:id="rId26"/>
    <p:sldId id="770" r:id="rId27"/>
    <p:sldId id="746" r:id="rId28"/>
    <p:sldId id="771" r:id="rId29"/>
    <p:sldId id="772" r:id="rId30"/>
    <p:sldId id="773" r:id="rId31"/>
    <p:sldId id="775" r:id="rId32"/>
    <p:sldId id="776" r:id="rId33"/>
    <p:sldId id="777" r:id="rId34"/>
    <p:sldId id="778" r:id="rId35"/>
    <p:sldId id="747" r:id="rId36"/>
    <p:sldId id="779" r:id="rId37"/>
    <p:sldId id="692" r:id="rId38"/>
    <p:sldId id="307" r:id="rId39"/>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D3F2"/>
    <a:srgbClr val="EBEBF8"/>
    <a:srgbClr val="FF6161"/>
    <a:srgbClr val="FFA7A7"/>
    <a:srgbClr val="2A50A1"/>
    <a:srgbClr val="152851"/>
    <a:srgbClr val="FFFFFF"/>
    <a:srgbClr val="4E5CAB"/>
    <a:srgbClr val="FF4747"/>
    <a:srgbClr val="F356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44" autoAdjust="0"/>
    <p:restoredTop sz="89586" autoAdjust="0"/>
  </p:normalViewPr>
  <p:slideViewPr>
    <p:cSldViewPr snapToGrid="0" showGuides="1">
      <p:cViewPr>
        <p:scale>
          <a:sx n="100" d="100"/>
          <a:sy n="100" d="100"/>
        </p:scale>
        <p:origin x="1306" y="1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13DC21E-85DA-4BB8-8DB9-4A7F665A6D8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27C0327-D93C-4C09-B71F-1298A02789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8557B5-F843-48B3-A788-12C67245D8C5}" type="datetimeFigureOut">
              <a:rPr lang="zh-CN" altLang="en-US" smtClean="0"/>
              <a:t>2025/12/9</a:t>
            </a:fld>
            <a:endParaRPr lang="zh-CN" altLang="en-US"/>
          </a:p>
        </p:txBody>
      </p:sp>
      <p:sp>
        <p:nvSpPr>
          <p:cNvPr id="4" name="页脚占位符 3">
            <a:extLst>
              <a:ext uri="{FF2B5EF4-FFF2-40B4-BE49-F238E27FC236}">
                <a16:creationId xmlns:a16="http://schemas.microsoft.com/office/drawing/2014/main" id="{2D155753-1757-421A-89A5-BDE6E23D2C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486167D-2C8B-4E23-AF2D-B21291C380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C331E2-87C0-43E7-9F25-B91BB90016B0}" type="slidenum">
              <a:rPr lang="zh-CN" altLang="en-US" smtClean="0"/>
              <a:t>‹#›</a:t>
            </a:fld>
            <a:endParaRPr lang="zh-CN" altLang="en-US"/>
          </a:p>
        </p:txBody>
      </p:sp>
    </p:spTree>
    <p:extLst>
      <p:ext uri="{BB962C8B-B14F-4D97-AF65-F5344CB8AC3E}">
        <p14:creationId xmlns:p14="http://schemas.microsoft.com/office/powerpoint/2010/main" val="933092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C9AD7-9524-433D-9BE7-788EEE17CFA1}" type="datetimeFigureOut">
              <a:rPr lang="zh-CN" altLang="en-US" smtClean="0"/>
              <a:t>2025/12/9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B8F8F-C2EC-4CC8-9A1E-190092C811C1}" type="slidenum">
              <a:rPr lang="zh-CN" altLang="en-US" smtClean="0"/>
              <a:t>‹#›</a:t>
            </a:fld>
            <a:endParaRPr lang="zh-CN" altLang="en-US"/>
          </a:p>
        </p:txBody>
      </p:sp>
    </p:spTree>
    <p:extLst>
      <p:ext uri="{BB962C8B-B14F-4D97-AF65-F5344CB8AC3E}">
        <p14:creationId xmlns:p14="http://schemas.microsoft.com/office/powerpoint/2010/main" val="99953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7E5CF-4CFF-5801-C4D2-52048B3706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A424DE-33D8-4E6D-5C97-7D01F01942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3BC28D-9E92-9263-1C10-FE2568ECE2F4}"/>
              </a:ext>
            </a:extLst>
          </p:cNvPr>
          <p:cNvSpPr>
            <a:spLocks noGrp="1"/>
          </p:cNvSpPr>
          <p:nvPr>
            <p:ph type="body" idx="1"/>
          </p:nvPr>
        </p:nvSpPr>
        <p:spPr/>
        <p:txBody>
          <a:bodyPr/>
          <a:lstStyle/>
          <a:p>
            <a:r>
              <a:rPr lang="en-US" altLang="zh-CN" dirty="0"/>
              <a:t>13:45</a:t>
            </a:r>
            <a:r>
              <a:rPr lang="zh-CN" altLang="en-US" dirty="0"/>
              <a:t>开始</a:t>
            </a:r>
          </a:p>
        </p:txBody>
      </p:sp>
      <p:sp>
        <p:nvSpPr>
          <p:cNvPr id="4" name="灯片编号占位符 3">
            <a:extLst>
              <a:ext uri="{FF2B5EF4-FFF2-40B4-BE49-F238E27FC236}">
                <a16:creationId xmlns:a16="http://schemas.microsoft.com/office/drawing/2014/main" id="{E62DEB92-1189-960B-C308-629A1639DDE0}"/>
              </a:ext>
            </a:extLst>
          </p:cNvPr>
          <p:cNvSpPr>
            <a:spLocks noGrp="1"/>
          </p:cNvSpPr>
          <p:nvPr>
            <p:ph type="sldNum" sz="quarter" idx="5"/>
          </p:nvPr>
        </p:nvSpPr>
        <p:spPr/>
        <p:txBody>
          <a:bodyPr/>
          <a:lstStyle/>
          <a:p>
            <a:fld id="{339B8F8F-C2EC-4CC8-9A1E-190092C811C1}" type="slidenum">
              <a:rPr lang="zh-CN" altLang="en-US" smtClean="0"/>
              <a:t>1</a:t>
            </a:fld>
            <a:endParaRPr lang="zh-CN" altLang="en-US"/>
          </a:p>
        </p:txBody>
      </p:sp>
    </p:spTree>
    <p:extLst>
      <p:ext uri="{BB962C8B-B14F-4D97-AF65-F5344CB8AC3E}">
        <p14:creationId xmlns:p14="http://schemas.microsoft.com/office/powerpoint/2010/main" val="512781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1CD9-243B-9A8E-8E45-A4BF6FF997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5D02F1-D9C6-D38E-1C47-79DFF10B7C1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2DB34183-3301-B1F4-6699-927038B1C1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页眉占位符 3">
            <a:extLst>
              <a:ext uri="{FF2B5EF4-FFF2-40B4-BE49-F238E27FC236}">
                <a16:creationId xmlns:a16="http://schemas.microsoft.com/office/drawing/2014/main" id="{695D5533-5837-171A-BD06-D78493287B1D}"/>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2BFDBECD-4D85-3AC3-828C-328532113136}"/>
              </a:ext>
            </a:extLst>
          </p:cNvPr>
          <p:cNvSpPr>
            <a:spLocks noGrp="1"/>
          </p:cNvSpPr>
          <p:nvPr>
            <p:ph type="sldNum" sz="quarter" idx="5"/>
          </p:nvPr>
        </p:nvSpPr>
        <p:spPr/>
        <p:txBody>
          <a:bodyPr/>
          <a:lstStyle/>
          <a:p>
            <a:fld id="{57A180AA-17C1-8343-89F7-A1DAC01D4BE6}" type="slidenum">
              <a:rPr lang="en-US" smtClean="0"/>
              <a:t>3</a:t>
            </a:fld>
            <a:endParaRPr lang="en-US"/>
          </a:p>
        </p:txBody>
      </p:sp>
    </p:spTree>
    <p:extLst>
      <p:ext uri="{BB962C8B-B14F-4D97-AF65-F5344CB8AC3E}">
        <p14:creationId xmlns:p14="http://schemas.microsoft.com/office/powerpoint/2010/main" val="2025551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B42B5-D717-CA01-95A5-70EDC37FA6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97D5B3-6AAE-0C25-22BB-78E38CF8875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3165418F-F075-9603-F864-2641A61AD0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页眉占位符 3">
            <a:extLst>
              <a:ext uri="{FF2B5EF4-FFF2-40B4-BE49-F238E27FC236}">
                <a16:creationId xmlns:a16="http://schemas.microsoft.com/office/drawing/2014/main" id="{57ED4996-D179-1578-F6A0-5301B401BCF9}"/>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9AB45B17-D4D8-4286-168D-62A57A0202CC}"/>
              </a:ext>
            </a:extLst>
          </p:cNvPr>
          <p:cNvSpPr>
            <a:spLocks noGrp="1"/>
          </p:cNvSpPr>
          <p:nvPr>
            <p:ph type="sldNum" sz="quarter" idx="5"/>
          </p:nvPr>
        </p:nvSpPr>
        <p:spPr/>
        <p:txBody>
          <a:bodyPr/>
          <a:lstStyle/>
          <a:p>
            <a:fld id="{57A180AA-17C1-8343-89F7-A1DAC01D4BE6}" type="slidenum">
              <a:rPr lang="en-US" smtClean="0"/>
              <a:t>4</a:t>
            </a:fld>
            <a:endParaRPr lang="en-US"/>
          </a:p>
        </p:txBody>
      </p:sp>
    </p:spTree>
    <p:extLst>
      <p:ext uri="{BB962C8B-B14F-4D97-AF65-F5344CB8AC3E}">
        <p14:creationId xmlns:p14="http://schemas.microsoft.com/office/powerpoint/2010/main" val="3530756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B2209-0E6F-EA96-4412-774F080EAF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A122D4-9DD4-6EBB-D402-32D65FE28EE8}"/>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E2FC78B1-F5B6-03D3-2C37-0E91FFABB8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10:40</a:t>
            </a:r>
            <a:endParaRPr kumimoji="1" lang="zh-CN" altLang="en-US" dirty="0"/>
          </a:p>
        </p:txBody>
      </p:sp>
      <p:sp>
        <p:nvSpPr>
          <p:cNvPr id="4" name="页眉占位符 3">
            <a:extLst>
              <a:ext uri="{FF2B5EF4-FFF2-40B4-BE49-F238E27FC236}">
                <a16:creationId xmlns:a16="http://schemas.microsoft.com/office/drawing/2014/main" id="{DF13D08A-20E8-4E56-2ABE-B91D5AA00E5F}"/>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50F05850-32AE-EA63-A617-9CBEFA751C53}"/>
              </a:ext>
            </a:extLst>
          </p:cNvPr>
          <p:cNvSpPr>
            <a:spLocks noGrp="1"/>
          </p:cNvSpPr>
          <p:nvPr>
            <p:ph type="sldNum" sz="quarter" idx="5"/>
          </p:nvPr>
        </p:nvSpPr>
        <p:spPr/>
        <p:txBody>
          <a:bodyPr/>
          <a:lstStyle/>
          <a:p>
            <a:fld id="{57A180AA-17C1-8343-89F7-A1DAC01D4BE6}" type="slidenum">
              <a:rPr lang="en-US" smtClean="0"/>
              <a:t>5</a:t>
            </a:fld>
            <a:endParaRPr lang="en-US"/>
          </a:p>
        </p:txBody>
      </p:sp>
    </p:spTree>
    <p:extLst>
      <p:ext uri="{BB962C8B-B14F-4D97-AF65-F5344CB8AC3E}">
        <p14:creationId xmlns:p14="http://schemas.microsoft.com/office/powerpoint/2010/main" val="1502418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F0AD5-92EC-0D7A-C3A6-34AC0E406E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BD8F7F-AFF4-9D64-53A8-5BF70FCE4BF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2E8E90FB-E499-E66F-6D34-425E219DC7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10:50</a:t>
            </a:r>
            <a:r>
              <a:rPr kumimoji="1" lang="zh-CN" altLang="en-US" dirty="0"/>
              <a:t> 课间休息</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以</a:t>
            </a:r>
            <a:r>
              <a:rPr kumimoji="1" lang="en-US" altLang="zh-CN" dirty="0"/>
              <a:t>RSA</a:t>
            </a:r>
            <a:r>
              <a:rPr kumimoji="1" lang="zh-CN" altLang="en-US" dirty="0"/>
              <a:t>为例</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中间人攻击，需要数字签名和公钥证书解决</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页眉占位符 3">
            <a:extLst>
              <a:ext uri="{FF2B5EF4-FFF2-40B4-BE49-F238E27FC236}">
                <a16:creationId xmlns:a16="http://schemas.microsoft.com/office/drawing/2014/main" id="{F075CD43-E7DC-B768-00B3-8DD25F992C1F}"/>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22358516-613A-BF37-DA8B-A08474A5F531}"/>
              </a:ext>
            </a:extLst>
          </p:cNvPr>
          <p:cNvSpPr>
            <a:spLocks noGrp="1"/>
          </p:cNvSpPr>
          <p:nvPr>
            <p:ph type="sldNum" sz="quarter" idx="5"/>
          </p:nvPr>
        </p:nvSpPr>
        <p:spPr/>
        <p:txBody>
          <a:bodyPr/>
          <a:lstStyle/>
          <a:p>
            <a:fld id="{57A180AA-17C1-8343-89F7-A1DAC01D4BE6}" type="slidenum">
              <a:rPr lang="en-US" smtClean="0"/>
              <a:t>6</a:t>
            </a:fld>
            <a:endParaRPr lang="en-US"/>
          </a:p>
        </p:txBody>
      </p:sp>
    </p:spTree>
    <p:extLst>
      <p:ext uri="{BB962C8B-B14F-4D97-AF65-F5344CB8AC3E}">
        <p14:creationId xmlns:p14="http://schemas.microsoft.com/office/powerpoint/2010/main" val="3863117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A7814-3533-3C8F-C301-F1FDFECDEB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FBCEC2-0E54-0670-ECA6-EBB514F47BD6}"/>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C9C2FBD-E678-B311-B3AD-AE8E7483CE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11:00</a:t>
            </a:r>
          </a:p>
        </p:txBody>
      </p:sp>
      <p:sp>
        <p:nvSpPr>
          <p:cNvPr id="4" name="页眉占位符 3">
            <a:extLst>
              <a:ext uri="{FF2B5EF4-FFF2-40B4-BE49-F238E27FC236}">
                <a16:creationId xmlns:a16="http://schemas.microsoft.com/office/drawing/2014/main" id="{72776585-66E0-800E-2A9E-D9C518038C97}"/>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5F5D431F-D8DE-4BD2-2B81-90882C6D1016}"/>
              </a:ext>
            </a:extLst>
          </p:cNvPr>
          <p:cNvSpPr>
            <a:spLocks noGrp="1"/>
          </p:cNvSpPr>
          <p:nvPr>
            <p:ph type="sldNum" sz="quarter" idx="5"/>
          </p:nvPr>
        </p:nvSpPr>
        <p:spPr/>
        <p:txBody>
          <a:bodyPr/>
          <a:lstStyle/>
          <a:p>
            <a:fld id="{57A180AA-17C1-8343-89F7-A1DAC01D4BE6}" type="slidenum">
              <a:rPr lang="en-US" smtClean="0"/>
              <a:t>7</a:t>
            </a:fld>
            <a:endParaRPr lang="en-US"/>
          </a:p>
        </p:txBody>
      </p:sp>
    </p:spTree>
    <p:extLst>
      <p:ext uri="{BB962C8B-B14F-4D97-AF65-F5344CB8AC3E}">
        <p14:creationId xmlns:p14="http://schemas.microsoft.com/office/powerpoint/2010/main" val="3417086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B2A37-0C4E-9113-A0A1-6110FF6369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295136-8702-D5A3-6AC7-47950FEBCC96}"/>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B6280546-3E8E-ACC1-AAAB-FCBCE8ED45F9}"/>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页眉占位符 3">
            <a:extLst>
              <a:ext uri="{FF2B5EF4-FFF2-40B4-BE49-F238E27FC236}">
                <a16:creationId xmlns:a16="http://schemas.microsoft.com/office/drawing/2014/main" id="{9659DDDE-D272-8A6F-5D7F-3A3E6849D3F9}"/>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A40758A4-D896-5D1C-ABD6-661DAA0AEC64}"/>
              </a:ext>
            </a:extLst>
          </p:cNvPr>
          <p:cNvSpPr>
            <a:spLocks noGrp="1"/>
          </p:cNvSpPr>
          <p:nvPr>
            <p:ph type="sldNum" sz="quarter" idx="5"/>
          </p:nvPr>
        </p:nvSpPr>
        <p:spPr/>
        <p:txBody>
          <a:bodyPr/>
          <a:lstStyle/>
          <a:p>
            <a:fld id="{57A180AA-17C1-8343-89F7-A1DAC01D4BE6}" type="slidenum">
              <a:rPr lang="en-US" smtClean="0"/>
              <a:t>8</a:t>
            </a:fld>
            <a:endParaRPr lang="en-US"/>
          </a:p>
        </p:txBody>
      </p:sp>
    </p:spTree>
    <p:extLst>
      <p:ext uri="{BB962C8B-B14F-4D97-AF65-F5344CB8AC3E}">
        <p14:creationId xmlns:p14="http://schemas.microsoft.com/office/powerpoint/2010/main" val="3399081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7BD0A-C9C4-EA40-BA57-B52EBE8DC0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2152E7-22AF-250A-9823-B1C3EF49E314}"/>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AEA78556-1233-20FF-6FD8-AB5A1FDD67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11:10</a:t>
            </a:r>
          </a:p>
        </p:txBody>
      </p:sp>
      <p:sp>
        <p:nvSpPr>
          <p:cNvPr id="4" name="页眉占位符 3">
            <a:extLst>
              <a:ext uri="{FF2B5EF4-FFF2-40B4-BE49-F238E27FC236}">
                <a16:creationId xmlns:a16="http://schemas.microsoft.com/office/drawing/2014/main" id="{2AC22617-656B-A169-2B81-452CDC77A69F}"/>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32C8134D-AEF4-D61D-1893-72B77B907A1E}"/>
              </a:ext>
            </a:extLst>
          </p:cNvPr>
          <p:cNvSpPr>
            <a:spLocks noGrp="1"/>
          </p:cNvSpPr>
          <p:nvPr>
            <p:ph type="sldNum" sz="quarter" idx="5"/>
          </p:nvPr>
        </p:nvSpPr>
        <p:spPr/>
        <p:txBody>
          <a:bodyPr/>
          <a:lstStyle/>
          <a:p>
            <a:fld id="{57A180AA-17C1-8343-89F7-A1DAC01D4BE6}" type="slidenum">
              <a:rPr lang="en-US" smtClean="0"/>
              <a:t>9</a:t>
            </a:fld>
            <a:endParaRPr lang="en-US"/>
          </a:p>
        </p:txBody>
      </p:sp>
    </p:spTree>
    <p:extLst>
      <p:ext uri="{BB962C8B-B14F-4D97-AF65-F5344CB8AC3E}">
        <p14:creationId xmlns:p14="http://schemas.microsoft.com/office/powerpoint/2010/main" val="545316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68A3B-6AB4-8132-29E1-054062BFE8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2B9705-A515-ED8B-E149-36BBB0919BD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373D0847-EB0A-72D9-4040-5A6C06F34786}"/>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页眉占位符 3">
            <a:extLst>
              <a:ext uri="{FF2B5EF4-FFF2-40B4-BE49-F238E27FC236}">
                <a16:creationId xmlns:a16="http://schemas.microsoft.com/office/drawing/2014/main" id="{8028076E-9233-258B-E3AF-93BEBD022C72}"/>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15BA8072-3194-E022-C21B-3A5F55557943}"/>
              </a:ext>
            </a:extLst>
          </p:cNvPr>
          <p:cNvSpPr>
            <a:spLocks noGrp="1"/>
          </p:cNvSpPr>
          <p:nvPr>
            <p:ph type="sldNum" sz="quarter" idx="5"/>
          </p:nvPr>
        </p:nvSpPr>
        <p:spPr/>
        <p:txBody>
          <a:bodyPr/>
          <a:lstStyle/>
          <a:p>
            <a:fld id="{57A180AA-17C1-8343-89F7-A1DAC01D4BE6}" type="slidenum">
              <a:rPr lang="en-US" smtClean="0"/>
              <a:t>10</a:t>
            </a:fld>
            <a:endParaRPr lang="en-US"/>
          </a:p>
        </p:txBody>
      </p:sp>
    </p:spTree>
    <p:extLst>
      <p:ext uri="{BB962C8B-B14F-4D97-AF65-F5344CB8AC3E}">
        <p14:creationId xmlns:p14="http://schemas.microsoft.com/office/powerpoint/2010/main" val="2403914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4FA6-875D-693D-A850-522F2E05DF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20BE60-BD81-0897-498D-E06D6E4DA41A}"/>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DE4CCD2-FFA8-F846-3BDC-C922800308D3}"/>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页眉占位符 3">
            <a:extLst>
              <a:ext uri="{FF2B5EF4-FFF2-40B4-BE49-F238E27FC236}">
                <a16:creationId xmlns:a16="http://schemas.microsoft.com/office/drawing/2014/main" id="{CB237B63-0A09-D006-EE93-3141E1AB9CD6}"/>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C826E26B-A92E-E9F8-1C42-FAD0199DB0CC}"/>
              </a:ext>
            </a:extLst>
          </p:cNvPr>
          <p:cNvSpPr>
            <a:spLocks noGrp="1"/>
          </p:cNvSpPr>
          <p:nvPr>
            <p:ph type="sldNum" sz="quarter" idx="5"/>
          </p:nvPr>
        </p:nvSpPr>
        <p:spPr/>
        <p:txBody>
          <a:bodyPr/>
          <a:lstStyle/>
          <a:p>
            <a:fld id="{57A180AA-17C1-8343-89F7-A1DAC01D4BE6}" type="slidenum">
              <a:rPr lang="en-US" smtClean="0"/>
              <a:t>11</a:t>
            </a:fld>
            <a:endParaRPr lang="en-US"/>
          </a:p>
        </p:txBody>
      </p:sp>
    </p:spTree>
    <p:extLst>
      <p:ext uri="{BB962C8B-B14F-4D97-AF65-F5344CB8AC3E}">
        <p14:creationId xmlns:p14="http://schemas.microsoft.com/office/powerpoint/2010/main" val="1252363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2037-129C-2798-71CA-2C267DC7FA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B72D77-CB20-94E8-CCA8-01AECCE38B4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6D350E3-BEEF-2B6C-15BC-8615FE77D2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11:20</a:t>
            </a:r>
          </a:p>
        </p:txBody>
      </p:sp>
      <p:sp>
        <p:nvSpPr>
          <p:cNvPr id="4" name="页眉占位符 3">
            <a:extLst>
              <a:ext uri="{FF2B5EF4-FFF2-40B4-BE49-F238E27FC236}">
                <a16:creationId xmlns:a16="http://schemas.microsoft.com/office/drawing/2014/main" id="{2B17FF0F-E64D-F853-24B3-7E7E5428B2F5}"/>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492BC3A9-61C3-8787-5E42-5AAF59966EE9}"/>
              </a:ext>
            </a:extLst>
          </p:cNvPr>
          <p:cNvSpPr>
            <a:spLocks noGrp="1"/>
          </p:cNvSpPr>
          <p:nvPr>
            <p:ph type="sldNum" sz="quarter" idx="5"/>
          </p:nvPr>
        </p:nvSpPr>
        <p:spPr/>
        <p:txBody>
          <a:bodyPr/>
          <a:lstStyle/>
          <a:p>
            <a:fld id="{57A180AA-17C1-8343-89F7-A1DAC01D4BE6}" type="slidenum">
              <a:rPr lang="en-US" smtClean="0"/>
              <a:t>12</a:t>
            </a:fld>
            <a:endParaRPr lang="en-US"/>
          </a:p>
        </p:txBody>
      </p:sp>
    </p:spTree>
    <p:extLst>
      <p:ext uri="{BB962C8B-B14F-4D97-AF65-F5344CB8AC3E}">
        <p14:creationId xmlns:p14="http://schemas.microsoft.com/office/powerpoint/2010/main" val="850298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902B0-A656-D620-752F-1EC3CF62A4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62DDFA-29AD-6A37-6D1A-024AF1155BC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B8AC3E2D-4505-CEC2-CFB1-D96C75DFFB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页眉占位符 3">
            <a:extLst>
              <a:ext uri="{FF2B5EF4-FFF2-40B4-BE49-F238E27FC236}">
                <a16:creationId xmlns:a16="http://schemas.microsoft.com/office/drawing/2014/main" id="{C578A55E-AF38-74E3-33D1-0DB84C3B2ED9}"/>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FFBA8674-4EE4-B5A1-D57C-BE283FE265A8}"/>
              </a:ext>
            </a:extLst>
          </p:cNvPr>
          <p:cNvSpPr>
            <a:spLocks noGrp="1"/>
          </p:cNvSpPr>
          <p:nvPr>
            <p:ph type="sldNum" sz="quarter" idx="5"/>
          </p:nvPr>
        </p:nvSpPr>
        <p:spPr/>
        <p:txBody>
          <a:bodyPr/>
          <a:lstStyle/>
          <a:p>
            <a:fld id="{57A180AA-17C1-8343-89F7-A1DAC01D4BE6}" type="slidenum">
              <a:rPr lang="en-US" smtClean="0"/>
              <a:t>13</a:t>
            </a:fld>
            <a:endParaRPr lang="en-US"/>
          </a:p>
        </p:txBody>
      </p:sp>
    </p:spTree>
    <p:extLst>
      <p:ext uri="{BB962C8B-B14F-4D97-AF65-F5344CB8AC3E}">
        <p14:creationId xmlns:p14="http://schemas.microsoft.com/office/powerpoint/2010/main" val="395209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0D728-1D2F-A23A-7CF9-7C8DFE3026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C2E039-4BA9-C9C8-4B73-408E8010E3CD}"/>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AFFBF00-F7F4-50B2-5EA1-17B7EF7FFF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页眉占位符 3">
            <a:extLst>
              <a:ext uri="{FF2B5EF4-FFF2-40B4-BE49-F238E27FC236}">
                <a16:creationId xmlns:a16="http://schemas.microsoft.com/office/drawing/2014/main" id="{D787ACC8-6184-1D67-2951-2CE0C892E9CC}"/>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E4F0F174-2AEA-BEF2-2AD6-3435E608896E}"/>
              </a:ext>
            </a:extLst>
          </p:cNvPr>
          <p:cNvSpPr>
            <a:spLocks noGrp="1"/>
          </p:cNvSpPr>
          <p:nvPr>
            <p:ph type="sldNum" sz="quarter" idx="5"/>
          </p:nvPr>
        </p:nvSpPr>
        <p:spPr/>
        <p:txBody>
          <a:bodyPr/>
          <a:lstStyle/>
          <a:p>
            <a:fld id="{57A180AA-17C1-8343-89F7-A1DAC01D4BE6}" type="slidenum">
              <a:rPr lang="en-US" smtClean="0"/>
              <a:t>14</a:t>
            </a:fld>
            <a:endParaRPr lang="en-US"/>
          </a:p>
        </p:txBody>
      </p:sp>
    </p:spTree>
    <p:extLst>
      <p:ext uri="{BB962C8B-B14F-4D97-AF65-F5344CB8AC3E}">
        <p14:creationId xmlns:p14="http://schemas.microsoft.com/office/powerpoint/2010/main" val="1302447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19E4-793C-B1EE-BDF1-CDEFA55260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FC789B-220A-6C12-58F8-9C8D9DB1C66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F40DD520-869E-1E52-628F-D2D0F9402A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11:30</a:t>
            </a:r>
            <a:endParaRPr kumimoji="1" lang="zh-CN" altLang="en-US" dirty="0"/>
          </a:p>
        </p:txBody>
      </p:sp>
      <p:sp>
        <p:nvSpPr>
          <p:cNvPr id="4" name="页眉占位符 3">
            <a:extLst>
              <a:ext uri="{FF2B5EF4-FFF2-40B4-BE49-F238E27FC236}">
                <a16:creationId xmlns:a16="http://schemas.microsoft.com/office/drawing/2014/main" id="{A3A7EC30-900C-1E95-CB20-2E4771B8C586}"/>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371D7090-328C-0BBA-E381-D730CACC4D2B}"/>
              </a:ext>
            </a:extLst>
          </p:cNvPr>
          <p:cNvSpPr>
            <a:spLocks noGrp="1"/>
          </p:cNvSpPr>
          <p:nvPr>
            <p:ph type="sldNum" sz="quarter" idx="5"/>
          </p:nvPr>
        </p:nvSpPr>
        <p:spPr/>
        <p:txBody>
          <a:bodyPr/>
          <a:lstStyle/>
          <a:p>
            <a:fld id="{57A180AA-17C1-8343-89F7-A1DAC01D4BE6}" type="slidenum">
              <a:rPr lang="en-US" smtClean="0"/>
              <a:t>15</a:t>
            </a:fld>
            <a:endParaRPr lang="en-US"/>
          </a:p>
        </p:txBody>
      </p:sp>
    </p:spTree>
    <p:extLst>
      <p:ext uri="{BB962C8B-B14F-4D97-AF65-F5344CB8AC3E}">
        <p14:creationId xmlns:p14="http://schemas.microsoft.com/office/powerpoint/2010/main" val="3944451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1C36-12C0-9883-0801-9F44A2B45D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CC4FAE-CA7F-B659-2630-E4CF3A2C81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0BB458-455F-02F8-7453-F459B7C9C8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a:extLst>
              <a:ext uri="{FF2B5EF4-FFF2-40B4-BE49-F238E27FC236}">
                <a16:creationId xmlns:a16="http://schemas.microsoft.com/office/drawing/2014/main" id="{8F4C178C-1514-F8A4-FE5B-F9F0D6611DF6}"/>
              </a:ext>
            </a:extLst>
          </p:cNvPr>
          <p:cNvSpPr>
            <a:spLocks noGrp="1"/>
          </p:cNvSpPr>
          <p:nvPr>
            <p:ph type="sldNum" sz="quarter" idx="5"/>
          </p:nvPr>
        </p:nvSpPr>
        <p:spPr/>
        <p:txBody>
          <a:bodyPr/>
          <a:lstStyle/>
          <a:p>
            <a:fld id="{339B8F8F-C2EC-4CC8-9A1E-190092C811C1}" type="slidenum">
              <a:rPr lang="zh-CN" altLang="en-US" smtClean="0"/>
              <a:t>16</a:t>
            </a:fld>
            <a:endParaRPr lang="zh-CN" altLang="en-US"/>
          </a:p>
        </p:txBody>
      </p:sp>
    </p:spTree>
    <p:extLst>
      <p:ext uri="{BB962C8B-B14F-4D97-AF65-F5344CB8AC3E}">
        <p14:creationId xmlns:p14="http://schemas.microsoft.com/office/powerpoint/2010/main" val="390097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42D06-FF4F-DDA2-5FC6-7E66CA4989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B0520E-8E9D-193A-4908-12E5F84481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CF41F8-CC8D-C1D9-342B-08E41FD46E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a:extLst>
              <a:ext uri="{FF2B5EF4-FFF2-40B4-BE49-F238E27FC236}">
                <a16:creationId xmlns:a16="http://schemas.microsoft.com/office/drawing/2014/main" id="{062B18A8-48AC-BA06-AE7B-F7A78C3A0AC8}"/>
              </a:ext>
            </a:extLst>
          </p:cNvPr>
          <p:cNvSpPr>
            <a:spLocks noGrp="1"/>
          </p:cNvSpPr>
          <p:nvPr>
            <p:ph type="sldNum" sz="quarter" idx="5"/>
          </p:nvPr>
        </p:nvSpPr>
        <p:spPr/>
        <p:txBody>
          <a:bodyPr/>
          <a:lstStyle/>
          <a:p>
            <a:fld id="{339B8F8F-C2EC-4CC8-9A1E-190092C811C1}" type="slidenum">
              <a:rPr lang="zh-CN" altLang="en-US" smtClean="0"/>
              <a:t>17</a:t>
            </a:fld>
            <a:endParaRPr lang="zh-CN" altLang="en-US"/>
          </a:p>
        </p:txBody>
      </p:sp>
    </p:spTree>
    <p:extLst>
      <p:ext uri="{BB962C8B-B14F-4D97-AF65-F5344CB8AC3E}">
        <p14:creationId xmlns:p14="http://schemas.microsoft.com/office/powerpoint/2010/main" val="3653737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11:30-11:40</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a:t>
            </a:r>
            <a:r>
              <a:rPr lang="en-US" altLang="zh-CN" dirty="0"/>
              <a:t>RSA</a:t>
            </a:r>
            <a:r>
              <a:rPr lang="zh-CN" altLang="en-US" dirty="0"/>
              <a:t>加密，</a:t>
            </a:r>
            <a:r>
              <a:rPr lang="en-US" altLang="zh-CN" dirty="0"/>
              <a:t>e</a:t>
            </a:r>
            <a:r>
              <a:rPr lang="zh-CN" altLang="en-US" dirty="0"/>
              <a:t>和</a:t>
            </a:r>
            <a:r>
              <a:rPr lang="en-US" altLang="zh-CN" dirty="0"/>
              <a:t>d</a:t>
            </a:r>
            <a:r>
              <a:rPr lang="zh-CN" altLang="en-US" dirty="0"/>
              <a:t>大小相近是极不安全的</a:t>
            </a:r>
          </a:p>
          <a:p>
            <a:endParaRPr lang="zh-CN" altLang="en-US" dirty="0"/>
          </a:p>
        </p:txBody>
      </p:sp>
      <p:sp>
        <p:nvSpPr>
          <p:cNvPr id="4" name="灯片编号占位符 3"/>
          <p:cNvSpPr>
            <a:spLocks noGrp="1"/>
          </p:cNvSpPr>
          <p:nvPr>
            <p:ph type="sldNum" sz="quarter" idx="5"/>
          </p:nvPr>
        </p:nvSpPr>
        <p:spPr/>
        <p:txBody>
          <a:bodyPr/>
          <a:lstStyle/>
          <a:p>
            <a:fld id="{339B8F8F-C2EC-4CC8-9A1E-190092C811C1}" type="slidenum">
              <a:rPr lang="zh-CN" altLang="en-US" smtClean="0"/>
              <a:t>18</a:t>
            </a:fld>
            <a:endParaRPr lang="zh-CN" altLang="en-US"/>
          </a:p>
        </p:txBody>
      </p:sp>
    </p:spTree>
    <p:extLst>
      <p:ext uri="{BB962C8B-B14F-4D97-AF65-F5344CB8AC3E}">
        <p14:creationId xmlns:p14="http://schemas.microsoft.com/office/powerpoint/2010/main" val="2331906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11575-D667-BBA3-8985-F4FCBAE00D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DDFEEB-CB8C-2F91-7E91-1A0126D63F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A528CA-E89E-7F42-91A5-5DB3CC4F3B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0E3563C-C837-61A1-B2B9-EE8C34D5018C}"/>
              </a:ext>
            </a:extLst>
          </p:cNvPr>
          <p:cNvSpPr>
            <a:spLocks noGrp="1"/>
          </p:cNvSpPr>
          <p:nvPr>
            <p:ph type="sldNum" sz="quarter" idx="5"/>
          </p:nvPr>
        </p:nvSpPr>
        <p:spPr/>
        <p:txBody>
          <a:bodyPr/>
          <a:lstStyle/>
          <a:p>
            <a:fld id="{339B8F8F-C2EC-4CC8-9A1E-190092C811C1}" type="slidenum">
              <a:rPr lang="zh-CN" altLang="en-US" smtClean="0"/>
              <a:t>19</a:t>
            </a:fld>
            <a:endParaRPr lang="zh-CN" altLang="en-US"/>
          </a:p>
        </p:txBody>
      </p:sp>
    </p:spTree>
    <p:extLst>
      <p:ext uri="{BB962C8B-B14F-4D97-AF65-F5344CB8AC3E}">
        <p14:creationId xmlns:p14="http://schemas.microsoft.com/office/powerpoint/2010/main" val="2545205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4A88B-8B96-626C-E3A6-2E0FE0C716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59D70E-C0EB-5E84-4E4C-9780CDD5A444}"/>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30616EF-0561-A905-9AB1-F4045EB311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11:45</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中间人攻击，需要数字签名和公钥证书解决</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页眉占位符 3">
            <a:extLst>
              <a:ext uri="{FF2B5EF4-FFF2-40B4-BE49-F238E27FC236}">
                <a16:creationId xmlns:a16="http://schemas.microsoft.com/office/drawing/2014/main" id="{EC5CE544-722B-E282-24B9-706FCA0BBB92}"/>
              </a:ext>
            </a:extLst>
          </p:cNvPr>
          <p:cNvSpPr>
            <a:spLocks noGrp="1"/>
          </p:cNvSpPr>
          <p:nvPr>
            <p:ph type="hdr" sz="quarter"/>
          </p:nvPr>
        </p:nvSpPr>
        <p:spPr/>
        <p:txBody>
          <a:bodyPr/>
          <a:lstStyle/>
          <a:p>
            <a:r>
              <a:rPr lang="zh-CN" altLang="en-US"/>
              <a:t>密码学原理 </a:t>
            </a:r>
            <a:r>
              <a:rPr lang="en-US"/>
              <a:t>Cryptography Principles</a:t>
            </a:r>
          </a:p>
        </p:txBody>
      </p:sp>
      <p:sp>
        <p:nvSpPr>
          <p:cNvPr id="5" name="灯片编号占位符 4">
            <a:extLst>
              <a:ext uri="{FF2B5EF4-FFF2-40B4-BE49-F238E27FC236}">
                <a16:creationId xmlns:a16="http://schemas.microsoft.com/office/drawing/2014/main" id="{5FA93D3A-7741-FF02-55A2-A3629795E332}"/>
              </a:ext>
            </a:extLst>
          </p:cNvPr>
          <p:cNvSpPr>
            <a:spLocks noGrp="1"/>
          </p:cNvSpPr>
          <p:nvPr>
            <p:ph type="sldNum" sz="quarter" idx="5"/>
          </p:nvPr>
        </p:nvSpPr>
        <p:spPr/>
        <p:txBody>
          <a:bodyPr/>
          <a:lstStyle/>
          <a:p>
            <a:fld id="{57A180AA-17C1-8343-89F7-A1DAC01D4BE6}" type="slidenum">
              <a:rPr lang="en-US" smtClean="0"/>
              <a:t>20</a:t>
            </a:fld>
            <a:endParaRPr lang="en-US"/>
          </a:p>
        </p:txBody>
      </p:sp>
    </p:spTree>
    <p:extLst>
      <p:ext uri="{BB962C8B-B14F-4D97-AF65-F5344CB8AC3E}">
        <p14:creationId xmlns:p14="http://schemas.microsoft.com/office/powerpoint/2010/main" val="1166693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p:txBody>
      </p:sp>
      <p:sp>
        <p:nvSpPr>
          <p:cNvPr id="4" name="灯片编号占位符 3"/>
          <p:cNvSpPr>
            <a:spLocks noGrp="1"/>
          </p:cNvSpPr>
          <p:nvPr>
            <p:ph type="sldNum" sz="quarter" idx="5"/>
          </p:nvPr>
        </p:nvSpPr>
        <p:spPr/>
        <p:txBody>
          <a:bodyPr/>
          <a:lstStyle/>
          <a:p>
            <a:fld id="{339B8F8F-C2EC-4CC8-9A1E-190092C811C1}" type="slidenum">
              <a:rPr lang="zh-CN" altLang="en-US" smtClean="0"/>
              <a:t>21</a:t>
            </a:fld>
            <a:endParaRPr lang="zh-CN" altLang="en-US"/>
          </a:p>
        </p:txBody>
      </p:sp>
    </p:spTree>
    <p:extLst>
      <p:ext uri="{BB962C8B-B14F-4D97-AF65-F5344CB8AC3E}">
        <p14:creationId xmlns:p14="http://schemas.microsoft.com/office/powerpoint/2010/main" val="214432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9B8F8F-C2EC-4CC8-9A1E-190092C811C1}" type="slidenum">
              <a:rPr lang="zh-CN" altLang="en-US" smtClean="0"/>
              <a:t>22</a:t>
            </a:fld>
            <a:endParaRPr lang="zh-CN" altLang="en-US"/>
          </a:p>
        </p:txBody>
      </p:sp>
    </p:spTree>
    <p:extLst>
      <p:ext uri="{BB962C8B-B14F-4D97-AF65-F5344CB8AC3E}">
        <p14:creationId xmlns:p14="http://schemas.microsoft.com/office/powerpoint/2010/main" val="1425660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3DFF7-8859-BFD2-90A0-2583535354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A2BF95-4FAA-5632-70A1-1DEF33BCEA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AD7B7A-84DC-311C-C38C-2B56331783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307C5B-B9DC-2271-7299-3A2D1CA4B757}"/>
              </a:ext>
            </a:extLst>
          </p:cNvPr>
          <p:cNvSpPr>
            <a:spLocks noGrp="1"/>
          </p:cNvSpPr>
          <p:nvPr>
            <p:ph type="sldNum" sz="quarter" idx="5"/>
          </p:nvPr>
        </p:nvSpPr>
        <p:spPr/>
        <p:txBody>
          <a:bodyPr/>
          <a:lstStyle/>
          <a:p>
            <a:fld id="{339B8F8F-C2EC-4CC8-9A1E-190092C811C1}" type="slidenum">
              <a:rPr lang="zh-CN" altLang="en-US" smtClean="0"/>
              <a:t>23</a:t>
            </a:fld>
            <a:endParaRPr lang="zh-CN" altLang="en-US"/>
          </a:p>
        </p:txBody>
      </p:sp>
    </p:spTree>
    <p:extLst>
      <p:ext uri="{BB962C8B-B14F-4D97-AF65-F5344CB8AC3E}">
        <p14:creationId xmlns:p14="http://schemas.microsoft.com/office/powerpoint/2010/main" val="3558393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48762-AE78-300C-607F-EB02A49384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633783-0895-ADAA-0683-D109EF52A1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63ED95-4F77-6ABA-3D58-F020050088A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80CE8B6-959A-5E8A-939C-20B83046FFBC}"/>
              </a:ext>
            </a:extLst>
          </p:cNvPr>
          <p:cNvSpPr>
            <a:spLocks noGrp="1"/>
          </p:cNvSpPr>
          <p:nvPr>
            <p:ph type="sldNum" sz="quarter" idx="5"/>
          </p:nvPr>
        </p:nvSpPr>
        <p:spPr/>
        <p:txBody>
          <a:bodyPr/>
          <a:lstStyle/>
          <a:p>
            <a:fld id="{339B8F8F-C2EC-4CC8-9A1E-190092C811C1}" type="slidenum">
              <a:rPr lang="zh-CN" altLang="en-US" smtClean="0"/>
              <a:t>24</a:t>
            </a:fld>
            <a:endParaRPr lang="zh-CN" altLang="en-US"/>
          </a:p>
        </p:txBody>
      </p:sp>
    </p:spTree>
    <p:extLst>
      <p:ext uri="{BB962C8B-B14F-4D97-AF65-F5344CB8AC3E}">
        <p14:creationId xmlns:p14="http://schemas.microsoft.com/office/powerpoint/2010/main" val="5067998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70AC4-F7C0-2893-41A4-7BCE6AD2F4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9EF847-1A62-8502-4A45-04D2715A54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C3BE72-FE39-D014-5348-D09DCE7A451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614192F-DC7F-B26B-27D7-5B0C7F08B04B}"/>
              </a:ext>
            </a:extLst>
          </p:cNvPr>
          <p:cNvSpPr>
            <a:spLocks noGrp="1"/>
          </p:cNvSpPr>
          <p:nvPr>
            <p:ph type="sldNum" sz="quarter" idx="5"/>
          </p:nvPr>
        </p:nvSpPr>
        <p:spPr/>
        <p:txBody>
          <a:bodyPr/>
          <a:lstStyle/>
          <a:p>
            <a:fld id="{339B8F8F-C2EC-4CC8-9A1E-190092C811C1}" type="slidenum">
              <a:rPr lang="zh-CN" altLang="en-US" smtClean="0"/>
              <a:t>25</a:t>
            </a:fld>
            <a:endParaRPr lang="zh-CN" altLang="en-US"/>
          </a:p>
        </p:txBody>
      </p:sp>
    </p:spTree>
    <p:extLst>
      <p:ext uri="{BB962C8B-B14F-4D97-AF65-F5344CB8AC3E}">
        <p14:creationId xmlns:p14="http://schemas.microsoft.com/office/powerpoint/2010/main" val="2390660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A8F8E-83B3-88D8-9630-DE01E79A9F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522D9E-B659-ECFB-7540-C70B3A4F56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186135-53A5-5925-316F-03DD31F1222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B2661DD-D324-7FC7-7F3D-A16ECFC57EE8}"/>
              </a:ext>
            </a:extLst>
          </p:cNvPr>
          <p:cNvSpPr>
            <a:spLocks noGrp="1"/>
          </p:cNvSpPr>
          <p:nvPr>
            <p:ph type="sldNum" sz="quarter" idx="5"/>
          </p:nvPr>
        </p:nvSpPr>
        <p:spPr/>
        <p:txBody>
          <a:bodyPr/>
          <a:lstStyle/>
          <a:p>
            <a:fld id="{339B8F8F-C2EC-4CC8-9A1E-190092C811C1}" type="slidenum">
              <a:rPr lang="zh-CN" altLang="en-US" smtClean="0"/>
              <a:t>26</a:t>
            </a:fld>
            <a:endParaRPr lang="zh-CN" altLang="en-US"/>
          </a:p>
        </p:txBody>
      </p:sp>
    </p:spTree>
    <p:extLst>
      <p:ext uri="{BB962C8B-B14F-4D97-AF65-F5344CB8AC3E}">
        <p14:creationId xmlns:p14="http://schemas.microsoft.com/office/powerpoint/2010/main" val="2367708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A190E-973C-BE8B-A0C2-60E1C91A0B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37015E-18A6-E10E-0797-A82F13ED9D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A4EE93-FD67-CDB5-9832-CC97BA02E6A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A7B3507-3B6F-15B7-68BB-6272F032C20D}"/>
              </a:ext>
            </a:extLst>
          </p:cNvPr>
          <p:cNvSpPr>
            <a:spLocks noGrp="1"/>
          </p:cNvSpPr>
          <p:nvPr>
            <p:ph type="sldNum" sz="quarter" idx="5"/>
          </p:nvPr>
        </p:nvSpPr>
        <p:spPr/>
        <p:txBody>
          <a:bodyPr/>
          <a:lstStyle/>
          <a:p>
            <a:fld id="{339B8F8F-C2EC-4CC8-9A1E-190092C811C1}" type="slidenum">
              <a:rPr lang="zh-CN" altLang="en-US" smtClean="0"/>
              <a:t>28</a:t>
            </a:fld>
            <a:endParaRPr lang="zh-CN" altLang="en-US"/>
          </a:p>
        </p:txBody>
      </p:sp>
    </p:spTree>
    <p:extLst>
      <p:ext uri="{BB962C8B-B14F-4D97-AF65-F5344CB8AC3E}">
        <p14:creationId xmlns:p14="http://schemas.microsoft.com/office/powerpoint/2010/main" val="3428315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F1B7D-D588-623B-4657-EB4D02A1BA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E7F599-92CF-F429-568F-7911EB659A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9A6578-227E-6882-78C4-E1F5878F0EF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D070C92-35BC-2056-E9A8-31FE644DE3C1}"/>
              </a:ext>
            </a:extLst>
          </p:cNvPr>
          <p:cNvSpPr>
            <a:spLocks noGrp="1"/>
          </p:cNvSpPr>
          <p:nvPr>
            <p:ph type="sldNum" sz="quarter" idx="5"/>
          </p:nvPr>
        </p:nvSpPr>
        <p:spPr/>
        <p:txBody>
          <a:bodyPr/>
          <a:lstStyle/>
          <a:p>
            <a:fld id="{339B8F8F-C2EC-4CC8-9A1E-190092C811C1}" type="slidenum">
              <a:rPr lang="zh-CN" altLang="en-US" smtClean="0"/>
              <a:t>29</a:t>
            </a:fld>
            <a:endParaRPr lang="zh-CN" altLang="en-US"/>
          </a:p>
        </p:txBody>
      </p:sp>
    </p:spTree>
    <p:extLst>
      <p:ext uri="{BB962C8B-B14F-4D97-AF65-F5344CB8AC3E}">
        <p14:creationId xmlns:p14="http://schemas.microsoft.com/office/powerpoint/2010/main" val="40112831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5A003-C98E-EB30-AA8C-F67323FDD0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0398E6-5FA6-53C0-8E97-208782CA0B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AB8825-E2C3-C5EA-1ACE-F589C459FB9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E8A8F34-B060-662B-467F-FA99CD909D79}"/>
              </a:ext>
            </a:extLst>
          </p:cNvPr>
          <p:cNvSpPr>
            <a:spLocks noGrp="1"/>
          </p:cNvSpPr>
          <p:nvPr>
            <p:ph type="sldNum" sz="quarter" idx="5"/>
          </p:nvPr>
        </p:nvSpPr>
        <p:spPr/>
        <p:txBody>
          <a:bodyPr/>
          <a:lstStyle/>
          <a:p>
            <a:fld id="{339B8F8F-C2EC-4CC8-9A1E-190092C811C1}" type="slidenum">
              <a:rPr lang="zh-CN" altLang="en-US" smtClean="0"/>
              <a:t>30</a:t>
            </a:fld>
            <a:endParaRPr lang="zh-CN" altLang="en-US"/>
          </a:p>
        </p:txBody>
      </p:sp>
    </p:spTree>
    <p:extLst>
      <p:ext uri="{BB962C8B-B14F-4D97-AF65-F5344CB8AC3E}">
        <p14:creationId xmlns:p14="http://schemas.microsoft.com/office/powerpoint/2010/main" val="34793352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5BD75-4B88-3EA9-D79F-4CFB1A95F2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2539B7-1ED3-E551-F54E-04C3A0B435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D6BC5D-43A4-35EC-6252-3548231AF22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EB01444-09A7-568B-F1B1-DDD253EEE21D}"/>
              </a:ext>
            </a:extLst>
          </p:cNvPr>
          <p:cNvSpPr>
            <a:spLocks noGrp="1"/>
          </p:cNvSpPr>
          <p:nvPr>
            <p:ph type="sldNum" sz="quarter" idx="5"/>
          </p:nvPr>
        </p:nvSpPr>
        <p:spPr/>
        <p:txBody>
          <a:bodyPr/>
          <a:lstStyle/>
          <a:p>
            <a:fld id="{339B8F8F-C2EC-4CC8-9A1E-190092C811C1}" type="slidenum">
              <a:rPr lang="zh-CN" altLang="en-US" smtClean="0"/>
              <a:t>31</a:t>
            </a:fld>
            <a:endParaRPr lang="zh-CN" altLang="en-US"/>
          </a:p>
        </p:txBody>
      </p:sp>
    </p:spTree>
    <p:extLst>
      <p:ext uri="{BB962C8B-B14F-4D97-AF65-F5344CB8AC3E}">
        <p14:creationId xmlns:p14="http://schemas.microsoft.com/office/powerpoint/2010/main" val="42918006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8A950-57BC-424B-F71B-61BC52649C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46CF4E-C2A0-BFE8-56F3-793399F714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47713E-4D87-4DF7-4617-B052C44B16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rPr>
              <a:t>纸质证书可以通过销毁来作废，但数字证书无法通过删除来使其失效，因为用户可能已保存证书副本，而认证机构无法删除这些副本。</a:t>
            </a:r>
          </a:p>
          <a:p>
            <a:endParaRPr lang="zh-CN" altLang="en-US" dirty="0"/>
          </a:p>
        </p:txBody>
      </p:sp>
      <p:sp>
        <p:nvSpPr>
          <p:cNvPr id="4" name="灯片编号占位符 3">
            <a:extLst>
              <a:ext uri="{FF2B5EF4-FFF2-40B4-BE49-F238E27FC236}">
                <a16:creationId xmlns:a16="http://schemas.microsoft.com/office/drawing/2014/main" id="{D61399BD-7126-5E05-A68D-E9711B9D050E}"/>
              </a:ext>
            </a:extLst>
          </p:cNvPr>
          <p:cNvSpPr>
            <a:spLocks noGrp="1"/>
          </p:cNvSpPr>
          <p:nvPr>
            <p:ph type="sldNum" sz="quarter" idx="5"/>
          </p:nvPr>
        </p:nvSpPr>
        <p:spPr/>
        <p:txBody>
          <a:bodyPr/>
          <a:lstStyle/>
          <a:p>
            <a:fld id="{339B8F8F-C2EC-4CC8-9A1E-190092C811C1}" type="slidenum">
              <a:rPr lang="zh-CN" altLang="en-US" smtClean="0"/>
              <a:t>32</a:t>
            </a:fld>
            <a:endParaRPr lang="zh-CN" altLang="en-US"/>
          </a:p>
        </p:txBody>
      </p:sp>
    </p:spTree>
    <p:extLst>
      <p:ext uri="{BB962C8B-B14F-4D97-AF65-F5344CB8AC3E}">
        <p14:creationId xmlns:p14="http://schemas.microsoft.com/office/powerpoint/2010/main" val="30967739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CAB4C-5A73-5497-AC65-0E2603A4F4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38DDF8-D72F-A092-0A50-25A704822D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AE26CB-A3E3-8E32-14E5-2D4024C2437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7351420-B6B0-5E2A-CA2F-C34F921570AF}"/>
              </a:ext>
            </a:extLst>
          </p:cNvPr>
          <p:cNvSpPr>
            <a:spLocks noGrp="1"/>
          </p:cNvSpPr>
          <p:nvPr>
            <p:ph type="sldNum" sz="quarter" idx="5"/>
          </p:nvPr>
        </p:nvSpPr>
        <p:spPr/>
        <p:txBody>
          <a:bodyPr/>
          <a:lstStyle/>
          <a:p>
            <a:fld id="{339B8F8F-C2EC-4CC8-9A1E-190092C811C1}" type="slidenum">
              <a:rPr lang="zh-CN" altLang="en-US" smtClean="0"/>
              <a:t>33</a:t>
            </a:fld>
            <a:endParaRPr lang="zh-CN" altLang="en-US"/>
          </a:p>
        </p:txBody>
      </p:sp>
    </p:spTree>
    <p:extLst>
      <p:ext uri="{BB962C8B-B14F-4D97-AF65-F5344CB8AC3E}">
        <p14:creationId xmlns:p14="http://schemas.microsoft.com/office/powerpoint/2010/main" val="34082615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5B244-D457-8F51-4DA7-0ED0EDE434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E2DC16-6BBE-A8AC-0FB9-FE5D4CF060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1EFD5D-25CA-3F3B-862D-1D7DF3AA6D5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37C0109-BB1B-542B-DC43-53752A97BAB4}"/>
              </a:ext>
            </a:extLst>
          </p:cNvPr>
          <p:cNvSpPr>
            <a:spLocks noGrp="1"/>
          </p:cNvSpPr>
          <p:nvPr>
            <p:ph type="sldNum" sz="quarter" idx="5"/>
          </p:nvPr>
        </p:nvSpPr>
        <p:spPr/>
        <p:txBody>
          <a:bodyPr/>
          <a:lstStyle/>
          <a:p>
            <a:fld id="{339B8F8F-C2EC-4CC8-9A1E-190092C811C1}" type="slidenum">
              <a:rPr lang="zh-CN" altLang="en-US" smtClean="0"/>
              <a:t>34</a:t>
            </a:fld>
            <a:endParaRPr lang="zh-CN" altLang="en-US"/>
          </a:p>
        </p:txBody>
      </p:sp>
    </p:spTree>
    <p:extLst>
      <p:ext uri="{BB962C8B-B14F-4D97-AF65-F5344CB8AC3E}">
        <p14:creationId xmlns:p14="http://schemas.microsoft.com/office/powerpoint/2010/main" val="24191402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A5DC1-6CFA-ECD8-201E-B3A737D25D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741040-D0B6-E161-F226-FD42D7528B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9867A2-0D6B-94D8-4226-08328400EF7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26F83B7-357A-F866-65B7-47C4AF1C27F4}"/>
              </a:ext>
            </a:extLst>
          </p:cNvPr>
          <p:cNvSpPr>
            <a:spLocks noGrp="1"/>
          </p:cNvSpPr>
          <p:nvPr>
            <p:ph type="sldNum" sz="quarter" idx="5"/>
          </p:nvPr>
        </p:nvSpPr>
        <p:spPr/>
        <p:txBody>
          <a:bodyPr/>
          <a:lstStyle/>
          <a:p>
            <a:fld id="{339B8F8F-C2EC-4CC8-9A1E-190092C811C1}" type="slidenum">
              <a:rPr lang="zh-CN" altLang="en-US" smtClean="0"/>
              <a:t>36</a:t>
            </a:fld>
            <a:endParaRPr lang="zh-CN" altLang="en-US"/>
          </a:p>
        </p:txBody>
      </p:sp>
    </p:spTree>
    <p:extLst>
      <p:ext uri="{BB962C8B-B14F-4D97-AF65-F5344CB8AC3E}">
        <p14:creationId xmlns:p14="http://schemas.microsoft.com/office/powerpoint/2010/main" val="4058729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11:45</a:t>
            </a:r>
            <a:r>
              <a:rPr kumimoji="1" lang="zh-CN" altLang="en-US" dirty="0"/>
              <a:t>结束</a:t>
            </a:r>
          </a:p>
        </p:txBody>
      </p:sp>
      <p:sp>
        <p:nvSpPr>
          <p:cNvPr id="4" name="灯片编号占位符 3"/>
          <p:cNvSpPr>
            <a:spLocks noGrp="1"/>
          </p:cNvSpPr>
          <p:nvPr>
            <p:ph type="sldNum" sz="quarter" idx="5"/>
          </p:nvPr>
        </p:nvSpPr>
        <p:spPr/>
        <p:txBody>
          <a:bodyPr/>
          <a:lstStyle/>
          <a:p>
            <a:fld id="{339B8F8F-C2EC-4CC8-9A1E-190092C811C1}" type="slidenum">
              <a:rPr lang="zh-CN" altLang="en-US" smtClean="0"/>
              <a:t>37</a:t>
            </a:fld>
            <a:endParaRPr lang="zh-CN" altLang="en-US"/>
          </a:p>
        </p:txBody>
      </p:sp>
    </p:spTree>
    <p:extLst>
      <p:ext uri="{BB962C8B-B14F-4D97-AF65-F5344CB8AC3E}">
        <p14:creationId xmlns:p14="http://schemas.microsoft.com/office/powerpoint/2010/main" val="10849473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9B8F8F-C2EC-4CC8-9A1E-190092C811C1}" type="slidenum">
              <a:rPr lang="zh-CN" altLang="en-US" smtClean="0"/>
              <a:t>38</a:t>
            </a:fld>
            <a:endParaRPr lang="zh-CN" altLang="en-US"/>
          </a:p>
        </p:txBody>
      </p:sp>
    </p:spTree>
    <p:extLst>
      <p:ext uri="{BB962C8B-B14F-4D97-AF65-F5344CB8AC3E}">
        <p14:creationId xmlns:p14="http://schemas.microsoft.com/office/powerpoint/2010/main" val="42946765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bg>
      <p:bgPr>
        <a:solidFill>
          <a:schemeClr val="bg1"/>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581FE403-EFBE-407B-B1B0-589475D3132E}"/>
              </a:ext>
            </a:extLst>
          </p:cNvPr>
          <p:cNvSpPr/>
          <p:nvPr userDrawn="1"/>
        </p:nvSpPr>
        <p:spPr>
          <a:xfrm>
            <a:off x="0" y="0"/>
            <a:ext cx="12192000" cy="6858000"/>
          </a:xfrm>
          <a:prstGeom prst="rect">
            <a:avLst/>
          </a:prstGeom>
          <a:gradFill flip="none" rotWithShape="1">
            <a:gsLst>
              <a:gs pos="0">
                <a:schemeClr val="accent1"/>
              </a:gs>
              <a:gs pos="100000">
                <a:schemeClr val="accent2">
                  <a:lumMod val="75000"/>
                </a:schemeClr>
              </a:gs>
            </a:gsLst>
            <a:lin ang="2700000" scaled="1"/>
            <a:tileRect/>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p>
        </p:txBody>
      </p:sp>
      <p:pic>
        <p:nvPicPr>
          <p:cNvPr id="7" name="图片 6">
            <a:extLst>
              <a:ext uri="{FF2B5EF4-FFF2-40B4-BE49-F238E27FC236}">
                <a16:creationId xmlns:a16="http://schemas.microsoft.com/office/drawing/2014/main" id="{B279BA6D-EC23-4497-9041-CE1317A49DCE}"/>
              </a:ext>
            </a:extLst>
          </p:cNvPr>
          <p:cNvPicPr>
            <a:picLocks noChangeAspect="1"/>
          </p:cNvPicPr>
          <p:nvPr userDrawn="1"/>
        </p:nvPicPr>
        <p:blipFill rotWithShape="1">
          <a:blip r:embed="rId2">
            <a:duotone>
              <a:prstClr val="black"/>
              <a:schemeClr val="accent1">
                <a:tint val="45000"/>
                <a:satMod val="400000"/>
              </a:schemeClr>
            </a:duotone>
          </a:blip>
          <a:srcRect t="4878" r="31497" b="15137"/>
          <a:stretch/>
        </p:blipFill>
        <p:spPr>
          <a:xfrm>
            <a:off x="8745042" y="151774"/>
            <a:ext cx="3285880" cy="803980"/>
          </a:xfrm>
          <a:prstGeom prst="rect">
            <a:avLst/>
          </a:prstGeom>
        </p:spPr>
      </p:pic>
      <p:sp>
        <p:nvSpPr>
          <p:cNvPr id="3" name="灯片编号占位符 7">
            <a:extLst>
              <a:ext uri="{FF2B5EF4-FFF2-40B4-BE49-F238E27FC236}">
                <a16:creationId xmlns:a16="http://schemas.microsoft.com/office/drawing/2014/main" id="{D99F5985-A2DB-49D7-0706-93D3C1015DBB}"/>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321001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7">
            <a:extLst>
              <a:ext uri="{FF2B5EF4-FFF2-40B4-BE49-F238E27FC236}">
                <a16:creationId xmlns:a16="http://schemas.microsoft.com/office/drawing/2014/main" id="{CDD81EF3-E712-F5C6-BDC9-F704CAEF4055}"/>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34925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页_1">
    <p:bg>
      <p:bgPr>
        <a:solidFill>
          <a:schemeClr val="bg1"/>
        </a:solidFill>
        <a:effectLst/>
      </p:bgPr>
    </p:bg>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17CE0AD8-4B8A-4CB3-90A2-2EBD4D419B15}"/>
              </a:ext>
            </a:extLst>
          </p:cNvPr>
          <p:cNvPicPr>
            <a:picLocks noChangeAspect="1"/>
          </p:cNvPicPr>
          <p:nvPr userDrawn="1"/>
        </p:nvPicPr>
        <p:blipFill rotWithShape="1">
          <a:blip r:embed="rId2">
            <a:duotone>
              <a:prstClr val="black"/>
              <a:schemeClr val="accent1">
                <a:tint val="45000"/>
                <a:satMod val="400000"/>
              </a:schemeClr>
            </a:duotone>
          </a:blip>
          <a:srcRect t="4878" r="31497" b="15137"/>
          <a:stretch/>
        </p:blipFill>
        <p:spPr>
          <a:xfrm>
            <a:off x="8745042" y="151774"/>
            <a:ext cx="3285880" cy="803980"/>
          </a:xfrm>
          <a:prstGeom prst="rect">
            <a:avLst/>
          </a:prstGeom>
        </p:spPr>
      </p:pic>
      <p:sp>
        <p:nvSpPr>
          <p:cNvPr id="3" name="灯片编号占位符 7">
            <a:extLst>
              <a:ext uri="{FF2B5EF4-FFF2-40B4-BE49-F238E27FC236}">
                <a16:creationId xmlns:a16="http://schemas.microsoft.com/office/drawing/2014/main" id="{883884EC-E0BD-292A-12C5-46119C62EEAA}"/>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585092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_1">
    <p:bg>
      <p:bgPr>
        <a:solidFill>
          <a:schemeClr val="bg1"/>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DC7B277-97E2-48C0-9D4D-EB6B0FE9FADB}"/>
              </a:ext>
            </a:extLst>
          </p:cNvPr>
          <p:cNvPicPr>
            <a:picLocks noChangeAspect="1"/>
          </p:cNvPicPr>
          <p:nvPr userDrawn="1"/>
        </p:nvPicPr>
        <p:blipFill rotWithShape="1">
          <a:blip r:embed="rId2">
            <a:duotone>
              <a:prstClr val="black"/>
              <a:schemeClr val="accent1">
                <a:tint val="45000"/>
                <a:satMod val="400000"/>
              </a:schemeClr>
            </a:duotone>
          </a:blip>
          <a:srcRect t="4878" r="31497" b="15137"/>
          <a:stretch/>
        </p:blipFill>
        <p:spPr>
          <a:xfrm>
            <a:off x="8745042" y="151774"/>
            <a:ext cx="3285880" cy="803980"/>
          </a:xfrm>
          <a:prstGeom prst="rect">
            <a:avLst/>
          </a:prstGeom>
        </p:spPr>
      </p:pic>
      <p:sp>
        <p:nvSpPr>
          <p:cNvPr id="3" name="灯片编号占位符 7">
            <a:extLst>
              <a:ext uri="{FF2B5EF4-FFF2-40B4-BE49-F238E27FC236}">
                <a16:creationId xmlns:a16="http://schemas.microsoft.com/office/drawing/2014/main" id="{28FEE77D-2CC8-414A-04A7-967603AF7118}"/>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2237301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容页_3">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93E7863A-1514-4D60-AE03-86A6CDA04DBD}"/>
              </a:ext>
            </a:extLst>
          </p:cNvPr>
          <p:cNvSpPr/>
          <p:nvPr userDrawn="1"/>
        </p:nvSpPr>
        <p:spPr>
          <a:xfrm>
            <a:off x="0" y="-1"/>
            <a:ext cx="12192000" cy="2725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p>
        </p:txBody>
      </p:sp>
      <p:pic>
        <p:nvPicPr>
          <p:cNvPr id="7" name="图片 6">
            <a:extLst>
              <a:ext uri="{FF2B5EF4-FFF2-40B4-BE49-F238E27FC236}">
                <a16:creationId xmlns:a16="http://schemas.microsoft.com/office/drawing/2014/main" id="{CF3477F4-59D1-4BC5-B4A9-27AF6AF5FDCC}"/>
              </a:ext>
            </a:extLst>
          </p:cNvPr>
          <p:cNvPicPr>
            <a:picLocks noChangeAspect="1"/>
          </p:cNvPicPr>
          <p:nvPr userDrawn="1"/>
        </p:nvPicPr>
        <p:blipFill rotWithShape="1">
          <a:blip r:embed="rId2">
            <a:duotone>
              <a:prstClr val="black"/>
              <a:schemeClr val="accent1">
                <a:tint val="45000"/>
                <a:satMod val="400000"/>
              </a:schemeClr>
            </a:duotone>
          </a:blip>
          <a:srcRect t="4878" r="31497" b="15137"/>
          <a:stretch/>
        </p:blipFill>
        <p:spPr>
          <a:xfrm>
            <a:off x="9942022" y="151774"/>
            <a:ext cx="2088899" cy="511106"/>
          </a:xfrm>
          <a:prstGeom prst="rect">
            <a:avLst/>
          </a:prstGeom>
        </p:spPr>
      </p:pic>
      <p:sp>
        <p:nvSpPr>
          <p:cNvPr id="3" name="灯片编号占位符 7">
            <a:extLst>
              <a:ext uri="{FF2B5EF4-FFF2-40B4-BE49-F238E27FC236}">
                <a16:creationId xmlns:a16="http://schemas.microsoft.com/office/drawing/2014/main" id="{A3F02F0D-D97F-A414-C3BA-2DD34611B78F}"/>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3434058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内容页_2">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3BAB4A06-08C2-4C23-89B2-C98B3F8C7F75}"/>
              </a:ext>
            </a:extLst>
          </p:cNvPr>
          <p:cNvSpPr/>
          <p:nvPr userDrawn="1"/>
        </p:nvSpPr>
        <p:spPr>
          <a:xfrm>
            <a:off x="0" y="1"/>
            <a:ext cx="46841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p>
        </p:txBody>
      </p:sp>
      <p:sp>
        <p:nvSpPr>
          <p:cNvPr id="5" name="灯片编号占位符 7">
            <a:extLst>
              <a:ext uri="{FF2B5EF4-FFF2-40B4-BE49-F238E27FC236}">
                <a16:creationId xmlns:a16="http://schemas.microsoft.com/office/drawing/2014/main" id="{76BB2E33-D1D3-4B64-A8DE-FCB20D587F73}"/>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pic>
        <p:nvPicPr>
          <p:cNvPr id="6" name="图片 5">
            <a:extLst>
              <a:ext uri="{FF2B5EF4-FFF2-40B4-BE49-F238E27FC236}">
                <a16:creationId xmlns:a16="http://schemas.microsoft.com/office/drawing/2014/main" id="{3216587A-6048-4612-8826-36F563D3ACB8}"/>
              </a:ext>
            </a:extLst>
          </p:cNvPr>
          <p:cNvPicPr>
            <a:picLocks noChangeAspect="1"/>
          </p:cNvPicPr>
          <p:nvPr userDrawn="1"/>
        </p:nvPicPr>
        <p:blipFill rotWithShape="1">
          <a:blip r:embed="rId2">
            <a:duotone>
              <a:prstClr val="black"/>
              <a:schemeClr val="accent1">
                <a:tint val="45000"/>
                <a:satMod val="400000"/>
              </a:schemeClr>
            </a:duotone>
          </a:blip>
          <a:srcRect t="4878" r="31497" b="15137"/>
          <a:stretch/>
        </p:blipFill>
        <p:spPr>
          <a:xfrm>
            <a:off x="9942022" y="151774"/>
            <a:ext cx="2088899" cy="511106"/>
          </a:xfrm>
          <a:prstGeom prst="rect">
            <a:avLst/>
          </a:prstGeom>
        </p:spPr>
      </p:pic>
    </p:spTree>
    <p:extLst>
      <p:ext uri="{BB962C8B-B14F-4D97-AF65-F5344CB8AC3E}">
        <p14:creationId xmlns:p14="http://schemas.microsoft.com/office/powerpoint/2010/main" val="49472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_2">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3BAB4A06-08C2-4C23-89B2-C98B3F8C7F75}"/>
              </a:ext>
            </a:extLst>
          </p:cNvPr>
          <p:cNvSpPr/>
          <p:nvPr userDrawn="1"/>
        </p:nvSpPr>
        <p:spPr>
          <a:xfrm>
            <a:off x="0" y="1"/>
            <a:ext cx="46841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p>
        </p:txBody>
      </p:sp>
      <p:sp>
        <p:nvSpPr>
          <p:cNvPr id="4" name="灯片编号占位符 7">
            <a:extLst>
              <a:ext uri="{FF2B5EF4-FFF2-40B4-BE49-F238E27FC236}">
                <a16:creationId xmlns:a16="http://schemas.microsoft.com/office/drawing/2014/main" id="{91384DB8-DD7B-6F63-0A62-DA2C1F998B1B}"/>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843862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尾页">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60EC24C7-A0C0-4B33-8A17-49C5A5794F5D}"/>
              </a:ext>
            </a:extLst>
          </p:cNvPr>
          <p:cNvSpPr/>
          <p:nvPr userDrawn="1"/>
        </p:nvSpPr>
        <p:spPr>
          <a:xfrm>
            <a:off x="0" y="0"/>
            <a:ext cx="12192000" cy="6858000"/>
          </a:xfrm>
          <a:prstGeom prst="rect">
            <a:avLst/>
          </a:prstGeom>
          <a:gradFill flip="none" rotWithShape="1">
            <a:gsLst>
              <a:gs pos="0">
                <a:schemeClr val="accent1"/>
              </a:gs>
              <a:gs pos="100000">
                <a:schemeClr val="accent2">
                  <a:lumMod val="75000"/>
                </a:schemeClr>
              </a:gs>
            </a:gsLst>
            <a:lin ang="2700000" scaled="1"/>
            <a:tileRect/>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p>
        </p:txBody>
      </p:sp>
      <p:grpSp>
        <p:nvGrpSpPr>
          <p:cNvPr id="21" name="组合 20">
            <a:extLst>
              <a:ext uri="{FF2B5EF4-FFF2-40B4-BE49-F238E27FC236}">
                <a16:creationId xmlns:a16="http://schemas.microsoft.com/office/drawing/2014/main" id="{B8274DD1-C79A-4AC5-B392-A4900D81502B}"/>
              </a:ext>
            </a:extLst>
          </p:cNvPr>
          <p:cNvGrpSpPr/>
          <p:nvPr userDrawn="1"/>
        </p:nvGrpSpPr>
        <p:grpSpPr>
          <a:xfrm rot="20394303">
            <a:off x="3221945" y="-1575994"/>
            <a:ext cx="11439261" cy="11910951"/>
            <a:chOff x="3439566" y="1666270"/>
            <a:chExt cx="11439261" cy="11910951"/>
          </a:xfrm>
        </p:grpSpPr>
        <p:grpSp>
          <p:nvGrpSpPr>
            <p:cNvPr id="22" name="组合 21">
              <a:extLst>
                <a:ext uri="{FF2B5EF4-FFF2-40B4-BE49-F238E27FC236}">
                  <a16:creationId xmlns:a16="http://schemas.microsoft.com/office/drawing/2014/main" id="{23B3CDDB-B14C-42F2-A1F1-49B0792801F9}"/>
                </a:ext>
              </a:extLst>
            </p:cNvPr>
            <p:cNvGrpSpPr/>
            <p:nvPr/>
          </p:nvGrpSpPr>
          <p:grpSpPr>
            <a:xfrm rot="4029167">
              <a:off x="8779335" y="1665563"/>
              <a:ext cx="6098786" cy="6100199"/>
              <a:chOff x="18351500" y="3723568"/>
              <a:chExt cx="4878842" cy="4879972"/>
            </a:xfrm>
          </p:grpSpPr>
          <p:sp>
            <p:nvSpPr>
              <p:cNvPr id="26" name="Freeform 6">
                <a:extLst>
                  <a:ext uri="{FF2B5EF4-FFF2-40B4-BE49-F238E27FC236}">
                    <a16:creationId xmlns:a16="http://schemas.microsoft.com/office/drawing/2014/main" id="{26E67D38-75E0-4071-95F6-2AE5FDAF866A}"/>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27" name="Freeform 7">
                <a:extLst>
                  <a:ext uri="{FF2B5EF4-FFF2-40B4-BE49-F238E27FC236}">
                    <a16:creationId xmlns:a16="http://schemas.microsoft.com/office/drawing/2014/main" id="{5A2EBA7D-F88D-443E-AA35-69B8AB9B6520}"/>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23" name="组合 22">
              <a:extLst>
                <a:ext uri="{FF2B5EF4-FFF2-40B4-BE49-F238E27FC236}">
                  <a16:creationId xmlns:a16="http://schemas.microsoft.com/office/drawing/2014/main" id="{E3386FE9-1899-4359-9BFD-946DEFB6A584}"/>
                </a:ext>
              </a:extLst>
            </p:cNvPr>
            <p:cNvGrpSpPr/>
            <p:nvPr/>
          </p:nvGrpSpPr>
          <p:grpSpPr>
            <a:xfrm rot="14829167">
              <a:off x="3440583" y="4789517"/>
              <a:ext cx="8786687" cy="8788722"/>
              <a:chOff x="18351500" y="3723568"/>
              <a:chExt cx="4878842" cy="4879972"/>
            </a:xfrm>
          </p:grpSpPr>
          <p:sp>
            <p:nvSpPr>
              <p:cNvPr id="24" name="Freeform 6">
                <a:extLst>
                  <a:ext uri="{FF2B5EF4-FFF2-40B4-BE49-F238E27FC236}">
                    <a16:creationId xmlns:a16="http://schemas.microsoft.com/office/drawing/2014/main" id="{F24A2437-0A2C-45FB-9F89-DF6496635EC3}"/>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7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25" name="Freeform 7">
                <a:extLst>
                  <a:ext uri="{FF2B5EF4-FFF2-40B4-BE49-F238E27FC236}">
                    <a16:creationId xmlns:a16="http://schemas.microsoft.com/office/drawing/2014/main" id="{491B2948-B0A7-4C57-902F-1D49D22C7EC5}"/>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pic>
        <p:nvPicPr>
          <p:cNvPr id="29" name="图片 28">
            <a:extLst>
              <a:ext uri="{FF2B5EF4-FFF2-40B4-BE49-F238E27FC236}">
                <a16:creationId xmlns:a16="http://schemas.microsoft.com/office/drawing/2014/main" id="{54E713C6-2984-4AD1-870F-DA1B300B2CAE}"/>
              </a:ext>
            </a:extLst>
          </p:cNvPr>
          <p:cNvPicPr>
            <a:picLocks noChangeAspect="1"/>
          </p:cNvPicPr>
          <p:nvPr userDrawn="1"/>
        </p:nvPicPr>
        <p:blipFill rotWithShape="1">
          <a:blip r:embed="rId2">
            <a:duotone>
              <a:prstClr val="black"/>
              <a:schemeClr val="accent1">
                <a:tint val="45000"/>
                <a:satMod val="400000"/>
              </a:schemeClr>
            </a:duotone>
          </a:blip>
          <a:srcRect t="4878" r="31497" b="15137"/>
          <a:stretch/>
        </p:blipFill>
        <p:spPr>
          <a:xfrm>
            <a:off x="8745042" y="151774"/>
            <a:ext cx="3285880" cy="803980"/>
          </a:xfrm>
          <a:prstGeom prst="rect">
            <a:avLst/>
          </a:prstGeom>
        </p:spPr>
      </p:pic>
    </p:spTree>
    <p:extLst>
      <p:ext uri="{BB962C8B-B14F-4D97-AF65-F5344CB8AC3E}">
        <p14:creationId xmlns:p14="http://schemas.microsoft.com/office/powerpoint/2010/main" val="1597880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AF93E90-9242-47EA-9503-C81D31940530}"/>
              </a:ext>
            </a:extLst>
          </p:cNvPr>
          <p:cNvSpPr/>
          <p:nvPr userDrawn="1"/>
        </p:nvSpPr>
        <p:spPr>
          <a:xfrm>
            <a:off x="0" y="0"/>
            <a:ext cx="12192000" cy="6858000"/>
          </a:xfrm>
          <a:prstGeom prst="rect">
            <a:avLst/>
          </a:prstGeom>
          <a:gradFill>
            <a:gsLst>
              <a:gs pos="0">
                <a:schemeClr val="bg1"/>
              </a:gs>
              <a:gs pos="10000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p>
        </p:txBody>
      </p:sp>
      <p:sp>
        <p:nvSpPr>
          <p:cNvPr id="3" name="灯片编号占位符 7">
            <a:extLst>
              <a:ext uri="{FF2B5EF4-FFF2-40B4-BE49-F238E27FC236}">
                <a16:creationId xmlns:a16="http://schemas.microsoft.com/office/drawing/2014/main" id="{C3F978FE-3E48-1401-F5BC-1480EF56E14A}"/>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2795629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DF50A41-D5D0-094F-ACFA-76933026B598}" type="datetime1">
              <a:rPr lang="zh-CN" altLang="en-US" smtClean="0"/>
              <a:t>2025/12/9</a:t>
            </a:fld>
            <a:endParaRPr lang="zh-CN" alt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8" name="灯片编号占位符 7">
            <a:extLst>
              <a:ext uri="{FF2B5EF4-FFF2-40B4-BE49-F238E27FC236}">
                <a16:creationId xmlns:a16="http://schemas.microsoft.com/office/drawing/2014/main" id="{1951929C-A4A1-CCA1-7D58-1C9B6247A3B9}"/>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2839671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副标题页">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27C9616-A78E-42B7-B805-E89A55542A54}"/>
              </a:ext>
            </a:extLst>
          </p:cNvPr>
          <p:cNvSpPr/>
          <p:nvPr userDrawn="1"/>
        </p:nvSpPr>
        <p:spPr>
          <a:xfrm>
            <a:off x="0" y="0"/>
            <a:ext cx="12192000" cy="6858000"/>
          </a:xfrm>
          <a:prstGeom prst="rect">
            <a:avLst/>
          </a:prstGeom>
          <a:gradFill>
            <a:gsLst>
              <a:gs pos="0">
                <a:schemeClr val="bg1"/>
              </a:gs>
              <a:gs pos="10000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 name="灯片编号占位符 7">
            <a:extLst>
              <a:ext uri="{FF2B5EF4-FFF2-40B4-BE49-F238E27FC236}">
                <a16:creationId xmlns:a16="http://schemas.microsoft.com/office/drawing/2014/main" id="{F639B804-1261-E23F-0730-1E314A2FDE6C}"/>
              </a:ext>
            </a:extLst>
          </p:cNvPr>
          <p:cNvSpPr>
            <a:spLocks noGrp="1"/>
          </p:cNvSpPr>
          <p:nvPr>
            <p:ph type="sldNum" sz="quarter" idx="12"/>
          </p:nvPr>
        </p:nvSpPr>
        <p:spPr>
          <a:xfrm>
            <a:off x="9508605" y="6564168"/>
            <a:ext cx="2743200" cy="365125"/>
          </a:xfrm>
        </p:spPr>
        <p:txBody>
          <a:bodyPr/>
          <a:lstStyle>
            <a:lvl1pPr>
              <a:defRPr sz="2000"/>
            </a:lvl1pPr>
          </a:lstStyle>
          <a:p>
            <a:fld id="{5DD3DB80-B894-403A-B48E-6FDC1A72010E}" type="slidenum">
              <a:rPr lang="zh-CN" altLang="en-US" smtClean="0"/>
              <a:pPr/>
              <a:t>‹#›</a:t>
            </a:fld>
            <a:endParaRPr lang="zh-CN" altLang="en-US" sz="2000" dirty="0"/>
          </a:p>
        </p:txBody>
      </p:sp>
    </p:spTree>
    <p:extLst>
      <p:ext uri="{BB962C8B-B14F-4D97-AF65-F5344CB8AC3E}">
        <p14:creationId xmlns:p14="http://schemas.microsoft.com/office/powerpoint/2010/main" val="2362924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B9B3896-319D-45EF-A996-F06C435964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073E40-2F7A-654D-BA68-80A2D59C5920}" type="datetime1">
              <a:rPr lang="zh-CN" altLang="en-US" smtClean="0"/>
              <a:t>2025/12/9</a:t>
            </a:fld>
            <a:endParaRPr lang="zh-CN" altLang="en-US"/>
          </a:p>
        </p:txBody>
      </p:sp>
      <p:sp>
        <p:nvSpPr>
          <p:cNvPr id="5" name="页脚占位符 4">
            <a:extLst>
              <a:ext uri="{FF2B5EF4-FFF2-40B4-BE49-F238E27FC236}">
                <a16:creationId xmlns:a16="http://schemas.microsoft.com/office/drawing/2014/main" id="{149B380B-4756-4CAD-8741-32E82C5C11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16C9323-1CD7-4830-B0EE-DC83BF437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F05AE2-E521-4071-B027-062C254CFD7B}" type="slidenum">
              <a:rPr lang="zh-CN" altLang="en-US" smtClean="0"/>
              <a:t>‹#›</a:t>
            </a:fld>
            <a:endParaRPr lang="zh-CN" altLang="en-US"/>
          </a:p>
        </p:txBody>
      </p:sp>
    </p:spTree>
    <p:extLst>
      <p:ext uri="{BB962C8B-B14F-4D97-AF65-F5344CB8AC3E}">
        <p14:creationId xmlns:p14="http://schemas.microsoft.com/office/powerpoint/2010/main" val="328430547"/>
      </p:ext>
    </p:extLst>
  </p:cSld>
  <p:clrMap bg1="lt1" tx1="dk1" bg2="lt2" tx2="dk2" accent1="accent1" accent2="accent2" accent3="accent3" accent4="accent4" accent5="accent5" accent6="accent6" hlink="hlink" folHlink="folHlink"/>
  <p:sldLayoutIdLst>
    <p:sldLayoutId id="2147483652" r:id="rId1"/>
    <p:sldLayoutId id="2147483661" r:id="rId2"/>
    <p:sldLayoutId id="2147483654" r:id="rId3"/>
    <p:sldLayoutId id="2147483666" r:id="rId4"/>
    <p:sldLayoutId id="2147483667" r:id="rId5"/>
    <p:sldLayoutId id="2147483668" r:id="rId6"/>
    <p:sldLayoutId id="2147483655" r:id="rId7"/>
    <p:sldLayoutId id="2147483659" r:id="rId8"/>
    <p:sldLayoutId id="2147483670" r:id="rId9"/>
    <p:sldLayoutId id="2147483671" r:id="rId10"/>
    <p:sldLayoutId id="214748367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8" userDrawn="1">
          <p15:clr>
            <a:srgbClr val="F26B43"/>
          </p15:clr>
        </p15:guide>
        <p15:guide id="2" orient="horz" pos="3968" userDrawn="1">
          <p15:clr>
            <a:srgbClr val="F26B43"/>
          </p15:clr>
        </p15:guide>
        <p15:guide id="3" pos="461" userDrawn="1">
          <p15:clr>
            <a:srgbClr val="F26B43"/>
          </p15:clr>
        </p15:guide>
        <p15:guide id="4" pos="721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NUL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NUL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FC255-7EA1-3FCB-AD73-8EF9270BF329}"/>
            </a:ext>
          </a:extLst>
        </p:cNvPr>
        <p:cNvGrpSpPr/>
        <p:nvPr/>
      </p:nvGrpSpPr>
      <p:grpSpPr>
        <a:xfrm>
          <a:off x="0" y="0"/>
          <a:ext cx="0" cy="0"/>
          <a:chOff x="0" y="0"/>
          <a:chExt cx="0" cy="0"/>
        </a:xfrm>
      </p:grpSpPr>
      <p:sp>
        <p:nvSpPr>
          <p:cNvPr id="24" name="文本框 23">
            <a:extLst>
              <a:ext uri="{FF2B5EF4-FFF2-40B4-BE49-F238E27FC236}">
                <a16:creationId xmlns:a16="http://schemas.microsoft.com/office/drawing/2014/main" id="{8A05D1D1-FC36-E154-503F-D312E24E3AFB}"/>
              </a:ext>
            </a:extLst>
          </p:cNvPr>
          <p:cNvSpPr txBox="1"/>
          <p:nvPr/>
        </p:nvSpPr>
        <p:spPr>
          <a:xfrm>
            <a:off x="715404" y="2009273"/>
            <a:ext cx="7064885" cy="1159603"/>
          </a:xfrm>
          <a:prstGeom prst="rect">
            <a:avLst/>
          </a:prstGeom>
          <a:noFill/>
        </p:spPr>
        <p:txBody>
          <a:bodyPr wrap="none" lIns="0" tIns="0" rIns="0" bIns="0" rtlCol="0">
            <a:noAutofit/>
          </a:bodyPr>
          <a:lstStyle/>
          <a:p>
            <a:pPr algn="just"/>
            <a:r>
              <a:rPr lang="zh-CN" altLang="en-US" sz="7200" b="1" dirty="0">
                <a:solidFill>
                  <a:schemeClr val="bg1"/>
                </a:solidFill>
                <a:latin typeface="+mj-ea"/>
              </a:rPr>
              <a:t>密码学原理</a:t>
            </a:r>
            <a:endParaRPr lang="zh-CN" altLang="zh-CN" sz="7200" b="1" dirty="0">
              <a:solidFill>
                <a:schemeClr val="bg1"/>
              </a:solidFill>
              <a:latin typeface="+mj-ea"/>
            </a:endParaRPr>
          </a:p>
        </p:txBody>
      </p:sp>
      <p:grpSp>
        <p:nvGrpSpPr>
          <p:cNvPr id="60" name="组合 59">
            <a:extLst>
              <a:ext uri="{FF2B5EF4-FFF2-40B4-BE49-F238E27FC236}">
                <a16:creationId xmlns:a16="http://schemas.microsoft.com/office/drawing/2014/main" id="{84A076ED-B5A0-0B6D-5155-C5BD4B6439E4}"/>
              </a:ext>
            </a:extLst>
          </p:cNvPr>
          <p:cNvGrpSpPr/>
          <p:nvPr/>
        </p:nvGrpSpPr>
        <p:grpSpPr>
          <a:xfrm rot="637793">
            <a:off x="6717963" y="-2695151"/>
            <a:ext cx="8786687" cy="13156983"/>
            <a:chOff x="14552960" y="-177472"/>
            <a:chExt cx="7029080" cy="10525183"/>
          </a:xfrm>
        </p:grpSpPr>
        <p:grpSp>
          <p:nvGrpSpPr>
            <p:cNvPr id="50" name="组合 49">
              <a:extLst>
                <a:ext uri="{FF2B5EF4-FFF2-40B4-BE49-F238E27FC236}">
                  <a16:creationId xmlns:a16="http://schemas.microsoft.com/office/drawing/2014/main" id="{3404FA92-C8B0-FDAA-6AD9-192C0379D0BA}"/>
                </a:ext>
              </a:extLst>
            </p:cNvPr>
            <p:cNvGrpSpPr/>
            <p:nvPr/>
          </p:nvGrpSpPr>
          <p:grpSpPr>
            <a:xfrm rot="1495231">
              <a:off x="15166450" y="-177472"/>
              <a:ext cx="4878842" cy="4879972"/>
              <a:chOff x="18351500" y="3723568"/>
              <a:chExt cx="4878842" cy="4879972"/>
            </a:xfrm>
          </p:grpSpPr>
          <p:sp>
            <p:nvSpPr>
              <p:cNvPr id="55" name="Freeform 6">
                <a:extLst>
                  <a:ext uri="{FF2B5EF4-FFF2-40B4-BE49-F238E27FC236}">
                    <a16:creationId xmlns:a16="http://schemas.microsoft.com/office/drawing/2014/main" id="{0D40C975-AF6C-1A30-DCA6-127C8B90290A}"/>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7">
                <a:extLst>
                  <a:ext uri="{FF2B5EF4-FFF2-40B4-BE49-F238E27FC236}">
                    <a16:creationId xmlns:a16="http://schemas.microsoft.com/office/drawing/2014/main" id="{B2BE7C3A-1814-947F-1A09-066A1EE7155F}"/>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373E1E18-065C-349B-ECEA-1205F77A383A}"/>
                </a:ext>
              </a:extLst>
            </p:cNvPr>
            <p:cNvGrpSpPr/>
            <p:nvPr/>
          </p:nvGrpSpPr>
          <p:grpSpPr>
            <a:xfrm rot="12295231">
              <a:off x="14552960" y="3317003"/>
              <a:ext cx="7029080" cy="7030708"/>
              <a:chOff x="18351500" y="3723568"/>
              <a:chExt cx="4878842" cy="4879972"/>
            </a:xfrm>
          </p:grpSpPr>
          <p:sp>
            <p:nvSpPr>
              <p:cNvPr id="58" name="Freeform 6">
                <a:extLst>
                  <a:ext uri="{FF2B5EF4-FFF2-40B4-BE49-F238E27FC236}">
                    <a16:creationId xmlns:a16="http://schemas.microsoft.com/office/drawing/2014/main" id="{8CC3EC3C-5C56-F304-2F57-4D733B6EADEE}"/>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7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7">
                <a:extLst>
                  <a:ext uri="{FF2B5EF4-FFF2-40B4-BE49-F238E27FC236}">
                    <a16:creationId xmlns:a16="http://schemas.microsoft.com/office/drawing/2014/main" id="{13764C36-7064-D34C-7F39-DB42AA175DEE}"/>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12" name="文本框 11">
            <a:extLst>
              <a:ext uri="{FF2B5EF4-FFF2-40B4-BE49-F238E27FC236}">
                <a16:creationId xmlns:a16="http://schemas.microsoft.com/office/drawing/2014/main" id="{DBFE3AB5-262C-842B-D867-F1C9CA5E20BD}"/>
              </a:ext>
            </a:extLst>
          </p:cNvPr>
          <p:cNvSpPr txBox="1"/>
          <p:nvPr/>
        </p:nvSpPr>
        <p:spPr>
          <a:xfrm>
            <a:off x="884238" y="5105840"/>
            <a:ext cx="1991309" cy="748964"/>
          </a:xfrm>
          <a:prstGeom prst="rect">
            <a:avLst/>
          </a:prstGeom>
          <a:noFill/>
        </p:spPr>
        <p:txBody>
          <a:bodyPr wrap="none" lIns="0" tIns="0" rIns="0" bIns="0" rtlCol="0">
            <a:noAutofit/>
          </a:bodyPr>
          <a:lstStyle/>
          <a:p>
            <a:r>
              <a:rPr lang="zh-CN" altLang="en-US" sz="2400" dirty="0">
                <a:solidFill>
                  <a:schemeClr val="bg1"/>
                </a:solidFill>
                <a:latin typeface="+mn-ea"/>
              </a:rPr>
              <a:t>刘广睿</a:t>
            </a:r>
            <a:endParaRPr lang="en-US" altLang="zh-CN" sz="2400" dirty="0">
              <a:solidFill>
                <a:schemeClr val="bg1"/>
              </a:solidFill>
              <a:latin typeface="+mn-ea"/>
            </a:endParaRPr>
          </a:p>
          <a:p>
            <a:r>
              <a:rPr lang="zh-CN" altLang="en-US" sz="2400" dirty="0">
                <a:solidFill>
                  <a:schemeClr val="bg1"/>
                </a:solidFill>
                <a:latin typeface="+mn-ea"/>
              </a:rPr>
              <a:t>哈尔滨工业大学 计算学部</a:t>
            </a:r>
          </a:p>
        </p:txBody>
      </p:sp>
      <p:sp>
        <p:nvSpPr>
          <p:cNvPr id="13" name="文本框 12">
            <a:extLst>
              <a:ext uri="{FF2B5EF4-FFF2-40B4-BE49-F238E27FC236}">
                <a16:creationId xmlns:a16="http://schemas.microsoft.com/office/drawing/2014/main" id="{2A5B60EE-56B9-C0F1-BB28-51194A8D3571}"/>
              </a:ext>
            </a:extLst>
          </p:cNvPr>
          <p:cNvSpPr txBox="1"/>
          <p:nvPr/>
        </p:nvSpPr>
        <p:spPr>
          <a:xfrm>
            <a:off x="884238" y="6098001"/>
            <a:ext cx="1510029" cy="230832"/>
          </a:xfrm>
          <a:prstGeom prst="rect">
            <a:avLst/>
          </a:prstGeom>
          <a:noFill/>
        </p:spPr>
        <p:txBody>
          <a:bodyPr wrap="none" lIns="0" tIns="0" rIns="0" bIns="0" rtlCol="0">
            <a:noAutofit/>
          </a:bodyPr>
          <a:lstStyle/>
          <a:p>
            <a:r>
              <a:rPr lang="en-US" altLang="zh-CN" sz="2400" dirty="0">
                <a:solidFill>
                  <a:schemeClr val="bg1"/>
                </a:solidFill>
              </a:rPr>
              <a:t>2025</a:t>
            </a:r>
            <a:r>
              <a:rPr lang="zh-CN" altLang="en-US" sz="2400" dirty="0">
                <a:solidFill>
                  <a:schemeClr val="bg1"/>
                </a:solidFill>
              </a:rPr>
              <a:t>秋</a:t>
            </a:r>
          </a:p>
        </p:txBody>
      </p:sp>
      <p:sp>
        <p:nvSpPr>
          <p:cNvPr id="4" name="五边形 3">
            <a:extLst>
              <a:ext uri="{FF2B5EF4-FFF2-40B4-BE49-F238E27FC236}">
                <a16:creationId xmlns:a16="http://schemas.microsoft.com/office/drawing/2014/main" id="{31CA5973-2787-F5F4-8BFB-CB49EED2B0DD}"/>
              </a:ext>
            </a:extLst>
          </p:cNvPr>
          <p:cNvSpPr/>
          <p:nvPr/>
        </p:nvSpPr>
        <p:spPr>
          <a:xfrm>
            <a:off x="0" y="3870815"/>
            <a:ext cx="8100646" cy="730010"/>
          </a:xfrm>
          <a:prstGeom prst="homePlate">
            <a:avLst/>
          </a:prstGeom>
          <a:solidFill>
            <a:srgbClr val="D0D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just"/>
            <a:r>
              <a:rPr lang="zh-CN" altLang="en-US" sz="2800" dirty="0">
                <a:solidFill>
                  <a:schemeClr val="accent1"/>
                </a:solidFill>
              </a:rPr>
              <a:t>第</a:t>
            </a:r>
            <a:r>
              <a:rPr lang="en-US" altLang="zh-CN" sz="2800" dirty="0">
                <a:solidFill>
                  <a:schemeClr val="accent1"/>
                </a:solidFill>
              </a:rPr>
              <a:t>13</a:t>
            </a:r>
            <a:r>
              <a:rPr lang="zh-CN" altLang="en-US" sz="2800" dirty="0">
                <a:solidFill>
                  <a:schemeClr val="accent1"/>
                </a:solidFill>
              </a:rPr>
              <a:t>讲：公钥证书</a:t>
            </a:r>
          </a:p>
        </p:txBody>
      </p:sp>
      <p:sp>
        <p:nvSpPr>
          <p:cNvPr id="7" name="文本框 6">
            <a:extLst>
              <a:ext uri="{FF2B5EF4-FFF2-40B4-BE49-F238E27FC236}">
                <a16:creationId xmlns:a16="http://schemas.microsoft.com/office/drawing/2014/main" id="{4F1A942C-FE03-50A9-EF21-668A9A0AE111}"/>
              </a:ext>
            </a:extLst>
          </p:cNvPr>
          <p:cNvSpPr txBox="1"/>
          <p:nvPr/>
        </p:nvSpPr>
        <p:spPr>
          <a:xfrm>
            <a:off x="715404" y="3151011"/>
            <a:ext cx="7620000" cy="584775"/>
          </a:xfrm>
          <a:prstGeom prst="rect">
            <a:avLst/>
          </a:prstGeom>
          <a:noFill/>
        </p:spPr>
        <p:txBody>
          <a:bodyPr wrap="square">
            <a:spAutoFit/>
          </a:bodyPr>
          <a:lstStyle/>
          <a:p>
            <a:pPr algn="just"/>
            <a:r>
              <a:rPr lang="en" altLang="zh-CN" sz="3200" b="1" dirty="0">
                <a:solidFill>
                  <a:schemeClr val="bg1"/>
                </a:solidFill>
                <a:latin typeface="+mj-lt"/>
              </a:rPr>
              <a:t>Cryptography Principles </a:t>
            </a:r>
            <a:endParaRPr lang="en-US" altLang="zh-CN" sz="3200" b="1" dirty="0">
              <a:solidFill>
                <a:schemeClr val="bg1"/>
              </a:solidFill>
              <a:latin typeface="+mj-lt"/>
            </a:endParaRPr>
          </a:p>
        </p:txBody>
      </p:sp>
      <p:pic>
        <p:nvPicPr>
          <p:cNvPr id="2" name="图片 1">
            <a:extLst>
              <a:ext uri="{FF2B5EF4-FFF2-40B4-BE49-F238E27FC236}">
                <a16:creationId xmlns:a16="http://schemas.microsoft.com/office/drawing/2014/main" id="{C1AE2507-45A8-7FC2-8DED-0BCBD5629A78}"/>
              </a:ext>
            </a:extLst>
          </p:cNvPr>
          <p:cNvPicPr>
            <a:picLocks noChangeAspect="1"/>
          </p:cNvPicPr>
          <p:nvPr/>
        </p:nvPicPr>
        <p:blipFill>
          <a:blip r:embed="rId3"/>
          <a:stretch>
            <a:fillRect/>
          </a:stretch>
        </p:blipFill>
        <p:spPr>
          <a:xfrm>
            <a:off x="7626830" y="5575904"/>
            <a:ext cx="4707689" cy="1292858"/>
          </a:xfrm>
          <a:prstGeom prst="rect">
            <a:avLst/>
          </a:prstGeom>
        </p:spPr>
      </p:pic>
    </p:spTree>
    <p:extLst>
      <p:ext uri="{BB962C8B-B14F-4D97-AF65-F5344CB8AC3E}">
        <p14:creationId xmlns:p14="http://schemas.microsoft.com/office/powerpoint/2010/main" val="3190951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107C2-2917-A5E9-001F-CF32F959231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FDBE734-9972-B6DF-7830-3EC6E582DEFE}"/>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上节回顾</a:t>
            </a:r>
          </a:p>
        </p:txBody>
      </p:sp>
      <p:grpSp>
        <p:nvGrpSpPr>
          <p:cNvPr id="3" name="组合 2">
            <a:extLst>
              <a:ext uri="{FF2B5EF4-FFF2-40B4-BE49-F238E27FC236}">
                <a16:creationId xmlns:a16="http://schemas.microsoft.com/office/drawing/2014/main" id="{22CC0CB8-77A2-6EA5-3FC8-17B136FE1242}"/>
              </a:ext>
            </a:extLst>
          </p:cNvPr>
          <p:cNvGrpSpPr/>
          <p:nvPr/>
        </p:nvGrpSpPr>
        <p:grpSpPr>
          <a:xfrm>
            <a:off x="2037741" y="111047"/>
            <a:ext cx="425713" cy="442041"/>
            <a:chOff x="5823870" y="1767426"/>
            <a:chExt cx="425713" cy="442041"/>
          </a:xfrm>
        </p:grpSpPr>
        <p:grpSp>
          <p:nvGrpSpPr>
            <p:cNvPr id="4" name="Group 10">
              <a:extLst>
                <a:ext uri="{FF2B5EF4-FFF2-40B4-BE49-F238E27FC236}">
                  <a16:creationId xmlns:a16="http://schemas.microsoft.com/office/drawing/2014/main" id="{180AA5C4-1F8B-E35B-7C63-40B766C3A2F4}"/>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78DCF2A5-820E-6CF8-E82C-868D2F5F65FC}"/>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CCAED7F8-8F81-C809-5883-4C362134777D}"/>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17C22398-4EA2-53C7-6E7B-BE0B75F15F09}"/>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D23F7A04-5A23-1C0B-EE43-B2C1E08560C7}"/>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CBAFE3F8-F304-028E-9E71-D225A1AEE38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22" name="文本框 21">
            <a:extLst>
              <a:ext uri="{FF2B5EF4-FFF2-40B4-BE49-F238E27FC236}">
                <a16:creationId xmlns:a16="http://schemas.microsoft.com/office/drawing/2014/main" id="{ACCDADD5-9493-B0D2-61B5-1A43EA3F6C0E}"/>
              </a:ext>
            </a:extLst>
          </p:cNvPr>
          <p:cNvSpPr txBox="1"/>
          <p:nvPr/>
        </p:nvSpPr>
        <p:spPr>
          <a:xfrm>
            <a:off x="652513" y="1677787"/>
            <a:ext cx="1288814" cy="769441"/>
          </a:xfrm>
          <a:prstGeom prst="rect">
            <a:avLst/>
          </a:prstGeom>
          <a:noFill/>
        </p:spPr>
        <p:txBody>
          <a:bodyPr wrap="none" lIns="0" tIns="0" rIns="0" bIns="0" rtlCol="0">
            <a:noAutofit/>
          </a:bodyPr>
          <a:lstStyle/>
          <a:p>
            <a:r>
              <a:rPr lang="zh-CN" altLang="en-US" sz="5000" b="1" dirty="0">
                <a:solidFill>
                  <a:schemeClr val="bg2">
                    <a:lumMod val="25000"/>
                  </a:schemeClr>
                </a:solidFill>
              </a:rPr>
              <a:t>回顾</a:t>
            </a:r>
            <a:endParaRPr lang="en-US" altLang="zh-CN" sz="5000" b="1" dirty="0">
              <a:solidFill>
                <a:schemeClr val="bg2">
                  <a:lumMod val="25000"/>
                </a:schemeClr>
              </a:solidFill>
            </a:endParaRPr>
          </a:p>
        </p:txBody>
      </p:sp>
      <p:sp>
        <p:nvSpPr>
          <p:cNvPr id="23" name="文本框 22">
            <a:extLst>
              <a:ext uri="{FF2B5EF4-FFF2-40B4-BE49-F238E27FC236}">
                <a16:creationId xmlns:a16="http://schemas.microsoft.com/office/drawing/2014/main" id="{0C9FF038-7B96-4739-F662-8EDAE440D73F}"/>
              </a:ext>
            </a:extLst>
          </p:cNvPr>
          <p:cNvSpPr txBox="1"/>
          <p:nvPr/>
        </p:nvSpPr>
        <p:spPr>
          <a:xfrm>
            <a:off x="735264" y="1378338"/>
            <a:ext cx="1585370" cy="307777"/>
          </a:xfrm>
          <a:prstGeom prst="rect">
            <a:avLst/>
          </a:prstGeom>
          <a:noFill/>
        </p:spPr>
        <p:txBody>
          <a:bodyPr wrap="none" lIns="0" tIns="0" rIns="0" bIns="0" rtlCol="0">
            <a:noAutofit/>
          </a:bodyPr>
          <a:lstStyle/>
          <a:p>
            <a:pPr algn="l"/>
            <a:r>
              <a:rPr lang="en-US" altLang="zh-CN" sz="2000" b="1" dirty="0">
                <a:solidFill>
                  <a:schemeClr val="bg2">
                    <a:lumMod val="25000"/>
                  </a:schemeClr>
                </a:solidFill>
              </a:rPr>
              <a:t>CONTENTES</a:t>
            </a:r>
            <a:endParaRPr lang="zh-CN" altLang="en-US" sz="2000" b="1" dirty="0">
              <a:solidFill>
                <a:schemeClr val="bg2">
                  <a:lumMod val="25000"/>
                </a:schemeClr>
              </a:solidFill>
            </a:endParaRPr>
          </a:p>
        </p:txBody>
      </p:sp>
      <p:cxnSp>
        <p:nvCxnSpPr>
          <p:cNvPr id="24" name="直接连接符 2">
            <a:extLst>
              <a:ext uri="{FF2B5EF4-FFF2-40B4-BE49-F238E27FC236}">
                <a16:creationId xmlns:a16="http://schemas.microsoft.com/office/drawing/2014/main" id="{1FADC073-070E-BDD0-7C44-F27A98D12D32}"/>
              </a:ext>
            </a:extLst>
          </p:cNvPr>
          <p:cNvCxnSpPr>
            <a:cxnSpLocks/>
          </p:cNvCxnSpPr>
          <p:nvPr/>
        </p:nvCxnSpPr>
        <p:spPr>
          <a:xfrm>
            <a:off x="2857189" y="1378338"/>
            <a:ext cx="0" cy="204263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4ABFEB3D-415A-AD76-0C64-1CE727688AF8}"/>
              </a:ext>
            </a:extLst>
          </p:cNvPr>
          <p:cNvGrpSpPr/>
          <p:nvPr/>
        </p:nvGrpSpPr>
        <p:grpSpPr>
          <a:xfrm>
            <a:off x="3256825" y="1444879"/>
            <a:ext cx="3989097" cy="538609"/>
            <a:chOff x="3667674" y="1375533"/>
            <a:chExt cx="3989097" cy="538609"/>
          </a:xfrm>
        </p:grpSpPr>
        <p:sp>
          <p:nvSpPr>
            <p:cNvPr id="11" name="文本框 10">
              <a:extLst>
                <a:ext uri="{FF2B5EF4-FFF2-40B4-BE49-F238E27FC236}">
                  <a16:creationId xmlns:a16="http://schemas.microsoft.com/office/drawing/2014/main" id="{AC376BCE-E68F-CAAB-92B8-595026F9B78D}"/>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非对称加密算法缺陷</a:t>
              </a:r>
              <a:endParaRPr lang="en-US" altLang="zh-CN" sz="2400" dirty="0">
                <a:solidFill>
                  <a:schemeClr val="accent1"/>
                </a:solidFill>
              </a:endParaRPr>
            </a:p>
          </p:txBody>
        </p:sp>
        <p:sp>
          <p:nvSpPr>
            <p:cNvPr id="12" name="文本框 11">
              <a:extLst>
                <a:ext uri="{FF2B5EF4-FFF2-40B4-BE49-F238E27FC236}">
                  <a16:creationId xmlns:a16="http://schemas.microsoft.com/office/drawing/2014/main" id="{6507345D-AF51-21F9-CB68-EC425A6E9DC8}"/>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#01</a:t>
              </a:r>
              <a:endParaRPr lang="zh-CN" altLang="en-US" sz="2800" dirty="0">
                <a:solidFill>
                  <a:schemeClr val="accent1"/>
                </a:solidFill>
              </a:endParaRPr>
            </a:p>
          </p:txBody>
        </p:sp>
      </p:grpSp>
      <p:grpSp>
        <p:nvGrpSpPr>
          <p:cNvPr id="13" name="组合 12">
            <a:extLst>
              <a:ext uri="{FF2B5EF4-FFF2-40B4-BE49-F238E27FC236}">
                <a16:creationId xmlns:a16="http://schemas.microsoft.com/office/drawing/2014/main" id="{2E0512A2-AE61-C290-1187-5F44729961A4}"/>
              </a:ext>
            </a:extLst>
          </p:cNvPr>
          <p:cNvGrpSpPr/>
          <p:nvPr/>
        </p:nvGrpSpPr>
        <p:grpSpPr>
          <a:xfrm>
            <a:off x="3256825" y="2258765"/>
            <a:ext cx="3989097" cy="538609"/>
            <a:chOff x="3667674" y="1375533"/>
            <a:chExt cx="3989097" cy="538609"/>
          </a:xfrm>
        </p:grpSpPr>
        <p:sp>
          <p:nvSpPr>
            <p:cNvPr id="14" name="文本框 13">
              <a:extLst>
                <a:ext uri="{FF2B5EF4-FFF2-40B4-BE49-F238E27FC236}">
                  <a16:creationId xmlns:a16="http://schemas.microsoft.com/office/drawing/2014/main" id="{C629540A-93F8-044F-A279-9EF32016079B}"/>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数字签名的原理</a:t>
              </a:r>
            </a:p>
          </p:txBody>
        </p:sp>
        <p:sp>
          <p:nvSpPr>
            <p:cNvPr id="15" name="文本框 14">
              <a:extLst>
                <a:ext uri="{FF2B5EF4-FFF2-40B4-BE49-F238E27FC236}">
                  <a16:creationId xmlns:a16="http://schemas.microsoft.com/office/drawing/2014/main" id="{3FECB819-6904-0CBB-C7B2-294131CAB3C4}"/>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#02</a:t>
              </a:r>
              <a:endParaRPr lang="zh-CN" altLang="en-US" sz="2800" dirty="0">
                <a:solidFill>
                  <a:schemeClr val="accent1"/>
                </a:solidFill>
              </a:endParaRPr>
            </a:p>
          </p:txBody>
        </p:sp>
      </p:grpSp>
      <p:grpSp>
        <p:nvGrpSpPr>
          <p:cNvPr id="19" name="组合 18">
            <a:extLst>
              <a:ext uri="{FF2B5EF4-FFF2-40B4-BE49-F238E27FC236}">
                <a16:creationId xmlns:a16="http://schemas.microsoft.com/office/drawing/2014/main" id="{D342458A-FA47-DE0A-E63F-980CD1F3E114}"/>
              </a:ext>
            </a:extLst>
          </p:cNvPr>
          <p:cNvGrpSpPr/>
          <p:nvPr/>
        </p:nvGrpSpPr>
        <p:grpSpPr>
          <a:xfrm>
            <a:off x="3256825" y="3090009"/>
            <a:ext cx="3989097" cy="538609"/>
            <a:chOff x="3667674" y="1375533"/>
            <a:chExt cx="3989097" cy="538609"/>
          </a:xfrm>
        </p:grpSpPr>
        <p:sp>
          <p:nvSpPr>
            <p:cNvPr id="20" name="文本框 19">
              <a:extLst>
                <a:ext uri="{FF2B5EF4-FFF2-40B4-BE49-F238E27FC236}">
                  <a16:creationId xmlns:a16="http://schemas.microsoft.com/office/drawing/2014/main" id="{FB4221B9-5ED6-CD47-3EFA-38881B738CE7}"/>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数字签名的实现</a:t>
              </a:r>
            </a:p>
          </p:txBody>
        </p:sp>
        <p:sp>
          <p:nvSpPr>
            <p:cNvPr id="21" name="文本框 20">
              <a:extLst>
                <a:ext uri="{FF2B5EF4-FFF2-40B4-BE49-F238E27FC236}">
                  <a16:creationId xmlns:a16="http://schemas.microsoft.com/office/drawing/2014/main" id="{F7B377BA-4BB8-AC04-C6AD-4028F2ED8C97}"/>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#03</a:t>
              </a:r>
              <a:endParaRPr lang="zh-CN" altLang="en-US" sz="2800" dirty="0">
                <a:solidFill>
                  <a:schemeClr val="accent1"/>
                </a:solidFill>
              </a:endParaRPr>
            </a:p>
          </p:txBody>
        </p:sp>
      </p:grpSp>
    </p:spTree>
    <p:extLst>
      <p:ext uri="{BB962C8B-B14F-4D97-AF65-F5344CB8AC3E}">
        <p14:creationId xmlns:p14="http://schemas.microsoft.com/office/powerpoint/2010/main" val="4009357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4551B-7A78-5DBC-1C94-6D6EBFB9325F}"/>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28A5EE2-68F1-DC97-96E0-E273EB9A37FB}"/>
              </a:ext>
            </a:extLst>
          </p:cNvPr>
          <p:cNvSpPr>
            <a:spLocks noGrp="1"/>
          </p:cNvSpPr>
          <p:nvPr>
            <p:ph type="sldNum" sz="quarter" idx="12"/>
          </p:nvPr>
        </p:nvSpPr>
        <p:spPr/>
        <p:txBody>
          <a:bodyPr/>
          <a:lstStyle/>
          <a:p>
            <a:fld id="{B8AE17C6-53CA-944D-9421-F2F3A04C57E0}" type="slidenum">
              <a:rPr lang="en-US" smtClean="0"/>
              <a:t>3</a:t>
            </a:fld>
            <a:endParaRPr lang="en-US"/>
          </a:p>
        </p:txBody>
      </p:sp>
      <p:sp>
        <p:nvSpPr>
          <p:cNvPr id="4" name="文本框 3">
            <a:extLst>
              <a:ext uri="{FF2B5EF4-FFF2-40B4-BE49-F238E27FC236}">
                <a16:creationId xmlns:a16="http://schemas.microsoft.com/office/drawing/2014/main" id="{53924DAF-921F-B5FB-E82A-DF4501613254}"/>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非对称加密速度</a:t>
            </a:r>
            <a:r>
              <a:rPr lang="en-US" altLang="zh-CN" sz="3600" b="1" dirty="0">
                <a:solidFill>
                  <a:srgbClr val="2A50A1"/>
                </a:solidFill>
              </a:rPr>
              <a:t>vs</a:t>
            </a:r>
            <a:r>
              <a:rPr lang="zh-CN" altLang="en-US" sz="3600" b="1" dirty="0">
                <a:solidFill>
                  <a:srgbClr val="2A50A1"/>
                </a:solidFill>
              </a:rPr>
              <a:t>对称加密速度</a:t>
            </a:r>
          </a:p>
        </p:txBody>
      </p:sp>
      <p:grpSp>
        <p:nvGrpSpPr>
          <p:cNvPr id="5" name="组合 4">
            <a:extLst>
              <a:ext uri="{FF2B5EF4-FFF2-40B4-BE49-F238E27FC236}">
                <a16:creationId xmlns:a16="http://schemas.microsoft.com/office/drawing/2014/main" id="{632A113E-4A67-87FB-DD28-2BC0E3DADB62}"/>
              </a:ext>
            </a:extLst>
          </p:cNvPr>
          <p:cNvGrpSpPr/>
          <p:nvPr/>
        </p:nvGrpSpPr>
        <p:grpSpPr>
          <a:xfrm>
            <a:off x="6601896" y="97795"/>
            <a:ext cx="425713" cy="442041"/>
            <a:chOff x="5823870" y="1767426"/>
            <a:chExt cx="425713" cy="442041"/>
          </a:xfrm>
        </p:grpSpPr>
        <p:grpSp>
          <p:nvGrpSpPr>
            <p:cNvPr id="7" name="Group 10">
              <a:extLst>
                <a:ext uri="{FF2B5EF4-FFF2-40B4-BE49-F238E27FC236}">
                  <a16:creationId xmlns:a16="http://schemas.microsoft.com/office/drawing/2014/main" id="{F886EA03-6AEB-1621-D2BE-5BC0B76DAAD2}"/>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E4C9635D-147B-52A6-1A2C-E058473959BB}"/>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AA7566AF-104C-D2CA-41FA-39AFB6A6D909}"/>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C004F91E-7632-6218-A06B-C6F29D8A5C43}"/>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CBD7CA12-62DC-D290-4913-F021B6027C64}"/>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684AF1A1-1043-0180-79AE-D8914F8DD1E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graphicFrame>
        <p:nvGraphicFramePr>
          <p:cNvPr id="2" name="表格 1">
            <a:extLst>
              <a:ext uri="{FF2B5EF4-FFF2-40B4-BE49-F238E27FC236}">
                <a16:creationId xmlns:a16="http://schemas.microsoft.com/office/drawing/2014/main" id="{37E0E7FF-CC1B-AECE-5B94-90A6B7EBFA0A}"/>
              </a:ext>
            </a:extLst>
          </p:cNvPr>
          <p:cNvGraphicFramePr>
            <a:graphicFrameLocks noGrp="1"/>
          </p:cNvGraphicFramePr>
          <p:nvPr/>
        </p:nvGraphicFramePr>
        <p:xfrm>
          <a:off x="355600" y="1969235"/>
          <a:ext cx="11480799" cy="3657600"/>
        </p:xfrm>
        <a:graphic>
          <a:graphicData uri="http://schemas.openxmlformats.org/drawingml/2006/table">
            <a:tbl>
              <a:tblPr>
                <a:tableStyleId>{5940675A-B579-460E-94D1-54222C63F5DA}</a:tableStyleId>
              </a:tblPr>
              <a:tblGrid>
                <a:gridCol w="3826933">
                  <a:extLst>
                    <a:ext uri="{9D8B030D-6E8A-4147-A177-3AD203B41FA5}">
                      <a16:colId xmlns:a16="http://schemas.microsoft.com/office/drawing/2014/main" val="1550525452"/>
                    </a:ext>
                  </a:extLst>
                </a:gridCol>
                <a:gridCol w="3826933">
                  <a:extLst>
                    <a:ext uri="{9D8B030D-6E8A-4147-A177-3AD203B41FA5}">
                      <a16:colId xmlns:a16="http://schemas.microsoft.com/office/drawing/2014/main" val="2420597207"/>
                    </a:ext>
                  </a:extLst>
                </a:gridCol>
                <a:gridCol w="3826933">
                  <a:extLst>
                    <a:ext uri="{9D8B030D-6E8A-4147-A177-3AD203B41FA5}">
                      <a16:colId xmlns:a16="http://schemas.microsoft.com/office/drawing/2014/main" val="269574191"/>
                    </a:ext>
                  </a:extLst>
                </a:gridCol>
              </a:tblGrid>
              <a:tr h="0">
                <a:tc>
                  <a:txBody>
                    <a:bodyPr/>
                    <a:lstStyle/>
                    <a:p>
                      <a:pPr>
                        <a:buNone/>
                      </a:pPr>
                      <a:r>
                        <a:rPr lang="zh-CN" altLang="en-US" sz="2400" b="1" dirty="0"/>
                        <a:t>加密算法</a:t>
                      </a:r>
                    </a:p>
                  </a:txBody>
                  <a:tcPr anchor="ctr"/>
                </a:tc>
                <a:tc>
                  <a:txBody>
                    <a:bodyPr/>
                    <a:lstStyle/>
                    <a:p>
                      <a:pPr>
                        <a:buNone/>
                      </a:pPr>
                      <a:r>
                        <a:rPr lang="zh-CN" altLang="en-US" sz="2400" b="1" dirty="0"/>
                        <a:t>加密类型</a:t>
                      </a:r>
                    </a:p>
                  </a:txBody>
                  <a:tcPr anchor="ctr"/>
                </a:tc>
                <a:tc>
                  <a:txBody>
                    <a:bodyPr/>
                    <a:lstStyle/>
                    <a:p>
                      <a:pPr>
                        <a:buNone/>
                      </a:pPr>
                      <a:r>
                        <a:rPr lang="zh-CN" altLang="en-US" sz="2400" b="1" dirty="0"/>
                        <a:t>加密速度</a:t>
                      </a:r>
                    </a:p>
                  </a:txBody>
                  <a:tcPr anchor="ctr"/>
                </a:tc>
                <a:extLst>
                  <a:ext uri="{0D108BD9-81ED-4DB2-BD59-A6C34878D82A}">
                    <a16:rowId xmlns:a16="http://schemas.microsoft.com/office/drawing/2014/main" val="3575730096"/>
                  </a:ext>
                </a:extLst>
              </a:tr>
              <a:tr h="0">
                <a:tc>
                  <a:txBody>
                    <a:bodyPr/>
                    <a:lstStyle/>
                    <a:p>
                      <a:pPr>
                        <a:buNone/>
                      </a:pPr>
                      <a:r>
                        <a:rPr lang="en-US" sz="2400" b="1"/>
                        <a:t>DES</a:t>
                      </a:r>
                    </a:p>
                  </a:txBody>
                  <a:tcPr anchor="ctr"/>
                </a:tc>
                <a:tc>
                  <a:txBody>
                    <a:bodyPr/>
                    <a:lstStyle/>
                    <a:p>
                      <a:pPr>
                        <a:buNone/>
                      </a:pPr>
                      <a:r>
                        <a:rPr lang="zh-CN" altLang="en-US" sz="2400" b="0" dirty="0"/>
                        <a:t>对称加密</a:t>
                      </a:r>
                    </a:p>
                  </a:txBody>
                  <a:tcPr anchor="ctr"/>
                </a:tc>
                <a:tc>
                  <a:txBody>
                    <a:bodyPr/>
                    <a:lstStyle/>
                    <a:p>
                      <a:pPr>
                        <a:buNone/>
                      </a:pPr>
                      <a:r>
                        <a:rPr lang="en-US" sz="2400" b="0" dirty="0"/>
                        <a:t>300 MB/s</a:t>
                      </a:r>
                    </a:p>
                  </a:txBody>
                  <a:tcPr anchor="ctr"/>
                </a:tc>
                <a:extLst>
                  <a:ext uri="{0D108BD9-81ED-4DB2-BD59-A6C34878D82A}">
                    <a16:rowId xmlns:a16="http://schemas.microsoft.com/office/drawing/2014/main" val="471036675"/>
                  </a:ext>
                </a:extLst>
              </a:tr>
              <a:tr h="0">
                <a:tc>
                  <a:txBody>
                    <a:bodyPr/>
                    <a:lstStyle/>
                    <a:p>
                      <a:pPr>
                        <a:buNone/>
                      </a:pPr>
                      <a:r>
                        <a:rPr lang="en-US" sz="2400" b="1"/>
                        <a:t>3DES</a:t>
                      </a:r>
                    </a:p>
                  </a:txBody>
                  <a:tcPr anchor="ctr"/>
                </a:tc>
                <a:tc>
                  <a:txBody>
                    <a:bodyPr/>
                    <a:lstStyle/>
                    <a:p>
                      <a:pPr>
                        <a:buNone/>
                      </a:pPr>
                      <a:r>
                        <a:rPr lang="zh-CN" altLang="en-US" sz="2400" b="0" dirty="0"/>
                        <a:t>对称加密</a:t>
                      </a:r>
                    </a:p>
                  </a:txBody>
                  <a:tcPr anchor="ctr"/>
                </a:tc>
                <a:tc>
                  <a:txBody>
                    <a:bodyPr/>
                    <a:lstStyle/>
                    <a:p>
                      <a:pPr>
                        <a:buNone/>
                      </a:pPr>
                      <a:r>
                        <a:rPr lang="en-US" sz="2400" b="0" dirty="0"/>
                        <a:t>40 MB/s</a:t>
                      </a:r>
                    </a:p>
                  </a:txBody>
                  <a:tcPr anchor="ctr"/>
                </a:tc>
                <a:extLst>
                  <a:ext uri="{0D108BD9-81ED-4DB2-BD59-A6C34878D82A}">
                    <a16:rowId xmlns:a16="http://schemas.microsoft.com/office/drawing/2014/main" val="3267999286"/>
                  </a:ext>
                </a:extLst>
              </a:tr>
              <a:tr h="0">
                <a:tc>
                  <a:txBody>
                    <a:bodyPr/>
                    <a:lstStyle/>
                    <a:p>
                      <a:pPr>
                        <a:buNone/>
                      </a:pPr>
                      <a:r>
                        <a:rPr lang="en-US" sz="2400" b="1"/>
                        <a:t>AES-128</a:t>
                      </a:r>
                    </a:p>
                  </a:txBody>
                  <a:tcPr anchor="ctr"/>
                </a:tc>
                <a:tc>
                  <a:txBody>
                    <a:bodyPr/>
                    <a:lstStyle/>
                    <a:p>
                      <a:pPr>
                        <a:buNone/>
                      </a:pPr>
                      <a:r>
                        <a:rPr lang="zh-CN" altLang="en-US" sz="2400" b="0" dirty="0"/>
                        <a:t>对称加密</a:t>
                      </a:r>
                    </a:p>
                  </a:txBody>
                  <a:tcPr anchor="ctr"/>
                </a:tc>
                <a:tc>
                  <a:txBody>
                    <a:bodyPr/>
                    <a:lstStyle/>
                    <a:p>
                      <a:pPr>
                        <a:buNone/>
                      </a:pPr>
                      <a:r>
                        <a:rPr lang="en-US" sz="2400" b="0" dirty="0"/>
                        <a:t>1500 MB/s</a:t>
                      </a:r>
                    </a:p>
                  </a:txBody>
                  <a:tcPr anchor="ctr"/>
                </a:tc>
                <a:extLst>
                  <a:ext uri="{0D108BD9-81ED-4DB2-BD59-A6C34878D82A}">
                    <a16:rowId xmlns:a16="http://schemas.microsoft.com/office/drawing/2014/main" val="3245859367"/>
                  </a:ext>
                </a:extLst>
              </a:tr>
              <a:tr h="0">
                <a:tc>
                  <a:txBody>
                    <a:bodyPr/>
                    <a:lstStyle/>
                    <a:p>
                      <a:pPr>
                        <a:buNone/>
                      </a:pPr>
                      <a:r>
                        <a:rPr lang="en-US" sz="2400" b="1"/>
                        <a:t>AES-256</a:t>
                      </a:r>
                    </a:p>
                  </a:txBody>
                  <a:tcPr anchor="ctr"/>
                </a:tc>
                <a:tc>
                  <a:txBody>
                    <a:bodyPr/>
                    <a:lstStyle/>
                    <a:p>
                      <a:pPr>
                        <a:buNone/>
                      </a:pPr>
                      <a:r>
                        <a:rPr lang="zh-CN" altLang="en-US" sz="2400" b="0" dirty="0"/>
                        <a:t>对称加密</a:t>
                      </a:r>
                    </a:p>
                  </a:txBody>
                  <a:tcPr anchor="ctr"/>
                </a:tc>
                <a:tc>
                  <a:txBody>
                    <a:bodyPr/>
                    <a:lstStyle/>
                    <a:p>
                      <a:pPr>
                        <a:buNone/>
                      </a:pPr>
                      <a:r>
                        <a:rPr lang="en-US" sz="2400" b="0" dirty="0"/>
                        <a:t>1000 MB/s</a:t>
                      </a:r>
                    </a:p>
                  </a:txBody>
                  <a:tcPr anchor="ctr"/>
                </a:tc>
                <a:extLst>
                  <a:ext uri="{0D108BD9-81ED-4DB2-BD59-A6C34878D82A}">
                    <a16:rowId xmlns:a16="http://schemas.microsoft.com/office/drawing/2014/main" val="3038022852"/>
                  </a:ext>
                </a:extLst>
              </a:tr>
              <a:tr h="0">
                <a:tc>
                  <a:txBody>
                    <a:bodyPr/>
                    <a:lstStyle/>
                    <a:p>
                      <a:pPr>
                        <a:buNone/>
                      </a:pPr>
                      <a:r>
                        <a:rPr lang="en-US" sz="2400" b="1"/>
                        <a:t>RSA-2048</a:t>
                      </a:r>
                    </a:p>
                  </a:txBody>
                  <a:tcPr anchor="ctr"/>
                </a:tc>
                <a:tc>
                  <a:txBody>
                    <a:bodyPr/>
                    <a:lstStyle/>
                    <a:p>
                      <a:pPr>
                        <a:buNone/>
                      </a:pPr>
                      <a:r>
                        <a:rPr lang="zh-CN" altLang="en-US" sz="2400" b="0" dirty="0"/>
                        <a:t>非对称加密</a:t>
                      </a:r>
                    </a:p>
                  </a:txBody>
                  <a:tcPr anchor="ctr"/>
                </a:tc>
                <a:tc>
                  <a:txBody>
                    <a:bodyPr/>
                    <a:lstStyle/>
                    <a:p>
                      <a:pPr>
                        <a:buNone/>
                      </a:pPr>
                      <a:r>
                        <a:rPr lang="en-US" sz="2400" b="0" dirty="0"/>
                        <a:t>0.03 MB/s</a:t>
                      </a:r>
                    </a:p>
                  </a:txBody>
                  <a:tcPr anchor="ctr"/>
                </a:tc>
                <a:extLst>
                  <a:ext uri="{0D108BD9-81ED-4DB2-BD59-A6C34878D82A}">
                    <a16:rowId xmlns:a16="http://schemas.microsoft.com/office/drawing/2014/main" val="760644065"/>
                  </a:ext>
                </a:extLst>
              </a:tr>
              <a:tr h="0">
                <a:tc>
                  <a:txBody>
                    <a:bodyPr/>
                    <a:lstStyle/>
                    <a:p>
                      <a:pPr>
                        <a:buNone/>
                      </a:pPr>
                      <a:r>
                        <a:rPr lang="en-US" sz="2400" b="1"/>
                        <a:t>RSA-3072</a:t>
                      </a:r>
                    </a:p>
                  </a:txBody>
                  <a:tcPr anchor="ctr"/>
                </a:tc>
                <a:tc>
                  <a:txBody>
                    <a:bodyPr/>
                    <a:lstStyle/>
                    <a:p>
                      <a:pPr>
                        <a:buNone/>
                      </a:pPr>
                      <a:r>
                        <a:rPr lang="zh-CN" altLang="en-US" sz="2400" b="0" dirty="0"/>
                        <a:t>非对称加密</a:t>
                      </a:r>
                    </a:p>
                  </a:txBody>
                  <a:tcPr anchor="ctr"/>
                </a:tc>
                <a:tc>
                  <a:txBody>
                    <a:bodyPr/>
                    <a:lstStyle/>
                    <a:p>
                      <a:pPr>
                        <a:buNone/>
                      </a:pPr>
                      <a:r>
                        <a:rPr lang="en-US" sz="2400" b="0" dirty="0"/>
                        <a:t>0.01 MB/s</a:t>
                      </a:r>
                    </a:p>
                  </a:txBody>
                  <a:tcPr anchor="ctr"/>
                </a:tc>
                <a:extLst>
                  <a:ext uri="{0D108BD9-81ED-4DB2-BD59-A6C34878D82A}">
                    <a16:rowId xmlns:a16="http://schemas.microsoft.com/office/drawing/2014/main" val="1860780808"/>
                  </a:ext>
                </a:extLst>
              </a:tr>
              <a:tr h="0">
                <a:tc>
                  <a:txBody>
                    <a:bodyPr/>
                    <a:lstStyle/>
                    <a:p>
                      <a:pPr>
                        <a:buNone/>
                      </a:pPr>
                      <a:r>
                        <a:rPr lang="en-US" sz="2400" b="1" dirty="0"/>
                        <a:t>ECC（P-256）</a:t>
                      </a:r>
                    </a:p>
                  </a:txBody>
                  <a:tcPr anchor="ctr"/>
                </a:tc>
                <a:tc>
                  <a:txBody>
                    <a:bodyPr/>
                    <a:lstStyle/>
                    <a:p>
                      <a:pPr>
                        <a:buNone/>
                      </a:pPr>
                      <a:r>
                        <a:rPr lang="zh-CN" altLang="en-US" sz="2400" b="0" dirty="0"/>
                        <a:t>非对称加密</a:t>
                      </a:r>
                    </a:p>
                  </a:txBody>
                  <a:tcPr anchor="ctr"/>
                </a:tc>
                <a:tc>
                  <a:txBody>
                    <a:bodyPr/>
                    <a:lstStyle/>
                    <a:p>
                      <a:pPr>
                        <a:buNone/>
                      </a:pPr>
                      <a:r>
                        <a:rPr lang="en-US" sz="2400" b="0" dirty="0"/>
                        <a:t>0.25 MB/s</a:t>
                      </a:r>
                    </a:p>
                  </a:txBody>
                  <a:tcPr anchor="ctr"/>
                </a:tc>
                <a:extLst>
                  <a:ext uri="{0D108BD9-81ED-4DB2-BD59-A6C34878D82A}">
                    <a16:rowId xmlns:a16="http://schemas.microsoft.com/office/drawing/2014/main" val="4058647189"/>
                  </a:ext>
                </a:extLst>
              </a:tr>
            </a:tbl>
          </a:graphicData>
        </a:graphic>
      </p:graphicFrame>
      <p:sp>
        <p:nvSpPr>
          <p:cNvPr id="13" name="文本框 12">
            <a:extLst>
              <a:ext uri="{FF2B5EF4-FFF2-40B4-BE49-F238E27FC236}">
                <a16:creationId xmlns:a16="http://schemas.microsoft.com/office/drawing/2014/main" id="{276BDB82-2C15-4EE8-EC26-B39589A44935}"/>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非对称加密算法加密速度远低于对称加密算法</a:t>
            </a:r>
          </a:p>
        </p:txBody>
      </p:sp>
    </p:spTree>
    <p:extLst>
      <p:ext uri="{BB962C8B-B14F-4D97-AF65-F5344CB8AC3E}">
        <p14:creationId xmlns:p14="http://schemas.microsoft.com/office/powerpoint/2010/main" val="672780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F06E2-07E5-0081-03A9-D61CFE4E44E4}"/>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5CF5122-88C9-2EE4-0492-461CFDEE9164}"/>
              </a:ext>
            </a:extLst>
          </p:cNvPr>
          <p:cNvSpPr>
            <a:spLocks noGrp="1"/>
          </p:cNvSpPr>
          <p:nvPr>
            <p:ph type="sldNum" sz="quarter" idx="12"/>
          </p:nvPr>
        </p:nvSpPr>
        <p:spPr/>
        <p:txBody>
          <a:bodyPr/>
          <a:lstStyle/>
          <a:p>
            <a:fld id="{B8AE17C6-53CA-944D-9421-F2F3A04C57E0}" type="slidenum">
              <a:rPr lang="en-US" smtClean="0"/>
              <a:t>4</a:t>
            </a:fld>
            <a:endParaRPr lang="en-US"/>
          </a:p>
        </p:txBody>
      </p:sp>
      <p:sp>
        <p:nvSpPr>
          <p:cNvPr id="4" name="文本框 3">
            <a:extLst>
              <a:ext uri="{FF2B5EF4-FFF2-40B4-BE49-F238E27FC236}">
                <a16:creationId xmlns:a16="http://schemas.microsoft.com/office/drawing/2014/main" id="{68D95976-D142-725E-8FCD-D4D6D89FAC06}"/>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混合密码系统</a:t>
            </a:r>
          </a:p>
        </p:txBody>
      </p:sp>
      <p:grpSp>
        <p:nvGrpSpPr>
          <p:cNvPr id="5" name="组合 4">
            <a:extLst>
              <a:ext uri="{FF2B5EF4-FFF2-40B4-BE49-F238E27FC236}">
                <a16:creationId xmlns:a16="http://schemas.microsoft.com/office/drawing/2014/main" id="{C29D5197-A7DC-DDA1-8520-FCF03BE58A6B}"/>
              </a:ext>
            </a:extLst>
          </p:cNvPr>
          <p:cNvGrpSpPr/>
          <p:nvPr/>
        </p:nvGrpSpPr>
        <p:grpSpPr>
          <a:xfrm>
            <a:off x="2969696" y="97795"/>
            <a:ext cx="425713" cy="442041"/>
            <a:chOff x="5823870" y="1767426"/>
            <a:chExt cx="425713" cy="442041"/>
          </a:xfrm>
        </p:grpSpPr>
        <p:grpSp>
          <p:nvGrpSpPr>
            <p:cNvPr id="7" name="Group 10">
              <a:extLst>
                <a:ext uri="{FF2B5EF4-FFF2-40B4-BE49-F238E27FC236}">
                  <a16:creationId xmlns:a16="http://schemas.microsoft.com/office/drawing/2014/main" id="{4D3DCD5A-BDB0-A462-436A-19F364BCD6DA}"/>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D0EB0FF8-2A66-477A-CEA5-7A38C279C9D4}"/>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8989AAF7-A3C5-A284-1A8F-3059B88303B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DEBB2F4B-4519-A493-EAE7-D16A8FFA1C34}"/>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D338455A-AB9A-0D49-859E-9AA8B7E2EBE9}"/>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A7DED3EE-E662-64ED-9194-D61DED0882DC}"/>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33595109-3139-402B-D18F-CD1863A777A3}"/>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同时使用对称加密与非对称加密</a:t>
            </a:r>
          </a:p>
        </p:txBody>
      </p:sp>
      <p:grpSp>
        <p:nvGrpSpPr>
          <p:cNvPr id="15" name="组合 14">
            <a:extLst>
              <a:ext uri="{FF2B5EF4-FFF2-40B4-BE49-F238E27FC236}">
                <a16:creationId xmlns:a16="http://schemas.microsoft.com/office/drawing/2014/main" id="{0B72ECF4-6783-0472-379A-9A2983AB4F20}"/>
              </a:ext>
            </a:extLst>
          </p:cNvPr>
          <p:cNvGrpSpPr/>
          <p:nvPr/>
        </p:nvGrpSpPr>
        <p:grpSpPr>
          <a:xfrm>
            <a:off x="575039" y="1680063"/>
            <a:ext cx="11041922" cy="1964281"/>
            <a:chOff x="4939871" y="1583809"/>
            <a:chExt cx="7149348" cy="2811756"/>
          </a:xfrm>
        </p:grpSpPr>
        <p:sp>
          <p:nvSpPr>
            <p:cNvPr id="16" name="矩形 15">
              <a:extLst>
                <a:ext uri="{FF2B5EF4-FFF2-40B4-BE49-F238E27FC236}">
                  <a16:creationId xmlns:a16="http://schemas.microsoft.com/office/drawing/2014/main" id="{C72CFCFF-13FE-784A-ED3F-74F4E6AB3D33}"/>
                </a:ext>
              </a:extLst>
            </p:cNvPr>
            <p:cNvSpPr/>
            <p:nvPr/>
          </p:nvSpPr>
          <p:spPr>
            <a:xfrm>
              <a:off x="4939871" y="1583809"/>
              <a:ext cx="7149348" cy="2811756"/>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文本框 16">
              <a:extLst>
                <a:ext uri="{FF2B5EF4-FFF2-40B4-BE49-F238E27FC236}">
                  <a16:creationId xmlns:a16="http://schemas.microsoft.com/office/drawing/2014/main" id="{2DE1CEC4-53A9-0B77-EF92-05694352DB99}"/>
                </a:ext>
              </a:extLst>
            </p:cNvPr>
            <p:cNvSpPr txBox="1"/>
            <p:nvPr/>
          </p:nvSpPr>
          <p:spPr>
            <a:xfrm>
              <a:off x="5176707" y="1842653"/>
              <a:ext cx="6675677" cy="950636"/>
            </a:xfrm>
            <a:prstGeom prst="rect">
              <a:avLst/>
            </a:prstGeom>
            <a:noFill/>
          </p:spPr>
          <p:txBody>
            <a:bodyPr wrap="square" lIns="0" tIns="0" rIns="0" bIns="0" rtlCol="0">
              <a:noAutofit/>
            </a:bodyPr>
            <a:lstStyle/>
            <a:p>
              <a:r>
                <a:rPr lang="zh-CN" altLang="en-US" sz="3200" dirty="0"/>
                <a:t>利用</a:t>
              </a:r>
              <a:r>
                <a:rPr lang="zh-CN" altLang="en-US" sz="3200" dirty="0">
                  <a:solidFill>
                    <a:srgbClr val="FF0000"/>
                  </a:solidFill>
                </a:rPr>
                <a:t>对称加密</a:t>
              </a:r>
              <a:r>
                <a:rPr lang="zh-CN" altLang="en-US" sz="3200" dirty="0"/>
                <a:t>算法</a:t>
              </a:r>
              <a:r>
                <a:rPr lang="zh-CN" altLang="en-US" sz="3200" dirty="0">
                  <a:solidFill>
                    <a:srgbClr val="FF0000"/>
                  </a:solidFill>
                </a:rPr>
                <a:t>速度快</a:t>
              </a:r>
              <a:r>
                <a:rPr lang="zh-CN" altLang="en-US" sz="3200" dirty="0"/>
                <a:t>的优点：</a:t>
              </a:r>
              <a:endParaRPr lang="en-US" altLang="zh-CN" sz="3200" dirty="0"/>
            </a:p>
            <a:p>
              <a:endParaRPr lang="en-US" altLang="zh-CN" sz="900" dirty="0"/>
            </a:p>
            <a:p>
              <a:r>
                <a:rPr lang="zh-CN" altLang="en-US" sz="3200" dirty="0"/>
                <a:t>对称加密算法加密消息，并定期更新密钥（会话密钥），以保障系统</a:t>
              </a:r>
              <a:r>
                <a:rPr lang="zh-CN" altLang="en-US" sz="3200" dirty="0">
                  <a:solidFill>
                    <a:srgbClr val="FF0000"/>
                  </a:solidFill>
                </a:rPr>
                <a:t>时效性</a:t>
              </a:r>
            </a:p>
          </p:txBody>
        </p:sp>
      </p:grpSp>
      <p:grpSp>
        <p:nvGrpSpPr>
          <p:cNvPr id="18" name="组合 17">
            <a:extLst>
              <a:ext uri="{FF2B5EF4-FFF2-40B4-BE49-F238E27FC236}">
                <a16:creationId xmlns:a16="http://schemas.microsoft.com/office/drawing/2014/main" id="{C0E0E12E-64CE-CB40-0393-345AAE4B2FB9}"/>
              </a:ext>
            </a:extLst>
          </p:cNvPr>
          <p:cNvGrpSpPr/>
          <p:nvPr/>
        </p:nvGrpSpPr>
        <p:grpSpPr>
          <a:xfrm>
            <a:off x="575039" y="3982306"/>
            <a:ext cx="11041922" cy="1964281"/>
            <a:chOff x="4939871" y="1583809"/>
            <a:chExt cx="7149348" cy="2811756"/>
          </a:xfrm>
        </p:grpSpPr>
        <p:sp>
          <p:nvSpPr>
            <p:cNvPr id="19" name="矩形 18">
              <a:extLst>
                <a:ext uri="{FF2B5EF4-FFF2-40B4-BE49-F238E27FC236}">
                  <a16:creationId xmlns:a16="http://schemas.microsoft.com/office/drawing/2014/main" id="{7EFF5C70-0270-9915-E4D3-96938B9F908B}"/>
                </a:ext>
              </a:extLst>
            </p:cNvPr>
            <p:cNvSpPr/>
            <p:nvPr/>
          </p:nvSpPr>
          <p:spPr>
            <a:xfrm>
              <a:off x="4939871" y="1583809"/>
              <a:ext cx="7149348" cy="2811756"/>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0" name="文本框 19">
              <a:extLst>
                <a:ext uri="{FF2B5EF4-FFF2-40B4-BE49-F238E27FC236}">
                  <a16:creationId xmlns:a16="http://schemas.microsoft.com/office/drawing/2014/main" id="{A44A88F6-F1FD-7A41-177B-AC263FA7FA37}"/>
                </a:ext>
              </a:extLst>
            </p:cNvPr>
            <p:cNvSpPr txBox="1"/>
            <p:nvPr/>
          </p:nvSpPr>
          <p:spPr>
            <a:xfrm>
              <a:off x="5176707" y="1798518"/>
              <a:ext cx="6675677" cy="950636"/>
            </a:xfrm>
            <a:prstGeom prst="rect">
              <a:avLst/>
            </a:prstGeom>
            <a:noFill/>
          </p:spPr>
          <p:txBody>
            <a:bodyPr wrap="square" lIns="0" tIns="0" rIns="0" bIns="0" rtlCol="0">
              <a:noAutofit/>
            </a:bodyPr>
            <a:lstStyle/>
            <a:p>
              <a:r>
                <a:rPr lang="zh-CN" altLang="en-US" sz="3200" dirty="0"/>
                <a:t>利用</a:t>
              </a:r>
              <a:r>
                <a:rPr lang="zh-CN" altLang="en-US" sz="3200" dirty="0">
                  <a:solidFill>
                    <a:srgbClr val="FF0000"/>
                  </a:solidFill>
                </a:rPr>
                <a:t>非对称加密</a:t>
              </a:r>
              <a:r>
                <a:rPr lang="zh-CN" altLang="en-US" sz="3200" dirty="0"/>
                <a:t>算法</a:t>
              </a:r>
              <a:r>
                <a:rPr lang="zh-CN" altLang="en-US" sz="3200" dirty="0">
                  <a:solidFill>
                    <a:srgbClr val="FF0000"/>
                  </a:solidFill>
                </a:rPr>
                <a:t>安全性高</a:t>
              </a:r>
              <a:r>
                <a:rPr lang="zh-CN" altLang="en-US" sz="3200" dirty="0"/>
                <a:t>的优点：</a:t>
              </a:r>
              <a:endParaRPr lang="en-US" altLang="zh-CN" sz="3200" dirty="0"/>
            </a:p>
            <a:p>
              <a:endParaRPr lang="en-US" altLang="zh-CN" sz="900" dirty="0"/>
            </a:p>
            <a:p>
              <a:r>
                <a:rPr lang="zh-CN" altLang="en-US" sz="3200" dirty="0"/>
                <a:t>非对称加密算法加密密钥（对称加密算法的密钥），以保障系统</a:t>
              </a:r>
              <a:r>
                <a:rPr lang="zh-CN" altLang="en-US" sz="3200" dirty="0">
                  <a:solidFill>
                    <a:srgbClr val="FF0000"/>
                  </a:solidFill>
                </a:rPr>
                <a:t>安全性</a:t>
              </a:r>
            </a:p>
          </p:txBody>
        </p:sp>
      </p:grpSp>
    </p:spTree>
    <p:extLst>
      <p:ext uri="{BB962C8B-B14F-4D97-AF65-F5344CB8AC3E}">
        <p14:creationId xmlns:p14="http://schemas.microsoft.com/office/powerpoint/2010/main" val="320948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7B1C-D93C-89AF-F700-8E8A1763262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B04FD4E-76D8-B234-1108-B38A902E0B91}"/>
              </a:ext>
            </a:extLst>
          </p:cNvPr>
          <p:cNvSpPr>
            <a:spLocks noGrp="1"/>
          </p:cNvSpPr>
          <p:nvPr>
            <p:ph type="sldNum" sz="quarter" idx="12"/>
          </p:nvPr>
        </p:nvSpPr>
        <p:spPr/>
        <p:txBody>
          <a:bodyPr/>
          <a:lstStyle/>
          <a:p>
            <a:fld id="{B8AE17C6-53CA-944D-9421-F2F3A04C57E0}" type="slidenum">
              <a:rPr lang="en-US" smtClean="0"/>
              <a:t>5</a:t>
            </a:fld>
            <a:endParaRPr lang="en-US"/>
          </a:p>
        </p:txBody>
      </p:sp>
      <p:sp>
        <p:nvSpPr>
          <p:cNvPr id="4" name="文本框 3">
            <a:extLst>
              <a:ext uri="{FF2B5EF4-FFF2-40B4-BE49-F238E27FC236}">
                <a16:creationId xmlns:a16="http://schemas.microsoft.com/office/drawing/2014/main" id="{E2110D8A-E2DA-2B93-AD16-6AF7506EA1B5}"/>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混合密码系统</a:t>
            </a:r>
          </a:p>
        </p:txBody>
      </p:sp>
      <p:grpSp>
        <p:nvGrpSpPr>
          <p:cNvPr id="5" name="组合 4">
            <a:extLst>
              <a:ext uri="{FF2B5EF4-FFF2-40B4-BE49-F238E27FC236}">
                <a16:creationId xmlns:a16="http://schemas.microsoft.com/office/drawing/2014/main" id="{81583228-8697-E75D-BD42-92DEE7A63DA3}"/>
              </a:ext>
            </a:extLst>
          </p:cNvPr>
          <p:cNvGrpSpPr/>
          <p:nvPr/>
        </p:nvGrpSpPr>
        <p:grpSpPr>
          <a:xfrm>
            <a:off x="2969696" y="97795"/>
            <a:ext cx="425713" cy="442041"/>
            <a:chOff x="5823870" y="1767426"/>
            <a:chExt cx="425713" cy="442041"/>
          </a:xfrm>
        </p:grpSpPr>
        <p:grpSp>
          <p:nvGrpSpPr>
            <p:cNvPr id="7" name="Group 10">
              <a:extLst>
                <a:ext uri="{FF2B5EF4-FFF2-40B4-BE49-F238E27FC236}">
                  <a16:creationId xmlns:a16="http://schemas.microsoft.com/office/drawing/2014/main" id="{79921EBD-8EA5-ADEE-7D6A-4FEBD0F3F613}"/>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A519228F-F145-1F67-F056-B9142400CEB6}"/>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E8AAC162-60DF-4E4F-603B-60B07E18E80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BC95A409-4B9A-F525-0951-7D10AC32D101}"/>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99162715-C32A-112B-71E1-A31D0E16DDFE}"/>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B7A9A0AC-8E26-2C9F-C941-B921C07D06BB}"/>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0825A067-99D9-5A92-9112-AA7238C37CF9}"/>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同时使用对称加密与非对称加密</a:t>
            </a:r>
          </a:p>
        </p:txBody>
      </p:sp>
      <p:pic>
        <p:nvPicPr>
          <p:cNvPr id="6" name="图片 5">
            <a:extLst>
              <a:ext uri="{FF2B5EF4-FFF2-40B4-BE49-F238E27FC236}">
                <a16:creationId xmlns:a16="http://schemas.microsoft.com/office/drawing/2014/main" id="{196A2035-126F-F0EB-73F6-4BE679A09095}"/>
              </a:ext>
            </a:extLst>
          </p:cNvPr>
          <p:cNvPicPr>
            <a:picLocks noChangeAspect="1"/>
          </p:cNvPicPr>
          <p:nvPr/>
        </p:nvPicPr>
        <p:blipFill>
          <a:blip r:embed="rId3"/>
          <a:stretch>
            <a:fillRect/>
          </a:stretch>
        </p:blipFill>
        <p:spPr>
          <a:xfrm>
            <a:off x="6096000" y="1381225"/>
            <a:ext cx="4680626" cy="5041900"/>
          </a:xfrm>
          <a:prstGeom prst="rect">
            <a:avLst/>
          </a:prstGeom>
        </p:spPr>
      </p:pic>
      <p:pic>
        <p:nvPicPr>
          <p:cNvPr id="21" name="图片 20">
            <a:extLst>
              <a:ext uri="{FF2B5EF4-FFF2-40B4-BE49-F238E27FC236}">
                <a16:creationId xmlns:a16="http://schemas.microsoft.com/office/drawing/2014/main" id="{4ED33C61-7CD1-7B97-67CE-0D0A07180CBA}"/>
              </a:ext>
            </a:extLst>
          </p:cNvPr>
          <p:cNvPicPr>
            <a:picLocks noChangeAspect="1"/>
          </p:cNvPicPr>
          <p:nvPr/>
        </p:nvPicPr>
        <p:blipFill>
          <a:blip r:embed="rId4"/>
          <a:stretch>
            <a:fillRect/>
          </a:stretch>
        </p:blipFill>
        <p:spPr>
          <a:xfrm>
            <a:off x="528605" y="1298658"/>
            <a:ext cx="3751295" cy="5131535"/>
          </a:xfrm>
          <a:prstGeom prst="rect">
            <a:avLst/>
          </a:prstGeom>
        </p:spPr>
      </p:pic>
      <p:sp>
        <p:nvSpPr>
          <p:cNvPr id="23" name="文本框 22">
            <a:extLst>
              <a:ext uri="{FF2B5EF4-FFF2-40B4-BE49-F238E27FC236}">
                <a16:creationId xmlns:a16="http://schemas.microsoft.com/office/drawing/2014/main" id="{736724CD-D339-13D2-68D1-FFE9D87D48CC}"/>
              </a:ext>
            </a:extLst>
          </p:cNvPr>
          <p:cNvSpPr txBox="1"/>
          <p:nvPr/>
        </p:nvSpPr>
        <p:spPr>
          <a:xfrm>
            <a:off x="1747040" y="6430193"/>
            <a:ext cx="2279650" cy="369332"/>
          </a:xfrm>
          <a:prstGeom prst="rect">
            <a:avLst/>
          </a:prstGeom>
          <a:noFill/>
        </p:spPr>
        <p:txBody>
          <a:bodyPr wrap="square">
            <a:spAutoFit/>
          </a:bodyPr>
          <a:lstStyle/>
          <a:p>
            <a:r>
              <a:rPr lang="zh-CN" altLang="en-US" dirty="0"/>
              <a:t>混合密钥系统的加密</a:t>
            </a:r>
          </a:p>
        </p:txBody>
      </p:sp>
      <p:sp>
        <p:nvSpPr>
          <p:cNvPr id="24" name="文本框 23">
            <a:extLst>
              <a:ext uri="{FF2B5EF4-FFF2-40B4-BE49-F238E27FC236}">
                <a16:creationId xmlns:a16="http://schemas.microsoft.com/office/drawing/2014/main" id="{28928CF7-67FA-6F16-29B0-71A0F96DA8D6}"/>
              </a:ext>
            </a:extLst>
          </p:cNvPr>
          <p:cNvSpPr txBox="1"/>
          <p:nvPr/>
        </p:nvSpPr>
        <p:spPr>
          <a:xfrm>
            <a:off x="7797800" y="6430193"/>
            <a:ext cx="2279650" cy="369332"/>
          </a:xfrm>
          <a:prstGeom prst="rect">
            <a:avLst/>
          </a:prstGeom>
          <a:noFill/>
        </p:spPr>
        <p:txBody>
          <a:bodyPr wrap="square">
            <a:spAutoFit/>
          </a:bodyPr>
          <a:lstStyle/>
          <a:p>
            <a:r>
              <a:rPr lang="zh-CN" altLang="en-US" dirty="0"/>
              <a:t>混合密钥系统的解密</a:t>
            </a:r>
          </a:p>
        </p:txBody>
      </p:sp>
      <p:cxnSp>
        <p:nvCxnSpPr>
          <p:cNvPr id="27" name="直接连接符 2">
            <a:extLst>
              <a:ext uri="{FF2B5EF4-FFF2-40B4-BE49-F238E27FC236}">
                <a16:creationId xmlns:a16="http://schemas.microsoft.com/office/drawing/2014/main" id="{5D765636-2B43-3514-DA7D-C796E06EAF78}"/>
              </a:ext>
            </a:extLst>
          </p:cNvPr>
          <p:cNvCxnSpPr>
            <a:cxnSpLocks/>
          </p:cNvCxnSpPr>
          <p:nvPr/>
        </p:nvCxnSpPr>
        <p:spPr>
          <a:xfrm>
            <a:off x="5295589" y="1505338"/>
            <a:ext cx="0" cy="505883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2345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4F96-5495-4868-35EB-00812E18E59C}"/>
            </a:ext>
          </a:extLst>
        </p:cNvPr>
        <p:cNvGrpSpPr/>
        <p:nvPr/>
      </p:nvGrpSpPr>
      <p:grpSpPr>
        <a:xfrm>
          <a:off x="0" y="0"/>
          <a:ext cx="0" cy="0"/>
          <a:chOff x="0" y="0"/>
          <a:chExt cx="0" cy="0"/>
        </a:xfrm>
      </p:grpSpPr>
      <p:sp>
        <p:nvSpPr>
          <p:cNvPr id="132" name="矩形 131">
            <a:extLst>
              <a:ext uri="{FF2B5EF4-FFF2-40B4-BE49-F238E27FC236}">
                <a16:creationId xmlns:a16="http://schemas.microsoft.com/office/drawing/2014/main" id="{7A77C6D4-0538-CDF8-667A-A6B6F31F85D6}"/>
              </a:ext>
            </a:extLst>
          </p:cNvPr>
          <p:cNvSpPr/>
          <p:nvPr/>
        </p:nvSpPr>
        <p:spPr>
          <a:xfrm>
            <a:off x="2976045" y="914399"/>
            <a:ext cx="6225142" cy="5451709"/>
          </a:xfrm>
          <a:prstGeom prst="rect">
            <a:avLst/>
          </a:prstGeom>
          <a:solidFill>
            <a:srgbClr val="F0C0C3">
              <a:alpha val="80000"/>
            </a:srgbClr>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83C4E159-86C9-96C1-EE5E-53980F303322}"/>
              </a:ext>
            </a:extLst>
          </p:cNvPr>
          <p:cNvSpPr/>
          <p:nvPr/>
        </p:nvSpPr>
        <p:spPr>
          <a:xfrm>
            <a:off x="1567653" y="914401"/>
            <a:ext cx="2810787" cy="54419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0" name="矩形 139">
            <a:extLst>
              <a:ext uri="{FF2B5EF4-FFF2-40B4-BE49-F238E27FC236}">
                <a16:creationId xmlns:a16="http://schemas.microsoft.com/office/drawing/2014/main" id="{4C4F821C-1F03-EC11-C9F9-5E2201F326EB}"/>
              </a:ext>
            </a:extLst>
          </p:cNvPr>
          <p:cNvSpPr/>
          <p:nvPr/>
        </p:nvSpPr>
        <p:spPr>
          <a:xfrm>
            <a:off x="7808527" y="914400"/>
            <a:ext cx="2810787" cy="54419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2" name="圆角矩形 341">
            <a:extLst>
              <a:ext uri="{FF2B5EF4-FFF2-40B4-BE49-F238E27FC236}">
                <a16:creationId xmlns:a16="http://schemas.microsoft.com/office/drawing/2014/main" id="{0BA9458B-2916-9074-4863-A131FB243B66}"/>
              </a:ext>
            </a:extLst>
          </p:cNvPr>
          <p:cNvSpPr/>
          <p:nvPr/>
        </p:nvSpPr>
        <p:spPr>
          <a:xfrm>
            <a:off x="5434895" y="965685"/>
            <a:ext cx="1317174" cy="596504"/>
          </a:xfrm>
          <a:prstGeom prst="roundRect">
            <a:avLst>
              <a:gd name="adj" fmla="val 50000"/>
            </a:avLst>
          </a:prstGeom>
          <a:solidFill>
            <a:srgbClr val="F3CDC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敌手</a:t>
            </a:r>
            <a:endPar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algn="ctr"/>
            <a:r>
              <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Adv</a:t>
            </a:r>
          </a:p>
        </p:txBody>
      </p:sp>
      <p:cxnSp>
        <p:nvCxnSpPr>
          <p:cNvPr id="143" name="直线连接符 142">
            <a:extLst>
              <a:ext uri="{FF2B5EF4-FFF2-40B4-BE49-F238E27FC236}">
                <a16:creationId xmlns:a16="http://schemas.microsoft.com/office/drawing/2014/main" id="{79E0071B-A158-9A15-2877-9182F7DD45CF}"/>
              </a:ext>
            </a:extLst>
          </p:cNvPr>
          <p:cNvCxnSpPr>
            <a:cxnSpLocks/>
            <a:stCxn id="139" idx="2"/>
            <a:endCxn id="140" idx="2"/>
          </p:cNvCxnSpPr>
          <p:nvPr/>
        </p:nvCxnSpPr>
        <p:spPr>
          <a:xfrm>
            <a:off x="9213920" y="1593178"/>
            <a:ext cx="1" cy="476317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42" name="直线连接符 141">
            <a:extLst>
              <a:ext uri="{FF2B5EF4-FFF2-40B4-BE49-F238E27FC236}">
                <a16:creationId xmlns:a16="http://schemas.microsoft.com/office/drawing/2014/main" id="{74E62C86-AF97-2484-8220-978C8F0DEC76}"/>
              </a:ext>
            </a:extLst>
          </p:cNvPr>
          <p:cNvCxnSpPr>
            <a:cxnSpLocks/>
            <a:stCxn id="6" idx="2"/>
            <a:endCxn id="21" idx="2"/>
          </p:cNvCxnSpPr>
          <p:nvPr/>
        </p:nvCxnSpPr>
        <p:spPr>
          <a:xfrm>
            <a:off x="2973046" y="1593179"/>
            <a:ext cx="1" cy="476317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6" name="圆角矩形 5">
            <a:extLst>
              <a:ext uri="{FF2B5EF4-FFF2-40B4-BE49-F238E27FC236}">
                <a16:creationId xmlns:a16="http://schemas.microsoft.com/office/drawing/2014/main" id="{A83B30D6-3828-DEE3-48B1-2F0E862F5830}"/>
              </a:ext>
            </a:extLst>
          </p:cNvPr>
          <p:cNvSpPr/>
          <p:nvPr/>
        </p:nvSpPr>
        <p:spPr>
          <a:xfrm>
            <a:off x="2314458" y="996675"/>
            <a:ext cx="1317174" cy="596504"/>
          </a:xfrm>
          <a:prstGeom prst="roundRect">
            <a:avLst>
              <a:gd name="adj" fmla="val 50000"/>
            </a:avLst>
          </a:prstGeom>
          <a:solidFill>
            <a:schemeClr val="accent6">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Alice</a:t>
            </a:r>
          </a:p>
        </p:txBody>
      </p:sp>
      <p:sp>
        <p:nvSpPr>
          <p:cNvPr id="139" name="圆角矩形 138">
            <a:extLst>
              <a:ext uri="{FF2B5EF4-FFF2-40B4-BE49-F238E27FC236}">
                <a16:creationId xmlns:a16="http://schemas.microsoft.com/office/drawing/2014/main" id="{6A9BE2CD-6860-0169-EC92-F4348D7B453F}"/>
              </a:ext>
            </a:extLst>
          </p:cNvPr>
          <p:cNvSpPr/>
          <p:nvPr/>
        </p:nvSpPr>
        <p:spPr>
          <a:xfrm>
            <a:off x="8555332" y="996674"/>
            <a:ext cx="1317174" cy="596504"/>
          </a:xfrm>
          <a:prstGeom prst="roundRect">
            <a:avLst>
              <a:gd name="adj" fmla="val 50000"/>
            </a:avLst>
          </a:prstGeom>
          <a:solidFill>
            <a:schemeClr val="accent6">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Bob</a:t>
            </a:r>
          </a:p>
        </p:txBody>
      </p:sp>
      <p:sp>
        <p:nvSpPr>
          <p:cNvPr id="3" name="灯片编号占位符 2">
            <a:extLst>
              <a:ext uri="{FF2B5EF4-FFF2-40B4-BE49-F238E27FC236}">
                <a16:creationId xmlns:a16="http://schemas.microsoft.com/office/drawing/2014/main" id="{46857B7C-7A37-2E2B-A29F-CD4DAAFE21C5}"/>
              </a:ext>
            </a:extLst>
          </p:cNvPr>
          <p:cNvSpPr>
            <a:spLocks noGrp="1"/>
          </p:cNvSpPr>
          <p:nvPr>
            <p:ph type="sldNum" sz="quarter" idx="12"/>
          </p:nvPr>
        </p:nvSpPr>
        <p:spPr/>
        <p:txBody>
          <a:bodyPr/>
          <a:lstStyle/>
          <a:p>
            <a:fld id="{B8AE17C6-53CA-944D-9421-F2F3A04C57E0}" type="slidenum">
              <a:rPr lang="en-US" smtClean="0"/>
              <a:t>6</a:t>
            </a:fld>
            <a:endParaRPr lang="en-US"/>
          </a:p>
        </p:txBody>
      </p:sp>
      <p:sp>
        <p:nvSpPr>
          <p:cNvPr id="4" name="文本框 3">
            <a:extLst>
              <a:ext uri="{FF2B5EF4-FFF2-40B4-BE49-F238E27FC236}">
                <a16:creationId xmlns:a16="http://schemas.microsoft.com/office/drawing/2014/main" id="{D8908B9F-D9C6-4F1C-23B5-BD7D8CC39497}"/>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非对称加密算法安全缺陷</a:t>
            </a:r>
            <a:r>
              <a:rPr lang="en-US" altLang="zh-CN" sz="3600" b="1" dirty="0">
                <a:solidFill>
                  <a:srgbClr val="2A50A1"/>
                </a:solidFill>
              </a:rPr>
              <a:t>——</a:t>
            </a:r>
            <a:r>
              <a:rPr lang="zh-CN" altLang="en-US" sz="3600" b="1" dirty="0">
                <a:solidFill>
                  <a:srgbClr val="2A50A1"/>
                </a:solidFill>
              </a:rPr>
              <a:t>中间人攻击</a:t>
            </a:r>
          </a:p>
        </p:txBody>
      </p:sp>
      <p:grpSp>
        <p:nvGrpSpPr>
          <p:cNvPr id="5" name="组合 4">
            <a:extLst>
              <a:ext uri="{FF2B5EF4-FFF2-40B4-BE49-F238E27FC236}">
                <a16:creationId xmlns:a16="http://schemas.microsoft.com/office/drawing/2014/main" id="{D286FC68-D9E9-D4C2-3CB6-77A3E32023F4}"/>
              </a:ext>
            </a:extLst>
          </p:cNvPr>
          <p:cNvGrpSpPr/>
          <p:nvPr/>
        </p:nvGrpSpPr>
        <p:grpSpPr>
          <a:xfrm>
            <a:off x="8443396" y="97795"/>
            <a:ext cx="425713" cy="442041"/>
            <a:chOff x="5823870" y="1767426"/>
            <a:chExt cx="425713" cy="442041"/>
          </a:xfrm>
        </p:grpSpPr>
        <p:grpSp>
          <p:nvGrpSpPr>
            <p:cNvPr id="7" name="Group 10">
              <a:extLst>
                <a:ext uri="{FF2B5EF4-FFF2-40B4-BE49-F238E27FC236}">
                  <a16:creationId xmlns:a16="http://schemas.microsoft.com/office/drawing/2014/main" id="{2A6C05E6-B1DB-2014-84CB-F9B26BD2545F}"/>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D5224DEA-7515-E2C5-DD60-6C4CF558787E}"/>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C06EC46F-4C39-3B21-5D6D-05FD021EB25B}"/>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3F385BAD-6BA1-B45B-3EC0-8A9C89E6DFBD}"/>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B96E0EA0-8EC8-8156-F78A-422A94419B77}"/>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E87C405B-13A2-1067-66E1-1F5B2193A1EB}"/>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Tree>
    <p:extLst>
      <p:ext uri="{BB962C8B-B14F-4D97-AF65-F5344CB8AC3E}">
        <p14:creationId xmlns:p14="http://schemas.microsoft.com/office/powerpoint/2010/main" val="1516039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B2620-AC3F-16A4-7D45-D6CE8EAB8904}"/>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E2A63FE-7DC5-D693-2FA7-D8F6C9F01151}"/>
              </a:ext>
            </a:extLst>
          </p:cNvPr>
          <p:cNvSpPr>
            <a:spLocks noGrp="1"/>
          </p:cNvSpPr>
          <p:nvPr>
            <p:ph type="sldNum" sz="quarter" idx="12"/>
          </p:nvPr>
        </p:nvSpPr>
        <p:spPr/>
        <p:txBody>
          <a:bodyPr/>
          <a:lstStyle/>
          <a:p>
            <a:fld id="{B8AE17C6-53CA-944D-9421-F2F3A04C57E0}" type="slidenum">
              <a:rPr lang="en-US" smtClean="0"/>
              <a:t>7</a:t>
            </a:fld>
            <a:endParaRPr lang="en-US"/>
          </a:p>
        </p:txBody>
      </p:sp>
      <p:sp>
        <p:nvSpPr>
          <p:cNvPr id="4" name="文本框 3">
            <a:extLst>
              <a:ext uri="{FF2B5EF4-FFF2-40B4-BE49-F238E27FC236}">
                <a16:creationId xmlns:a16="http://schemas.microsoft.com/office/drawing/2014/main" id="{600C89DE-8BBF-4C22-0BB6-699121D07592}"/>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b="1" dirty="0">
                <a:solidFill>
                  <a:srgbClr val="2A50A1"/>
                </a:solidFill>
              </a:rPr>
              <a:t>Alice</a:t>
            </a:r>
            <a:r>
              <a:rPr lang="zh-CN" altLang="en-US" sz="3600" b="1" dirty="0">
                <a:solidFill>
                  <a:srgbClr val="2A50A1"/>
                </a:solidFill>
              </a:rPr>
              <a:t>的借条</a:t>
            </a:r>
          </a:p>
        </p:txBody>
      </p:sp>
      <p:grpSp>
        <p:nvGrpSpPr>
          <p:cNvPr id="5" name="组合 4">
            <a:extLst>
              <a:ext uri="{FF2B5EF4-FFF2-40B4-BE49-F238E27FC236}">
                <a16:creationId xmlns:a16="http://schemas.microsoft.com/office/drawing/2014/main" id="{69EC8B6D-3D2A-7B58-1FCA-D64301B2F927}"/>
              </a:ext>
            </a:extLst>
          </p:cNvPr>
          <p:cNvGrpSpPr/>
          <p:nvPr/>
        </p:nvGrpSpPr>
        <p:grpSpPr>
          <a:xfrm>
            <a:off x="2969696" y="97795"/>
            <a:ext cx="425713" cy="442041"/>
            <a:chOff x="5823870" y="1767426"/>
            <a:chExt cx="425713" cy="442041"/>
          </a:xfrm>
        </p:grpSpPr>
        <p:grpSp>
          <p:nvGrpSpPr>
            <p:cNvPr id="7" name="Group 10">
              <a:extLst>
                <a:ext uri="{FF2B5EF4-FFF2-40B4-BE49-F238E27FC236}">
                  <a16:creationId xmlns:a16="http://schemas.microsoft.com/office/drawing/2014/main" id="{6AED9071-67E8-FCB6-EF0D-BC622DE8AB8B}"/>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80833958-0025-A54D-D93A-1CFBE5C0560A}"/>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BCF56834-8486-C0C1-1377-C959A15FC319}"/>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6CDDBC50-9732-D6A0-9639-3D4A919CF768}"/>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35630CB6-DDE4-BBBE-F11A-FF8F5E8C8307}"/>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663F1EFE-9076-8636-D0A3-415B971C2BDA}"/>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D4BEDBDD-FE3A-1C22-B267-A6E8A9B01AEB}"/>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endParaRPr lang="zh-CN" altLang="en-US" sz="3200" dirty="0"/>
          </a:p>
        </p:txBody>
      </p:sp>
      <p:grpSp>
        <p:nvGrpSpPr>
          <p:cNvPr id="15" name="组合 14">
            <a:extLst>
              <a:ext uri="{FF2B5EF4-FFF2-40B4-BE49-F238E27FC236}">
                <a16:creationId xmlns:a16="http://schemas.microsoft.com/office/drawing/2014/main" id="{6CD7D2D2-BEC5-115D-0762-9EBC8CD7FF55}"/>
              </a:ext>
            </a:extLst>
          </p:cNvPr>
          <p:cNvGrpSpPr/>
          <p:nvPr/>
        </p:nvGrpSpPr>
        <p:grpSpPr>
          <a:xfrm>
            <a:off x="575039" y="1806694"/>
            <a:ext cx="11041922" cy="1537025"/>
            <a:chOff x="4939871" y="1583809"/>
            <a:chExt cx="7149348" cy="2608171"/>
          </a:xfrm>
        </p:grpSpPr>
        <p:sp>
          <p:nvSpPr>
            <p:cNvPr id="16" name="矩形 15">
              <a:extLst>
                <a:ext uri="{FF2B5EF4-FFF2-40B4-BE49-F238E27FC236}">
                  <a16:creationId xmlns:a16="http://schemas.microsoft.com/office/drawing/2014/main" id="{E3A03034-94B0-9530-D0CF-6E6A3BD7DA39}"/>
                </a:ext>
              </a:extLst>
            </p:cNvPr>
            <p:cNvSpPr/>
            <p:nvPr/>
          </p:nvSpPr>
          <p:spPr>
            <a:xfrm>
              <a:off x="4939871" y="1583809"/>
              <a:ext cx="7149348" cy="2608171"/>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文本框 16">
              <a:extLst>
                <a:ext uri="{FF2B5EF4-FFF2-40B4-BE49-F238E27FC236}">
                  <a16:creationId xmlns:a16="http://schemas.microsoft.com/office/drawing/2014/main" id="{B1EC387A-3BC4-EC23-04F4-E4B2BF78988C}"/>
                </a:ext>
              </a:extLst>
            </p:cNvPr>
            <p:cNvSpPr txBox="1"/>
            <p:nvPr/>
          </p:nvSpPr>
          <p:spPr>
            <a:xfrm>
              <a:off x="5176707" y="1669452"/>
              <a:ext cx="6675677" cy="950637"/>
            </a:xfrm>
            <a:prstGeom prst="rect">
              <a:avLst/>
            </a:prstGeom>
            <a:noFill/>
          </p:spPr>
          <p:txBody>
            <a:bodyPr wrap="square" lIns="0" tIns="0" rIns="0" bIns="0" rtlCol="0">
              <a:noAutofit/>
            </a:bodyPr>
            <a:lstStyle/>
            <a:p>
              <a:pPr>
                <a:buNone/>
              </a:pPr>
              <a:r>
                <a:rPr lang="zh-CN" altLang="en-US" sz="2400" dirty="0"/>
                <a:t>首先，</a:t>
              </a:r>
              <a:r>
                <a:rPr lang="en-US" altLang="zh-CN" sz="2400" dirty="0"/>
                <a:t>Alice </a:t>
              </a:r>
              <a:r>
                <a:rPr lang="zh-CN" altLang="en-US" sz="2400" dirty="0"/>
                <a:t>要写一份借条交给</a:t>
              </a:r>
              <a:r>
                <a:rPr lang="en-US" altLang="zh-CN" sz="2400" dirty="0"/>
                <a:t>Bob</a:t>
              </a:r>
              <a:r>
                <a:rPr lang="zh-CN" altLang="en-US" sz="2400" dirty="0"/>
                <a:t>。</a:t>
              </a:r>
              <a:endParaRPr lang="en-US" altLang="zh-CN" sz="2400" dirty="0"/>
            </a:p>
            <a:p>
              <a:pPr>
                <a:buNone/>
              </a:pPr>
              <a:r>
                <a:rPr lang="zh-CN" altLang="en-US" sz="2400" dirty="0"/>
                <a:t>然后，</a:t>
              </a:r>
              <a:r>
                <a:rPr lang="en-US" altLang="zh-CN" sz="2400" dirty="0"/>
                <a:t>Bob </a:t>
              </a:r>
              <a:r>
                <a:rPr lang="zh-CN" altLang="en-US" sz="2400" dirty="0"/>
                <a:t>可以通过银行汇款将钱给到</a:t>
              </a:r>
              <a:r>
                <a:rPr lang="en-US" altLang="zh-CN" sz="2400" dirty="0"/>
                <a:t>Alice</a:t>
              </a:r>
              <a:r>
                <a:rPr lang="zh-CN" altLang="en-US" sz="2400" dirty="0"/>
                <a:t>。</a:t>
              </a:r>
              <a:endParaRPr lang="en-US" altLang="zh-CN" sz="2400" dirty="0"/>
            </a:p>
            <a:p>
              <a:pPr>
                <a:buNone/>
              </a:pPr>
              <a:r>
                <a:rPr lang="en-US" altLang="zh-CN" sz="2400" dirty="0"/>
                <a:t>Alice </a:t>
              </a:r>
              <a:r>
                <a:rPr lang="zh-CN" altLang="en-US" sz="2400" dirty="0"/>
                <a:t>的借条应该如何传递给 </a:t>
              </a:r>
              <a:r>
                <a:rPr lang="en-US" altLang="zh-CN" sz="2400" dirty="0"/>
                <a:t>Bob </a:t>
              </a:r>
              <a:r>
                <a:rPr lang="zh-CN" altLang="en-US" sz="2400" dirty="0"/>
                <a:t>才安全可靠呢？</a:t>
              </a:r>
              <a:endParaRPr lang="en-US" altLang="zh-CN" sz="2400" dirty="0"/>
            </a:p>
            <a:p>
              <a:pPr>
                <a:buNone/>
              </a:pPr>
              <a:r>
                <a:rPr lang="zh-CN" altLang="en-US" sz="2400" dirty="0"/>
                <a:t>汇款可以通过互联网远程实现，借条是否也可以在网络上实现呢？</a:t>
              </a:r>
              <a:endParaRPr lang="en-US" altLang="zh-CN" sz="2400" dirty="0"/>
            </a:p>
          </p:txBody>
        </p:sp>
      </p:grpSp>
      <p:grpSp>
        <p:nvGrpSpPr>
          <p:cNvPr id="18" name="组合 17">
            <a:extLst>
              <a:ext uri="{FF2B5EF4-FFF2-40B4-BE49-F238E27FC236}">
                <a16:creationId xmlns:a16="http://schemas.microsoft.com/office/drawing/2014/main" id="{5C96B064-D5A5-C5CE-568B-49798BA4DA2A}"/>
              </a:ext>
            </a:extLst>
          </p:cNvPr>
          <p:cNvGrpSpPr/>
          <p:nvPr/>
        </p:nvGrpSpPr>
        <p:grpSpPr>
          <a:xfrm>
            <a:off x="575039" y="4108020"/>
            <a:ext cx="11041922" cy="2660617"/>
            <a:chOff x="4939871" y="1583809"/>
            <a:chExt cx="7149348" cy="2811756"/>
          </a:xfrm>
        </p:grpSpPr>
        <p:sp>
          <p:nvSpPr>
            <p:cNvPr id="19" name="矩形 18">
              <a:extLst>
                <a:ext uri="{FF2B5EF4-FFF2-40B4-BE49-F238E27FC236}">
                  <a16:creationId xmlns:a16="http://schemas.microsoft.com/office/drawing/2014/main" id="{52FBDC04-B825-DD68-5E24-4344AB750BE4}"/>
                </a:ext>
              </a:extLst>
            </p:cNvPr>
            <p:cNvSpPr/>
            <p:nvPr/>
          </p:nvSpPr>
          <p:spPr>
            <a:xfrm>
              <a:off x="4939871" y="1583809"/>
              <a:ext cx="7149348" cy="2811756"/>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p>
          </p:txBody>
        </p:sp>
        <p:sp>
          <p:nvSpPr>
            <p:cNvPr id="20" name="文本框 19">
              <a:extLst>
                <a:ext uri="{FF2B5EF4-FFF2-40B4-BE49-F238E27FC236}">
                  <a16:creationId xmlns:a16="http://schemas.microsoft.com/office/drawing/2014/main" id="{EE5F9CA1-6376-BEDB-5B4A-A3E0E92E44F8}"/>
                </a:ext>
              </a:extLst>
            </p:cNvPr>
            <p:cNvSpPr txBox="1"/>
            <p:nvPr/>
          </p:nvSpPr>
          <p:spPr>
            <a:xfrm>
              <a:off x="5176707" y="1842652"/>
              <a:ext cx="6675677" cy="2475557"/>
            </a:xfrm>
            <a:prstGeom prst="rect">
              <a:avLst/>
            </a:prstGeom>
            <a:noFill/>
          </p:spPr>
          <p:txBody>
            <a:bodyPr wrap="square" lIns="0" tIns="0" rIns="0" bIns="0" rtlCol="0">
              <a:noAutofit/>
            </a:bodyPr>
            <a:lstStyle/>
            <a:p>
              <a:pPr>
                <a:buFont typeface="+mj-lt"/>
                <a:buAutoNum type="arabicPeriod"/>
              </a:pPr>
              <a:r>
                <a:rPr lang="zh-CN" altLang="en-US" sz="2400" b="1" dirty="0"/>
                <a:t>借条内容是否被篡改</a:t>
              </a:r>
              <a:br>
                <a:rPr lang="zh-CN" altLang="en-US" sz="2400" dirty="0"/>
              </a:br>
              <a:r>
                <a:rPr lang="zh-CN" altLang="en-US" sz="2400" dirty="0"/>
                <a:t>是否有人修改借条，将“</a:t>
              </a:r>
              <a:r>
                <a:rPr lang="en-US" altLang="zh-CN" sz="2400" dirty="0"/>
                <a:t>100 </a:t>
              </a:r>
              <a:r>
                <a:rPr lang="zh-CN" altLang="en-US" sz="2400" dirty="0"/>
                <a:t>万元”篡改为“</a:t>
              </a:r>
              <a:r>
                <a:rPr lang="en-US" altLang="zh-CN" sz="2400" dirty="0"/>
                <a:t>500 </a:t>
              </a:r>
              <a:r>
                <a:rPr lang="zh-CN" altLang="en-US" sz="2400" dirty="0"/>
                <a:t>万元”？     </a:t>
              </a:r>
              <a:r>
                <a:rPr lang="en-US" altLang="zh-CN" sz="2400" dirty="0"/>
                <a:t>——</a:t>
              </a:r>
              <a:r>
                <a:rPr lang="zh-CN" altLang="en-US" sz="2400" dirty="0">
                  <a:solidFill>
                    <a:srgbClr val="FF0000"/>
                  </a:solidFill>
                </a:rPr>
                <a:t>篡改</a:t>
              </a:r>
            </a:p>
            <a:p>
              <a:pPr>
                <a:buFont typeface="+mj-lt"/>
                <a:buAutoNum type="arabicPeriod"/>
              </a:pPr>
              <a:r>
                <a:rPr lang="zh-CN" altLang="en-US" sz="2400" b="1" dirty="0"/>
                <a:t>发件人是否真的 </a:t>
              </a:r>
              <a:r>
                <a:rPr lang="en-US" altLang="zh-CN" sz="2400" b="1" dirty="0"/>
                <a:t>Alice</a:t>
              </a:r>
              <a:br>
                <a:rPr lang="zh-CN" altLang="en-US" sz="2400" dirty="0"/>
              </a:br>
              <a:r>
                <a:rPr lang="zh-CN" altLang="en-US" sz="2400" dirty="0"/>
                <a:t>是否有人伪造 </a:t>
              </a:r>
              <a:r>
                <a:rPr lang="en-US" altLang="zh-CN" sz="2400" dirty="0"/>
                <a:t>Alice </a:t>
              </a:r>
              <a:r>
                <a:rPr lang="zh-CN" altLang="en-US" sz="2400" dirty="0"/>
                <a:t>，向</a:t>
              </a:r>
              <a:r>
                <a:rPr lang="en-US" altLang="zh-CN" sz="2400" dirty="0"/>
                <a:t>Bob</a:t>
              </a:r>
              <a:r>
                <a:rPr lang="zh-CN" altLang="en-US" sz="2400" dirty="0"/>
                <a:t>发送借条？                                    </a:t>
              </a:r>
              <a:r>
                <a:rPr lang="en-US" altLang="zh-CN" sz="2400" dirty="0"/>
                <a:t>——</a:t>
              </a:r>
              <a:r>
                <a:rPr lang="zh-CN" altLang="en-US" sz="2400" dirty="0">
                  <a:solidFill>
                    <a:srgbClr val="FF0000"/>
                  </a:solidFill>
                </a:rPr>
                <a:t>伪装</a:t>
              </a:r>
            </a:p>
            <a:p>
              <a:pPr>
                <a:buFont typeface="+mj-lt"/>
                <a:buAutoNum type="arabicPeriod"/>
              </a:pPr>
              <a:r>
                <a:rPr lang="en-US" altLang="zh-CN" sz="2400" b="1" dirty="0"/>
                <a:t>Alice </a:t>
              </a:r>
              <a:r>
                <a:rPr lang="zh-CN" altLang="en-US" sz="2400" b="1" dirty="0"/>
                <a:t>是否事后否认</a:t>
              </a:r>
              <a:br>
                <a:rPr lang="zh-CN" altLang="en-US" sz="2400" dirty="0"/>
              </a:br>
              <a:r>
                <a:rPr lang="en-US" altLang="zh-CN" sz="2400" dirty="0"/>
                <a:t>Alice </a:t>
              </a:r>
              <a:r>
                <a:rPr lang="zh-CN" altLang="en-US" sz="2400" dirty="0"/>
                <a:t>是否会在收到钱后说：“这个欠条不是我写的。”          </a:t>
              </a:r>
              <a:r>
                <a:rPr lang="en-US" altLang="zh-CN" sz="2400" dirty="0"/>
                <a:t>——</a:t>
              </a:r>
              <a:r>
                <a:rPr lang="zh-CN" altLang="en-US" sz="2400" dirty="0">
                  <a:solidFill>
                    <a:srgbClr val="FF0000"/>
                  </a:solidFill>
                </a:rPr>
                <a:t>否认</a:t>
              </a:r>
            </a:p>
          </p:txBody>
        </p:sp>
      </p:grpSp>
      <p:sp>
        <p:nvSpPr>
          <p:cNvPr id="25" name="文本框 24">
            <a:extLst>
              <a:ext uri="{FF2B5EF4-FFF2-40B4-BE49-F238E27FC236}">
                <a16:creationId xmlns:a16="http://schemas.microsoft.com/office/drawing/2014/main" id="{9FBDFAEF-56E0-F5DA-71FE-71286F2254AF}"/>
              </a:ext>
            </a:extLst>
          </p:cNvPr>
          <p:cNvSpPr txBox="1"/>
          <p:nvPr/>
        </p:nvSpPr>
        <p:spPr>
          <a:xfrm>
            <a:off x="3736975" y="1315724"/>
            <a:ext cx="4718050" cy="523220"/>
          </a:xfrm>
          <a:prstGeom prst="rect">
            <a:avLst/>
          </a:prstGeom>
          <a:noFill/>
        </p:spPr>
        <p:txBody>
          <a:bodyPr wrap="square">
            <a:spAutoFit/>
          </a:bodyPr>
          <a:lstStyle/>
          <a:p>
            <a:r>
              <a:rPr lang="en-US" altLang="zh-CN" sz="2800" dirty="0">
                <a:solidFill>
                  <a:srgbClr val="FF0000"/>
                </a:solidFill>
              </a:rPr>
              <a:t>Alice </a:t>
            </a:r>
            <a:r>
              <a:rPr lang="zh-CN" altLang="en-US" sz="2800" dirty="0">
                <a:solidFill>
                  <a:srgbClr val="FF0000"/>
                </a:solidFill>
              </a:rPr>
              <a:t>要向 </a:t>
            </a:r>
            <a:r>
              <a:rPr lang="en-US" altLang="zh-CN" sz="2800" dirty="0">
                <a:solidFill>
                  <a:srgbClr val="FF0000"/>
                </a:solidFill>
              </a:rPr>
              <a:t>Bob </a:t>
            </a:r>
            <a:r>
              <a:rPr lang="zh-CN" altLang="en-US" sz="2800" dirty="0">
                <a:solidFill>
                  <a:srgbClr val="FF0000"/>
                </a:solidFill>
              </a:rPr>
              <a:t>借 </a:t>
            </a:r>
            <a:r>
              <a:rPr lang="en-US" altLang="zh-CN" sz="2800" dirty="0">
                <a:solidFill>
                  <a:srgbClr val="FF0000"/>
                </a:solidFill>
              </a:rPr>
              <a:t>100 </a:t>
            </a:r>
            <a:r>
              <a:rPr lang="zh-CN" altLang="en-US" sz="2800" dirty="0">
                <a:solidFill>
                  <a:srgbClr val="FF0000"/>
                </a:solidFill>
              </a:rPr>
              <a:t>万元</a:t>
            </a:r>
            <a:endParaRPr lang="en-US" altLang="zh-CN" sz="2800" dirty="0">
              <a:solidFill>
                <a:srgbClr val="FF0000"/>
              </a:solidFill>
            </a:endParaRPr>
          </a:p>
        </p:txBody>
      </p:sp>
      <p:sp>
        <p:nvSpPr>
          <p:cNvPr id="28" name="文本框 27">
            <a:extLst>
              <a:ext uri="{FF2B5EF4-FFF2-40B4-BE49-F238E27FC236}">
                <a16:creationId xmlns:a16="http://schemas.microsoft.com/office/drawing/2014/main" id="{7D8C8911-0CDB-FBFB-B4D0-59B08A83FBC2}"/>
              </a:ext>
            </a:extLst>
          </p:cNvPr>
          <p:cNvSpPr txBox="1"/>
          <p:nvPr/>
        </p:nvSpPr>
        <p:spPr>
          <a:xfrm>
            <a:off x="0" y="3433482"/>
            <a:ext cx="12191999" cy="584775"/>
          </a:xfrm>
          <a:prstGeom prst="rect">
            <a:avLst/>
          </a:prstGeom>
          <a:solidFill>
            <a:schemeClr val="accent4">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借条：</a:t>
            </a:r>
            <a:r>
              <a:rPr lang="en-US" altLang="zh-CN" sz="3200" dirty="0">
                <a:solidFill>
                  <a:srgbClr val="FF0000"/>
                </a:solidFill>
              </a:rPr>
              <a:t>Bob</a:t>
            </a:r>
            <a:r>
              <a:rPr lang="zh-CN" altLang="en-US" sz="3200" dirty="0">
                <a:solidFill>
                  <a:srgbClr val="FF0000"/>
                </a:solidFill>
              </a:rPr>
              <a:t>，我向你借款 </a:t>
            </a:r>
            <a:r>
              <a:rPr lang="en-US" altLang="zh-CN" sz="3200" dirty="0">
                <a:solidFill>
                  <a:srgbClr val="FF0000"/>
                </a:solidFill>
              </a:rPr>
              <a:t>100 </a:t>
            </a:r>
            <a:r>
              <a:rPr lang="zh-CN" altLang="en-US" sz="3200" dirty="0">
                <a:solidFill>
                  <a:srgbClr val="FF0000"/>
                </a:solidFill>
              </a:rPr>
              <a:t>万元。</a:t>
            </a:r>
            <a:r>
              <a:rPr lang="en-US" altLang="zh-CN" sz="3200" dirty="0">
                <a:solidFill>
                  <a:srgbClr val="FF0000"/>
                </a:solidFill>
              </a:rPr>
              <a:t>— Alice</a:t>
            </a:r>
          </a:p>
        </p:txBody>
      </p:sp>
    </p:spTree>
    <p:extLst>
      <p:ext uri="{BB962C8B-B14F-4D97-AF65-F5344CB8AC3E}">
        <p14:creationId xmlns:p14="http://schemas.microsoft.com/office/powerpoint/2010/main" val="30540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C32F1-1AC0-32A6-0B08-BE6C7CA9C636}"/>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4342F58-9AA5-631F-5C53-B70C8E9E8709}"/>
              </a:ext>
            </a:extLst>
          </p:cNvPr>
          <p:cNvSpPr>
            <a:spLocks noGrp="1"/>
          </p:cNvSpPr>
          <p:nvPr>
            <p:ph type="sldNum" sz="quarter" idx="12"/>
          </p:nvPr>
        </p:nvSpPr>
        <p:spPr/>
        <p:txBody>
          <a:bodyPr/>
          <a:lstStyle/>
          <a:p>
            <a:fld id="{B8AE17C6-53CA-944D-9421-F2F3A04C57E0}" type="slidenum">
              <a:rPr lang="en-US" smtClean="0"/>
              <a:t>8</a:t>
            </a:fld>
            <a:endParaRPr lang="en-US"/>
          </a:p>
        </p:txBody>
      </p:sp>
      <p:sp>
        <p:nvSpPr>
          <p:cNvPr id="4" name="文本框 3">
            <a:extLst>
              <a:ext uri="{FF2B5EF4-FFF2-40B4-BE49-F238E27FC236}">
                <a16:creationId xmlns:a16="http://schemas.microsoft.com/office/drawing/2014/main" id="{26180EC0-044C-0045-AC8F-EB41E9BCCEEB}"/>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数字签名的原理</a:t>
            </a:r>
          </a:p>
        </p:txBody>
      </p:sp>
      <p:grpSp>
        <p:nvGrpSpPr>
          <p:cNvPr id="5" name="组合 4">
            <a:extLst>
              <a:ext uri="{FF2B5EF4-FFF2-40B4-BE49-F238E27FC236}">
                <a16:creationId xmlns:a16="http://schemas.microsoft.com/office/drawing/2014/main" id="{9F0B3046-1C7B-27FB-C709-CCAB6ECAB1A7}"/>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E6FFFBFB-5E02-10ED-F268-DF500BA70DDE}"/>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98046DEF-D12B-DB3B-2CBC-A7566DA75666}"/>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A04637BC-85BE-23A4-0917-F756F788CA6C}"/>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DF17D34C-881B-4A43-49D4-72D491F49141}"/>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95A098C4-9A44-1191-9721-719A667C0339}"/>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950DFB16-45FC-DE96-5977-B6C16079125C}"/>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7DF64D75-74E6-2BCE-BDC6-2C7A370EB03E}"/>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“反向”非对称加密</a:t>
            </a:r>
          </a:p>
        </p:txBody>
      </p:sp>
      <p:sp>
        <p:nvSpPr>
          <p:cNvPr id="6" name="文本框 5">
            <a:extLst>
              <a:ext uri="{FF2B5EF4-FFF2-40B4-BE49-F238E27FC236}">
                <a16:creationId xmlns:a16="http://schemas.microsoft.com/office/drawing/2014/main" id="{331820F0-361C-443F-7DC3-8ED4A29676B4}"/>
              </a:ext>
            </a:extLst>
          </p:cNvPr>
          <p:cNvSpPr txBox="1"/>
          <p:nvPr/>
        </p:nvSpPr>
        <p:spPr>
          <a:xfrm>
            <a:off x="-2" y="5052243"/>
            <a:ext cx="12191999" cy="1569660"/>
          </a:xfrm>
          <a:prstGeom prst="rect">
            <a:avLst/>
          </a:prstGeom>
          <a:solidFill>
            <a:schemeClr val="accent6">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数字签名：</a:t>
            </a:r>
            <a:endParaRPr lang="en-US" altLang="zh-CN" sz="3200" dirty="0"/>
          </a:p>
          <a:p>
            <a:r>
              <a:rPr lang="en-US" altLang="zh-CN" sz="3200" dirty="0"/>
              <a:t>1.</a:t>
            </a:r>
            <a:r>
              <a:rPr lang="zh-CN" altLang="en-US" sz="3200" dirty="0"/>
              <a:t>利用私钥只有密钥生成者拥有的性质证明身份</a:t>
            </a:r>
            <a:endParaRPr lang="en-US" altLang="zh-CN" sz="3200" dirty="0"/>
          </a:p>
          <a:p>
            <a:r>
              <a:rPr lang="en-US" altLang="zh-CN" sz="3200" dirty="0"/>
              <a:t>2.</a:t>
            </a:r>
            <a:r>
              <a:rPr lang="zh-CN" altLang="en-US" sz="3200" dirty="0"/>
              <a:t>私钥加密公钥可解密；公钥加密私钥可解密</a:t>
            </a:r>
          </a:p>
        </p:txBody>
      </p:sp>
      <p:graphicFrame>
        <p:nvGraphicFramePr>
          <p:cNvPr id="14" name="表格 13">
            <a:extLst>
              <a:ext uri="{FF2B5EF4-FFF2-40B4-BE49-F238E27FC236}">
                <a16:creationId xmlns:a16="http://schemas.microsoft.com/office/drawing/2014/main" id="{6080F070-E78D-E112-EB87-F6B3A007E6A8}"/>
              </a:ext>
            </a:extLst>
          </p:cNvPr>
          <p:cNvGraphicFramePr>
            <a:graphicFrameLocks noGrp="1"/>
          </p:cNvGraphicFramePr>
          <p:nvPr/>
        </p:nvGraphicFramePr>
        <p:xfrm>
          <a:off x="525778" y="2514810"/>
          <a:ext cx="11140440" cy="2072640"/>
        </p:xfrm>
        <a:graphic>
          <a:graphicData uri="http://schemas.openxmlformats.org/drawingml/2006/table">
            <a:tbl>
              <a:tblPr>
                <a:tableStyleId>{5940675A-B579-460E-94D1-54222C63F5DA}</a:tableStyleId>
              </a:tblPr>
              <a:tblGrid>
                <a:gridCol w="2739364">
                  <a:extLst>
                    <a:ext uri="{9D8B030D-6E8A-4147-A177-3AD203B41FA5}">
                      <a16:colId xmlns:a16="http://schemas.microsoft.com/office/drawing/2014/main" val="665125309"/>
                    </a:ext>
                  </a:extLst>
                </a:gridCol>
                <a:gridCol w="3896463">
                  <a:extLst>
                    <a:ext uri="{9D8B030D-6E8A-4147-A177-3AD203B41FA5}">
                      <a16:colId xmlns:a16="http://schemas.microsoft.com/office/drawing/2014/main" val="996983858"/>
                    </a:ext>
                  </a:extLst>
                </a:gridCol>
                <a:gridCol w="4504613">
                  <a:extLst>
                    <a:ext uri="{9D8B030D-6E8A-4147-A177-3AD203B41FA5}">
                      <a16:colId xmlns:a16="http://schemas.microsoft.com/office/drawing/2014/main" val="4146951148"/>
                    </a:ext>
                  </a:extLst>
                </a:gridCol>
              </a:tblGrid>
              <a:tr h="0">
                <a:tc>
                  <a:txBody>
                    <a:bodyPr/>
                    <a:lstStyle/>
                    <a:p>
                      <a:pPr>
                        <a:buNone/>
                      </a:pPr>
                      <a:endParaRPr lang="zh-CN" altLang="en-US" sz="2800" dirty="0"/>
                    </a:p>
                  </a:txBody>
                  <a:tcPr anchor="ctr"/>
                </a:tc>
                <a:tc>
                  <a:txBody>
                    <a:bodyPr/>
                    <a:lstStyle/>
                    <a:p>
                      <a:pPr>
                        <a:buNone/>
                      </a:pPr>
                      <a:r>
                        <a:rPr lang="zh-CN" altLang="en-US" sz="2800" dirty="0"/>
                        <a:t>私钥</a:t>
                      </a:r>
                      <a:r>
                        <a:rPr lang="en-US" altLang="zh-CN" sz="2800" i="1" dirty="0" err="1">
                          <a:latin typeface="Times New Roman" panose="02020603050405020304" pitchFamily="18" charset="0"/>
                          <a:cs typeface="Times New Roman" panose="02020603050405020304" pitchFamily="18" charset="0"/>
                        </a:rPr>
                        <a:t>sk</a:t>
                      </a:r>
                      <a:endParaRPr lang="zh-CN" altLang="en-US" sz="2800" i="1" dirty="0">
                        <a:latin typeface="Times New Roman" panose="02020603050405020304" pitchFamily="18" charset="0"/>
                        <a:cs typeface="Times New Roman" panose="02020603050405020304" pitchFamily="18" charset="0"/>
                      </a:endParaRPr>
                    </a:p>
                  </a:txBody>
                  <a:tcPr anchor="ctr"/>
                </a:tc>
                <a:tc>
                  <a:txBody>
                    <a:bodyPr/>
                    <a:lstStyle/>
                    <a:p>
                      <a:pPr>
                        <a:buNone/>
                      </a:pPr>
                      <a:r>
                        <a:rPr lang="zh-CN" altLang="en-US" sz="2800" dirty="0"/>
                        <a:t>公钥</a:t>
                      </a:r>
                      <a:r>
                        <a:rPr lang="en-US" altLang="zh-CN" sz="2800" i="1" dirty="0">
                          <a:latin typeface="Times New Roman" panose="02020603050405020304" pitchFamily="18" charset="0"/>
                          <a:cs typeface="Times New Roman" panose="02020603050405020304" pitchFamily="18" charset="0"/>
                        </a:rPr>
                        <a:t>pk</a:t>
                      </a:r>
                      <a:endParaRPr lang="zh-CN" altLang="en-US" sz="2800" dirty="0"/>
                    </a:p>
                  </a:txBody>
                  <a:tcPr anchor="ctr"/>
                </a:tc>
                <a:extLst>
                  <a:ext uri="{0D108BD9-81ED-4DB2-BD59-A6C34878D82A}">
                    <a16:rowId xmlns:a16="http://schemas.microsoft.com/office/drawing/2014/main" val="1899692192"/>
                  </a:ext>
                </a:extLst>
              </a:tr>
              <a:tr h="0">
                <a:tc>
                  <a:txBody>
                    <a:bodyPr/>
                    <a:lstStyle/>
                    <a:p>
                      <a:pPr>
                        <a:buNone/>
                      </a:pPr>
                      <a:r>
                        <a:rPr lang="zh-CN" altLang="en-US" sz="2800" dirty="0"/>
                        <a:t>谁持有密钥？</a:t>
                      </a:r>
                    </a:p>
                  </a:txBody>
                  <a:tcPr anchor="ctr"/>
                </a:tc>
                <a:tc>
                  <a:txBody>
                    <a:bodyPr/>
                    <a:lstStyle/>
                    <a:p>
                      <a:pPr>
                        <a:buNone/>
                      </a:pPr>
                      <a:r>
                        <a:rPr lang="zh-CN" altLang="en-US" sz="2800" dirty="0"/>
                        <a:t>密钥生成者个人持有</a:t>
                      </a:r>
                    </a:p>
                  </a:txBody>
                  <a:tcPr anchor="ctr"/>
                </a:tc>
                <a:tc>
                  <a:txBody>
                    <a:bodyPr/>
                    <a:lstStyle/>
                    <a:p>
                      <a:pPr>
                        <a:buNone/>
                      </a:pPr>
                      <a:r>
                        <a:rPr lang="zh-CN" altLang="en-US" sz="2800" dirty="0"/>
                        <a:t>任何人都可以持有</a:t>
                      </a:r>
                    </a:p>
                  </a:txBody>
                  <a:tcPr anchor="ctr"/>
                </a:tc>
                <a:extLst>
                  <a:ext uri="{0D108BD9-81ED-4DB2-BD59-A6C34878D82A}">
                    <a16:rowId xmlns:a16="http://schemas.microsoft.com/office/drawing/2014/main" val="278008269"/>
                  </a:ext>
                </a:extLst>
              </a:tr>
              <a:tr h="0">
                <a:tc>
                  <a:txBody>
                    <a:bodyPr/>
                    <a:lstStyle/>
                    <a:p>
                      <a:pPr>
                        <a:buNone/>
                      </a:pPr>
                      <a:r>
                        <a:rPr lang="zh-CN" altLang="en-US" sz="2800" dirty="0"/>
                        <a:t>公钥密码</a:t>
                      </a:r>
                    </a:p>
                  </a:txBody>
                  <a:tcPr anchor="ctr"/>
                </a:tc>
                <a:tc>
                  <a:txBody>
                    <a:bodyPr/>
                    <a:lstStyle/>
                    <a:p>
                      <a:pPr>
                        <a:buNone/>
                      </a:pPr>
                      <a:r>
                        <a:rPr lang="zh-CN" altLang="en-US" sz="2800" dirty="0"/>
                        <a:t>接收者解密时使用</a:t>
                      </a:r>
                    </a:p>
                  </a:txBody>
                  <a:tcPr anchor="ctr"/>
                </a:tc>
                <a:tc>
                  <a:txBody>
                    <a:bodyPr/>
                    <a:lstStyle/>
                    <a:p>
                      <a:pPr>
                        <a:buNone/>
                      </a:pPr>
                      <a:r>
                        <a:rPr lang="zh-CN" altLang="en-US" sz="2800" dirty="0"/>
                        <a:t>发送者加密时使用</a:t>
                      </a:r>
                    </a:p>
                  </a:txBody>
                  <a:tcPr anchor="ctr"/>
                </a:tc>
                <a:extLst>
                  <a:ext uri="{0D108BD9-81ED-4DB2-BD59-A6C34878D82A}">
                    <a16:rowId xmlns:a16="http://schemas.microsoft.com/office/drawing/2014/main" val="3309442764"/>
                  </a:ext>
                </a:extLst>
              </a:tr>
              <a:tr h="0">
                <a:tc>
                  <a:txBody>
                    <a:bodyPr/>
                    <a:lstStyle/>
                    <a:p>
                      <a:pPr>
                        <a:buNone/>
                      </a:pPr>
                      <a:r>
                        <a:rPr lang="zh-CN" altLang="en-US" sz="2800"/>
                        <a:t>数字签名</a:t>
                      </a:r>
                    </a:p>
                  </a:txBody>
                  <a:tcPr anchor="ctr"/>
                </a:tc>
                <a:tc>
                  <a:txBody>
                    <a:bodyPr/>
                    <a:lstStyle/>
                    <a:p>
                      <a:pPr>
                        <a:buNone/>
                      </a:pPr>
                      <a:r>
                        <a:rPr lang="zh-CN" altLang="en-US" sz="2800"/>
                        <a:t>签名者生成签名时使用</a:t>
                      </a:r>
                    </a:p>
                  </a:txBody>
                  <a:tcPr anchor="ctr"/>
                </a:tc>
                <a:tc>
                  <a:txBody>
                    <a:bodyPr/>
                    <a:lstStyle/>
                    <a:p>
                      <a:pPr>
                        <a:buNone/>
                      </a:pPr>
                      <a:r>
                        <a:rPr lang="zh-CN" altLang="en-US" sz="2800" dirty="0"/>
                        <a:t>验证者验证签名时使用</a:t>
                      </a:r>
                    </a:p>
                  </a:txBody>
                  <a:tcPr anchor="ctr"/>
                </a:tc>
                <a:extLst>
                  <a:ext uri="{0D108BD9-81ED-4DB2-BD59-A6C34878D82A}">
                    <a16:rowId xmlns:a16="http://schemas.microsoft.com/office/drawing/2014/main" val="3447221911"/>
                  </a:ext>
                </a:extLst>
              </a:tr>
            </a:tbl>
          </a:graphicData>
        </a:graphic>
      </p:graphicFrame>
      <p:sp>
        <p:nvSpPr>
          <p:cNvPr id="15" name="文本框 14">
            <a:extLst>
              <a:ext uri="{FF2B5EF4-FFF2-40B4-BE49-F238E27FC236}">
                <a16:creationId xmlns:a16="http://schemas.microsoft.com/office/drawing/2014/main" id="{E88892EB-148C-3502-D1A6-6C4296B29F5A}"/>
              </a:ext>
            </a:extLst>
          </p:cNvPr>
          <p:cNvSpPr txBox="1"/>
          <p:nvPr/>
        </p:nvSpPr>
        <p:spPr>
          <a:xfrm>
            <a:off x="2778758" y="1707904"/>
            <a:ext cx="6634481" cy="523220"/>
          </a:xfrm>
          <a:prstGeom prst="rect">
            <a:avLst/>
          </a:prstGeom>
          <a:noFill/>
        </p:spPr>
        <p:txBody>
          <a:bodyPr wrap="square">
            <a:spAutoFit/>
          </a:bodyPr>
          <a:lstStyle/>
          <a:p>
            <a:r>
              <a:rPr lang="zh-CN" altLang="en-US" sz="2800" dirty="0"/>
              <a:t>公钥密码与数字签名的密钥使用方式对比</a:t>
            </a:r>
          </a:p>
        </p:txBody>
      </p:sp>
    </p:spTree>
    <p:extLst>
      <p:ext uri="{BB962C8B-B14F-4D97-AF65-F5344CB8AC3E}">
        <p14:creationId xmlns:p14="http://schemas.microsoft.com/office/powerpoint/2010/main" val="1131394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D48F3-75D6-FD93-5C50-5C7CA913ED26}"/>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34AF696-527E-4057-EA14-A31E7C0A6A61}"/>
              </a:ext>
            </a:extLst>
          </p:cNvPr>
          <p:cNvSpPr>
            <a:spLocks noGrp="1"/>
          </p:cNvSpPr>
          <p:nvPr>
            <p:ph type="sldNum" sz="quarter" idx="12"/>
          </p:nvPr>
        </p:nvSpPr>
        <p:spPr/>
        <p:txBody>
          <a:bodyPr/>
          <a:lstStyle/>
          <a:p>
            <a:fld id="{B8AE17C6-53CA-944D-9421-F2F3A04C57E0}" type="slidenum">
              <a:rPr lang="en-US" smtClean="0"/>
              <a:t>9</a:t>
            </a:fld>
            <a:endParaRPr lang="en-US"/>
          </a:p>
        </p:txBody>
      </p:sp>
      <p:sp>
        <p:nvSpPr>
          <p:cNvPr id="4" name="文本框 3">
            <a:extLst>
              <a:ext uri="{FF2B5EF4-FFF2-40B4-BE49-F238E27FC236}">
                <a16:creationId xmlns:a16="http://schemas.microsoft.com/office/drawing/2014/main" id="{4B02AB9A-9F8E-FD5E-9A25-8E476D99FAF5}"/>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数字签名的原理</a:t>
            </a:r>
          </a:p>
        </p:txBody>
      </p:sp>
      <p:grpSp>
        <p:nvGrpSpPr>
          <p:cNvPr id="5" name="组合 4">
            <a:extLst>
              <a:ext uri="{FF2B5EF4-FFF2-40B4-BE49-F238E27FC236}">
                <a16:creationId xmlns:a16="http://schemas.microsoft.com/office/drawing/2014/main" id="{732BFFD7-08A9-C096-84A9-D24339A21406}"/>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BC365806-56EF-5FDA-FADA-55265B575A1F}"/>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19BDDF69-789E-B38A-E189-E8D9CAB3BEDA}"/>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94ABAA2D-614C-3720-2666-CDB89077F22D}"/>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DD092D32-CAF8-54D2-E3CC-F7EC10C6775D}"/>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0CD2EB4A-672E-23D5-F143-5BCDFA92AA6F}"/>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7493AC19-A64D-32F5-1978-236341B5FDAB}"/>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8AB876F2-EEE4-0059-C626-7041D4A10B29}"/>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签名与验证</a:t>
            </a:r>
          </a:p>
        </p:txBody>
      </p:sp>
      <p:grpSp>
        <p:nvGrpSpPr>
          <p:cNvPr id="2" name="组合 1">
            <a:extLst>
              <a:ext uri="{FF2B5EF4-FFF2-40B4-BE49-F238E27FC236}">
                <a16:creationId xmlns:a16="http://schemas.microsoft.com/office/drawing/2014/main" id="{D5D3AE50-82D7-9D5B-7B37-50A86B30C5B4}"/>
              </a:ext>
            </a:extLst>
          </p:cNvPr>
          <p:cNvGrpSpPr/>
          <p:nvPr/>
        </p:nvGrpSpPr>
        <p:grpSpPr>
          <a:xfrm>
            <a:off x="575039" y="1806694"/>
            <a:ext cx="11041922" cy="1789946"/>
            <a:chOff x="4939871" y="1583809"/>
            <a:chExt cx="7149348" cy="2608171"/>
          </a:xfrm>
        </p:grpSpPr>
        <p:sp>
          <p:nvSpPr>
            <p:cNvPr id="16" name="矩形 15">
              <a:extLst>
                <a:ext uri="{FF2B5EF4-FFF2-40B4-BE49-F238E27FC236}">
                  <a16:creationId xmlns:a16="http://schemas.microsoft.com/office/drawing/2014/main" id="{4C1192FB-97E8-3160-23F1-78E71C1C919F}"/>
                </a:ext>
              </a:extLst>
            </p:cNvPr>
            <p:cNvSpPr/>
            <p:nvPr/>
          </p:nvSpPr>
          <p:spPr>
            <a:xfrm>
              <a:off x="4939871" y="1583809"/>
              <a:ext cx="7149348" cy="2608171"/>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文本框 16">
              <a:extLst>
                <a:ext uri="{FF2B5EF4-FFF2-40B4-BE49-F238E27FC236}">
                  <a16:creationId xmlns:a16="http://schemas.microsoft.com/office/drawing/2014/main" id="{4246F008-9F11-EE7A-FB45-802805D569C3}"/>
                </a:ext>
              </a:extLst>
            </p:cNvPr>
            <p:cNvSpPr txBox="1"/>
            <p:nvPr/>
          </p:nvSpPr>
          <p:spPr>
            <a:xfrm>
              <a:off x="5176706" y="1758278"/>
              <a:ext cx="6675677" cy="950637"/>
            </a:xfrm>
            <a:prstGeom prst="rect">
              <a:avLst/>
            </a:prstGeom>
            <a:noFill/>
          </p:spPr>
          <p:txBody>
            <a:bodyPr wrap="square" lIns="0" tIns="0" rIns="0" bIns="0" rtlCol="0">
              <a:noAutofit/>
            </a:bodyPr>
            <a:lstStyle/>
            <a:p>
              <a:r>
                <a:rPr lang="zh-CN" altLang="en-US" sz="2400" b="1" dirty="0">
                  <a:solidFill>
                    <a:srgbClr val="FF0000"/>
                  </a:solidFill>
                </a:rPr>
                <a:t>生成消息签名：</a:t>
              </a:r>
              <a:endParaRPr lang="en-US" altLang="zh-CN" sz="2400" b="1" dirty="0">
                <a:solidFill>
                  <a:srgbClr val="FF0000"/>
                </a:solidFill>
              </a:endParaRPr>
            </a:p>
            <a:p>
              <a:r>
                <a:rPr lang="zh-CN" altLang="en-US" sz="2400" dirty="0"/>
                <a:t>由消息的发送者 </a:t>
              </a:r>
              <a:r>
                <a:rPr lang="en-US" altLang="zh-CN" sz="2400" dirty="0"/>
                <a:t>Alice </a:t>
              </a:r>
              <a:r>
                <a:rPr lang="zh-CN" altLang="en-US" sz="2400" dirty="0"/>
                <a:t>完成，即</a:t>
              </a:r>
              <a:r>
                <a:rPr lang="en-US" altLang="zh-CN" sz="2400" dirty="0"/>
                <a:t>Alice</a:t>
              </a:r>
              <a:r>
                <a:rPr lang="zh-CN" altLang="en-US" sz="2400" dirty="0"/>
                <a:t>对消息进行签名。</a:t>
              </a:r>
              <a:br>
                <a:rPr lang="zh-CN" altLang="en-US" sz="2400" dirty="0"/>
              </a:br>
              <a:r>
                <a:rPr lang="en-US" altLang="zh-CN" sz="2400" dirty="0"/>
                <a:t>Alice</a:t>
              </a:r>
              <a:r>
                <a:rPr lang="zh-CN" altLang="en-US" sz="2400" dirty="0"/>
                <a:t>根据消息内容计算出一段数字签名值，这一行为等同于 </a:t>
              </a:r>
              <a:r>
                <a:rPr lang="en-US" altLang="zh-CN" sz="2400" dirty="0"/>
                <a:t>Alice </a:t>
              </a:r>
              <a:r>
                <a:rPr lang="zh-CN" altLang="en-US" sz="2400" dirty="0"/>
                <a:t>明确表示：</a:t>
              </a:r>
            </a:p>
            <a:p>
              <a:r>
                <a:rPr lang="zh-CN" altLang="en-US" sz="2400" dirty="0"/>
                <a:t>“我认可这条消息的内容，并对此负责。”</a:t>
              </a:r>
            </a:p>
          </p:txBody>
        </p:sp>
      </p:grpSp>
      <p:grpSp>
        <p:nvGrpSpPr>
          <p:cNvPr id="18" name="组合 17">
            <a:extLst>
              <a:ext uri="{FF2B5EF4-FFF2-40B4-BE49-F238E27FC236}">
                <a16:creationId xmlns:a16="http://schemas.microsoft.com/office/drawing/2014/main" id="{20698186-A703-CB37-072F-B90BB072E518}"/>
              </a:ext>
            </a:extLst>
          </p:cNvPr>
          <p:cNvGrpSpPr/>
          <p:nvPr/>
        </p:nvGrpSpPr>
        <p:grpSpPr>
          <a:xfrm>
            <a:off x="575038" y="4085066"/>
            <a:ext cx="11041922" cy="2117525"/>
            <a:chOff x="4939871" y="1583809"/>
            <a:chExt cx="7149348" cy="2608171"/>
          </a:xfrm>
        </p:grpSpPr>
        <p:sp>
          <p:nvSpPr>
            <p:cNvPr id="19" name="矩形 18">
              <a:extLst>
                <a:ext uri="{FF2B5EF4-FFF2-40B4-BE49-F238E27FC236}">
                  <a16:creationId xmlns:a16="http://schemas.microsoft.com/office/drawing/2014/main" id="{14BBBB2D-6535-9BE4-7949-CE69CC81E4A4}"/>
                </a:ext>
              </a:extLst>
            </p:cNvPr>
            <p:cNvSpPr/>
            <p:nvPr/>
          </p:nvSpPr>
          <p:spPr>
            <a:xfrm>
              <a:off x="4939871" y="1583809"/>
              <a:ext cx="7149348" cy="2608171"/>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0" name="文本框 19">
              <a:extLst>
                <a:ext uri="{FF2B5EF4-FFF2-40B4-BE49-F238E27FC236}">
                  <a16:creationId xmlns:a16="http://schemas.microsoft.com/office/drawing/2014/main" id="{7DDA9567-0A13-267C-1176-DAD470795BAE}"/>
                </a:ext>
              </a:extLst>
            </p:cNvPr>
            <p:cNvSpPr txBox="1"/>
            <p:nvPr/>
          </p:nvSpPr>
          <p:spPr>
            <a:xfrm>
              <a:off x="5176706" y="1758278"/>
              <a:ext cx="6675677" cy="950637"/>
            </a:xfrm>
            <a:prstGeom prst="rect">
              <a:avLst/>
            </a:prstGeom>
            <a:noFill/>
          </p:spPr>
          <p:txBody>
            <a:bodyPr wrap="square" lIns="0" tIns="0" rIns="0" bIns="0" rtlCol="0">
              <a:noAutofit/>
            </a:bodyPr>
            <a:lstStyle/>
            <a:p>
              <a:r>
                <a:rPr lang="zh-CN" altLang="en-US" sz="2400" b="1" dirty="0">
                  <a:solidFill>
                    <a:srgbClr val="FF0000"/>
                  </a:solidFill>
                </a:rPr>
                <a:t>验证数字签名：</a:t>
              </a:r>
              <a:endParaRPr lang="en-US" altLang="zh-CN" sz="2400" b="1" dirty="0">
                <a:solidFill>
                  <a:srgbClr val="FF0000"/>
                </a:solidFill>
              </a:endParaRPr>
            </a:p>
            <a:p>
              <a:r>
                <a:rPr lang="zh-CN" altLang="en-US" sz="2400" dirty="0"/>
                <a:t>由消息的接收者 </a:t>
              </a:r>
              <a:r>
                <a:rPr lang="en-US" altLang="zh-CN" sz="2400" dirty="0"/>
                <a:t>Bob </a:t>
              </a:r>
              <a:r>
                <a:rPr lang="zh-CN" altLang="en-US" sz="2400" dirty="0"/>
                <a:t>来完成，即</a:t>
              </a:r>
              <a:r>
                <a:rPr lang="en-US" altLang="zh-CN" sz="2400" dirty="0"/>
                <a:t>Bob</a:t>
              </a:r>
              <a:r>
                <a:rPr lang="zh-CN" altLang="en-US" sz="2400" dirty="0"/>
                <a:t>对消息进行验证。</a:t>
              </a:r>
            </a:p>
            <a:p>
              <a:r>
                <a:rPr lang="zh-CN" altLang="en-US" sz="2400" dirty="0"/>
                <a:t>验证数字签名的目的是检查消息上的签名是否确实由 </a:t>
              </a:r>
              <a:r>
                <a:rPr lang="en-US" altLang="zh-CN" sz="2400" dirty="0"/>
                <a:t>Alice </a:t>
              </a:r>
              <a:r>
                <a:rPr lang="zh-CN" altLang="en-US" sz="2400" dirty="0"/>
                <a:t>生成。</a:t>
              </a:r>
            </a:p>
            <a:p>
              <a:r>
                <a:rPr lang="zh-CN" altLang="en-US" sz="2400" b="1" dirty="0"/>
                <a:t>验证成功</a:t>
              </a:r>
              <a:r>
                <a:rPr lang="zh-CN" altLang="en-US" sz="2400" dirty="0"/>
                <a:t>：签名确实属于 </a:t>
              </a:r>
              <a:r>
                <a:rPr lang="en-US" altLang="zh-CN" sz="2400" dirty="0"/>
                <a:t>Alice</a:t>
              </a:r>
              <a:r>
                <a:rPr lang="zh-CN" altLang="en-US" sz="2400" dirty="0"/>
                <a:t>，消息未被篡改。</a:t>
              </a:r>
            </a:p>
            <a:p>
              <a:r>
                <a:rPr lang="zh-CN" altLang="en-US" sz="2400" b="1" dirty="0"/>
                <a:t>验证失败</a:t>
              </a:r>
              <a:r>
                <a:rPr lang="zh-CN" altLang="en-US" sz="2400" dirty="0"/>
                <a:t>：签名并非由 </a:t>
              </a:r>
              <a:r>
                <a:rPr lang="en-US" altLang="zh-CN" sz="2400" dirty="0"/>
                <a:t>Alice </a:t>
              </a:r>
              <a:r>
                <a:rPr lang="zh-CN" altLang="en-US" sz="2400" dirty="0"/>
                <a:t>生成，或消息被修改过。</a:t>
              </a:r>
            </a:p>
          </p:txBody>
        </p:sp>
      </p:grpSp>
    </p:spTree>
    <p:extLst>
      <p:ext uri="{BB962C8B-B14F-4D97-AF65-F5344CB8AC3E}">
        <p14:creationId xmlns:p14="http://schemas.microsoft.com/office/powerpoint/2010/main" val="1768181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9B1C5-C739-95BD-26F4-BA51B871124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5EAE48F-80C4-851D-FE68-6E0B2FB80410}"/>
              </a:ext>
            </a:extLst>
          </p:cNvPr>
          <p:cNvSpPr>
            <a:spLocks noGrp="1"/>
          </p:cNvSpPr>
          <p:nvPr>
            <p:ph type="sldNum" sz="quarter" idx="12"/>
          </p:nvPr>
        </p:nvSpPr>
        <p:spPr/>
        <p:txBody>
          <a:bodyPr/>
          <a:lstStyle/>
          <a:p>
            <a:fld id="{B8AE17C6-53CA-944D-9421-F2F3A04C57E0}" type="slidenum">
              <a:rPr lang="en-US" smtClean="0"/>
              <a:t>10</a:t>
            </a:fld>
            <a:endParaRPr lang="en-US"/>
          </a:p>
        </p:txBody>
      </p:sp>
      <p:sp>
        <p:nvSpPr>
          <p:cNvPr id="4" name="文本框 3">
            <a:extLst>
              <a:ext uri="{FF2B5EF4-FFF2-40B4-BE49-F238E27FC236}">
                <a16:creationId xmlns:a16="http://schemas.microsoft.com/office/drawing/2014/main" id="{7DE3AED3-2D40-6394-BAC6-CDB041850321}"/>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数字签名的原理</a:t>
            </a:r>
          </a:p>
        </p:txBody>
      </p:sp>
      <p:grpSp>
        <p:nvGrpSpPr>
          <p:cNvPr id="5" name="组合 4">
            <a:extLst>
              <a:ext uri="{FF2B5EF4-FFF2-40B4-BE49-F238E27FC236}">
                <a16:creationId xmlns:a16="http://schemas.microsoft.com/office/drawing/2014/main" id="{D22F9169-5BEF-CE20-2344-0FCACE0FA3D8}"/>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40A043C4-A082-2100-960D-217BA7B30E6B}"/>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B85BDD9C-4B0C-17B2-21C5-A8A1CDFCE945}"/>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E54D893E-672D-AAA6-956F-3195AF55BF5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F7E2F908-4063-643B-4F64-0F2C0FA06BE7}"/>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2FADC1D4-5932-B036-4FE6-EE5B19AE5EA6}"/>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92D3E3C6-EE0A-17D2-EC46-4E2012F530E4}"/>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55724530-CEB3-ADA1-70F6-A13CADA9DEBD}"/>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非对称加密（公钥加密）：用</a:t>
            </a:r>
            <a:r>
              <a:rPr lang="zh-CN" altLang="en-US" sz="3200" dirty="0">
                <a:solidFill>
                  <a:srgbClr val="FF0000"/>
                </a:solidFill>
              </a:rPr>
              <a:t>公钥加密</a:t>
            </a:r>
            <a:r>
              <a:rPr lang="zh-CN" altLang="en-US" sz="3200" dirty="0"/>
              <a:t>，用</a:t>
            </a:r>
            <a:r>
              <a:rPr lang="zh-CN" altLang="en-US" sz="3200" dirty="0">
                <a:solidFill>
                  <a:srgbClr val="FF0000"/>
                </a:solidFill>
              </a:rPr>
              <a:t>私钥解密</a:t>
            </a:r>
          </a:p>
        </p:txBody>
      </p:sp>
      <p:pic>
        <p:nvPicPr>
          <p:cNvPr id="16" name="图片 15">
            <a:extLst>
              <a:ext uri="{FF2B5EF4-FFF2-40B4-BE49-F238E27FC236}">
                <a16:creationId xmlns:a16="http://schemas.microsoft.com/office/drawing/2014/main" id="{A43BB681-F089-A0A8-5B1C-C13344880D6C}"/>
              </a:ext>
            </a:extLst>
          </p:cNvPr>
          <p:cNvPicPr>
            <a:picLocks noChangeAspect="1"/>
          </p:cNvPicPr>
          <p:nvPr/>
        </p:nvPicPr>
        <p:blipFill>
          <a:blip r:embed="rId3"/>
          <a:stretch>
            <a:fillRect/>
          </a:stretch>
        </p:blipFill>
        <p:spPr>
          <a:xfrm>
            <a:off x="1064113" y="1344563"/>
            <a:ext cx="10063774" cy="5219605"/>
          </a:xfrm>
          <a:prstGeom prst="rect">
            <a:avLst/>
          </a:prstGeom>
        </p:spPr>
      </p:pic>
      <p:pic>
        <p:nvPicPr>
          <p:cNvPr id="18" name="图片 17">
            <a:extLst>
              <a:ext uri="{FF2B5EF4-FFF2-40B4-BE49-F238E27FC236}">
                <a16:creationId xmlns:a16="http://schemas.microsoft.com/office/drawing/2014/main" id="{EA587DA4-E807-8135-31C0-F142672DD29A}"/>
              </a:ext>
            </a:extLst>
          </p:cNvPr>
          <p:cNvPicPr>
            <a:picLocks noChangeAspect="1"/>
          </p:cNvPicPr>
          <p:nvPr/>
        </p:nvPicPr>
        <p:blipFill>
          <a:blip r:embed="rId4"/>
          <a:stretch>
            <a:fillRect/>
          </a:stretch>
        </p:blipFill>
        <p:spPr>
          <a:xfrm>
            <a:off x="9278411" y="1805693"/>
            <a:ext cx="1742857" cy="1133333"/>
          </a:xfrm>
          <a:prstGeom prst="rect">
            <a:avLst/>
          </a:prstGeom>
        </p:spPr>
      </p:pic>
      <p:sp>
        <p:nvSpPr>
          <p:cNvPr id="19" name="文本框 18">
            <a:extLst>
              <a:ext uri="{FF2B5EF4-FFF2-40B4-BE49-F238E27FC236}">
                <a16:creationId xmlns:a16="http://schemas.microsoft.com/office/drawing/2014/main" id="{D325C9AD-0656-D71E-444F-F8C087ECF8CC}"/>
              </a:ext>
            </a:extLst>
          </p:cNvPr>
          <p:cNvSpPr txBox="1"/>
          <p:nvPr/>
        </p:nvSpPr>
        <p:spPr>
          <a:xfrm>
            <a:off x="0" y="6234581"/>
            <a:ext cx="12191999" cy="584775"/>
          </a:xfrm>
          <a:prstGeom prst="rect">
            <a:avLst/>
          </a:prstGeom>
          <a:solidFill>
            <a:schemeClr val="accent6">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r>
              <a:rPr lang="zh-CN" altLang="en-US" sz="3200" dirty="0"/>
              <a:t>公钥密码中，任何人都能够进行加密（保障机密性）</a:t>
            </a:r>
          </a:p>
        </p:txBody>
      </p:sp>
    </p:spTree>
    <p:extLst>
      <p:ext uri="{BB962C8B-B14F-4D97-AF65-F5344CB8AC3E}">
        <p14:creationId xmlns:p14="http://schemas.microsoft.com/office/powerpoint/2010/main" val="1397249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6609F-0AF1-E7AF-B0D5-DCCA6CD904F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47D7803-DB6B-1A32-3097-8D8511EF01EC}"/>
              </a:ext>
            </a:extLst>
          </p:cNvPr>
          <p:cNvSpPr>
            <a:spLocks noGrp="1"/>
          </p:cNvSpPr>
          <p:nvPr>
            <p:ph type="sldNum" sz="quarter" idx="12"/>
          </p:nvPr>
        </p:nvSpPr>
        <p:spPr/>
        <p:txBody>
          <a:bodyPr/>
          <a:lstStyle/>
          <a:p>
            <a:fld id="{B8AE17C6-53CA-944D-9421-F2F3A04C57E0}" type="slidenum">
              <a:rPr lang="en-US" smtClean="0"/>
              <a:t>11</a:t>
            </a:fld>
            <a:endParaRPr lang="en-US"/>
          </a:p>
        </p:txBody>
      </p:sp>
      <p:sp>
        <p:nvSpPr>
          <p:cNvPr id="4" name="文本框 3">
            <a:extLst>
              <a:ext uri="{FF2B5EF4-FFF2-40B4-BE49-F238E27FC236}">
                <a16:creationId xmlns:a16="http://schemas.microsoft.com/office/drawing/2014/main" id="{CA68055D-FE46-4B2A-FB9D-E913285FCC91}"/>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数字签名的原理</a:t>
            </a:r>
          </a:p>
        </p:txBody>
      </p:sp>
      <p:grpSp>
        <p:nvGrpSpPr>
          <p:cNvPr id="5" name="组合 4">
            <a:extLst>
              <a:ext uri="{FF2B5EF4-FFF2-40B4-BE49-F238E27FC236}">
                <a16:creationId xmlns:a16="http://schemas.microsoft.com/office/drawing/2014/main" id="{806C05FC-497C-1E0A-A604-C141491D38E0}"/>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17B873D5-4FBB-D520-BF76-D4C02AD26591}"/>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EB07DF41-BADE-E796-8B41-FC9423B56511}"/>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4DF10799-37CF-3544-090C-8F1E415E9C9A}"/>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E77BA388-27B0-178B-50F3-2D35214FA3BB}"/>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2E37D2CC-3D71-9D44-DE93-823C8D537743}"/>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66FB237E-5F72-FC26-5123-65C9E2E91C7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9AD2A7FE-9038-B8E5-CF75-F87A06C993C1}"/>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数字签名：用</a:t>
            </a:r>
            <a:r>
              <a:rPr lang="zh-CN" altLang="en-US" sz="3200" dirty="0">
                <a:solidFill>
                  <a:srgbClr val="FF0000"/>
                </a:solidFill>
              </a:rPr>
              <a:t>私钥加密</a:t>
            </a:r>
            <a:r>
              <a:rPr lang="zh-CN" altLang="en-US" sz="3200" dirty="0"/>
              <a:t>，用</a:t>
            </a:r>
            <a:r>
              <a:rPr lang="zh-CN" altLang="en-US" sz="3200" dirty="0">
                <a:solidFill>
                  <a:srgbClr val="FF0000"/>
                </a:solidFill>
              </a:rPr>
              <a:t>公钥解密</a:t>
            </a:r>
          </a:p>
        </p:txBody>
      </p:sp>
      <p:pic>
        <p:nvPicPr>
          <p:cNvPr id="6" name="图片 5">
            <a:extLst>
              <a:ext uri="{FF2B5EF4-FFF2-40B4-BE49-F238E27FC236}">
                <a16:creationId xmlns:a16="http://schemas.microsoft.com/office/drawing/2014/main" id="{ADACD8CA-D637-7208-25ED-B9DA8FFDAFCE}"/>
              </a:ext>
            </a:extLst>
          </p:cNvPr>
          <p:cNvPicPr>
            <a:picLocks noChangeAspect="1"/>
          </p:cNvPicPr>
          <p:nvPr/>
        </p:nvPicPr>
        <p:blipFill>
          <a:blip r:embed="rId3"/>
          <a:stretch>
            <a:fillRect/>
          </a:stretch>
        </p:blipFill>
        <p:spPr>
          <a:xfrm>
            <a:off x="985520" y="1344563"/>
            <a:ext cx="10220960" cy="5163714"/>
          </a:xfrm>
          <a:prstGeom prst="rect">
            <a:avLst/>
          </a:prstGeom>
        </p:spPr>
      </p:pic>
      <p:sp>
        <p:nvSpPr>
          <p:cNvPr id="14" name="文本框 13">
            <a:extLst>
              <a:ext uri="{FF2B5EF4-FFF2-40B4-BE49-F238E27FC236}">
                <a16:creationId xmlns:a16="http://schemas.microsoft.com/office/drawing/2014/main" id="{57C21405-F550-B456-E845-D45841C185D4}"/>
              </a:ext>
            </a:extLst>
          </p:cNvPr>
          <p:cNvSpPr txBox="1"/>
          <p:nvPr/>
        </p:nvSpPr>
        <p:spPr>
          <a:xfrm>
            <a:off x="0" y="6234581"/>
            <a:ext cx="12191999" cy="584775"/>
          </a:xfrm>
          <a:prstGeom prst="rect">
            <a:avLst/>
          </a:prstGeom>
          <a:solidFill>
            <a:schemeClr val="accent6">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r>
              <a:rPr lang="zh-CN" altLang="en-US" sz="3200" dirty="0"/>
              <a:t>数字签名中，任何人都能够验证签名（保障完整性）</a:t>
            </a:r>
          </a:p>
        </p:txBody>
      </p:sp>
    </p:spTree>
    <p:extLst>
      <p:ext uri="{BB962C8B-B14F-4D97-AF65-F5344CB8AC3E}">
        <p14:creationId xmlns:p14="http://schemas.microsoft.com/office/powerpoint/2010/main" val="1412093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2054E-5599-6696-BC8B-E78B4E94E3A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5930F68-7A74-27AB-EDE3-8421656FDB68}"/>
              </a:ext>
            </a:extLst>
          </p:cNvPr>
          <p:cNvSpPr>
            <a:spLocks noGrp="1"/>
          </p:cNvSpPr>
          <p:nvPr>
            <p:ph type="sldNum" sz="quarter" idx="12"/>
          </p:nvPr>
        </p:nvSpPr>
        <p:spPr/>
        <p:txBody>
          <a:bodyPr/>
          <a:lstStyle/>
          <a:p>
            <a:fld id="{B8AE17C6-53CA-944D-9421-F2F3A04C57E0}" type="slidenum">
              <a:rPr lang="en-US" smtClean="0"/>
              <a:t>12</a:t>
            </a:fld>
            <a:endParaRPr lang="en-US"/>
          </a:p>
        </p:txBody>
      </p:sp>
      <p:sp>
        <p:nvSpPr>
          <p:cNvPr id="4" name="文本框 3">
            <a:extLst>
              <a:ext uri="{FF2B5EF4-FFF2-40B4-BE49-F238E27FC236}">
                <a16:creationId xmlns:a16="http://schemas.microsoft.com/office/drawing/2014/main" id="{7ACAED56-73D1-2C5E-6CDC-CDDA2015F53C}"/>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数字签名的功能</a:t>
            </a:r>
          </a:p>
        </p:txBody>
      </p:sp>
      <p:grpSp>
        <p:nvGrpSpPr>
          <p:cNvPr id="5" name="组合 4">
            <a:extLst>
              <a:ext uri="{FF2B5EF4-FFF2-40B4-BE49-F238E27FC236}">
                <a16:creationId xmlns:a16="http://schemas.microsoft.com/office/drawing/2014/main" id="{1503FADF-724E-F236-E841-DA5FA5C60A8C}"/>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189F5B79-BCDC-F8B1-690D-15FB7347C684}"/>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31A87E04-5764-FAA2-D96B-10F05D272233}"/>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0D6C2549-C959-68A6-33BE-0F9B13665BF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0F22C655-4180-F006-B7B4-5E7E2ECB5F0A}"/>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560E7BEB-10AD-E33D-ED58-FE38A8757B7B}"/>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B6482A19-C2CC-5BB0-05D7-AF3DAB67F47A}"/>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1D2E9FA2-E21F-7A92-CE2A-6F6907438D20}"/>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篡改、伪装、否认</a:t>
            </a:r>
          </a:p>
        </p:txBody>
      </p:sp>
      <p:graphicFrame>
        <p:nvGraphicFramePr>
          <p:cNvPr id="2" name="表格 1">
            <a:extLst>
              <a:ext uri="{FF2B5EF4-FFF2-40B4-BE49-F238E27FC236}">
                <a16:creationId xmlns:a16="http://schemas.microsoft.com/office/drawing/2014/main" id="{C3B0E0EA-E6C2-BFF2-734A-A26D9CA91BBA}"/>
              </a:ext>
            </a:extLst>
          </p:cNvPr>
          <p:cNvGraphicFramePr>
            <a:graphicFrameLocks noGrp="1"/>
          </p:cNvGraphicFramePr>
          <p:nvPr/>
        </p:nvGraphicFramePr>
        <p:xfrm>
          <a:off x="243840" y="1560477"/>
          <a:ext cx="11612880" cy="3962400"/>
        </p:xfrm>
        <a:graphic>
          <a:graphicData uri="http://schemas.openxmlformats.org/drawingml/2006/table">
            <a:tbl>
              <a:tblPr>
                <a:tableStyleId>{5940675A-B579-460E-94D1-54222C63F5DA}</a:tableStyleId>
              </a:tblPr>
              <a:tblGrid>
                <a:gridCol w="3348134">
                  <a:extLst>
                    <a:ext uri="{9D8B030D-6E8A-4147-A177-3AD203B41FA5}">
                      <a16:colId xmlns:a16="http://schemas.microsoft.com/office/drawing/2014/main" val="393224676"/>
                    </a:ext>
                  </a:extLst>
                </a:gridCol>
                <a:gridCol w="2464024">
                  <a:extLst>
                    <a:ext uri="{9D8B030D-6E8A-4147-A177-3AD203B41FA5}">
                      <a16:colId xmlns:a16="http://schemas.microsoft.com/office/drawing/2014/main" val="1698148022"/>
                    </a:ext>
                  </a:extLst>
                </a:gridCol>
                <a:gridCol w="2576958">
                  <a:extLst>
                    <a:ext uri="{9D8B030D-6E8A-4147-A177-3AD203B41FA5}">
                      <a16:colId xmlns:a16="http://schemas.microsoft.com/office/drawing/2014/main" val="2098053205"/>
                    </a:ext>
                  </a:extLst>
                </a:gridCol>
                <a:gridCol w="3223764">
                  <a:extLst>
                    <a:ext uri="{9D8B030D-6E8A-4147-A177-3AD203B41FA5}">
                      <a16:colId xmlns:a16="http://schemas.microsoft.com/office/drawing/2014/main" val="4233626697"/>
                    </a:ext>
                  </a:extLst>
                </a:gridCol>
              </a:tblGrid>
              <a:tr h="0">
                <a:tc>
                  <a:txBody>
                    <a:bodyPr/>
                    <a:lstStyle/>
                    <a:p>
                      <a:pPr algn="ctr">
                        <a:buNone/>
                      </a:pPr>
                      <a:r>
                        <a:rPr lang="zh-CN" altLang="en-US" sz="2400" b="1" dirty="0"/>
                        <a:t>安全目标</a:t>
                      </a:r>
                    </a:p>
                  </a:txBody>
                  <a:tcPr anchor="ctr"/>
                </a:tc>
                <a:tc>
                  <a:txBody>
                    <a:bodyPr/>
                    <a:lstStyle/>
                    <a:p>
                      <a:pPr algn="ctr">
                        <a:buNone/>
                      </a:pPr>
                      <a:r>
                        <a:rPr lang="zh-CN" altLang="en-US" sz="2400" b="1" dirty="0"/>
                        <a:t>消息认证码</a:t>
                      </a:r>
                      <a:endParaRPr lang="en-US" altLang="zh-CN" sz="2400" b="1" dirty="0"/>
                    </a:p>
                    <a:p>
                      <a:pPr algn="ctr">
                        <a:buNone/>
                      </a:pPr>
                      <a:r>
                        <a:rPr lang="en-US" altLang="zh-CN" sz="2000" b="1" dirty="0"/>
                        <a:t>MAC</a:t>
                      </a:r>
                      <a:endParaRPr lang="zh-CN" altLang="en-US" sz="2000" b="1" dirty="0"/>
                    </a:p>
                  </a:txBody>
                  <a:tcPr anchor="ctr"/>
                </a:tc>
                <a:tc>
                  <a:txBody>
                    <a:bodyPr/>
                    <a:lstStyle/>
                    <a:p>
                      <a:pPr algn="ctr">
                        <a:buNone/>
                      </a:pPr>
                      <a:r>
                        <a:rPr lang="zh-CN" altLang="en-US" sz="2400" b="1" dirty="0"/>
                        <a:t>数字签名</a:t>
                      </a:r>
                      <a:endParaRPr lang="en-US" altLang="zh-CN" sz="2400" b="1" dirty="0"/>
                    </a:p>
                    <a:p>
                      <a:pPr algn="ctr">
                        <a:buNone/>
                      </a:pPr>
                      <a:r>
                        <a:rPr lang="en-US" sz="2000" b="1" dirty="0"/>
                        <a:t>Digital Signature</a:t>
                      </a:r>
                    </a:p>
                  </a:txBody>
                  <a:tcPr anchor="ctr"/>
                </a:tc>
                <a:tc>
                  <a:txBody>
                    <a:bodyPr/>
                    <a:lstStyle/>
                    <a:p>
                      <a:pPr algn="ctr">
                        <a:buNone/>
                      </a:pPr>
                      <a:r>
                        <a:rPr lang="zh-CN" altLang="en-US" sz="2400" b="1" dirty="0"/>
                        <a:t>解释</a:t>
                      </a:r>
                    </a:p>
                  </a:txBody>
                  <a:tcPr anchor="ctr"/>
                </a:tc>
                <a:extLst>
                  <a:ext uri="{0D108BD9-81ED-4DB2-BD59-A6C34878D82A}">
                    <a16:rowId xmlns:a16="http://schemas.microsoft.com/office/drawing/2014/main" val="3883682406"/>
                  </a:ext>
                </a:extLst>
              </a:tr>
              <a:tr h="0">
                <a:tc>
                  <a:txBody>
                    <a:bodyPr/>
                    <a:lstStyle/>
                    <a:p>
                      <a:pPr algn="ctr">
                        <a:buNone/>
                      </a:pPr>
                      <a:r>
                        <a:rPr lang="zh-CN" altLang="en-US" sz="2400" b="1" dirty="0"/>
                        <a:t>防止篡改</a:t>
                      </a:r>
                      <a:endParaRPr lang="en-US" altLang="zh-CN" sz="2400" b="1" dirty="0"/>
                    </a:p>
                    <a:p>
                      <a:pPr algn="ctr">
                        <a:buNone/>
                      </a:pPr>
                      <a:r>
                        <a:rPr lang="zh-CN" altLang="en-US" sz="2400" b="1" dirty="0"/>
                        <a:t>（完整性）</a:t>
                      </a:r>
                      <a:endParaRPr lang="zh-CN" altLang="en-US" sz="2400" dirty="0"/>
                    </a:p>
                  </a:txBody>
                  <a:tcPr anchor="ctr"/>
                </a:tc>
                <a:tc>
                  <a:txBody>
                    <a:bodyPr/>
                    <a:lstStyle/>
                    <a:p>
                      <a:pPr algn="ctr">
                        <a:buNone/>
                      </a:pPr>
                      <a:r>
                        <a:rPr lang="zh-CN" altLang="en-US" sz="2400" dirty="0"/>
                        <a:t>✔</a:t>
                      </a:r>
                    </a:p>
                  </a:txBody>
                  <a:tcPr anchor="ctr"/>
                </a:tc>
                <a:tc>
                  <a:txBody>
                    <a:bodyPr/>
                    <a:lstStyle/>
                    <a:p>
                      <a:pPr algn="ctr">
                        <a:buNone/>
                      </a:pPr>
                      <a:r>
                        <a:rPr lang="zh-CN" altLang="en-US" sz="2400" dirty="0"/>
                        <a:t>✔ </a:t>
                      </a:r>
                    </a:p>
                  </a:txBody>
                  <a:tcPr anchor="ctr"/>
                </a:tc>
                <a:tc>
                  <a:txBody>
                    <a:bodyPr/>
                    <a:lstStyle/>
                    <a:p>
                      <a:pPr algn="l">
                        <a:buNone/>
                      </a:pPr>
                      <a:r>
                        <a:rPr lang="zh-CN" altLang="en-US" sz="2400" dirty="0"/>
                        <a:t>篡改会导致 </a:t>
                      </a:r>
                      <a:r>
                        <a:rPr lang="en-US" altLang="zh-CN" sz="2400" dirty="0"/>
                        <a:t>MAC/</a:t>
                      </a:r>
                      <a:r>
                        <a:rPr lang="zh-CN" altLang="en-US" sz="2400" dirty="0"/>
                        <a:t>签名验证失败</a:t>
                      </a:r>
                    </a:p>
                  </a:txBody>
                  <a:tcPr anchor="ctr"/>
                </a:tc>
                <a:extLst>
                  <a:ext uri="{0D108BD9-81ED-4DB2-BD59-A6C34878D82A}">
                    <a16:rowId xmlns:a16="http://schemas.microsoft.com/office/drawing/2014/main" val="1266043934"/>
                  </a:ext>
                </a:extLst>
              </a:tr>
              <a:tr h="0">
                <a:tc>
                  <a:txBody>
                    <a:bodyPr/>
                    <a:lstStyle/>
                    <a:p>
                      <a:pPr algn="ctr">
                        <a:buNone/>
                      </a:pPr>
                      <a:r>
                        <a:rPr lang="zh-CN" altLang="en-US" sz="2400" b="1" dirty="0"/>
                        <a:t>防止伪装</a:t>
                      </a:r>
                      <a:endParaRPr lang="en-US" altLang="zh-CN" sz="2400" b="1" dirty="0"/>
                    </a:p>
                    <a:p>
                      <a:pPr algn="ctr">
                        <a:buNone/>
                      </a:pPr>
                      <a:r>
                        <a:rPr lang="zh-CN" altLang="en-US" sz="2400" b="1" dirty="0"/>
                        <a:t>（认证性）</a:t>
                      </a:r>
                      <a:endParaRPr lang="zh-CN" altLang="en-US" sz="2400" dirty="0"/>
                    </a:p>
                  </a:txBody>
                  <a:tcPr anchor="ctr"/>
                </a:tc>
                <a:tc>
                  <a:txBody>
                    <a:bodyPr/>
                    <a:lstStyle/>
                    <a:p>
                      <a:pPr algn="ctr">
                        <a:buNone/>
                      </a:pPr>
                      <a:r>
                        <a:rPr lang="zh-CN" altLang="en-US" sz="2400" dirty="0"/>
                        <a:t>✔ （弱）</a:t>
                      </a:r>
                    </a:p>
                  </a:txBody>
                  <a:tcPr anchor="ctr"/>
                </a:tc>
                <a:tc>
                  <a:txBody>
                    <a:bodyPr/>
                    <a:lstStyle/>
                    <a:p>
                      <a:pPr algn="ctr">
                        <a:buNone/>
                      </a:pPr>
                      <a:r>
                        <a:rPr lang="zh-CN" altLang="en-US" sz="2400" dirty="0"/>
                        <a:t>✔（弱）</a:t>
                      </a:r>
                    </a:p>
                  </a:txBody>
                  <a:tcPr anchor="ctr"/>
                </a:tc>
                <a:tc>
                  <a:txBody>
                    <a:bodyPr/>
                    <a:lstStyle/>
                    <a:p>
                      <a:pPr algn="l">
                        <a:buNone/>
                      </a:pPr>
                      <a:r>
                        <a:rPr lang="zh-CN" altLang="en-US" sz="2400" dirty="0"/>
                        <a:t>只能在密钥正确的情况下实现认证</a:t>
                      </a:r>
                    </a:p>
                  </a:txBody>
                  <a:tcPr anchor="ctr"/>
                </a:tc>
                <a:extLst>
                  <a:ext uri="{0D108BD9-81ED-4DB2-BD59-A6C34878D82A}">
                    <a16:rowId xmlns:a16="http://schemas.microsoft.com/office/drawing/2014/main" val="268166723"/>
                  </a:ext>
                </a:extLst>
              </a:tr>
              <a:tr h="0">
                <a:tc>
                  <a:txBody>
                    <a:bodyPr/>
                    <a:lstStyle/>
                    <a:p>
                      <a:pPr algn="ctr">
                        <a:buNone/>
                      </a:pPr>
                      <a:r>
                        <a:rPr lang="zh-CN" altLang="en-US" sz="2400" b="1" dirty="0"/>
                        <a:t>防止否认</a:t>
                      </a:r>
                      <a:endParaRPr lang="en-US" altLang="zh-CN" sz="2400" b="1" dirty="0"/>
                    </a:p>
                    <a:p>
                      <a:pPr algn="ctr">
                        <a:buNone/>
                      </a:pPr>
                      <a:r>
                        <a:rPr lang="zh-CN" altLang="en-US" sz="2400" b="1" dirty="0"/>
                        <a:t>（不可否认性）</a:t>
                      </a:r>
                      <a:endParaRPr lang="zh-CN" altLang="en-US" sz="2400" dirty="0"/>
                    </a:p>
                  </a:txBody>
                  <a:tcPr anchor="ctr"/>
                </a:tc>
                <a:tc>
                  <a:txBody>
                    <a:bodyPr/>
                    <a:lstStyle/>
                    <a:p>
                      <a:pPr algn="ctr">
                        <a:buNone/>
                      </a:pPr>
                      <a:r>
                        <a:rPr lang="zh-CN" altLang="en-US" sz="2400" dirty="0"/>
                        <a:t>✘</a:t>
                      </a:r>
                    </a:p>
                  </a:txBody>
                  <a:tcPr anchor="ctr"/>
                </a:tc>
                <a:tc>
                  <a:txBody>
                    <a:bodyPr/>
                    <a:lstStyle/>
                    <a:p>
                      <a:pPr algn="ctr">
                        <a:buNone/>
                      </a:pPr>
                      <a:r>
                        <a:rPr lang="zh-CN" altLang="en-US" sz="2400" dirty="0"/>
                        <a:t>✔</a:t>
                      </a:r>
                    </a:p>
                  </a:txBody>
                  <a:tcPr anchor="ctr"/>
                </a:tc>
                <a:tc>
                  <a:txBody>
                    <a:bodyPr/>
                    <a:lstStyle/>
                    <a:p>
                      <a:pPr algn="l">
                        <a:buNone/>
                      </a:pPr>
                      <a:r>
                        <a:rPr lang="en-US" altLang="zh-CN" sz="2400" dirty="0"/>
                        <a:t>MAC </a:t>
                      </a:r>
                      <a:r>
                        <a:rPr lang="zh-CN" altLang="en-US" sz="2400" dirty="0"/>
                        <a:t>使用共享密钥，任意一方都能伪造；签名由公私钥唯一生成，不能否认</a:t>
                      </a:r>
                    </a:p>
                  </a:txBody>
                  <a:tcPr anchor="ctr"/>
                </a:tc>
                <a:extLst>
                  <a:ext uri="{0D108BD9-81ED-4DB2-BD59-A6C34878D82A}">
                    <a16:rowId xmlns:a16="http://schemas.microsoft.com/office/drawing/2014/main" val="2747120953"/>
                  </a:ext>
                </a:extLst>
              </a:tr>
            </a:tbl>
          </a:graphicData>
        </a:graphic>
      </p:graphicFrame>
    </p:spTree>
    <p:extLst>
      <p:ext uri="{BB962C8B-B14F-4D97-AF65-F5344CB8AC3E}">
        <p14:creationId xmlns:p14="http://schemas.microsoft.com/office/powerpoint/2010/main" val="3061632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F757D-878F-1B72-019B-EC354F298716}"/>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48854A0-83AF-D5DB-2337-06051F8914DF}"/>
              </a:ext>
            </a:extLst>
          </p:cNvPr>
          <p:cNvSpPr>
            <a:spLocks noGrp="1"/>
          </p:cNvSpPr>
          <p:nvPr>
            <p:ph type="sldNum" sz="quarter" idx="12"/>
          </p:nvPr>
        </p:nvSpPr>
        <p:spPr/>
        <p:txBody>
          <a:bodyPr/>
          <a:lstStyle/>
          <a:p>
            <a:fld id="{B8AE17C6-53CA-944D-9421-F2F3A04C57E0}" type="slidenum">
              <a:rPr lang="en-US" smtClean="0"/>
              <a:t>13</a:t>
            </a:fld>
            <a:endParaRPr lang="en-US"/>
          </a:p>
        </p:txBody>
      </p:sp>
      <p:sp>
        <p:nvSpPr>
          <p:cNvPr id="4" name="文本框 3">
            <a:extLst>
              <a:ext uri="{FF2B5EF4-FFF2-40B4-BE49-F238E27FC236}">
                <a16:creationId xmlns:a16="http://schemas.microsoft.com/office/drawing/2014/main" id="{D47477CF-1A35-5C2C-432C-3FD5050CED8E}"/>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数字签名的方法</a:t>
            </a:r>
          </a:p>
        </p:txBody>
      </p:sp>
      <p:grpSp>
        <p:nvGrpSpPr>
          <p:cNvPr id="5" name="组合 4">
            <a:extLst>
              <a:ext uri="{FF2B5EF4-FFF2-40B4-BE49-F238E27FC236}">
                <a16:creationId xmlns:a16="http://schemas.microsoft.com/office/drawing/2014/main" id="{AEA49261-1A3D-3FB0-7CD8-FAA03BFB3A59}"/>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7EDF5AF8-8E76-3791-11DF-1D7D65D21658}"/>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0A947FE6-BA7D-FD49-A67A-643A3E07A4AE}"/>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1F49D974-9494-A10E-2541-321E9A20849F}"/>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B63FE463-17CD-4C2F-9E70-7E18CF4C787D}"/>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BA8DAB92-20D2-B938-DE3C-3E1CCABFD0B2}"/>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ADC8043F-3A40-FADA-70B4-B97B065BCEE4}"/>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44F23E58-EFDA-84B5-2DBB-A6BA94913946}"/>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直接对消息进行签名</a:t>
            </a:r>
          </a:p>
        </p:txBody>
      </p:sp>
      <p:pic>
        <p:nvPicPr>
          <p:cNvPr id="14" name="图片 13">
            <a:extLst>
              <a:ext uri="{FF2B5EF4-FFF2-40B4-BE49-F238E27FC236}">
                <a16:creationId xmlns:a16="http://schemas.microsoft.com/office/drawing/2014/main" id="{6F82F7A4-1000-F6E4-9068-1A1BF6559F47}"/>
              </a:ext>
            </a:extLst>
          </p:cNvPr>
          <p:cNvPicPr>
            <a:picLocks noChangeAspect="1"/>
          </p:cNvPicPr>
          <p:nvPr/>
        </p:nvPicPr>
        <p:blipFill>
          <a:blip r:embed="rId3"/>
          <a:stretch>
            <a:fillRect/>
          </a:stretch>
        </p:blipFill>
        <p:spPr>
          <a:xfrm>
            <a:off x="4941038" y="1212358"/>
            <a:ext cx="6783705" cy="5534372"/>
          </a:xfrm>
          <a:prstGeom prst="rect">
            <a:avLst/>
          </a:prstGeom>
        </p:spPr>
      </p:pic>
      <p:grpSp>
        <p:nvGrpSpPr>
          <p:cNvPr id="17" name="组合 16">
            <a:extLst>
              <a:ext uri="{FF2B5EF4-FFF2-40B4-BE49-F238E27FC236}">
                <a16:creationId xmlns:a16="http://schemas.microsoft.com/office/drawing/2014/main" id="{8732E816-16AF-8A93-68DA-3DF9B33DB6BE}"/>
              </a:ext>
            </a:extLst>
          </p:cNvPr>
          <p:cNvGrpSpPr/>
          <p:nvPr/>
        </p:nvGrpSpPr>
        <p:grpSpPr>
          <a:xfrm>
            <a:off x="121442" y="2052320"/>
            <a:ext cx="4698155" cy="4593128"/>
            <a:chOff x="4939868" y="1472443"/>
            <a:chExt cx="7149348" cy="3690885"/>
          </a:xfrm>
        </p:grpSpPr>
        <p:sp>
          <p:nvSpPr>
            <p:cNvPr id="18" name="矩形 17">
              <a:extLst>
                <a:ext uri="{FF2B5EF4-FFF2-40B4-BE49-F238E27FC236}">
                  <a16:creationId xmlns:a16="http://schemas.microsoft.com/office/drawing/2014/main" id="{48140441-BD6F-55DB-C0B5-1C194E55BC49}"/>
                </a:ext>
              </a:extLst>
            </p:cNvPr>
            <p:cNvSpPr/>
            <p:nvPr/>
          </p:nvSpPr>
          <p:spPr>
            <a:xfrm>
              <a:off x="4939868" y="1472443"/>
              <a:ext cx="7149348" cy="3690885"/>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9" name="文本框 18">
              <a:extLst>
                <a:ext uri="{FF2B5EF4-FFF2-40B4-BE49-F238E27FC236}">
                  <a16:creationId xmlns:a16="http://schemas.microsoft.com/office/drawing/2014/main" id="{2BC4DCAF-7D6B-E189-6180-EDC9245F2E32}"/>
                </a:ext>
              </a:extLst>
            </p:cNvPr>
            <p:cNvSpPr txBox="1"/>
            <p:nvPr/>
          </p:nvSpPr>
          <p:spPr>
            <a:xfrm>
              <a:off x="5176702" y="1612289"/>
              <a:ext cx="6675677" cy="950635"/>
            </a:xfrm>
            <a:prstGeom prst="rect">
              <a:avLst/>
            </a:prstGeom>
            <a:noFill/>
          </p:spPr>
          <p:txBody>
            <a:bodyPr wrap="square" lIns="0" tIns="0" rIns="0" bIns="0" rtlCol="0">
              <a:noAutofit/>
            </a:bodyPr>
            <a:lstStyle/>
            <a:p>
              <a:pPr>
                <a:buNone/>
              </a:pPr>
              <a:r>
                <a:rPr lang="en-US" altLang="zh-CN" sz="2400" dirty="0"/>
                <a:t>(1) Alice </a:t>
              </a:r>
              <a:r>
                <a:rPr lang="zh-CN" altLang="en-US" sz="2400" dirty="0"/>
                <a:t>用自己的私钥对消息进行加密</a:t>
              </a:r>
              <a:br>
                <a:rPr lang="zh-CN" altLang="en-US" sz="2400" dirty="0"/>
              </a:br>
              <a:r>
                <a:rPr lang="en-US" altLang="zh-CN" sz="2400" dirty="0"/>
                <a:t>(2) Alice </a:t>
              </a:r>
              <a:r>
                <a:rPr lang="zh-CN" altLang="en-US" sz="2400" dirty="0"/>
                <a:t>将消息和签名一起发送给 </a:t>
              </a:r>
              <a:r>
                <a:rPr lang="en-US" altLang="zh-CN" sz="2400" dirty="0"/>
                <a:t>Bob</a:t>
              </a:r>
              <a:endParaRPr lang="zh-CN" altLang="en-US" sz="2400" dirty="0"/>
            </a:p>
            <a:p>
              <a:pPr>
                <a:buNone/>
              </a:pPr>
              <a:r>
                <a:rPr lang="en-US" altLang="zh-CN" sz="2400" dirty="0"/>
                <a:t>(3) Bob </a:t>
              </a:r>
              <a:r>
                <a:rPr lang="zh-CN" altLang="en-US" sz="2400" dirty="0"/>
                <a:t>使用 </a:t>
              </a:r>
              <a:r>
                <a:rPr lang="en-US" altLang="zh-CN" sz="2400" dirty="0"/>
                <a:t>Alice </a:t>
              </a:r>
              <a:r>
                <a:rPr lang="zh-CN" altLang="en-US" sz="2400" dirty="0"/>
                <a:t>的公钥对收到的签名进行解密</a:t>
              </a:r>
            </a:p>
            <a:p>
              <a:pPr>
                <a:buNone/>
              </a:pPr>
              <a:r>
                <a:rPr lang="en-US" altLang="zh-CN" sz="2400" dirty="0"/>
                <a:t>(4) Bob </a:t>
              </a:r>
              <a:r>
                <a:rPr lang="zh-CN" altLang="en-US" sz="2400" dirty="0"/>
                <a:t>将解密得到的消息与 </a:t>
              </a:r>
              <a:r>
                <a:rPr lang="en-US" altLang="zh-CN" sz="2400" dirty="0"/>
                <a:t>Alice </a:t>
              </a:r>
              <a:r>
                <a:rPr lang="zh-CN" altLang="en-US" sz="2400" dirty="0"/>
                <a:t>明文发送的消息进行比对。</a:t>
              </a:r>
            </a:p>
            <a:p>
              <a:pPr>
                <a:buFont typeface="Arial" panose="020B0604020202020204" pitchFamily="34" charset="0"/>
                <a:buChar char="•"/>
              </a:pPr>
              <a:r>
                <a:rPr lang="zh-CN" altLang="en-US" sz="2400" dirty="0"/>
                <a:t>若两者一致，则说明签名验证成功；</a:t>
              </a:r>
            </a:p>
            <a:p>
              <a:pPr>
                <a:buFont typeface="Arial" panose="020B0604020202020204" pitchFamily="34" charset="0"/>
                <a:buChar char="•"/>
              </a:pPr>
              <a:r>
                <a:rPr lang="zh-CN" altLang="en-US" sz="2400" dirty="0"/>
                <a:t>若两者不一致，则说明签名验证失败。</a:t>
              </a:r>
            </a:p>
          </p:txBody>
        </p:sp>
      </p:grpSp>
      <p:sp>
        <p:nvSpPr>
          <p:cNvPr id="20" name="文本框 19">
            <a:extLst>
              <a:ext uri="{FF2B5EF4-FFF2-40B4-BE49-F238E27FC236}">
                <a16:creationId xmlns:a16="http://schemas.microsoft.com/office/drawing/2014/main" id="{D23F690D-D2C3-70CF-E9F8-25686C77CF0B}"/>
              </a:ext>
            </a:extLst>
          </p:cNvPr>
          <p:cNvSpPr txBox="1"/>
          <p:nvPr/>
        </p:nvSpPr>
        <p:spPr>
          <a:xfrm>
            <a:off x="846518" y="1455810"/>
            <a:ext cx="2927100" cy="523220"/>
          </a:xfrm>
          <a:prstGeom prst="rect">
            <a:avLst/>
          </a:prstGeom>
          <a:noFill/>
        </p:spPr>
        <p:txBody>
          <a:bodyPr wrap="square">
            <a:spAutoFit/>
          </a:bodyPr>
          <a:lstStyle/>
          <a:p>
            <a:r>
              <a:rPr lang="zh-CN" altLang="en-US" sz="2800" b="1" dirty="0">
                <a:solidFill>
                  <a:srgbClr val="FF0000"/>
                </a:solidFill>
              </a:rPr>
              <a:t>签名与验证流程</a:t>
            </a:r>
            <a:endParaRPr lang="en-US" altLang="zh-CN" sz="2800" b="1" dirty="0">
              <a:solidFill>
                <a:srgbClr val="FF0000"/>
              </a:solidFill>
            </a:endParaRPr>
          </a:p>
        </p:txBody>
      </p:sp>
    </p:spTree>
    <p:extLst>
      <p:ext uri="{BB962C8B-B14F-4D97-AF65-F5344CB8AC3E}">
        <p14:creationId xmlns:p14="http://schemas.microsoft.com/office/powerpoint/2010/main" val="2478256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1DF4D-C983-77ED-546E-52E3CF902C70}"/>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672E78B-E980-C662-940F-2C4295385595}"/>
              </a:ext>
            </a:extLst>
          </p:cNvPr>
          <p:cNvSpPr>
            <a:spLocks noGrp="1"/>
          </p:cNvSpPr>
          <p:nvPr>
            <p:ph type="sldNum" sz="quarter" idx="12"/>
          </p:nvPr>
        </p:nvSpPr>
        <p:spPr/>
        <p:txBody>
          <a:bodyPr/>
          <a:lstStyle/>
          <a:p>
            <a:fld id="{B8AE17C6-53CA-944D-9421-F2F3A04C57E0}" type="slidenum">
              <a:rPr lang="en-US" smtClean="0"/>
              <a:t>14</a:t>
            </a:fld>
            <a:endParaRPr lang="en-US"/>
          </a:p>
        </p:txBody>
      </p:sp>
      <p:sp>
        <p:nvSpPr>
          <p:cNvPr id="4" name="文本框 3">
            <a:extLst>
              <a:ext uri="{FF2B5EF4-FFF2-40B4-BE49-F238E27FC236}">
                <a16:creationId xmlns:a16="http://schemas.microsoft.com/office/drawing/2014/main" id="{041FE9E7-3F81-9321-7DAC-E4272ECABFA8}"/>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数字签名的方法</a:t>
            </a:r>
          </a:p>
        </p:txBody>
      </p:sp>
      <p:grpSp>
        <p:nvGrpSpPr>
          <p:cNvPr id="5" name="组合 4">
            <a:extLst>
              <a:ext uri="{FF2B5EF4-FFF2-40B4-BE49-F238E27FC236}">
                <a16:creationId xmlns:a16="http://schemas.microsoft.com/office/drawing/2014/main" id="{DD23FFCF-8D3A-6E87-89BA-64351E98D27A}"/>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1E7C2498-39B6-1DB1-2F25-DA17854AB486}"/>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269C1C58-9C7A-4BDD-C61D-99303F72222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8961326C-4C91-E3D4-BF1D-9FDFEB1ACC9B}"/>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D65749F0-1C42-E193-23F7-A4922105B3E9}"/>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0AF44F54-B731-B0D6-6C56-D214EDCF21C3}"/>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05D097F6-C532-7C28-B385-5C3ADCE03EA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E02A88E7-852A-F590-CA32-0C182C35E0B5}"/>
              </a:ext>
            </a:extLst>
          </p:cNvPr>
          <p:cNvSpPr txBox="1"/>
          <p:nvPr/>
        </p:nvSpPr>
        <p:spPr>
          <a:xfrm>
            <a:off x="1" y="655408"/>
            <a:ext cx="1219199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对消息的散列值进行签名</a:t>
            </a:r>
          </a:p>
        </p:txBody>
      </p:sp>
      <p:grpSp>
        <p:nvGrpSpPr>
          <p:cNvPr id="17" name="组合 16">
            <a:extLst>
              <a:ext uri="{FF2B5EF4-FFF2-40B4-BE49-F238E27FC236}">
                <a16:creationId xmlns:a16="http://schemas.microsoft.com/office/drawing/2014/main" id="{7C77FABD-4971-1951-FD80-47BF3121EDCC}"/>
              </a:ext>
            </a:extLst>
          </p:cNvPr>
          <p:cNvGrpSpPr/>
          <p:nvPr/>
        </p:nvGrpSpPr>
        <p:grpSpPr>
          <a:xfrm>
            <a:off x="121442" y="2052320"/>
            <a:ext cx="4698155" cy="4593128"/>
            <a:chOff x="4939868" y="1472443"/>
            <a:chExt cx="7149348" cy="3690885"/>
          </a:xfrm>
        </p:grpSpPr>
        <p:sp>
          <p:nvSpPr>
            <p:cNvPr id="18" name="矩形 17">
              <a:extLst>
                <a:ext uri="{FF2B5EF4-FFF2-40B4-BE49-F238E27FC236}">
                  <a16:creationId xmlns:a16="http://schemas.microsoft.com/office/drawing/2014/main" id="{FDED2F58-8CB8-CBDF-E18F-6333B3875BF0}"/>
                </a:ext>
              </a:extLst>
            </p:cNvPr>
            <p:cNvSpPr/>
            <p:nvPr/>
          </p:nvSpPr>
          <p:spPr>
            <a:xfrm>
              <a:off x="4939868" y="1472443"/>
              <a:ext cx="7149348" cy="3690885"/>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9" name="文本框 18">
              <a:extLst>
                <a:ext uri="{FF2B5EF4-FFF2-40B4-BE49-F238E27FC236}">
                  <a16:creationId xmlns:a16="http://schemas.microsoft.com/office/drawing/2014/main" id="{7ED4C61D-6780-F68C-87BB-F44977590D88}"/>
                </a:ext>
              </a:extLst>
            </p:cNvPr>
            <p:cNvSpPr txBox="1"/>
            <p:nvPr/>
          </p:nvSpPr>
          <p:spPr>
            <a:xfrm>
              <a:off x="5176702" y="1612289"/>
              <a:ext cx="6675677" cy="950635"/>
            </a:xfrm>
            <a:prstGeom prst="rect">
              <a:avLst/>
            </a:prstGeom>
            <a:noFill/>
          </p:spPr>
          <p:txBody>
            <a:bodyPr wrap="square" lIns="0" tIns="0" rIns="0" bIns="0" rtlCol="0">
              <a:noAutofit/>
            </a:bodyPr>
            <a:lstStyle/>
            <a:p>
              <a:r>
                <a:rPr lang="en-US" altLang="zh-CN" sz="2400" dirty="0"/>
                <a:t>(1) Alice </a:t>
              </a:r>
              <a:r>
                <a:rPr lang="zh-CN" altLang="en-US" sz="2400" dirty="0"/>
                <a:t>使用单向散列函数计算消息的散列值</a:t>
              </a:r>
            </a:p>
            <a:p>
              <a:r>
                <a:rPr lang="en-US" altLang="zh-CN" sz="2400" dirty="0"/>
                <a:t>(2) Alice </a:t>
              </a:r>
              <a:r>
                <a:rPr lang="zh-CN" altLang="en-US" sz="2400" dirty="0"/>
                <a:t>用自己的私钥对散列值进行加密</a:t>
              </a:r>
              <a:br>
                <a:rPr lang="zh-CN" altLang="en-US" sz="2400" dirty="0"/>
              </a:br>
              <a:r>
                <a:rPr lang="en-US" altLang="zh-CN" sz="2400" dirty="0"/>
                <a:t>(3) Alice </a:t>
              </a:r>
              <a:r>
                <a:rPr lang="zh-CN" altLang="en-US" sz="2400" dirty="0"/>
                <a:t>将消息与签名一起发送给 </a:t>
              </a:r>
              <a:r>
                <a:rPr lang="en-US" altLang="zh-CN" sz="2400" dirty="0"/>
                <a:t>Bob</a:t>
              </a:r>
              <a:endParaRPr lang="zh-CN" altLang="en-US" sz="2400" dirty="0"/>
            </a:p>
            <a:p>
              <a:r>
                <a:rPr lang="en-US" altLang="zh-CN" sz="2400" dirty="0"/>
                <a:t>(4) Bob </a:t>
              </a:r>
              <a:r>
                <a:rPr lang="zh-CN" altLang="en-US" sz="2400" dirty="0"/>
                <a:t>使用 </a:t>
              </a:r>
              <a:r>
                <a:rPr lang="en-US" altLang="zh-CN" sz="2400" dirty="0"/>
                <a:t>Alice </a:t>
              </a:r>
              <a:r>
                <a:rPr lang="zh-CN" altLang="en-US" sz="2400" dirty="0"/>
                <a:t>的公钥对收到的签名进行解密</a:t>
              </a:r>
            </a:p>
            <a:p>
              <a:r>
                <a:rPr lang="en-US" altLang="zh-CN" sz="2400" dirty="0"/>
                <a:t>(5) Bob </a:t>
              </a:r>
              <a:r>
                <a:rPr lang="zh-CN" altLang="en-US" sz="2400" dirty="0"/>
                <a:t>将解密得到的散列值，与他根据 </a:t>
              </a:r>
              <a:r>
                <a:rPr lang="en-US" altLang="zh-CN" sz="2400" dirty="0"/>
                <a:t>Alice </a:t>
              </a:r>
              <a:r>
                <a:rPr lang="zh-CN" altLang="en-US" sz="2400" dirty="0"/>
                <a:t>的原始消息重新计算得到的散列值进行比较</a:t>
              </a:r>
            </a:p>
          </p:txBody>
        </p:sp>
      </p:grpSp>
      <p:sp>
        <p:nvSpPr>
          <p:cNvPr id="20" name="文本框 19">
            <a:extLst>
              <a:ext uri="{FF2B5EF4-FFF2-40B4-BE49-F238E27FC236}">
                <a16:creationId xmlns:a16="http://schemas.microsoft.com/office/drawing/2014/main" id="{D2C07339-2A0E-FB12-6D6B-D86702ACC6F2}"/>
              </a:ext>
            </a:extLst>
          </p:cNvPr>
          <p:cNvSpPr txBox="1"/>
          <p:nvPr/>
        </p:nvSpPr>
        <p:spPr>
          <a:xfrm>
            <a:off x="846518" y="1455810"/>
            <a:ext cx="2927100" cy="523220"/>
          </a:xfrm>
          <a:prstGeom prst="rect">
            <a:avLst/>
          </a:prstGeom>
          <a:noFill/>
        </p:spPr>
        <p:txBody>
          <a:bodyPr wrap="square">
            <a:spAutoFit/>
          </a:bodyPr>
          <a:lstStyle/>
          <a:p>
            <a:r>
              <a:rPr lang="zh-CN" altLang="en-US" sz="2800" b="1" dirty="0">
                <a:solidFill>
                  <a:srgbClr val="FF0000"/>
                </a:solidFill>
              </a:rPr>
              <a:t>签名与验证流程</a:t>
            </a:r>
            <a:endParaRPr lang="en-US" altLang="zh-CN" sz="2800" b="1" dirty="0">
              <a:solidFill>
                <a:srgbClr val="FF0000"/>
              </a:solidFill>
            </a:endParaRPr>
          </a:p>
        </p:txBody>
      </p:sp>
      <p:pic>
        <p:nvPicPr>
          <p:cNvPr id="6" name="图片 5">
            <a:extLst>
              <a:ext uri="{FF2B5EF4-FFF2-40B4-BE49-F238E27FC236}">
                <a16:creationId xmlns:a16="http://schemas.microsoft.com/office/drawing/2014/main" id="{6239D636-0DB3-81C9-4B0D-2B7DFB266CF5}"/>
              </a:ext>
            </a:extLst>
          </p:cNvPr>
          <p:cNvPicPr>
            <a:picLocks noChangeAspect="1"/>
          </p:cNvPicPr>
          <p:nvPr/>
        </p:nvPicPr>
        <p:blipFill>
          <a:blip r:embed="rId3"/>
          <a:stretch>
            <a:fillRect/>
          </a:stretch>
        </p:blipFill>
        <p:spPr>
          <a:xfrm>
            <a:off x="5248269" y="1272989"/>
            <a:ext cx="6097213" cy="5513437"/>
          </a:xfrm>
          <a:prstGeom prst="rect">
            <a:avLst/>
          </a:prstGeom>
        </p:spPr>
      </p:pic>
      <p:pic>
        <p:nvPicPr>
          <p:cNvPr id="16" name="图片 15">
            <a:extLst>
              <a:ext uri="{FF2B5EF4-FFF2-40B4-BE49-F238E27FC236}">
                <a16:creationId xmlns:a16="http://schemas.microsoft.com/office/drawing/2014/main" id="{341D44FD-ABE3-B28B-C434-04B6FAC96CE5}"/>
              </a:ext>
            </a:extLst>
          </p:cNvPr>
          <p:cNvPicPr>
            <a:picLocks noChangeAspect="1"/>
          </p:cNvPicPr>
          <p:nvPr/>
        </p:nvPicPr>
        <p:blipFill>
          <a:blip r:embed="rId4"/>
          <a:stretch>
            <a:fillRect/>
          </a:stretch>
        </p:blipFill>
        <p:spPr>
          <a:xfrm>
            <a:off x="6096000" y="6087978"/>
            <a:ext cx="564678" cy="476190"/>
          </a:xfrm>
          <a:prstGeom prst="rect">
            <a:avLst/>
          </a:prstGeom>
        </p:spPr>
      </p:pic>
    </p:spTree>
    <p:extLst>
      <p:ext uri="{BB962C8B-B14F-4D97-AF65-F5344CB8AC3E}">
        <p14:creationId xmlns:p14="http://schemas.microsoft.com/office/powerpoint/2010/main" val="2243897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0D618-3BC0-27F0-DA9A-D6ABBF1BE580}"/>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F636283-F2CA-281B-2199-50C3F837F720}"/>
              </a:ext>
            </a:extLst>
          </p:cNvPr>
          <p:cNvSpPr>
            <a:spLocks noGrp="1"/>
          </p:cNvSpPr>
          <p:nvPr>
            <p:ph type="sldNum" sz="quarter" idx="12"/>
          </p:nvPr>
        </p:nvSpPr>
        <p:spPr/>
        <p:txBody>
          <a:bodyPr/>
          <a:lstStyle/>
          <a:p>
            <a:fld id="{B8AE17C6-53CA-944D-9421-F2F3A04C57E0}" type="slidenum">
              <a:rPr lang="en-US" smtClean="0"/>
              <a:t>15</a:t>
            </a:fld>
            <a:endParaRPr lang="en-US"/>
          </a:p>
        </p:txBody>
      </p:sp>
      <p:sp>
        <p:nvSpPr>
          <p:cNvPr id="4" name="文本框 3">
            <a:extLst>
              <a:ext uri="{FF2B5EF4-FFF2-40B4-BE49-F238E27FC236}">
                <a16:creationId xmlns:a16="http://schemas.microsoft.com/office/drawing/2014/main" id="{880696D7-CDBC-BFE1-AFD8-8165B6765C07}"/>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数字签名的应用</a:t>
            </a:r>
          </a:p>
        </p:txBody>
      </p:sp>
      <p:grpSp>
        <p:nvGrpSpPr>
          <p:cNvPr id="5" name="组合 4">
            <a:extLst>
              <a:ext uri="{FF2B5EF4-FFF2-40B4-BE49-F238E27FC236}">
                <a16:creationId xmlns:a16="http://schemas.microsoft.com/office/drawing/2014/main" id="{2AD9BAED-ADD2-16B6-1612-4677EB696DE1}"/>
              </a:ext>
            </a:extLst>
          </p:cNvPr>
          <p:cNvGrpSpPr/>
          <p:nvPr/>
        </p:nvGrpSpPr>
        <p:grpSpPr>
          <a:xfrm>
            <a:off x="3416736" y="97795"/>
            <a:ext cx="425713" cy="442041"/>
            <a:chOff x="5823870" y="1767426"/>
            <a:chExt cx="425713" cy="442041"/>
          </a:xfrm>
        </p:grpSpPr>
        <p:grpSp>
          <p:nvGrpSpPr>
            <p:cNvPr id="7" name="Group 10">
              <a:extLst>
                <a:ext uri="{FF2B5EF4-FFF2-40B4-BE49-F238E27FC236}">
                  <a16:creationId xmlns:a16="http://schemas.microsoft.com/office/drawing/2014/main" id="{E5AD8701-15D2-9F8A-B2E3-DBA53E0BF37C}"/>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903B500F-CC7C-16DD-6145-96D053C00169}"/>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3B515629-D253-F409-A821-7A662F0FB59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F3F34CBC-5125-3CF5-4E1D-60074B70AA72}"/>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2D54D0A1-0292-1C4F-71E9-CE9F964BA3E9}"/>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11BE5167-E9FC-691F-913F-5783D99B853A}"/>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3" name="文本框 12">
            <a:extLst>
              <a:ext uri="{FF2B5EF4-FFF2-40B4-BE49-F238E27FC236}">
                <a16:creationId xmlns:a16="http://schemas.microsoft.com/office/drawing/2014/main" id="{BD07AA03-7022-1E06-F304-E087745F421C}"/>
              </a:ext>
            </a:extLst>
          </p:cNvPr>
          <p:cNvSpPr txBox="1"/>
          <p:nvPr/>
        </p:nvSpPr>
        <p:spPr>
          <a:xfrm>
            <a:off x="1" y="655408"/>
            <a:ext cx="5699759"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zh-CN" altLang="en-US" sz="3200" dirty="0"/>
              <a:t>信息安全公告</a:t>
            </a:r>
            <a:r>
              <a:rPr lang="en-US" altLang="zh-CN" sz="3200" dirty="0"/>
              <a:t>——</a:t>
            </a:r>
            <a:r>
              <a:rPr lang="zh-CN" altLang="en-US" sz="3200" dirty="0"/>
              <a:t>明文签名</a:t>
            </a:r>
          </a:p>
        </p:txBody>
      </p:sp>
      <p:sp>
        <p:nvSpPr>
          <p:cNvPr id="2" name="文本框 1">
            <a:extLst>
              <a:ext uri="{FF2B5EF4-FFF2-40B4-BE49-F238E27FC236}">
                <a16:creationId xmlns:a16="http://schemas.microsoft.com/office/drawing/2014/main" id="{C8C5C60B-922C-C4B6-F9B2-ED683B4C3F3B}"/>
              </a:ext>
            </a:extLst>
          </p:cNvPr>
          <p:cNvSpPr txBox="1"/>
          <p:nvPr/>
        </p:nvSpPr>
        <p:spPr>
          <a:xfrm>
            <a:off x="6389291" y="655408"/>
            <a:ext cx="5802708"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r>
              <a:rPr lang="en-US" altLang="zh-CN" sz="3200" dirty="0"/>
              <a:t>Android</a:t>
            </a:r>
            <a:r>
              <a:rPr lang="zh-CN" altLang="en-US" sz="3200" dirty="0"/>
              <a:t>应用软件</a:t>
            </a:r>
            <a:r>
              <a:rPr lang="en-US" altLang="zh-CN" sz="3200" dirty="0"/>
              <a:t>——</a:t>
            </a:r>
            <a:r>
              <a:rPr lang="zh-CN" altLang="en-US" sz="3200" dirty="0"/>
              <a:t>安全验证</a:t>
            </a:r>
          </a:p>
        </p:txBody>
      </p:sp>
      <p:pic>
        <p:nvPicPr>
          <p:cNvPr id="15" name="图片 14">
            <a:extLst>
              <a:ext uri="{FF2B5EF4-FFF2-40B4-BE49-F238E27FC236}">
                <a16:creationId xmlns:a16="http://schemas.microsoft.com/office/drawing/2014/main" id="{0BB1A61E-4F30-5708-081B-CFDE665649C4}"/>
              </a:ext>
            </a:extLst>
          </p:cNvPr>
          <p:cNvPicPr>
            <a:picLocks noChangeAspect="1"/>
          </p:cNvPicPr>
          <p:nvPr/>
        </p:nvPicPr>
        <p:blipFill>
          <a:blip r:embed="rId3"/>
          <a:stretch>
            <a:fillRect/>
          </a:stretch>
        </p:blipFill>
        <p:spPr>
          <a:xfrm>
            <a:off x="73871" y="1650912"/>
            <a:ext cx="5525161" cy="4551680"/>
          </a:xfrm>
          <a:prstGeom prst="rect">
            <a:avLst/>
          </a:prstGeom>
        </p:spPr>
      </p:pic>
      <p:cxnSp>
        <p:nvCxnSpPr>
          <p:cNvPr id="21" name="直线连接符 46">
            <a:extLst>
              <a:ext uri="{FF2B5EF4-FFF2-40B4-BE49-F238E27FC236}">
                <a16:creationId xmlns:a16="http://schemas.microsoft.com/office/drawing/2014/main" id="{360A776F-43ED-27D7-9CFC-1797991C54B3}"/>
              </a:ext>
            </a:extLst>
          </p:cNvPr>
          <p:cNvCxnSpPr>
            <a:cxnSpLocks/>
          </p:cNvCxnSpPr>
          <p:nvPr/>
        </p:nvCxnSpPr>
        <p:spPr>
          <a:xfrm>
            <a:off x="6004560" y="442732"/>
            <a:ext cx="91440" cy="6242548"/>
          </a:xfrm>
          <a:prstGeom prst="line">
            <a:avLst/>
          </a:prstGeom>
          <a:ln w="76200">
            <a:solidFill>
              <a:srgbClr val="001F60"/>
            </a:solidFill>
          </a:ln>
        </p:spPr>
        <p:style>
          <a:lnRef idx="1">
            <a:schemeClr val="accent1"/>
          </a:lnRef>
          <a:fillRef idx="0">
            <a:schemeClr val="accent1"/>
          </a:fillRef>
          <a:effectRef idx="0">
            <a:schemeClr val="accent1"/>
          </a:effectRef>
          <a:fontRef idx="minor">
            <a:schemeClr val="tx1"/>
          </a:fontRef>
        </p:style>
      </p:cxnSp>
      <p:pic>
        <p:nvPicPr>
          <p:cNvPr id="7170" name="Picture 2" descr="安卓手机：更新包与已安装应用的签名不一致问题解决方法-CSDN博客">
            <a:extLst>
              <a:ext uri="{FF2B5EF4-FFF2-40B4-BE49-F238E27FC236}">
                <a16:creationId xmlns:a16="http://schemas.microsoft.com/office/drawing/2014/main" id="{3AB53BED-FF2E-9FF9-ADBB-DF557C69D2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4676"/>
          <a:stretch>
            <a:fillRect/>
          </a:stretch>
        </p:blipFill>
        <p:spPr bwMode="auto">
          <a:xfrm>
            <a:off x="7466733" y="1298649"/>
            <a:ext cx="3647823" cy="5265519"/>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a:extLst>
              <a:ext uri="{FF2B5EF4-FFF2-40B4-BE49-F238E27FC236}">
                <a16:creationId xmlns:a16="http://schemas.microsoft.com/office/drawing/2014/main" id="{565A3760-32DB-495B-B718-9873714168AF}"/>
              </a:ext>
            </a:extLst>
          </p:cNvPr>
          <p:cNvSpPr/>
          <p:nvPr/>
        </p:nvSpPr>
        <p:spPr>
          <a:xfrm>
            <a:off x="7630160" y="4439920"/>
            <a:ext cx="3302000" cy="4876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394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4590F-2BFF-7B0D-AA1B-5FD481C4C8E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8C0A4EA-7602-EB90-09A8-5D459D4C0C63}"/>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b="1" dirty="0">
                <a:solidFill>
                  <a:srgbClr val="2A50A1"/>
                </a:solidFill>
              </a:rPr>
              <a:t>RSA</a:t>
            </a:r>
            <a:r>
              <a:rPr lang="zh-CN" altLang="en-US" sz="3600" b="1" dirty="0">
                <a:solidFill>
                  <a:srgbClr val="2A50A1"/>
                </a:solidFill>
              </a:rPr>
              <a:t>加密与解密</a:t>
            </a:r>
          </a:p>
        </p:txBody>
      </p:sp>
      <p:grpSp>
        <p:nvGrpSpPr>
          <p:cNvPr id="3" name="组合 2">
            <a:extLst>
              <a:ext uri="{FF2B5EF4-FFF2-40B4-BE49-F238E27FC236}">
                <a16:creationId xmlns:a16="http://schemas.microsoft.com/office/drawing/2014/main" id="{3EAA8531-CA2C-9261-1EE6-0868C14E499B}"/>
              </a:ext>
            </a:extLst>
          </p:cNvPr>
          <p:cNvGrpSpPr/>
          <p:nvPr/>
        </p:nvGrpSpPr>
        <p:grpSpPr>
          <a:xfrm>
            <a:off x="3401799" y="107955"/>
            <a:ext cx="425713" cy="442041"/>
            <a:chOff x="5823870" y="1767426"/>
            <a:chExt cx="425713" cy="442041"/>
          </a:xfrm>
        </p:grpSpPr>
        <p:grpSp>
          <p:nvGrpSpPr>
            <p:cNvPr id="4" name="Group 10">
              <a:extLst>
                <a:ext uri="{FF2B5EF4-FFF2-40B4-BE49-F238E27FC236}">
                  <a16:creationId xmlns:a16="http://schemas.microsoft.com/office/drawing/2014/main" id="{90574B5A-0CD6-E1E5-BC3A-21DCB6361A69}"/>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C3EF3199-D62A-959B-A2F4-24A3A823C941}"/>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2FE4EBDD-0959-9AE8-5715-2BA74D7E2A77}"/>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FCFBC4A2-8702-67C5-0F06-EF9D70C0E1A5}"/>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4B8A8BFB-7D37-0753-1CA3-09E07DA7E943}"/>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EA061C6E-92DF-4D91-81BA-65A9572EBFE5}"/>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D61F71E-E9CD-E04F-68A1-A7D21B54EA35}"/>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14:m>
                  <m:oMath xmlns:m="http://schemas.openxmlformats.org/officeDocument/2006/math">
                    <m:r>
                      <m:rPr>
                        <m:sty m:val="p"/>
                      </m:rPr>
                      <a:rPr lang="en-US" altLang="zh-CN" sz="2800" i="0">
                        <a:latin typeface="Cambria Math" panose="02040503050406030204" pitchFamily="18" charset="0"/>
                        <a:ea typeface="+mn-ea"/>
                      </a:rPr>
                      <m:t>RSA</m:t>
                    </m:r>
                  </m:oMath>
                </a14:m>
                <a:r>
                  <a:rPr lang="zh-CN" altLang="en-US" sz="2800" dirty="0">
                    <a:latin typeface="+mn-lt"/>
                    <a:ea typeface="+mn-ea"/>
                  </a:rPr>
                  <a:t>加密与解密流程</a:t>
                </a:r>
              </a:p>
            </p:txBody>
          </p:sp>
        </mc:Choice>
        <mc:Fallback xmlns="">
          <p:sp>
            <p:nvSpPr>
              <p:cNvPr id="10" name="文本框 9">
                <a:extLst>
                  <a:ext uri="{FF2B5EF4-FFF2-40B4-BE49-F238E27FC236}">
                    <a16:creationId xmlns:a16="http://schemas.microsoft.com/office/drawing/2014/main" id="{13E786EB-52FF-8E0B-FD25-E23CF515FA8E}"/>
                  </a:ext>
                </a:extLst>
              </p:cNvPr>
              <p:cNvSpPr txBox="1">
                <a:spLocks noRot="1" noChangeAspect="1" noMove="1" noResize="1" noEditPoints="1" noAdjustHandles="1" noChangeArrowheads="1" noChangeShapeType="1" noTextEdit="1"/>
              </p:cNvSpPr>
              <p:nvPr/>
            </p:nvSpPr>
            <p:spPr>
              <a:xfrm>
                <a:off x="0" y="725098"/>
                <a:ext cx="12192000" cy="523220"/>
              </a:xfrm>
              <a:prstGeom prst="rect">
                <a:avLst/>
              </a:prstGeom>
              <a:blipFill>
                <a:blip r:embed="rId3"/>
                <a:stretch>
                  <a:fillRect t="-16279" b="-27907"/>
                </a:stretch>
              </a:blipFill>
            </p:spPr>
            <p:txBody>
              <a:bodyPr/>
              <a:lstStyle/>
              <a:p>
                <a:r>
                  <a:rPr lang="zh-CN" altLang="en-US">
                    <a:noFill/>
                  </a:rPr>
                  <a:t> </a:t>
                </a:r>
              </a:p>
            </p:txBody>
          </p:sp>
        </mc:Fallback>
      </mc:AlternateContent>
      <p:graphicFrame>
        <p:nvGraphicFramePr>
          <p:cNvPr id="24" name="表格 23">
            <a:extLst>
              <a:ext uri="{FF2B5EF4-FFF2-40B4-BE49-F238E27FC236}">
                <a16:creationId xmlns:a16="http://schemas.microsoft.com/office/drawing/2014/main" id="{C04C3689-1B50-CDF0-A6A1-1ED1D15EFA0A}"/>
              </a:ext>
            </a:extLst>
          </p:cNvPr>
          <p:cNvGraphicFramePr>
            <a:graphicFrameLocks noGrp="1"/>
          </p:cNvGraphicFramePr>
          <p:nvPr/>
        </p:nvGraphicFramePr>
        <p:xfrm>
          <a:off x="261618" y="3934473"/>
          <a:ext cx="11668761" cy="2286000"/>
        </p:xfrm>
        <a:graphic>
          <a:graphicData uri="http://schemas.openxmlformats.org/drawingml/2006/table">
            <a:tbl>
              <a:tblPr>
                <a:tableStyleId>{5940675A-B579-460E-94D1-54222C63F5DA}</a:tableStyleId>
              </a:tblPr>
              <a:tblGrid>
                <a:gridCol w="1496062">
                  <a:extLst>
                    <a:ext uri="{9D8B030D-6E8A-4147-A177-3AD203B41FA5}">
                      <a16:colId xmlns:a16="http://schemas.microsoft.com/office/drawing/2014/main" val="2908313444"/>
                    </a:ext>
                  </a:extLst>
                </a:gridCol>
                <a:gridCol w="6283112">
                  <a:extLst>
                    <a:ext uri="{9D8B030D-6E8A-4147-A177-3AD203B41FA5}">
                      <a16:colId xmlns:a16="http://schemas.microsoft.com/office/drawing/2014/main" val="2526696859"/>
                    </a:ext>
                  </a:extLst>
                </a:gridCol>
                <a:gridCol w="3889587">
                  <a:extLst>
                    <a:ext uri="{9D8B030D-6E8A-4147-A177-3AD203B41FA5}">
                      <a16:colId xmlns:a16="http://schemas.microsoft.com/office/drawing/2014/main" val="3446144341"/>
                    </a:ext>
                  </a:extLst>
                </a:gridCol>
              </a:tblGrid>
              <a:tr h="0">
                <a:tc>
                  <a:txBody>
                    <a:bodyPr/>
                    <a:lstStyle/>
                    <a:p>
                      <a:pPr>
                        <a:buNone/>
                      </a:pPr>
                      <a:r>
                        <a:rPr lang="zh-CN" altLang="en-US" sz="2400" dirty="0"/>
                        <a:t>步骤</a:t>
                      </a:r>
                    </a:p>
                  </a:txBody>
                  <a:tcPr anchor="ctr"/>
                </a:tc>
                <a:tc>
                  <a:txBody>
                    <a:bodyPr/>
                    <a:lstStyle/>
                    <a:p>
                      <a:pPr>
                        <a:buNone/>
                      </a:pPr>
                      <a:r>
                        <a:rPr lang="zh-CN" altLang="en-US" sz="2400" dirty="0"/>
                        <a:t>说明</a:t>
                      </a:r>
                    </a:p>
                  </a:txBody>
                  <a:tcPr anchor="ctr"/>
                </a:tc>
                <a:tc>
                  <a:txBody>
                    <a:bodyPr/>
                    <a:lstStyle/>
                    <a:p>
                      <a:pPr>
                        <a:buNone/>
                      </a:pPr>
                      <a:r>
                        <a:rPr lang="zh-CN" altLang="en-US" sz="2400"/>
                        <a:t>描述</a:t>
                      </a:r>
                    </a:p>
                  </a:txBody>
                  <a:tcPr anchor="ctr"/>
                </a:tc>
                <a:extLst>
                  <a:ext uri="{0D108BD9-81ED-4DB2-BD59-A6C34878D82A}">
                    <a16:rowId xmlns:a16="http://schemas.microsoft.com/office/drawing/2014/main" val="1915433172"/>
                  </a:ext>
                </a:extLst>
              </a:tr>
              <a:tr h="0">
                <a:tc>
                  <a:txBody>
                    <a:bodyPr/>
                    <a:lstStyle/>
                    <a:p>
                      <a:pPr>
                        <a:buNone/>
                      </a:pPr>
                      <a:r>
                        <a:rPr lang="en-US" altLang="zh-CN" sz="2400" dirty="0"/>
                        <a:t>1</a:t>
                      </a:r>
                    </a:p>
                  </a:txBody>
                  <a:tcPr anchor="ctr"/>
                </a:tc>
                <a:tc>
                  <a:txBody>
                    <a:bodyPr/>
                    <a:lstStyle/>
                    <a:p>
                      <a:pPr>
                        <a:buNone/>
                      </a:pPr>
                      <a:r>
                        <a:rPr lang="zh-CN" altLang="en-US" sz="2400" dirty="0"/>
                        <a:t>随机选择一对足够大的质数，并计算乘积</a:t>
                      </a:r>
                    </a:p>
                  </a:txBody>
                  <a:tcPr anchor="ctr"/>
                </a:tc>
                <a:tc>
                  <a:txBody>
                    <a:bodyPr/>
                    <a:lstStyle/>
                    <a:p>
                      <a:pPr>
                        <a:buNone/>
                      </a:pPr>
                      <a:r>
                        <a:rPr lang="en-US" altLang="zh-CN" sz="2400" i="1" dirty="0">
                          <a:latin typeface="Times New Roman" panose="02020603050405020304" pitchFamily="18" charset="0"/>
                          <a:cs typeface="Times New Roman" panose="02020603050405020304" pitchFamily="18" charset="0"/>
                        </a:rPr>
                        <a:t>n </a:t>
                      </a:r>
                      <a:r>
                        <a:rPr lang="en-US" altLang="zh-CN" sz="2400" i="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p </a:t>
                      </a:r>
                      <a:r>
                        <a:rPr lang="en-US" altLang="zh-CN" sz="2400" i="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q</a:t>
                      </a:r>
                    </a:p>
                  </a:txBody>
                  <a:tcPr anchor="ctr"/>
                </a:tc>
                <a:extLst>
                  <a:ext uri="{0D108BD9-81ED-4DB2-BD59-A6C34878D82A}">
                    <a16:rowId xmlns:a16="http://schemas.microsoft.com/office/drawing/2014/main" val="2244591725"/>
                  </a:ext>
                </a:extLst>
              </a:tr>
              <a:tr h="0">
                <a:tc>
                  <a:txBody>
                    <a:bodyPr/>
                    <a:lstStyle/>
                    <a:p>
                      <a:pPr>
                        <a:buNone/>
                      </a:pPr>
                      <a:r>
                        <a:rPr lang="en-US" altLang="zh-CN" sz="2400" dirty="0"/>
                        <a:t>2</a:t>
                      </a:r>
                    </a:p>
                  </a:txBody>
                  <a:tcPr anchor="ctr"/>
                </a:tc>
                <a:tc>
                  <a:txBody>
                    <a:bodyPr/>
                    <a:lstStyle/>
                    <a:p>
                      <a:pPr>
                        <a:buNone/>
                      </a:pPr>
                      <a:r>
                        <a:rPr lang="zh-CN" altLang="en-US" sz="2400" dirty="0"/>
                        <a:t>计算 </a:t>
                      </a:r>
                      <a:r>
                        <a:rPr lang="en-US" sz="2400" i="1" dirty="0">
                          <a:latin typeface="Times New Roman" panose="02020603050405020304" pitchFamily="18" charset="0"/>
                          <a:cs typeface="Times New Roman" panose="02020603050405020304" pitchFamily="18" charset="0"/>
                        </a:rPr>
                        <a:t>n</a:t>
                      </a:r>
                      <a:r>
                        <a:rPr lang="en-US" sz="2400" dirty="0"/>
                        <a:t> </a:t>
                      </a:r>
                      <a:r>
                        <a:rPr lang="zh-CN" altLang="en-US" sz="2400" dirty="0"/>
                        <a:t>的欧拉函数</a:t>
                      </a:r>
                    </a:p>
                  </a:txBody>
                  <a:tcPr anchor="ctr"/>
                </a:tc>
                <a:tc>
                  <a:txBody>
                    <a:bodyPr/>
                    <a:lstStyle/>
                    <a:p>
                      <a:pPr>
                        <a:buNone/>
                      </a:pPr>
                      <a:r>
                        <a:rPr lang="pt-BR" sz="2400" i="1" dirty="0">
                          <a:latin typeface="Times New Roman" panose="02020603050405020304" pitchFamily="18" charset="0"/>
                          <a:cs typeface="Times New Roman" panose="02020603050405020304" pitchFamily="18" charset="0"/>
                        </a:rPr>
                        <a:t>φ</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n</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p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1)</a:t>
                      </a:r>
                      <a:r>
                        <a:rPr lang="pt-BR" sz="2400" i="1" dirty="0">
                          <a:latin typeface="Times New Roman" panose="02020603050405020304" pitchFamily="18" charset="0"/>
                          <a:cs typeface="Times New Roman" panose="02020603050405020304" pitchFamily="18" charset="0"/>
                        </a:rPr>
                        <a:t> </a:t>
                      </a:r>
                      <a:r>
                        <a:rPr lang="en-US" altLang="zh-CN"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q - </a:t>
                      </a:r>
                      <a:r>
                        <a:rPr lang="pt-BR" sz="2400" i="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799511790"/>
                  </a:ext>
                </a:extLst>
              </a:tr>
              <a:tr h="0">
                <a:tc>
                  <a:txBody>
                    <a:bodyPr/>
                    <a:lstStyle/>
                    <a:p>
                      <a:pPr>
                        <a:buNone/>
                      </a:pPr>
                      <a:r>
                        <a:rPr lang="en-US" altLang="zh-CN" sz="2400" dirty="0"/>
                        <a:t>3</a:t>
                      </a:r>
                    </a:p>
                  </a:txBody>
                  <a:tcPr anchor="ctr"/>
                </a:tc>
                <a:tc>
                  <a:txBody>
                    <a:bodyPr/>
                    <a:lstStyle/>
                    <a:p>
                      <a:pPr>
                        <a:buNone/>
                      </a:pPr>
                      <a:r>
                        <a:rPr lang="zh-CN" altLang="en-US" sz="2400" dirty="0"/>
                        <a:t>选一个与 </a:t>
                      </a:r>
                      <a:r>
                        <a:rPr lang="el-GR" sz="2400" i="1" dirty="0">
                          <a:latin typeface="Times New Roman" panose="02020603050405020304" pitchFamily="18" charset="0"/>
                          <a:cs typeface="Times New Roman" panose="02020603050405020304" pitchFamily="18" charset="0"/>
                        </a:rPr>
                        <a:t>φ</a:t>
                      </a:r>
                      <a:r>
                        <a:rPr lang="el-GR"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a:t>
                      </a:r>
                      <a:r>
                        <a:rPr lang="zh-CN" altLang="en-US" sz="2400" dirty="0"/>
                        <a:t>互质的整数 </a:t>
                      </a:r>
                      <a:r>
                        <a:rPr lang="en-US" sz="2400" i="1" dirty="0">
                          <a:latin typeface="Times New Roman" panose="02020603050405020304" pitchFamily="18" charset="0"/>
                          <a:cs typeface="Times New Roman" panose="02020603050405020304" pitchFamily="18" charset="0"/>
                        </a:rPr>
                        <a:t>e</a:t>
                      </a:r>
                    </a:p>
                  </a:txBody>
                  <a:tcPr anchor="ctr"/>
                </a:tc>
                <a:tc>
                  <a:txBody>
                    <a:bodyPr/>
                    <a:lstStyle/>
                    <a:p>
                      <a:pPr>
                        <a:buNone/>
                      </a:pPr>
                      <a:r>
                        <a:rPr lang="en-US" sz="2400" i="1" dirty="0">
                          <a:latin typeface="Times New Roman" panose="02020603050405020304" pitchFamily="18" charset="0"/>
                          <a:cs typeface="Times New Roman" panose="02020603050405020304" pitchFamily="18" charset="0"/>
                        </a:rPr>
                        <a:t>1 &lt; e &lt; </a:t>
                      </a:r>
                      <a:r>
                        <a:rPr lang="el-GR" sz="2400" i="1" dirty="0">
                          <a:latin typeface="Times New Roman" panose="02020603050405020304" pitchFamily="18" charset="0"/>
                          <a:cs typeface="Times New Roman" panose="02020603050405020304" pitchFamily="18" charset="0"/>
                        </a:rPr>
                        <a:t>φ</a:t>
                      </a:r>
                      <a:r>
                        <a:rPr lang="el-GR"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289835028"/>
                  </a:ext>
                </a:extLst>
              </a:tr>
              <a:tr h="0">
                <a:tc>
                  <a:txBody>
                    <a:bodyPr/>
                    <a:lstStyle/>
                    <a:p>
                      <a:pPr>
                        <a:buNone/>
                      </a:pPr>
                      <a:r>
                        <a:rPr lang="en-US" altLang="zh-CN" sz="2400" dirty="0"/>
                        <a:t>4</a:t>
                      </a:r>
                    </a:p>
                  </a:txBody>
                  <a:tcPr anchor="ctr"/>
                </a:tc>
                <a:tc>
                  <a:txBody>
                    <a:bodyPr/>
                    <a:lstStyle/>
                    <a:p>
                      <a:pPr>
                        <a:buNone/>
                      </a:pPr>
                      <a:r>
                        <a:rPr lang="zh-CN" altLang="en-US" sz="2400" dirty="0"/>
                        <a:t>计算 </a:t>
                      </a:r>
                      <a:r>
                        <a:rPr lang="en-US" sz="2400" i="1" dirty="0">
                          <a:latin typeface="Times New Roman" panose="02020603050405020304" pitchFamily="18" charset="0"/>
                          <a:cs typeface="Times New Roman" panose="02020603050405020304" pitchFamily="18" charset="0"/>
                        </a:rPr>
                        <a:t>e</a:t>
                      </a:r>
                      <a:r>
                        <a:rPr lang="en-US" sz="2400" dirty="0"/>
                        <a:t> </a:t>
                      </a:r>
                      <a:r>
                        <a:rPr lang="zh-CN" altLang="en-US" sz="2400" dirty="0"/>
                        <a:t>对 </a:t>
                      </a:r>
                      <a:r>
                        <a:rPr lang="el-GR" sz="2400" i="1" dirty="0">
                          <a:latin typeface="Times New Roman" panose="02020603050405020304" pitchFamily="18" charset="0"/>
                          <a:cs typeface="Times New Roman" panose="02020603050405020304" pitchFamily="18" charset="0"/>
                        </a:rPr>
                        <a:t>φ</a:t>
                      </a:r>
                      <a:r>
                        <a:rPr lang="el-GR"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a:t>
                      </a:r>
                      <a:r>
                        <a:rPr lang="en-US" sz="2400" dirty="0"/>
                        <a:t> </a:t>
                      </a:r>
                      <a:r>
                        <a:rPr lang="zh-CN" altLang="en-US" sz="2400" dirty="0"/>
                        <a:t>的模反元素 </a:t>
                      </a:r>
                      <a:r>
                        <a:rPr lang="en-US" sz="2400" i="1" dirty="0">
                          <a:latin typeface="Times New Roman" panose="02020603050405020304" pitchFamily="18" charset="0"/>
                          <a:cs typeface="Times New Roman" panose="02020603050405020304" pitchFamily="18" charset="0"/>
                        </a:rPr>
                        <a:t>d</a:t>
                      </a:r>
                      <a:r>
                        <a:rPr lang="en-US" sz="2400" i="0" dirty="0">
                          <a:latin typeface="Times New Roman" panose="02020603050405020304" pitchFamily="18" charset="0"/>
                          <a:cs typeface="Times New Roman" panose="02020603050405020304" pitchFamily="18" charset="0"/>
                        </a:rPr>
                        <a:t>(</a:t>
                      </a:r>
                      <a:r>
                        <a:rPr lang="en-US" altLang="zh-CN" sz="2400" i="0" dirty="0">
                          <a:latin typeface="Times New Roman" panose="02020603050405020304" pitchFamily="18" charset="0"/>
                          <a:cs typeface="Times New Roman" panose="02020603050405020304" pitchFamily="18" charset="0"/>
                        </a:rPr>
                        <a:t>mod</a:t>
                      </a:r>
                      <a:r>
                        <a:rPr lang="zh-CN" altLang="en-US" sz="2400" i="0" dirty="0">
                          <a:latin typeface="Times New Roman" panose="02020603050405020304" pitchFamily="18" charset="0"/>
                          <a:cs typeface="Times New Roman" panose="02020603050405020304" pitchFamily="18" charset="0"/>
                        </a:rPr>
                        <a:t>倒数</a:t>
                      </a:r>
                      <a:r>
                        <a:rPr lang="en-US" sz="2400" i="0" dirty="0">
                          <a:latin typeface="Times New Roman" panose="02020603050405020304" pitchFamily="18" charset="0"/>
                          <a:cs typeface="Times New Roman" panose="02020603050405020304" pitchFamily="18" charset="0"/>
                        </a:rPr>
                        <a:t>)</a:t>
                      </a:r>
                    </a:p>
                  </a:txBody>
                  <a:tcPr anchor="ctr"/>
                </a:tc>
                <a:tc>
                  <a:txBody>
                    <a:bodyPr/>
                    <a:lstStyle/>
                    <a:p>
                      <a:pPr>
                        <a:buNone/>
                      </a:pPr>
                      <a:r>
                        <a:rPr lang="pt-BR" sz="2400" i="1" dirty="0">
                          <a:latin typeface="Times New Roman" panose="02020603050405020304" pitchFamily="18" charset="0"/>
                          <a:cs typeface="Times New Roman" panose="02020603050405020304" pitchFamily="18" charset="0"/>
                        </a:rPr>
                        <a:t>d </a:t>
                      </a:r>
                      <a:r>
                        <a:rPr lang="en-US" altLang="zh-CN"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e </a:t>
                      </a:r>
                      <a:r>
                        <a:rPr lang="pt-BR" sz="2400" i="0" dirty="0">
                          <a:latin typeface="Times New Roman" panose="02020603050405020304" pitchFamily="18" charset="0"/>
                          <a:cs typeface="Times New Roman" panose="02020603050405020304" pitchFamily="18" charset="0"/>
                        </a:rPr>
                        <a:t>mod</a:t>
                      </a:r>
                      <a:r>
                        <a:rPr lang="pt-BR" sz="2400" i="1" dirty="0">
                          <a:latin typeface="Times New Roman" panose="02020603050405020304" pitchFamily="18" charset="0"/>
                          <a:cs typeface="Times New Roman" panose="02020603050405020304" pitchFamily="18" charset="0"/>
                        </a:rPr>
                        <a:t> φ</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n</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 1</a:t>
                      </a:r>
                    </a:p>
                  </a:txBody>
                  <a:tcPr anchor="ctr"/>
                </a:tc>
                <a:extLst>
                  <a:ext uri="{0D108BD9-81ED-4DB2-BD59-A6C34878D82A}">
                    <a16:rowId xmlns:a16="http://schemas.microsoft.com/office/drawing/2014/main" val="2561499914"/>
                  </a:ext>
                </a:extLst>
              </a:tr>
            </a:tbl>
          </a:graphicData>
        </a:graphic>
      </p:graphicFrame>
      <mc:AlternateContent xmlns:mc="http://schemas.openxmlformats.org/markup-compatibility/2006" xmlns:a14="http://schemas.microsoft.com/office/drawing/2010/main">
        <mc:Choice Requires="a14">
          <p:graphicFrame>
            <p:nvGraphicFramePr>
              <p:cNvPr id="25" name="表格 24">
                <a:extLst>
                  <a:ext uri="{FF2B5EF4-FFF2-40B4-BE49-F238E27FC236}">
                    <a16:creationId xmlns:a16="http://schemas.microsoft.com/office/drawing/2014/main" id="{7132AA4D-FA71-0EBF-2644-39A7898DCCEE}"/>
                  </a:ext>
                </a:extLst>
              </p:cNvPr>
              <p:cNvGraphicFramePr>
                <a:graphicFrameLocks noGrp="1"/>
              </p:cNvGraphicFramePr>
              <p:nvPr/>
            </p:nvGraphicFramePr>
            <p:xfrm>
              <a:off x="261618" y="1422388"/>
              <a:ext cx="11668762" cy="1958340"/>
            </p:xfrm>
            <a:graphic>
              <a:graphicData uri="http://schemas.openxmlformats.org/drawingml/2006/table">
                <a:tbl>
                  <a:tblPr>
                    <a:tableStyleId>{5940675A-B579-460E-94D1-54222C63F5DA}</a:tableStyleId>
                  </a:tblPr>
                  <a:tblGrid>
                    <a:gridCol w="5834381">
                      <a:extLst>
                        <a:ext uri="{9D8B030D-6E8A-4147-A177-3AD203B41FA5}">
                          <a16:colId xmlns:a16="http://schemas.microsoft.com/office/drawing/2014/main" val="3740394943"/>
                        </a:ext>
                      </a:extLst>
                    </a:gridCol>
                    <a:gridCol w="5834381">
                      <a:extLst>
                        <a:ext uri="{9D8B030D-6E8A-4147-A177-3AD203B41FA5}">
                          <a16:colId xmlns:a16="http://schemas.microsoft.com/office/drawing/2014/main" val="1157866807"/>
                        </a:ext>
                      </a:extLst>
                    </a:gridCol>
                  </a:tblGrid>
                  <a:tr h="0">
                    <a:tc>
                      <a:txBody>
                        <a:bodyPr/>
                        <a:lstStyle/>
                        <a:p>
                          <a:pPr>
                            <a:buNone/>
                          </a:pPr>
                          <a:r>
                            <a:rPr lang="zh-CN" altLang="en-US" sz="2400" dirty="0"/>
                            <a:t>密文</a:t>
                          </a:r>
                          <a:r>
                            <a:rPr lang="en-US" altLang="zh-CN" sz="2400" i="1" dirty="0">
                              <a:latin typeface="Times New Roman" panose="02020603050405020304" pitchFamily="18" charset="0"/>
                              <a:cs typeface="Times New Roman" panose="02020603050405020304" pitchFamily="18" charset="0"/>
                            </a:rPr>
                            <a:t>c</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加密：</a:t>
                          </a:r>
                          <a14:m>
                            <m:oMath xmlns:m="http://schemas.openxmlformats.org/officeDocument/2006/math">
                              <m:r>
                                <a:rPr lang="en-US" altLang="zh-CN" sz="2800" b="0" i="1" smtClean="0">
                                  <a:latin typeface="Cambria Math" panose="02040503050406030204" pitchFamily="18" charset="0"/>
                                </a:rPr>
                                <m:t>𝑐</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𝑚</m:t>
                                  </m:r>
                                </m:e>
                                <m:sup>
                                  <m:r>
                                    <a:rPr lang="en-US" altLang="zh-CN" sz="2800" b="0" i="1" smtClean="0">
                                      <a:latin typeface="Cambria Math" panose="02040503050406030204" pitchFamily="18" charset="0"/>
                                    </a:rPr>
                                    <m:t>𝑒</m:t>
                                  </m:r>
                                </m:sup>
                              </m:sSup>
                              <m:r>
                                <m:rPr>
                                  <m:sty m:val="p"/>
                                </m:rPr>
                                <a:rPr lang="en-US" altLang="zh-CN" sz="2800" b="0" i="0" smtClean="0">
                                  <a:latin typeface="Cambria Math" panose="02040503050406030204" pitchFamily="18" charset="0"/>
                                </a:rPr>
                                <m:t>mod</m:t>
                              </m:r>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𝑛</m:t>
                              </m:r>
                            </m:oMath>
                          </a14:m>
                          <a:endParaRPr lang="en-US" altLang="zh-CN" sz="2400" b="0" dirty="0"/>
                        </a:p>
                      </a:txBody>
                      <a:tcPr anchor="ctr"/>
                    </a:tc>
                    <a:extLst>
                      <a:ext uri="{0D108BD9-81ED-4DB2-BD59-A6C34878D82A}">
                        <a16:rowId xmlns:a16="http://schemas.microsoft.com/office/drawing/2014/main" val="225284740"/>
                      </a:ext>
                    </a:extLst>
                  </a:tr>
                  <a:tr h="0">
                    <a:tc>
                      <a:txBody>
                        <a:bodyPr/>
                        <a:lstStyle/>
                        <a:p>
                          <a:pPr>
                            <a:buNone/>
                          </a:pPr>
                          <a:r>
                            <a:rPr lang="zh-CN" altLang="en-US" sz="2400" dirty="0"/>
                            <a:t>明文</a:t>
                          </a:r>
                          <a:r>
                            <a:rPr lang="en-US" altLang="zh-CN" sz="2400" i="1" dirty="0">
                              <a:latin typeface="Times New Roman" panose="02020603050405020304" pitchFamily="18" charset="0"/>
                              <a:cs typeface="Times New Roman" panose="02020603050405020304" pitchFamily="18" charset="0"/>
                            </a:rPr>
                            <a:t>m</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2400" dirty="0"/>
                            <a:t>解密：</a:t>
                          </a:r>
                          <a14:m>
                            <m:oMath xmlns:m="http://schemas.openxmlformats.org/officeDocument/2006/math">
                              <m:r>
                                <a:rPr lang="en-US" altLang="zh-CN" sz="2800" b="0" i="1" smtClean="0">
                                  <a:latin typeface="Cambria Math" panose="02040503050406030204" pitchFamily="18" charset="0"/>
                                </a:rPr>
                                <m:t>𝑚</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𝑐</m:t>
                                  </m:r>
                                </m:e>
                                <m:sup>
                                  <m:r>
                                    <a:rPr lang="en-US" altLang="zh-CN" sz="2800" b="0" i="1" smtClean="0">
                                      <a:latin typeface="Cambria Math" panose="02040503050406030204" pitchFamily="18" charset="0"/>
                                    </a:rPr>
                                    <m:t>𝑑</m:t>
                                  </m:r>
                                </m:sup>
                              </m:sSup>
                              <m:r>
                                <m:rPr>
                                  <m:sty m:val="p"/>
                                </m:rPr>
                                <a:rPr lang="en-US" altLang="zh-CN" sz="2800" b="0" i="0" smtClean="0">
                                  <a:latin typeface="Cambria Math" panose="02040503050406030204" pitchFamily="18" charset="0"/>
                                </a:rPr>
                                <m:t>mod</m:t>
                              </m:r>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𝑛</m:t>
                              </m:r>
                            </m:oMath>
                          </a14:m>
                          <a:endParaRPr lang="en-US" altLang="zh-CN" sz="2400" b="0" dirty="0"/>
                        </a:p>
                      </a:txBody>
                      <a:tcPr anchor="ctr"/>
                    </a:tc>
                    <a:extLst>
                      <a:ext uri="{0D108BD9-81ED-4DB2-BD59-A6C34878D82A}">
                        <a16:rowId xmlns:a16="http://schemas.microsoft.com/office/drawing/2014/main" val="1602695359"/>
                      </a:ext>
                    </a:extLst>
                  </a:tr>
                  <a:tr h="0">
                    <a:tc>
                      <a:txBody>
                        <a:bodyPr/>
                        <a:lstStyle/>
                        <a:p>
                          <a:pPr>
                            <a:buNone/>
                          </a:pPr>
                          <a:r>
                            <a:rPr lang="zh-CN" altLang="en-US" sz="2400" dirty="0"/>
                            <a:t>公钥</a:t>
                          </a:r>
                          <a:r>
                            <a:rPr lang="en-US" altLang="zh-CN" sz="2400" i="1" dirty="0">
                              <a:latin typeface="Times New Roman" panose="02020603050405020304" pitchFamily="18" charset="0"/>
                              <a:cs typeface="Times New Roman" panose="02020603050405020304" pitchFamily="18" charset="0"/>
                            </a:rPr>
                            <a:t>pk </a:t>
                          </a:r>
                          <a:endParaRPr lang="zh-CN" altLang="en-US" sz="2400" dirty="0"/>
                        </a:p>
                      </a:txBody>
                      <a:tcPr anchor="ctr"/>
                    </a:tc>
                    <a:tc>
                      <a:txBody>
                        <a:bodyPr/>
                        <a:lstStyle/>
                        <a:p>
                          <a:pPr>
                            <a:buNone/>
                          </a:pPr>
                          <a:r>
                            <a:rPr lang="en-US" altLang="zh-CN" sz="2400" i="1" dirty="0">
                              <a:latin typeface="Times New Roman" panose="02020603050405020304" pitchFamily="18" charset="0"/>
                              <a:cs typeface="Times New Roman" panose="02020603050405020304" pitchFamily="18" charset="0"/>
                            </a:rPr>
                            <a:t>pk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e</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679370930"/>
                      </a:ext>
                    </a:extLst>
                  </a:tr>
                  <a:tr h="0">
                    <a:tc>
                      <a:txBody>
                        <a:bodyPr/>
                        <a:lstStyle/>
                        <a:p>
                          <a:pPr>
                            <a:buNone/>
                          </a:pPr>
                          <a:r>
                            <a:rPr lang="zh-CN" altLang="en-US" sz="2400" dirty="0"/>
                            <a:t>私钥</a:t>
                          </a:r>
                          <a:r>
                            <a:rPr lang="en-US" altLang="zh-CN" sz="2400" i="1" dirty="0" err="1">
                              <a:latin typeface="Times New Roman" panose="02020603050405020304" pitchFamily="18" charset="0"/>
                              <a:cs typeface="Times New Roman" panose="02020603050405020304" pitchFamily="18" charset="0"/>
                            </a:rPr>
                            <a:t>sk</a:t>
                          </a:r>
                          <a:endParaRPr lang="zh-CN" altLang="en-US" sz="2400" dirty="0"/>
                        </a:p>
                      </a:txBody>
                      <a:tcPr anchor="ctr"/>
                    </a:tc>
                    <a:tc>
                      <a:txBody>
                        <a:bodyPr/>
                        <a:lstStyle/>
                        <a:p>
                          <a:pPr>
                            <a:buNone/>
                          </a:pPr>
                          <a:r>
                            <a:rPr lang="en-US" altLang="zh-CN" sz="2400" i="1" dirty="0" err="1">
                              <a:latin typeface="Times New Roman" panose="02020603050405020304" pitchFamily="18" charset="0"/>
                              <a:cs typeface="Times New Roman" panose="02020603050405020304" pitchFamily="18" charset="0"/>
                            </a:rPr>
                            <a:t>sk</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d</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p>
                      </a:txBody>
                      <a:tcPr anchor="ctr"/>
                    </a:tc>
                    <a:extLst>
                      <a:ext uri="{0D108BD9-81ED-4DB2-BD59-A6C34878D82A}">
                        <a16:rowId xmlns:a16="http://schemas.microsoft.com/office/drawing/2014/main" val="233475710"/>
                      </a:ext>
                    </a:extLst>
                  </a:tr>
                </a:tbl>
              </a:graphicData>
            </a:graphic>
          </p:graphicFrame>
        </mc:Choice>
        <mc:Fallback xmlns="">
          <p:graphicFrame>
            <p:nvGraphicFramePr>
              <p:cNvPr id="25" name="表格 24">
                <a:extLst>
                  <a:ext uri="{FF2B5EF4-FFF2-40B4-BE49-F238E27FC236}">
                    <a16:creationId xmlns:a16="http://schemas.microsoft.com/office/drawing/2014/main" id="{B41E152D-C220-6390-BCDC-0A34D5EFBB1A}"/>
                  </a:ext>
                </a:extLst>
              </p:cNvPr>
              <p:cNvGraphicFramePr>
                <a:graphicFrameLocks noGrp="1"/>
              </p:cNvGraphicFramePr>
              <p:nvPr>
                <p:extLst>
                  <p:ext uri="{D42A27DB-BD31-4B8C-83A1-F6EECF244321}">
                    <p14:modId xmlns:p14="http://schemas.microsoft.com/office/powerpoint/2010/main" val="2281535299"/>
                  </p:ext>
                </p:extLst>
              </p:nvPr>
            </p:nvGraphicFramePr>
            <p:xfrm>
              <a:off x="261618" y="1422388"/>
              <a:ext cx="11668762" cy="1958340"/>
            </p:xfrm>
            <a:graphic>
              <a:graphicData uri="http://schemas.openxmlformats.org/drawingml/2006/table">
                <a:tbl>
                  <a:tblPr>
                    <a:tableStyleId>{5940675A-B579-460E-94D1-54222C63F5DA}</a:tableStyleId>
                  </a:tblPr>
                  <a:tblGrid>
                    <a:gridCol w="5834381">
                      <a:extLst>
                        <a:ext uri="{9D8B030D-6E8A-4147-A177-3AD203B41FA5}">
                          <a16:colId xmlns:a16="http://schemas.microsoft.com/office/drawing/2014/main" val="3740394943"/>
                        </a:ext>
                      </a:extLst>
                    </a:gridCol>
                    <a:gridCol w="5834381">
                      <a:extLst>
                        <a:ext uri="{9D8B030D-6E8A-4147-A177-3AD203B41FA5}">
                          <a16:colId xmlns:a16="http://schemas.microsoft.com/office/drawing/2014/main" val="1157866807"/>
                        </a:ext>
                      </a:extLst>
                    </a:gridCol>
                  </a:tblGrid>
                  <a:tr h="518160">
                    <a:tc>
                      <a:txBody>
                        <a:bodyPr/>
                        <a:lstStyle/>
                        <a:p>
                          <a:pPr>
                            <a:buNone/>
                          </a:pPr>
                          <a:r>
                            <a:rPr lang="zh-CN" altLang="en-US" sz="2400" dirty="0"/>
                            <a:t>密文</a:t>
                          </a:r>
                          <a:r>
                            <a:rPr lang="en-US" altLang="zh-CN" sz="2400" i="1" dirty="0">
                              <a:latin typeface="Times New Roman" panose="02020603050405020304" pitchFamily="18" charset="0"/>
                              <a:cs typeface="Times New Roman" panose="02020603050405020304" pitchFamily="18" charset="0"/>
                            </a:rPr>
                            <a:t>c</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endParaRPr lang="zh-CN"/>
                        </a:p>
                      </a:txBody>
                      <a:tcPr anchor="ctr">
                        <a:blipFill>
                          <a:blip r:embed="rId4"/>
                          <a:stretch>
                            <a:fillRect l="-100104" t="-7059" r="-209" b="-307059"/>
                          </a:stretch>
                        </a:blipFill>
                      </a:tcPr>
                    </a:tc>
                    <a:extLst>
                      <a:ext uri="{0D108BD9-81ED-4DB2-BD59-A6C34878D82A}">
                        <a16:rowId xmlns:a16="http://schemas.microsoft.com/office/drawing/2014/main" val="225284740"/>
                      </a:ext>
                    </a:extLst>
                  </a:tr>
                  <a:tr h="525780">
                    <a:tc>
                      <a:txBody>
                        <a:bodyPr/>
                        <a:lstStyle/>
                        <a:p>
                          <a:pPr>
                            <a:buNone/>
                          </a:pPr>
                          <a:r>
                            <a:rPr lang="zh-CN" altLang="en-US" sz="2400" dirty="0"/>
                            <a:t>明文</a:t>
                          </a:r>
                          <a:r>
                            <a:rPr lang="en-US" altLang="zh-CN" sz="2400" i="1" dirty="0">
                              <a:latin typeface="Times New Roman" panose="02020603050405020304" pitchFamily="18" charset="0"/>
                              <a:cs typeface="Times New Roman" panose="02020603050405020304" pitchFamily="18" charset="0"/>
                            </a:rPr>
                            <a:t>m</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endParaRPr lang="zh-CN"/>
                        </a:p>
                      </a:txBody>
                      <a:tcPr anchor="ctr">
                        <a:blipFill>
                          <a:blip r:embed="rId4"/>
                          <a:stretch>
                            <a:fillRect l="-100104" t="-104598" r="-209" b="-200000"/>
                          </a:stretch>
                        </a:blipFill>
                      </a:tcPr>
                    </a:tc>
                    <a:extLst>
                      <a:ext uri="{0D108BD9-81ED-4DB2-BD59-A6C34878D82A}">
                        <a16:rowId xmlns:a16="http://schemas.microsoft.com/office/drawing/2014/main" val="1602695359"/>
                      </a:ext>
                    </a:extLst>
                  </a:tr>
                  <a:tr h="457200">
                    <a:tc>
                      <a:txBody>
                        <a:bodyPr/>
                        <a:lstStyle/>
                        <a:p>
                          <a:pPr>
                            <a:buNone/>
                          </a:pPr>
                          <a:r>
                            <a:rPr lang="zh-CN" altLang="en-US" sz="2400" dirty="0"/>
                            <a:t>公钥</a:t>
                          </a:r>
                          <a:r>
                            <a:rPr lang="en-US" altLang="zh-CN" sz="2400" i="1" dirty="0">
                              <a:latin typeface="Times New Roman" panose="02020603050405020304" pitchFamily="18" charset="0"/>
                              <a:cs typeface="Times New Roman" panose="02020603050405020304" pitchFamily="18" charset="0"/>
                            </a:rPr>
                            <a:t>pk </a:t>
                          </a:r>
                          <a:endParaRPr lang="zh-CN" altLang="en-US" sz="2400" dirty="0"/>
                        </a:p>
                      </a:txBody>
                      <a:tcPr anchor="ctr"/>
                    </a:tc>
                    <a:tc>
                      <a:txBody>
                        <a:bodyPr/>
                        <a:lstStyle/>
                        <a:p>
                          <a:pPr>
                            <a:buNone/>
                          </a:pPr>
                          <a:r>
                            <a:rPr lang="en-US" altLang="zh-CN" sz="2400" i="1" dirty="0">
                              <a:latin typeface="Times New Roman" panose="02020603050405020304" pitchFamily="18" charset="0"/>
                              <a:cs typeface="Times New Roman" panose="02020603050405020304" pitchFamily="18" charset="0"/>
                            </a:rPr>
                            <a:t>pk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e</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679370930"/>
                      </a:ext>
                    </a:extLst>
                  </a:tr>
                  <a:tr h="457200">
                    <a:tc>
                      <a:txBody>
                        <a:bodyPr/>
                        <a:lstStyle/>
                        <a:p>
                          <a:pPr>
                            <a:buNone/>
                          </a:pPr>
                          <a:r>
                            <a:rPr lang="zh-CN" altLang="en-US" sz="2400" dirty="0"/>
                            <a:t>私钥</a:t>
                          </a:r>
                          <a:r>
                            <a:rPr lang="en-US" altLang="zh-CN" sz="2400" i="1" dirty="0" err="1">
                              <a:latin typeface="Times New Roman" panose="02020603050405020304" pitchFamily="18" charset="0"/>
                              <a:cs typeface="Times New Roman" panose="02020603050405020304" pitchFamily="18" charset="0"/>
                            </a:rPr>
                            <a:t>sk</a:t>
                          </a:r>
                          <a:endParaRPr lang="zh-CN" altLang="en-US" sz="2400" dirty="0"/>
                        </a:p>
                      </a:txBody>
                      <a:tcPr anchor="ctr"/>
                    </a:tc>
                    <a:tc>
                      <a:txBody>
                        <a:bodyPr/>
                        <a:lstStyle/>
                        <a:p>
                          <a:pPr>
                            <a:buNone/>
                          </a:pPr>
                          <a:r>
                            <a:rPr lang="en-US" altLang="zh-CN" sz="2400" i="1" dirty="0" err="1">
                              <a:latin typeface="Times New Roman" panose="02020603050405020304" pitchFamily="18" charset="0"/>
                              <a:cs typeface="Times New Roman" panose="02020603050405020304" pitchFamily="18" charset="0"/>
                            </a:rPr>
                            <a:t>sk</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d</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p>
                      </a:txBody>
                      <a:tcPr anchor="ctr"/>
                    </a:tc>
                    <a:extLst>
                      <a:ext uri="{0D108BD9-81ED-4DB2-BD59-A6C34878D82A}">
                        <a16:rowId xmlns:a16="http://schemas.microsoft.com/office/drawing/2014/main" val="233475710"/>
                      </a:ext>
                    </a:extLst>
                  </a:tr>
                </a:tbl>
              </a:graphicData>
            </a:graphic>
          </p:graphicFrame>
        </mc:Fallback>
      </mc:AlternateContent>
    </p:spTree>
    <p:extLst>
      <p:ext uri="{BB962C8B-B14F-4D97-AF65-F5344CB8AC3E}">
        <p14:creationId xmlns:p14="http://schemas.microsoft.com/office/powerpoint/2010/main" val="4116218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17D28-2413-5478-E8B0-F46CA35A08A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EE29E22-1305-C0C9-3D57-6017EA5966AC}"/>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b="1" dirty="0">
                <a:solidFill>
                  <a:srgbClr val="2A50A1"/>
                </a:solidFill>
              </a:rPr>
              <a:t>RSA</a:t>
            </a:r>
            <a:r>
              <a:rPr lang="zh-CN" altLang="en-US" sz="3600" b="1" dirty="0">
                <a:solidFill>
                  <a:srgbClr val="2A50A1"/>
                </a:solidFill>
              </a:rPr>
              <a:t>数字签名</a:t>
            </a:r>
          </a:p>
        </p:txBody>
      </p:sp>
      <p:grpSp>
        <p:nvGrpSpPr>
          <p:cNvPr id="3" name="组合 2">
            <a:extLst>
              <a:ext uri="{FF2B5EF4-FFF2-40B4-BE49-F238E27FC236}">
                <a16:creationId xmlns:a16="http://schemas.microsoft.com/office/drawing/2014/main" id="{B2952EE6-83F2-5DCD-14F8-A222B01B7588}"/>
              </a:ext>
            </a:extLst>
          </p:cNvPr>
          <p:cNvGrpSpPr/>
          <p:nvPr/>
        </p:nvGrpSpPr>
        <p:grpSpPr>
          <a:xfrm>
            <a:off x="3401799" y="107955"/>
            <a:ext cx="425713" cy="442041"/>
            <a:chOff x="5823870" y="1767426"/>
            <a:chExt cx="425713" cy="442041"/>
          </a:xfrm>
        </p:grpSpPr>
        <p:grpSp>
          <p:nvGrpSpPr>
            <p:cNvPr id="4" name="Group 10">
              <a:extLst>
                <a:ext uri="{FF2B5EF4-FFF2-40B4-BE49-F238E27FC236}">
                  <a16:creationId xmlns:a16="http://schemas.microsoft.com/office/drawing/2014/main" id="{88C8DC16-2EEE-18B2-556A-C89322AB7186}"/>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D1C47938-B17B-48DE-A945-BF7BD0B1757E}"/>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03C15715-2432-54BC-7AFF-5246CE5D6EB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133417CE-0A2C-9E32-84B2-DF7872F7DEAC}"/>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AFD6DF98-A8AA-3910-0B23-36805C3B6347}"/>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FF42C8C0-F61B-9EBB-1E94-8AD423979250}"/>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7AE56D8-9EF1-947C-2112-49F78FE32A51}"/>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14:m>
                  <m:oMath xmlns:m="http://schemas.openxmlformats.org/officeDocument/2006/math">
                    <m:r>
                      <m:rPr>
                        <m:sty m:val="p"/>
                      </m:rPr>
                      <a:rPr lang="en-US" altLang="zh-CN" sz="2800" i="0">
                        <a:latin typeface="Cambria Math" panose="02040503050406030204" pitchFamily="18" charset="0"/>
                        <a:ea typeface="+mn-ea"/>
                      </a:rPr>
                      <m:t>RSA</m:t>
                    </m:r>
                  </m:oMath>
                </a14:m>
                <a:r>
                  <a:rPr lang="zh-CN" altLang="en-US" sz="2800" dirty="0">
                    <a:latin typeface="+mn-lt"/>
                    <a:ea typeface="+mn-ea"/>
                  </a:rPr>
                  <a:t>数字签名</a:t>
                </a:r>
                <a:r>
                  <a:rPr lang="en-US" altLang="zh-CN" sz="2800" dirty="0">
                    <a:latin typeface="+mn-lt"/>
                    <a:ea typeface="+mn-ea"/>
                  </a:rPr>
                  <a:t>(signature)</a:t>
                </a:r>
                <a:r>
                  <a:rPr lang="zh-CN" altLang="en-US" sz="2800" dirty="0">
                    <a:latin typeface="+mn-lt"/>
                    <a:ea typeface="+mn-ea"/>
                  </a:rPr>
                  <a:t>与验证流程</a:t>
                </a:r>
              </a:p>
            </p:txBody>
          </p:sp>
        </mc:Choice>
        <mc:Fallback xmlns="">
          <p:sp>
            <p:nvSpPr>
              <p:cNvPr id="10" name="文本框 9">
                <a:extLst>
                  <a:ext uri="{FF2B5EF4-FFF2-40B4-BE49-F238E27FC236}">
                    <a16:creationId xmlns:a16="http://schemas.microsoft.com/office/drawing/2014/main" id="{77AE56D8-9EF1-947C-2112-49F78FE32A51}"/>
                  </a:ext>
                </a:extLst>
              </p:cNvPr>
              <p:cNvSpPr txBox="1">
                <a:spLocks noRot="1" noChangeAspect="1" noMove="1" noResize="1" noEditPoints="1" noAdjustHandles="1" noChangeArrowheads="1" noChangeShapeType="1" noTextEdit="1"/>
              </p:cNvSpPr>
              <p:nvPr/>
            </p:nvSpPr>
            <p:spPr>
              <a:xfrm>
                <a:off x="0" y="725098"/>
                <a:ext cx="12192000" cy="523220"/>
              </a:xfrm>
              <a:prstGeom prst="rect">
                <a:avLst/>
              </a:prstGeom>
              <a:blipFill>
                <a:blip r:embed="rId3"/>
                <a:stretch>
                  <a:fillRect t="-16279" b="-31395"/>
                </a:stretch>
              </a:blipFill>
            </p:spPr>
            <p:txBody>
              <a:bodyPr/>
              <a:lstStyle/>
              <a:p>
                <a:r>
                  <a:rPr lang="zh-CN" altLang="en-US">
                    <a:noFill/>
                  </a:rPr>
                  <a:t> </a:t>
                </a:r>
              </a:p>
            </p:txBody>
          </p:sp>
        </mc:Fallback>
      </mc:AlternateContent>
      <p:graphicFrame>
        <p:nvGraphicFramePr>
          <p:cNvPr id="24" name="表格 23">
            <a:extLst>
              <a:ext uri="{FF2B5EF4-FFF2-40B4-BE49-F238E27FC236}">
                <a16:creationId xmlns:a16="http://schemas.microsoft.com/office/drawing/2014/main" id="{96F41326-A591-26C8-C2D1-09E7EA12F92C}"/>
              </a:ext>
            </a:extLst>
          </p:cNvPr>
          <p:cNvGraphicFramePr>
            <a:graphicFrameLocks noGrp="1"/>
          </p:cNvGraphicFramePr>
          <p:nvPr/>
        </p:nvGraphicFramePr>
        <p:xfrm>
          <a:off x="261618" y="3934473"/>
          <a:ext cx="11668761" cy="2286000"/>
        </p:xfrm>
        <a:graphic>
          <a:graphicData uri="http://schemas.openxmlformats.org/drawingml/2006/table">
            <a:tbl>
              <a:tblPr>
                <a:tableStyleId>{5940675A-B579-460E-94D1-54222C63F5DA}</a:tableStyleId>
              </a:tblPr>
              <a:tblGrid>
                <a:gridCol w="1496062">
                  <a:extLst>
                    <a:ext uri="{9D8B030D-6E8A-4147-A177-3AD203B41FA5}">
                      <a16:colId xmlns:a16="http://schemas.microsoft.com/office/drawing/2014/main" val="2908313444"/>
                    </a:ext>
                  </a:extLst>
                </a:gridCol>
                <a:gridCol w="6283112">
                  <a:extLst>
                    <a:ext uri="{9D8B030D-6E8A-4147-A177-3AD203B41FA5}">
                      <a16:colId xmlns:a16="http://schemas.microsoft.com/office/drawing/2014/main" val="2526696859"/>
                    </a:ext>
                  </a:extLst>
                </a:gridCol>
                <a:gridCol w="3889587">
                  <a:extLst>
                    <a:ext uri="{9D8B030D-6E8A-4147-A177-3AD203B41FA5}">
                      <a16:colId xmlns:a16="http://schemas.microsoft.com/office/drawing/2014/main" val="3446144341"/>
                    </a:ext>
                  </a:extLst>
                </a:gridCol>
              </a:tblGrid>
              <a:tr h="0">
                <a:tc>
                  <a:txBody>
                    <a:bodyPr/>
                    <a:lstStyle/>
                    <a:p>
                      <a:pPr>
                        <a:buNone/>
                      </a:pPr>
                      <a:r>
                        <a:rPr lang="zh-CN" altLang="en-US" sz="2400" dirty="0"/>
                        <a:t>步骤</a:t>
                      </a:r>
                    </a:p>
                  </a:txBody>
                  <a:tcPr anchor="ctr"/>
                </a:tc>
                <a:tc>
                  <a:txBody>
                    <a:bodyPr/>
                    <a:lstStyle/>
                    <a:p>
                      <a:pPr>
                        <a:buNone/>
                      </a:pPr>
                      <a:r>
                        <a:rPr lang="zh-CN" altLang="en-US" sz="2400" dirty="0"/>
                        <a:t>说明</a:t>
                      </a:r>
                    </a:p>
                  </a:txBody>
                  <a:tcPr anchor="ctr"/>
                </a:tc>
                <a:tc>
                  <a:txBody>
                    <a:bodyPr/>
                    <a:lstStyle/>
                    <a:p>
                      <a:pPr>
                        <a:buNone/>
                      </a:pPr>
                      <a:r>
                        <a:rPr lang="zh-CN" altLang="en-US" sz="2400"/>
                        <a:t>描述</a:t>
                      </a:r>
                    </a:p>
                  </a:txBody>
                  <a:tcPr anchor="ctr"/>
                </a:tc>
                <a:extLst>
                  <a:ext uri="{0D108BD9-81ED-4DB2-BD59-A6C34878D82A}">
                    <a16:rowId xmlns:a16="http://schemas.microsoft.com/office/drawing/2014/main" val="1915433172"/>
                  </a:ext>
                </a:extLst>
              </a:tr>
              <a:tr h="0">
                <a:tc>
                  <a:txBody>
                    <a:bodyPr/>
                    <a:lstStyle/>
                    <a:p>
                      <a:pPr>
                        <a:buNone/>
                      </a:pPr>
                      <a:r>
                        <a:rPr lang="en-US" altLang="zh-CN" sz="2400" dirty="0"/>
                        <a:t>1</a:t>
                      </a:r>
                    </a:p>
                  </a:txBody>
                  <a:tcPr anchor="ctr"/>
                </a:tc>
                <a:tc>
                  <a:txBody>
                    <a:bodyPr/>
                    <a:lstStyle/>
                    <a:p>
                      <a:pPr>
                        <a:buNone/>
                      </a:pPr>
                      <a:r>
                        <a:rPr lang="zh-CN" altLang="en-US" sz="2400" dirty="0"/>
                        <a:t>随机选择一对足够大的质数，并计算乘积</a:t>
                      </a:r>
                    </a:p>
                  </a:txBody>
                  <a:tcPr anchor="ctr"/>
                </a:tc>
                <a:tc>
                  <a:txBody>
                    <a:bodyPr/>
                    <a:lstStyle/>
                    <a:p>
                      <a:pPr>
                        <a:buNone/>
                      </a:pPr>
                      <a:r>
                        <a:rPr lang="en-US" altLang="zh-CN" sz="2400" i="1" dirty="0">
                          <a:latin typeface="Times New Roman" panose="02020603050405020304" pitchFamily="18" charset="0"/>
                          <a:cs typeface="Times New Roman" panose="02020603050405020304" pitchFamily="18" charset="0"/>
                        </a:rPr>
                        <a:t>n </a:t>
                      </a:r>
                      <a:r>
                        <a:rPr lang="en-US" altLang="zh-CN" sz="2400" i="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p </a:t>
                      </a:r>
                      <a:r>
                        <a:rPr lang="en-US" altLang="zh-CN" sz="2400" i="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q</a:t>
                      </a:r>
                    </a:p>
                  </a:txBody>
                  <a:tcPr anchor="ctr"/>
                </a:tc>
                <a:extLst>
                  <a:ext uri="{0D108BD9-81ED-4DB2-BD59-A6C34878D82A}">
                    <a16:rowId xmlns:a16="http://schemas.microsoft.com/office/drawing/2014/main" val="2244591725"/>
                  </a:ext>
                </a:extLst>
              </a:tr>
              <a:tr h="0">
                <a:tc>
                  <a:txBody>
                    <a:bodyPr/>
                    <a:lstStyle/>
                    <a:p>
                      <a:pPr>
                        <a:buNone/>
                      </a:pPr>
                      <a:r>
                        <a:rPr lang="en-US" altLang="zh-CN" sz="2400" dirty="0"/>
                        <a:t>2</a:t>
                      </a:r>
                    </a:p>
                  </a:txBody>
                  <a:tcPr anchor="ctr"/>
                </a:tc>
                <a:tc>
                  <a:txBody>
                    <a:bodyPr/>
                    <a:lstStyle/>
                    <a:p>
                      <a:pPr>
                        <a:buNone/>
                      </a:pPr>
                      <a:r>
                        <a:rPr lang="zh-CN" altLang="en-US" sz="2400" dirty="0"/>
                        <a:t>计算 </a:t>
                      </a:r>
                      <a:r>
                        <a:rPr lang="en-US" sz="2400" i="1" dirty="0">
                          <a:latin typeface="Times New Roman" panose="02020603050405020304" pitchFamily="18" charset="0"/>
                          <a:cs typeface="Times New Roman" panose="02020603050405020304" pitchFamily="18" charset="0"/>
                        </a:rPr>
                        <a:t>n</a:t>
                      </a:r>
                      <a:r>
                        <a:rPr lang="en-US" sz="2400" dirty="0"/>
                        <a:t> </a:t>
                      </a:r>
                      <a:r>
                        <a:rPr lang="zh-CN" altLang="en-US" sz="2400" dirty="0"/>
                        <a:t>的欧拉函数</a:t>
                      </a:r>
                    </a:p>
                  </a:txBody>
                  <a:tcPr anchor="ctr"/>
                </a:tc>
                <a:tc>
                  <a:txBody>
                    <a:bodyPr/>
                    <a:lstStyle/>
                    <a:p>
                      <a:pPr>
                        <a:buNone/>
                      </a:pPr>
                      <a:r>
                        <a:rPr lang="pt-BR" sz="2400" i="1" dirty="0">
                          <a:latin typeface="Times New Roman" panose="02020603050405020304" pitchFamily="18" charset="0"/>
                          <a:cs typeface="Times New Roman" panose="02020603050405020304" pitchFamily="18" charset="0"/>
                        </a:rPr>
                        <a:t>φ</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n</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p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1)</a:t>
                      </a:r>
                      <a:r>
                        <a:rPr lang="pt-BR" sz="2400" i="1" dirty="0">
                          <a:latin typeface="Times New Roman" panose="02020603050405020304" pitchFamily="18" charset="0"/>
                          <a:cs typeface="Times New Roman" panose="02020603050405020304" pitchFamily="18" charset="0"/>
                        </a:rPr>
                        <a:t> </a:t>
                      </a:r>
                      <a:r>
                        <a:rPr lang="en-US" altLang="zh-CN"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q - </a:t>
                      </a:r>
                      <a:r>
                        <a:rPr lang="pt-BR" sz="2400" i="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799511790"/>
                  </a:ext>
                </a:extLst>
              </a:tr>
              <a:tr h="0">
                <a:tc>
                  <a:txBody>
                    <a:bodyPr/>
                    <a:lstStyle/>
                    <a:p>
                      <a:pPr>
                        <a:buNone/>
                      </a:pPr>
                      <a:r>
                        <a:rPr lang="en-US" altLang="zh-CN" sz="2400" dirty="0"/>
                        <a:t>3</a:t>
                      </a:r>
                    </a:p>
                  </a:txBody>
                  <a:tcPr anchor="ctr"/>
                </a:tc>
                <a:tc>
                  <a:txBody>
                    <a:bodyPr/>
                    <a:lstStyle/>
                    <a:p>
                      <a:pPr>
                        <a:buNone/>
                      </a:pPr>
                      <a:r>
                        <a:rPr lang="zh-CN" altLang="en-US" sz="2400" dirty="0"/>
                        <a:t>选一个与 </a:t>
                      </a:r>
                      <a:r>
                        <a:rPr lang="el-GR" sz="2400" i="1" dirty="0">
                          <a:latin typeface="Times New Roman" panose="02020603050405020304" pitchFamily="18" charset="0"/>
                          <a:cs typeface="Times New Roman" panose="02020603050405020304" pitchFamily="18" charset="0"/>
                        </a:rPr>
                        <a:t>φ</a:t>
                      </a:r>
                      <a:r>
                        <a:rPr lang="el-GR"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a:t>
                      </a:r>
                      <a:r>
                        <a:rPr lang="zh-CN" altLang="en-US" sz="2400" dirty="0"/>
                        <a:t>互质的整数 </a:t>
                      </a:r>
                      <a:r>
                        <a:rPr lang="en-US" sz="2400" i="1" dirty="0">
                          <a:latin typeface="Times New Roman" panose="02020603050405020304" pitchFamily="18" charset="0"/>
                          <a:cs typeface="Times New Roman" panose="02020603050405020304" pitchFamily="18" charset="0"/>
                        </a:rPr>
                        <a:t>e</a:t>
                      </a:r>
                    </a:p>
                  </a:txBody>
                  <a:tcPr anchor="ctr"/>
                </a:tc>
                <a:tc>
                  <a:txBody>
                    <a:bodyPr/>
                    <a:lstStyle/>
                    <a:p>
                      <a:pPr>
                        <a:buNone/>
                      </a:pPr>
                      <a:r>
                        <a:rPr lang="en-US" sz="2400" i="1" dirty="0">
                          <a:latin typeface="Times New Roman" panose="02020603050405020304" pitchFamily="18" charset="0"/>
                          <a:cs typeface="Times New Roman" panose="02020603050405020304" pitchFamily="18" charset="0"/>
                        </a:rPr>
                        <a:t>1 &lt; e &lt; </a:t>
                      </a:r>
                      <a:r>
                        <a:rPr lang="el-GR" sz="2400" i="1" dirty="0">
                          <a:latin typeface="Times New Roman" panose="02020603050405020304" pitchFamily="18" charset="0"/>
                          <a:cs typeface="Times New Roman" panose="02020603050405020304" pitchFamily="18" charset="0"/>
                        </a:rPr>
                        <a:t>φ</a:t>
                      </a:r>
                      <a:r>
                        <a:rPr lang="el-GR"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289835028"/>
                  </a:ext>
                </a:extLst>
              </a:tr>
              <a:tr h="0">
                <a:tc>
                  <a:txBody>
                    <a:bodyPr/>
                    <a:lstStyle/>
                    <a:p>
                      <a:pPr>
                        <a:buNone/>
                      </a:pPr>
                      <a:r>
                        <a:rPr lang="en-US" altLang="zh-CN" sz="2400" dirty="0"/>
                        <a:t>4</a:t>
                      </a:r>
                    </a:p>
                  </a:txBody>
                  <a:tcPr anchor="ctr"/>
                </a:tc>
                <a:tc>
                  <a:txBody>
                    <a:bodyPr/>
                    <a:lstStyle/>
                    <a:p>
                      <a:pPr>
                        <a:buNone/>
                      </a:pPr>
                      <a:r>
                        <a:rPr lang="zh-CN" altLang="en-US" sz="2400" dirty="0"/>
                        <a:t>计算 </a:t>
                      </a:r>
                      <a:r>
                        <a:rPr lang="en-US" sz="2400" i="1" dirty="0">
                          <a:latin typeface="Times New Roman" panose="02020603050405020304" pitchFamily="18" charset="0"/>
                          <a:cs typeface="Times New Roman" panose="02020603050405020304" pitchFamily="18" charset="0"/>
                        </a:rPr>
                        <a:t>e</a:t>
                      </a:r>
                      <a:r>
                        <a:rPr lang="en-US" sz="2400" dirty="0"/>
                        <a:t> </a:t>
                      </a:r>
                      <a:r>
                        <a:rPr lang="zh-CN" altLang="en-US" sz="2400" dirty="0"/>
                        <a:t>对 </a:t>
                      </a:r>
                      <a:r>
                        <a:rPr lang="el-GR" sz="2400" i="1" dirty="0">
                          <a:latin typeface="Times New Roman" panose="02020603050405020304" pitchFamily="18" charset="0"/>
                          <a:cs typeface="Times New Roman" panose="02020603050405020304" pitchFamily="18" charset="0"/>
                        </a:rPr>
                        <a:t>φ</a:t>
                      </a:r>
                      <a:r>
                        <a:rPr lang="el-GR"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a:t>
                      </a:r>
                      <a:r>
                        <a:rPr lang="en-US" sz="2400" dirty="0"/>
                        <a:t> </a:t>
                      </a:r>
                      <a:r>
                        <a:rPr lang="zh-CN" altLang="en-US" sz="2400" dirty="0"/>
                        <a:t>的模反元素 </a:t>
                      </a:r>
                      <a:r>
                        <a:rPr lang="en-US" sz="2400" i="1" dirty="0">
                          <a:latin typeface="Times New Roman" panose="02020603050405020304" pitchFamily="18" charset="0"/>
                          <a:cs typeface="Times New Roman" panose="02020603050405020304" pitchFamily="18" charset="0"/>
                        </a:rPr>
                        <a:t>d</a:t>
                      </a:r>
                      <a:r>
                        <a:rPr lang="en-US" sz="2400" i="0" dirty="0">
                          <a:latin typeface="Times New Roman" panose="02020603050405020304" pitchFamily="18" charset="0"/>
                          <a:cs typeface="Times New Roman" panose="02020603050405020304" pitchFamily="18" charset="0"/>
                        </a:rPr>
                        <a:t>(</a:t>
                      </a:r>
                      <a:r>
                        <a:rPr lang="en-US" altLang="zh-CN" sz="2400" i="0" dirty="0">
                          <a:latin typeface="Times New Roman" panose="02020603050405020304" pitchFamily="18" charset="0"/>
                          <a:cs typeface="Times New Roman" panose="02020603050405020304" pitchFamily="18" charset="0"/>
                        </a:rPr>
                        <a:t>mod</a:t>
                      </a:r>
                      <a:r>
                        <a:rPr lang="zh-CN" altLang="en-US" sz="2400" i="0" dirty="0">
                          <a:latin typeface="Times New Roman" panose="02020603050405020304" pitchFamily="18" charset="0"/>
                          <a:cs typeface="Times New Roman" panose="02020603050405020304" pitchFamily="18" charset="0"/>
                        </a:rPr>
                        <a:t>倒数</a:t>
                      </a:r>
                      <a:r>
                        <a:rPr lang="en-US" sz="2400" i="0" dirty="0">
                          <a:latin typeface="Times New Roman" panose="02020603050405020304" pitchFamily="18" charset="0"/>
                          <a:cs typeface="Times New Roman" panose="02020603050405020304" pitchFamily="18" charset="0"/>
                        </a:rPr>
                        <a:t>)</a:t>
                      </a:r>
                    </a:p>
                  </a:txBody>
                  <a:tcPr anchor="ctr"/>
                </a:tc>
                <a:tc>
                  <a:txBody>
                    <a:bodyPr/>
                    <a:lstStyle/>
                    <a:p>
                      <a:pPr>
                        <a:buNone/>
                      </a:pPr>
                      <a:r>
                        <a:rPr lang="pt-BR" sz="2400" i="1" dirty="0">
                          <a:latin typeface="Times New Roman" panose="02020603050405020304" pitchFamily="18" charset="0"/>
                          <a:cs typeface="Times New Roman" panose="02020603050405020304" pitchFamily="18" charset="0"/>
                        </a:rPr>
                        <a:t>d </a:t>
                      </a:r>
                      <a:r>
                        <a:rPr lang="en-US" altLang="zh-CN"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e </a:t>
                      </a:r>
                      <a:r>
                        <a:rPr lang="pt-BR" sz="2400" i="0" dirty="0">
                          <a:latin typeface="Times New Roman" panose="02020603050405020304" pitchFamily="18" charset="0"/>
                          <a:cs typeface="Times New Roman" panose="02020603050405020304" pitchFamily="18" charset="0"/>
                        </a:rPr>
                        <a:t>mod</a:t>
                      </a:r>
                      <a:r>
                        <a:rPr lang="pt-BR" sz="2400" i="1" dirty="0">
                          <a:latin typeface="Times New Roman" panose="02020603050405020304" pitchFamily="18" charset="0"/>
                          <a:cs typeface="Times New Roman" panose="02020603050405020304" pitchFamily="18" charset="0"/>
                        </a:rPr>
                        <a:t> φ</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n</a:t>
                      </a:r>
                      <a:r>
                        <a:rPr lang="pt-BR" sz="2400" i="0" dirty="0">
                          <a:latin typeface="Times New Roman" panose="02020603050405020304" pitchFamily="18" charset="0"/>
                          <a:cs typeface="Times New Roman" panose="02020603050405020304" pitchFamily="18" charset="0"/>
                        </a:rPr>
                        <a:t>)</a:t>
                      </a:r>
                      <a:r>
                        <a:rPr lang="pt-BR" sz="2400" i="1" dirty="0">
                          <a:latin typeface="Times New Roman" panose="02020603050405020304" pitchFamily="18" charset="0"/>
                          <a:cs typeface="Times New Roman" panose="02020603050405020304" pitchFamily="18" charset="0"/>
                        </a:rPr>
                        <a:t> </a:t>
                      </a:r>
                      <a:r>
                        <a:rPr lang="pt-BR" sz="2400" i="0" dirty="0">
                          <a:latin typeface="Times New Roman" panose="02020603050405020304" pitchFamily="18" charset="0"/>
                          <a:cs typeface="Times New Roman" panose="02020603050405020304" pitchFamily="18" charset="0"/>
                        </a:rPr>
                        <a:t>= 1</a:t>
                      </a:r>
                    </a:p>
                  </a:txBody>
                  <a:tcPr anchor="ctr"/>
                </a:tc>
                <a:extLst>
                  <a:ext uri="{0D108BD9-81ED-4DB2-BD59-A6C34878D82A}">
                    <a16:rowId xmlns:a16="http://schemas.microsoft.com/office/drawing/2014/main" val="2561499914"/>
                  </a:ext>
                </a:extLst>
              </a:tr>
            </a:tbl>
          </a:graphicData>
        </a:graphic>
      </p:graphicFrame>
      <mc:AlternateContent xmlns:mc="http://schemas.openxmlformats.org/markup-compatibility/2006" xmlns:a14="http://schemas.microsoft.com/office/drawing/2010/main">
        <mc:Choice Requires="a14">
          <p:graphicFrame>
            <p:nvGraphicFramePr>
              <p:cNvPr id="25" name="表格 24">
                <a:extLst>
                  <a:ext uri="{FF2B5EF4-FFF2-40B4-BE49-F238E27FC236}">
                    <a16:creationId xmlns:a16="http://schemas.microsoft.com/office/drawing/2014/main" id="{2E03D19C-AD24-DC88-1628-30504E03C60F}"/>
                  </a:ext>
                </a:extLst>
              </p:cNvPr>
              <p:cNvGraphicFramePr>
                <a:graphicFrameLocks noGrp="1"/>
              </p:cNvGraphicFramePr>
              <p:nvPr/>
            </p:nvGraphicFramePr>
            <p:xfrm>
              <a:off x="261618" y="1422388"/>
              <a:ext cx="11668762" cy="1958340"/>
            </p:xfrm>
            <a:graphic>
              <a:graphicData uri="http://schemas.openxmlformats.org/drawingml/2006/table">
                <a:tbl>
                  <a:tblPr>
                    <a:tableStyleId>{5940675A-B579-460E-94D1-54222C63F5DA}</a:tableStyleId>
                  </a:tblPr>
                  <a:tblGrid>
                    <a:gridCol w="5834381">
                      <a:extLst>
                        <a:ext uri="{9D8B030D-6E8A-4147-A177-3AD203B41FA5}">
                          <a16:colId xmlns:a16="http://schemas.microsoft.com/office/drawing/2014/main" val="3740394943"/>
                        </a:ext>
                      </a:extLst>
                    </a:gridCol>
                    <a:gridCol w="5834381">
                      <a:extLst>
                        <a:ext uri="{9D8B030D-6E8A-4147-A177-3AD203B41FA5}">
                          <a16:colId xmlns:a16="http://schemas.microsoft.com/office/drawing/2014/main" val="1157866807"/>
                        </a:ext>
                      </a:extLst>
                    </a:gridCol>
                  </a:tblGrid>
                  <a:tr h="0">
                    <a:tc>
                      <a:txBody>
                        <a:bodyPr/>
                        <a:lstStyle/>
                        <a:p>
                          <a:pPr>
                            <a:buNone/>
                          </a:pPr>
                          <a:r>
                            <a:rPr lang="zh-CN" altLang="en-US" sz="2400" dirty="0"/>
                            <a:t>签名</a:t>
                          </a:r>
                          <a:r>
                            <a:rPr lang="en-US" altLang="zh-CN" sz="2400" i="1" dirty="0">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dirty="0"/>
                            <a:t>签名</a:t>
                          </a:r>
                          <a:r>
                            <a:rPr lang="pt-BR" sz="2400" dirty="0"/>
                            <a:t>：</a:t>
                          </a:r>
                          <a14:m>
                            <m:oMath xmlns:m="http://schemas.openxmlformats.org/officeDocument/2006/math">
                              <m:r>
                                <a:rPr lang="en-US" altLang="zh-CN" sz="2800" b="0" i="1" smtClean="0">
                                  <a:latin typeface="Cambria Math" panose="02040503050406030204" pitchFamily="18" charset="0"/>
                                </a:rPr>
                                <m:t>𝑠</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𝑚</m:t>
                                  </m:r>
                                </m:e>
                                <m:sup>
                                  <m:r>
                                    <a:rPr lang="en-US" altLang="zh-CN" sz="2800" b="0" i="1" smtClean="0">
                                      <a:latin typeface="Cambria Math" panose="02040503050406030204" pitchFamily="18" charset="0"/>
                                    </a:rPr>
                                    <m:t>𝑑</m:t>
                                  </m:r>
                                </m:sup>
                              </m:sSup>
                              <m:r>
                                <m:rPr>
                                  <m:sty m:val="p"/>
                                </m:rPr>
                                <a:rPr lang="en-US" altLang="zh-CN" sz="2800" b="0" i="0" smtClean="0">
                                  <a:latin typeface="Cambria Math" panose="02040503050406030204" pitchFamily="18" charset="0"/>
                                </a:rPr>
                                <m:t>mod</m:t>
                              </m:r>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𝑛</m:t>
                              </m:r>
                            </m:oMath>
                          </a14:m>
                          <a:endParaRPr lang="en-US" altLang="zh-CN" sz="2400" b="0" dirty="0"/>
                        </a:p>
                      </a:txBody>
                      <a:tcPr anchor="ctr"/>
                    </a:tc>
                    <a:extLst>
                      <a:ext uri="{0D108BD9-81ED-4DB2-BD59-A6C34878D82A}">
                        <a16:rowId xmlns:a16="http://schemas.microsoft.com/office/drawing/2014/main" val="225284740"/>
                      </a:ext>
                    </a:extLst>
                  </a:tr>
                  <a:tr h="0">
                    <a:tc>
                      <a:txBody>
                        <a:bodyPr/>
                        <a:lstStyle/>
                        <a:p>
                          <a:pPr>
                            <a:buNone/>
                          </a:pPr>
                          <a:r>
                            <a:rPr lang="zh-CN" altLang="en-US" sz="2400" dirty="0"/>
                            <a:t>明文</a:t>
                          </a:r>
                          <a:r>
                            <a:rPr lang="en-US" altLang="zh-CN" sz="2400" i="1" dirty="0">
                              <a:latin typeface="Times New Roman" panose="02020603050405020304" pitchFamily="18" charset="0"/>
                              <a:cs typeface="Times New Roman" panose="02020603050405020304" pitchFamily="18" charset="0"/>
                            </a:rPr>
                            <a:t>m</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dirty="0"/>
                            <a:t>验证</a:t>
                          </a:r>
                          <a:r>
                            <a:rPr lang="da-DK" sz="2400" dirty="0"/>
                            <a:t>：</a:t>
                          </a:r>
                          <a14:m>
                            <m:oMath xmlns:m="http://schemas.openxmlformats.org/officeDocument/2006/math">
                              <m:r>
                                <a:rPr lang="en-US" altLang="zh-CN" sz="2800" b="0" i="1" smtClean="0">
                                  <a:latin typeface="Cambria Math" panose="02040503050406030204" pitchFamily="18" charset="0"/>
                                </a:rPr>
                                <m:t>𝑚</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𝑠</m:t>
                                  </m:r>
                                </m:e>
                                <m:sup>
                                  <m:r>
                                    <a:rPr lang="en-US" altLang="zh-CN" sz="2800" b="0" i="1" smtClean="0">
                                      <a:latin typeface="Cambria Math" panose="02040503050406030204" pitchFamily="18" charset="0"/>
                                    </a:rPr>
                                    <m:t>𝑒</m:t>
                                  </m:r>
                                </m:sup>
                              </m:sSup>
                              <m:r>
                                <m:rPr>
                                  <m:sty m:val="p"/>
                                </m:rPr>
                                <a:rPr lang="en-US" altLang="zh-CN" sz="2800" b="0" i="0" smtClean="0">
                                  <a:latin typeface="Cambria Math" panose="02040503050406030204" pitchFamily="18" charset="0"/>
                                </a:rPr>
                                <m:t>mod</m:t>
                              </m:r>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𝑛</m:t>
                              </m:r>
                            </m:oMath>
                          </a14:m>
                          <a:endParaRPr lang="en-US" altLang="zh-CN" sz="2400" b="0" dirty="0"/>
                        </a:p>
                      </a:txBody>
                      <a:tcPr anchor="ctr"/>
                    </a:tc>
                    <a:extLst>
                      <a:ext uri="{0D108BD9-81ED-4DB2-BD59-A6C34878D82A}">
                        <a16:rowId xmlns:a16="http://schemas.microsoft.com/office/drawing/2014/main" val="1602695359"/>
                      </a:ext>
                    </a:extLst>
                  </a:tr>
                  <a:tr h="0">
                    <a:tc>
                      <a:txBody>
                        <a:bodyPr/>
                        <a:lstStyle/>
                        <a:p>
                          <a:pPr>
                            <a:buNone/>
                          </a:pPr>
                          <a:r>
                            <a:rPr lang="zh-CN" altLang="en-US" sz="2400" dirty="0"/>
                            <a:t>公钥</a:t>
                          </a:r>
                          <a:r>
                            <a:rPr lang="en-US" altLang="zh-CN" sz="2400" i="1" dirty="0">
                              <a:latin typeface="Times New Roman" panose="02020603050405020304" pitchFamily="18" charset="0"/>
                              <a:cs typeface="Times New Roman" panose="02020603050405020304" pitchFamily="18" charset="0"/>
                            </a:rPr>
                            <a:t>pk </a:t>
                          </a:r>
                          <a:endParaRPr lang="zh-CN" altLang="en-US" sz="2400" dirty="0"/>
                        </a:p>
                      </a:txBody>
                      <a:tcPr anchor="ctr"/>
                    </a:tc>
                    <a:tc>
                      <a:txBody>
                        <a:bodyPr/>
                        <a:lstStyle/>
                        <a:p>
                          <a:pPr>
                            <a:buNone/>
                          </a:pPr>
                          <a:r>
                            <a:rPr lang="en-US" altLang="zh-CN" sz="2400" i="1" dirty="0">
                              <a:latin typeface="Times New Roman" panose="02020603050405020304" pitchFamily="18" charset="0"/>
                              <a:cs typeface="Times New Roman" panose="02020603050405020304" pitchFamily="18" charset="0"/>
                            </a:rPr>
                            <a:t>pk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e</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679370930"/>
                      </a:ext>
                    </a:extLst>
                  </a:tr>
                  <a:tr h="0">
                    <a:tc>
                      <a:txBody>
                        <a:bodyPr/>
                        <a:lstStyle/>
                        <a:p>
                          <a:pPr>
                            <a:buNone/>
                          </a:pPr>
                          <a:r>
                            <a:rPr lang="zh-CN" altLang="en-US" sz="2400" dirty="0"/>
                            <a:t>私钥</a:t>
                          </a:r>
                          <a:r>
                            <a:rPr lang="en-US" altLang="zh-CN" sz="2400" i="1" dirty="0" err="1">
                              <a:latin typeface="Times New Roman" panose="02020603050405020304" pitchFamily="18" charset="0"/>
                              <a:cs typeface="Times New Roman" panose="02020603050405020304" pitchFamily="18" charset="0"/>
                            </a:rPr>
                            <a:t>sk</a:t>
                          </a:r>
                          <a:endParaRPr lang="zh-CN" altLang="en-US" sz="2400" dirty="0"/>
                        </a:p>
                      </a:txBody>
                      <a:tcPr anchor="ctr"/>
                    </a:tc>
                    <a:tc>
                      <a:txBody>
                        <a:bodyPr/>
                        <a:lstStyle/>
                        <a:p>
                          <a:pPr>
                            <a:buNone/>
                          </a:pPr>
                          <a:r>
                            <a:rPr lang="en-US" altLang="zh-CN" sz="2400" i="1" dirty="0" err="1">
                              <a:latin typeface="Times New Roman" panose="02020603050405020304" pitchFamily="18" charset="0"/>
                              <a:cs typeface="Times New Roman" panose="02020603050405020304" pitchFamily="18" charset="0"/>
                            </a:rPr>
                            <a:t>sk</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d</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p>
                      </a:txBody>
                      <a:tcPr anchor="ctr"/>
                    </a:tc>
                    <a:extLst>
                      <a:ext uri="{0D108BD9-81ED-4DB2-BD59-A6C34878D82A}">
                        <a16:rowId xmlns:a16="http://schemas.microsoft.com/office/drawing/2014/main" val="233475710"/>
                      </a:ext>
                    </a:extLst>
                  </a:tr>
                </a:tbl>
              </a:graphicData>
            </a:graphic>
          </p:graphicFrame>
        </mc:Choice>
        <mc:Fallback xmlns="">
          <p:graphicFrame>
            <p:nvGraphicFramePr>
              <p:cNvPr id="25" name="表格 24">
                <a:extLst>
                  <a:ext uri="{FF2B5EF4-FFF2-40B4-BE49-F238E27FC236}">
                    <a16:creationId xmlns:a16="http://schemas.microsoft.com/office/drawing/2014/main" id="{2E03D19C-AD24-DC88-1628-30504E03C60F}"/>
                  </a:ext>
                </a:extLst>
              </p:cNvPr>
              <p:cNvGraphicFramePr>
                <a:graphicFrameLocks noGrp="1"/>
              </p:cNvGraphicFramePr>
              <p:nvPr>
                <p:extLst>
                  <p:ext uri="{D42A27DB-BD31-4B8C-83A1-F6EECF244321}">
                    <p14:modId xmlns:p14="http://schemas.microsoft.com/office/powerpoint/2010/main" val="1933250406"/>
                  </p:ext>
                </p:extLst>
              </p:nvPr>
            </p:nvGraphicFramePr>
            <p:xfrm>
              <a:off x="261618" y="1422388"/>
              <a:ext cx="11668762" cy="1958340"/>
            </p:xfrm>
            <a:graphic>
              <a:graphicData uri="http://schemas.openxmlformats.org/drawingml/2006/table">
                <a:tbl>
                  <a:tblPr>
                    <a:tableStyleId>{5940675A-B579-460E-94D1-54222C63F5DA}</a:tableStyleId>
                  </a:tblPr>
                  <a:tblGrid>
                    <a:gridCol w="5834381">
                      <a:extLst>
                        <a:ext uri="{9D8B030D-6E8A-4147-A177-3AD203B41FA5}">
                          <a16:colId xmlns:a16="http://schemas.microsoft.com/office/drawing/2014/main" val="3740394943"/>
                        </a:ext>
                      </a:extLst>
                    </a:gridCol>
                    <a:gridCol w="5834381">
                      <a:extLst>
                        <a:ext uri="{9D8B030D-6E8A-4147-A177-3AD203B41FA5}">
                          <a16:colId xmlns:a16="http://schemas.microsoft.com/office/drawing/2014/main" val="1157866807"/>
                        </a:ext>
                      </a:extLst>
                    </a:gridCol>
                  </a:tblGrid>
                  <a:tr h="525780">
                    <a:tc>
                      <a:txBody>
                        <a:bodyPr/>
                        <a:lstStyle/>
                        <a:p>
                          <a:pPr>
                            <a:buNone/>
                          </a:pPr>
                          <a:r>
                            <a:rPr lang="zh-CN" altLang="en-US" sz="2400" dirty="0"/>
                            <a:t>签名</a:t>
                          </a:r>
                          <a:r>
                            <a:rPr lang="en-US" altLang="zh-CN" sz="2400" i="1" dirty="0">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endParaRPr lang="zh-CN"/>
                        </a:p>
                      </a:txBody>
                      <a:tcPr anchor="ctr">
                        <a:blipFill>
                          <a:blip r:embed="rId4"/>
                          <a:stretch>
                            <a:fillRect l="-100104" t="-5814" r="-209" b="-302326"/>
                          </a:stretch>
                        </a:blipFill>
                      </a:tcPr>
                    </a:tc>
                    <a:extLst>
                      <a:ext uri="{0D108BD9-81ED-4DB2-BD59-A6C34878D82A}">
                        <a16:rowId xmlns:a16="http://schemas.microsoft.com/office/drawing/2014/main" val="225284740"/>
                      </a:ext>
                    </a:extLst>
                  </a:tr>
                  <a:tr h="518160">
                    <a:tc>
                      <a:txBody>
                        <a:bodyPr/>
                        <a:lstStyle/>
                        <a:p>
                          <a:pPr>
                            <a:buNone/>
                          </a:pPr>
                          <a:r>
                            <a:rPr lang="zh-CN" altLang="en-US" sz="2400" dirty="0"/>
                            <a:t>明文</a:t>
                          </a:r>
                          <a:r>
                            <a:rPr lang="en-US" altLang="zh-CN" sz="2400" i="1" dirty="0">
                              <a:latin typeface="Times New Roman" panose="02020603050405020304" pitchFamily="18" charset="0"/>
                              <a:cs typeface="Times New Roman" panose="02020603050405020304" pitchFamily="18" charset="0"/>
                            </a:rPr>
                            <a:t>m</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endParaRPr lang="zh-CN"/>
                        </a:p>
                      </a:txBody>
                      <a:tcPr anchor="ctr">
                        <a:blipFill>
                          <a:blip r:embed="rId4"/>
                          <a:stretch>
                            <a:fillRect l="-100104" t="-105814" r="-209" b="-202326"/>
                          </a:stretch>
                        </a:blipFill>
                      </a:tcPr>
                    </a:tc>
                    <a:extLst>
                      <a:ext uri="{0D108BD9-81ED-4DB2-BD59-A6C34878D82A}">
                        <a16:rowId xmlns:a16="http://schemas.microsoft.com/office/drawing/2014/main" val="1602695359"/>
                      </a:ext>
                    </a:extLst>
                  </a:tr>
                  <a:tr h="457200">
                    <a:tc>
                      <a:txBody>
                        <a:bodyPr/>
                        <a:lstStyle/>
                        <a:p>
                          <a:pPr>
                            <a:buNone/>
                          </a:pPr>
                          <a:r>
                            <a:rPr lang="zh-CN" altLang="en-US" sz="2400" dirty="0"/>
                            <a:t>公钥</a:t>
                          </a:r>
                          <a:r>
                            <a:rPr lang="en-US" altLang="zh-CN" sz="2400" i="1" dirty="0">
                              <a:latin typeface="Times New Roman" panose="02020603050405020304" pitchFamily="18" charset="0"/>
                              <a:cs typeface="Times New Roman" panose="02020603050405020304" pitchFamily="18" charset="0"/>
                            </a:rPr>
                            <a:t>pk </a:t>
                          </a:r>
                          <a:endParaRPr lang="zh-CN" altLang="en-US" sz="2400" dirty="0"/>
                        </a:p>
                      </a:txBody>
                      <a:tcPr anchor="ctr"/>
                    </a:tc>
                    <a:tc>
                      <a:txBody>
                        <a:bodyPr/>
                        <a:lstStyle/>
                        <a:p>
                          <a:pPr>
                            <a:buNone/>
                          </a:pPr>
                          <a:r>
                            <a:rPr lang="en-US" altLang="zh-CN" sz="2400" i="1" dirty="0">
                              <a:latin typeface="Times New Roman" panose="02020603050405020304" pitchFamily="18" charset="0"/>
                              <a:cs typeface="Times New Roman" panose="02020603050405020304" pitchFamily="18" charset="0"/>
                            </a:rPr>
                            <a:t>pk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e</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679370930"/>
                      </a:ext>
                    </a:extLst>
                  </a:tr>
                  <a:tr h="457200">
                    <a:tc>
                      <a:txBody>
                        <a:bodyPr/>
                        <a:lstStyle/>
                        <a:p>
                          <a:pPr>
                            <a:buNone/>
                          </a:pPr>
                          <a:r>
                            <a:rPr lang="zh-CN" altLang="en-US" sz="2400" dirty="0"/>
                            <a:t>私钥</a:t>
                          </a:r>
                          <a:r>
                            <a:rPr lang="en-US" altLang="zh-CN" sz="2400" i="1" dirty="0" err="1">
                              <a:latin typeface="Times New Roman" panose="02020603050405020304" pitchFamily="18" charset="0"/>
                              <a:cs typeface="Times New Roman" panose="02020603050405020304" pitchFamily="18" charset="0"/>
                            </a:rPr>
                            <a:t>sk</a:t>
                          </a:r>
                          <a:endParaRPr lang="zh-CN" altLang="en-US" sz="2400" dirty="0"/>
                        </a:p>
                      </a:txBody>
                      <a:tcPr anchor="ctr"/>
                    </a:tc>
                    <a:tc>
                      <a:txBody>
                        <a:bodyPr/>
                        <a:lstStyle/>
                        <a:p>
                          <a:pPr>
                            <a:buNone/>
                          </a:pPr>
                          <a:r>
                            <a:rPr lang="en-US" altLang="zh-CN" sz="2400" i="1" dirty="0" err="1">
                              <a:latin typeface="Times New Roman" panose="02020603050405020304" pitchFamily="18" charset="0"/>
                              <a:cs typeface="Times New Roman" panose="02020603050405020304" pitchFamily="18" charset="0"/>
                            </a:rPr>
                            <a:t>sk</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d</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p>
                      </a:txBody>
                      <a:tcPr anchor="ctr"/>
                    </a:tc>
                    <a:extLst>
                      <a:ext uri="{0D108BD9-81ED-4DB2-BD59-A6C34878D82A}">
                        <a16:rowId xmlns:a16="http://schemas.microsoft.com/office/drawing/2014/main" val="233475710"/>
                      </a:ext>
                    </a:extLst>
                  </a:tr>
                </a:tbl>
              </a:graphicData>
            </a:graphic>
          </p:graphicFrame>
        </mc:Fallback>
      </mc:AlternateContent>
    </p:spTree>
    <p:extLst>
      <p:ext uri="{BB962C8B-B14F-4D97-AF65-F5344CB8AC3E}">
        <p14:creationId xmlns:p14="http://schemas.microsoft.com/office/powerpoint/2010/main" val="3537372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B7A70-7AA1-3AE5-BAC6-9718F349775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BB503E0-F22D-4CF8-5DBD-12C10520CBE8}"/>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b="1" dirty="0">
                <a:solidFill>
                  <a:srgbClr val="2A50A1"/>
                </a:solidFill>
              </a:rPr>
              <a:t>RSA</a:t>
            </a:r>
            <a:r>
              <a:rPr lang="zh-CN" altLang="en-US" sz="3600" b="1" dirty="0">
                <a:solidFill>
                  <a:srgbClr val="2A50A1"/>
                </a:solidFill>
              </a:rPr>
              <a:t>加密与解密</a:t>
            </a:r>
          </a:p>
        </p:txBody>
      </p:sp>
      <p:grpSp>
        <p:nvGrpSpPr>
          <p:cNvPr id="3" name="组合 2">
            <a:extLst>
              <a:ext uri="{FF2B5EF4-FFF2-40B4-BE49-F238E27FC236}">
                <a16:creationId xmlns:a16="http://schemas.microsoft.com/office/drawing/2014/main" id="{56DE5580-285B-E601-1970-7234D315E42C}"/>
              </a:ext>
            </a:extLst>
          </p:cNvPr>
          <p:cNvGrpSpPr/>
          <p:nvPr/>
        </p:nvGrpSpPr>
        <p:grpSpPr>
          <a:xfrm>
            <a:off x="3401799" y="107955"/>
            <a:ext cx="425713" cy="442041"/>
            <a:chOff x="5823870" y="1767426"/>
            <a:chExt cx="425713" cy="442041"/>
          </a:xfrm>
        </p:grpSpPr>
        <p:grpSp>
          <p:nvGrpSpPr>
            <p:cNvPr id="4" name="Group 10">
              <a:extLst>
                <a:ext uri="{FF2B5EF4-FFF2-40B4-BE49-F238E27FC236}">
                  <a16:creationId xmlns:a16="http://schemas.microsoft.com/office/drawing/2014/main" id="{04F136A3-62FA-34EE-3A93-C013007A6550}"/>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11765888-4CC3-8830-3661-09598677F762}"/>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869BE556-D8DB-E029-B552-E8B9FCB116E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E7EC1A5F-4FDF-C5F7-003F-352AE76E954A}"/>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17490984-1B40-3B1B-C012-242A2B05822F}"/>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FAC72BD5-738A-DCC5-E3CE-1D6AF8CA64CD}"/>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7020CF7-7515-E64A-45E7-246DF7A42AF9}"/>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14:m>
                  <m:oMath xmlns:m="http://schemas.openxmlformats.org/officeDocument/2006/math">
                    <m:r>
                      <m:rPr>
                        <m:sty m:val="p"/>
                      </m:rPr>
                      <a:rPr lang="en-US" altLang="zh-CN" sz="2800" i="0">
                        <a:latin typeface="Cambria Math" panose="02040503050406030204" pitchFamily="18" charset="0"/>
                        <a:ea typeface="+mn-ea"/>
                      </a:rPr>
                      <m:t>RSA</m:t>
                    </m:r>
                  </m:oMath>
                </a14:m>
                <a:r>
                  <a:rPr lang="zh-CN" altLang="en-US" sz="2800" dirty="0">
                    <a:latin typeface="+mn-lt"/>
                    <a:ea typeface="+mn-ea"/>
                  </a:rPr>
                  <a:t>加密</a:t>
                </a:r>
                <a:r>
                  <a:rPr lang="en-US" altLang="zh-CN" sz="2800" dirty="0">
                    <a:latin typeface="+mn-lt"/>
                    <a:ea typeface="+mn-ea"/>
                  </a:rPr>
                  <a:t>——</a:t>
                </a:r>
                <a:r>
                  <a:rPr lang="zh-CN" altLang="en-US" sz="2800" dirty="0">
                    <a:latin typeface="+mn-lt"/>
                    <a:ea typeface="+mn-ea"/>
                  </a:rPr>
                  <a:t>课堂练习</a:t>
                </a:r>
              </a:p>
            </p:txBody>
          </p:sp>
        </mc:Choice>
        <mc:Fallback xmlns="">
          <p:sp>
            <p:nvSpPr>
              <p:cNvPr id="10" name="文本框 9">
                <a:extLst>
                  <a:ext uri="{FF2B5EF4-FFF2-40B4-BE49-F238E27FC236}">
                    <a16:creationId xmlns:a16="http://schemas.microsoft.com/office/drawing/2014/main" id="{37020CF7-7515-E64A-45E7-246DF7A42AF9}"/>
                  </a:ext>
                </a:extLst>
              </p:cNvPr>
              <p:cNvSpPr txBox="1">
                <a:spLocks noRot="1" noChangeAspect="1" noMove="1" noResize="1" noEditPoints="1" noAdjustHandles="1" noChangeArrowheads="1" noChangeShapeType="1" noTextEdit="1"/>
              </p:cNvSpPr>
              <p:nvPr/>
            </p:nvSpPr>
            <p:spPr>
              <a:xfrm>
                <a:off x="0" y="725098"/>
                <a:ext cx="12192000" cy="523220"/>
              </a:xfrm>
              <a:prstGeom prst="rect">
                <a:avLst/>
              </a:prstGeom>
              <a:blipFill>
                <a:blip r:embed="rId3"/>
                <a:stretch>
                  <a:fillRect t="-16279" b="-31395"/>
                </a:stretch>
              </a:blipFill>
            </p:spPr>
            <p:txBody>
              <a:bodyPr/>
              <a:lstStyle/>
              <a:p>
                <a:r>
                  <a:rPr lang="zh-CN" altLang="en-US">
                    <a:noFill/>
                  </a:rPr>
                  <a:t> </a:t>
                </a:r>
              </a:p>
            </p:txBody>
          </p:sp>
        </mc:Fallback>
      </mc:AlternateContent>
      <p:graphicFrame>
        <p:nvGraphicFramePr>
          <p:cNvPr id="11" name="表格 10">
            <a:extLst>
              <a:ext uri="{FF2B5EF4-FFF2-40B4-BE49-F238E27FC236}">
                <a16:creationId xmlns:a16="http://schemas.microsoft.com/office/drawing/2014/main" id="{75DEE083-5177-99D5-D119-C11E940624DB}"/>
              </a:ext>
            </a:extLst>
          </p:cNvPr>
          <p:cNvGraphicFramePr>
            <a:graphicFrameLocks noGrp="1"/>
          </p:cNvGraphicFramePr>
          <p:nvPr/>
        </p:nvGraphicFramePr>
        <p:xfrm>
          <a:off x="261619" y="1422388"/>
          <a:ext cx="11668762" cy="2286000"/>
        </p:xfrm>
        <a:graphic>
          <a:graphicData uri="http://schemas.openxmlformats.org/drawingml/2006/table">
            <a:tbl>
              <a:tblPr>
                <a:tableStyleId>{5940675A-B579-460E-94D1-54222C63F5DA}</a:tableStyleId>
              </a:tblPr>
              <a:tblGrid>
                <a:gridCol w="5834381">
                  <a:extLst>
                    <a:ext uri="{9D8B030D-6E8A-4147-A177-3AD203B41FA5}">
                      <a16:colId xmlns:a16="http://schemas.microsoft.com/office/drawing/2014/main" val="3740394943"/>
                    </a:ext>
                  </a:extLst>
                </a:gridCol>
                <a:gridCol w="5834381">
                  <a:extLst>
                    <a:ext uri="{9D8B030D-6E8A-4147-A177-3AD203B41FA5}">
                      <a16:colId xmlns:a16="http://schemas.microsoft.com/office/drawing/2014/main" val="1157866807"/>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i="0" u="none" dirty="0">
                          <a:latin typeface="Times New Roman" panose="02020603050405020304" pitchFamily="18" charset="0"/>
                          <a:cs typeface="Times New Roman" panose="02020603050405020304" pitchFamily="18" charset="0"/>
                        </a:rPr>
                        <a:t>已知</a:t>
                      </a:r>
                      <a:endParaRPr lang="en-US" altLang="zh-CN" sz="2400" i="0" u="none"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0" dirty="0"/>
                        <a:t>求解</a:t>
                      </a:r>
                      <a:endParaRPr lang="en-US" altLang="zh-CN" sz="2400" b="0" dirty="0"/>
                    </a:p>
                  </a:txBody>
                  <a:tcPr anchor="ctr"/>
                </a:tc>
                <a:extLst>
                  <a:ext uri="{0D108BD9-81ED-4DB2-BD59-A6C34878D82A}">
                    <a16:rowId xmlns:a16="http://schemas.microsoft.com/office/drawing/2014/main" val="391656917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i="1" dirty="0">
                          <a:latin typeface="Times New Roman" panose="02020603050405020304" pitchFamily="18" charset="0"/>
                          <a:cs typeface="Times New Roman" panose="02020603050405020304" pitchFamily="18" charset="0"/>
                        </a:rPr>
                        <a:t>p </a:t>
                      </a:r>
                      <a:r>
                        <a:rPr lang="en-US" altLang="zh-CN" sz="2400" i="0" dirty="0">
                          <a:latin typeface="Times New Roman" panose="02020603050405020304" pitchFamily="18" charset="0"/>
                          <a:cs typeface="Times New Roman" panose="02020603050405020304" pitchFamily="18" charset="0"/>
                        </a:rPr>
                        <a:t>= 5</a:t>
                      </a:r>
                      <a:r>
                        <a:rPr lang="en-US" altLang="zh-CN" sz="2400" i="1" dirty="0">
                          <a:latin typeface="Times New Roman" panose="02020603050405020304" pitchFamily="18" charset="0"/>
                          <a:cs typeface="Times New Roman" panose="02020603050405020304" pitchFamily="18" charset="0"/>
                        </a:rPr>
                        <a:t>, q </a:t>
                      </a:r>
                      <a:r>
                        <a:rPr lang="en-US" altLang="zh-CN" sz="2400" i="0" u="none" dirty="0">
                          <a:latin typeface="Times New Roman" panose="02020603050405020304" pitchFamily="18" charset="0"/>
                          <a:cs typeface="Times New Roman" panose="02020603050405020304" pitchFamily="18" charset="0"/>
                        </a:rPr>
                        <a:t>= 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i="1" dirty="0">
                          <a:latin typeface="Times New Roman" panose="02020603050405020304" pitchFamily="18" charset="0"/>
                          <a:cs typeface="Times New Roman" panose="02020603050405020304" pitchFamily="18" charset="0"/>
                        </a:rPr>
                        <a:t>n,</a:t>
                      </a:r>
                      <a:r>
                        <a:rPr lang="zh-CN" altLang="en-US" sz="2400" i="1" dirty="0">
                          <a:latin typeface="Times New Roman" panose="02020603050405020304" pitchFamily="18" charset="0"/>
                          <a:cs typeface="Times New Roman" panose="02020603050405020304" pitchFamily="18" charset="0"/>
                        </a:rPr>
                        <a:t> </a:t>
                      </a:r>
                      <a:r>
                        <a:rPr lang="pt-BR" altLang="zh-CN" sz="2400" i="1" dirty="0">
                          <a:latin typeface="Times New Roman" panose="02020603050405020304" pitchFamily="18" charset="0"/>
                          <a:cs typeface="Times New Roman" panose="02020603050405020304" pitchFamily="18" charset="0"/>
                        </a:rPr>
                        <a:t>φ</a:t>
                      </a:r>
                      <a:r>
                        <a:rPr lang="pt-BR" altLang="zh-CN" sz="2400" i="0" dirty="0">
                          <a:latin typeface="Times New Roman" panose="02020603050405020304" pitchFamily="18" charset="0"/>
                          <a:cs typeface="Times New Roman" panose="02020603050405020304" pitchFamily="18" charset="0"/>
                        </a:rPr>
                        <a:t>(</a:t>
                      </a:r>
                      <a:r>
                        <a:rPr lang="pt-BR" altLang="zh-CN" sz="2400" i="1" dirty="0">
                          <a:latin typeface="Times New Roman" panose="02020603050405020304" pitchFamily="18" charset="0"/>
                          <a:cs typeface="Times New Roman" panose="02020603050405020304" pitchFamily="18" charset="0"/>
                        </a:rPr>
                        <a:t>n</a:t>
                      </a:r>
                      <a:r>
                        <a:rPr lang="pt-BR" altLang="zh-CN" sz="2400" i="0" dirty="0">
                          <a:latin typeface="Times New Roman" panose="02020603050405020304" pitchFamily="18" charset="0"/>
                          <a:cs typeface="Times New Roman" panose="02020603050405020304" pitchFamily="18" charset="0"/>
                        </a:rPr>
                        <a:t>)</a:t>
                      </a:r>
                      <a:r>
                        <a:rPr lang="pt-BR" altLang="zh-CN" sz="2400" i="1" dirty="0">
                          <a:latin typeface="Times New Roman" panose="02020603050405020304" pitchFamily="18" charset="0"/>
                          <a:cs typeface="Times New Roman" panose="02020603050405020304" pitchFamily="18" charset="0"/>
                        </a:rPr>
                        <a:t> </a:t>
                      </a:r>
                      <a:endParaRPr lang="en-US" altLang="zh-CN" sz="2400" b="0" dirty="0"/>
                    </a:p>
                  </a:txBody>
                  <a:tcPr anchor="ctr"/>
                </a:tc>
                <a:extLst>
                  <a:ext uri="{0D108BD9-81ED-4DB2-BD59-A6C34878D82A}">
                    <a16:rowId xmlns:a16="http://schemas.microsoft.com/office/drawing/2014/main" val="22528474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i="1" dirty="0">
                          <a:latin typeface="Times New Roman" panose="02020603050405020304" pitchFamily="18" charset="0"/>
                          <a:cs typeface="Times New Roman" panose="02020603050405020304" pitchFamily="18" charset="0"/>
                        </a:rPr>
                        <a:t>m </a:t>
                      </a:r>
                      <a:r>
                        <a:rPr lang="en-US" altLang="zh-CN" sz="2400" i="0" dirty="0">
                          <a:latin typeface="Times New Roman" panose="02020603050405020304" pitchFamily="18" charset="0"/>
                          <a:cs typeface="Times New Roman" panose="02020603050405020304" pitchFamily="18" charset="0"/>
                        </a:rPr>
                        <a:t>= 15</a:t>
                      </a:r>
                    </a:p>
                  </a:txBody>
                  <a:tcPr anchor="ctr"/>
                </a:tc>
                <a:tc>
                  <a:txBody>
                    <a:bodyPr/>
                    <a:lstStyle/>
                    <a:p>
                      <a:pPr>
                        <a:buNone/>
                      </a:pPr>
                      <a:r>
                        <a:rPr lang="zh-CN" altLang="en-US" sz="2400" dirty="0"/>
                        <a:t>公钥</a:t>
                      </a:r>
                      <a:r>
                        <a:rPr lang="en-US" altLang="zh-CN" sz="2400" i="1" dirty="0">
                          <a:latin typeface="Times New Roman" panose="02020603050405020304" pitchFamily="18" charset="0"/>
                          <a:cs typeface="Times New Roman" panose="02020603050405020304" pitchFamily="18" charset="0"/>
                        </a:rPr>
                        <a:t>pk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e</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r>
                        <a:rPr lang="en-US" sz="2400" i="0" dirty="0">
                          <a:latin typeface="Times New Roman" panose="02020603050405020304" pitchFamily="18" charset="0"/>
                          <a:cs typeface="Times New Roman" panose="02020603050405020304" pitchFamily="18" charset="0"/>
                        </a:rPr>
                        <a:t>) (</a:t>
                      </a:r>
                      <a:r>
                        <a:rPr lang="zh-CN" altLang="en-US" sz="2400" i="0" dirty="0">
                          <a:latin typeface="Times New Roman" panose="02020603050405020304" pitchFamily="18" charset="0"/>
                          <a:cs typeface="Times New Roman" panose="02020603050405020304" pitchFamily="18" charset="0"/>
                        </a:rPr>
                        <a:t>其中</a:t>
                      </a:r>
                      <a:r>
                        <a:rPr lang="en-US" altLang="zh-CN" sz="2400" i="1" dirty="0">
                          <a:latin typeface="Times New Roman" panose="02020603050405020304" pitchFamily="18" charset="0"/>
                          <a:cs typeface="Times New Roman" panose="02020603050405020304" pitchFamily="18" charset="0"/>
                        </a:rPr>
                        <a:t>e</a:t>
                      </a:r>
                      <a:r>
                        <a:rPr lang="zh-CN" altLang="en-US" sz="2400" i="0" dirty="0">
                          <a:latin typeface="Times New Roman" panose="02020603050405020304" pitchFamily="18" charset="0"/>
                          <a:cs typeface="Times New Roman" panose="02020603050405020304" pitchFamily="18" charset="0"/>
                        </a:rPr>
                        <a:t>要尽可能小</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602695359"/>
                  </a:ext>
                </a:extLst>
              </a:tr>
              <a:tr h="0">
                <a:tc>
                  <a:txBody>
                    <a:bodyPr/>
                    <a:lstStyle/>
                    <a:p>
                      <a:pPr>
                        <a:buNone/>
                      </a:pPr>
                      <a:endParaRPr lang="zh-CN" altLang="en-US" sz="2400" dirty="0"/>
                    </a:p>
                  </a:txBody>
                  <a:tcPr anchor="ctr"/>
                </a:tc>
                <a:tc>
                  <a:txBody>
                    <a:bodyPr/>
                    <a:lstStyle/>
                    <a:p>
                      <a:pPr>
                        <a:buNone/>
                      </a:pPr>
                      <a:r>
                        <a:rPr lang="zh-CN" altLang="en-US" sz="2400" dirty="0"/>
                        <a:t>私钥</a:t>
                      </a:r>
                      <a:r>
                        <a:rPr lang="en-US" altLang="zh-CN" sz="2400" i="1" dirty="0" err="1">
                          <a:latin typeface="Times New Roman" panose="02020603050405020304" pitchFamily="18" charset="0"/>
                          <a:cs typeface="Times New Roman" panose="02020603050405020304" pitchFamily="18" charset="0"/>
                        </a:rPr>
                        <a:t>sk</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d</a:t>
                      </a:r>
                      <a:r>
                        <a:rPr lang="en-US" sz="2400" i="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n</a:t>
                      </a:r>
                      <a:r>
                        <a:rPr lang="en-US" sz="2400" i="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679370930"/>
                  </a:ext>
                </a:extLst>
              </a:tr>
              <a:tr h="0">
                <a:tc>
                  <a:txBody>
                    <a:bodyPr/>
                    <a:lstStyle/>
                    <a:p>
                      <a:pPr>
                        <a:buNone/>
                      </a:pPr>
                      <a:endParaRPr lang="zh-CN" altLang="en-US" sz="2400" dirty="0"/>
                    </a:p>
                  </a:txBody>
                  <a:tcPr anchor="ctr"/>
                </a:tc>
                <a:tc>
                  <a:txBody>
                    <a:bodyPr/>
                    <a:lstStyle/>
                    <a:p>
                      <a:pPr>
                        <a:buNone/>
                      </a:pPr>
                      <a:r>
                        <a:rPr lang="zh-CN" altLang="en-US" sz="2400" i="0" dirty="0">
                          <a:latin typeface="Times New Roman" panose="02020603050405020304" pitchFamily="18" charset="0"/>
                          <a:cs typeface="Times New Roman" panose="02020603050405020304" pitchFamily="18" charset="0"/>
                        </a:rPr>
                        <a:t>签名</a:t>
                      </a:r>
                      <a:r>
                        <a:rPr lang="en-US" altLang="zh-CN" sz="2400" i="1" dirty="0">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3475710"/>
                  </a:ext>
                </a:extLst>
              </a:tr>
            </a:tbl>
          </a:graphicData>
        </a:graphic>
      </p:graphicFrame>
      <p:graphicFrame>
        <p:nvGraphicFramePr>
          <p:cNvPr id="12" name="表格 11">
            <a:extLst>
              <a:ext uri="{FF2B5EF4-FFF2-40B4-BE49-F238E27FC236}">
                <a16:creationId xmlns:a16="http://schemas.microsoft.com/office/drawing/2014/main" id="{CF068A62-5BF4-5B8D-BDDE-ABB4EC526003}"/>
              </a:ext>
            </a:extLst>
          </p:cNvPr>
          <p:cNvGraphicFramePr>
            <a:graphicFrameLocks noGrp="1"/>
          </p:cNvGraphicFramePr>
          <p:nvPr/>
        </p:nvGraphicFramePr>
        <p:xfrm>
          <a:off x="261618" y="3882458"/>
          <a:ext cx="11668762" cy="2743200"/>
        </p:xfrm>
        <a:graphic>
          <a:graphicData uri="http://schemas.openxmlformats.org/drawingml/2006/table">
            <a:tbl>
              <a:tblPr>
                <a:tableStyleId>{5940675A-B579-460E-94D1-54222C63F5DA}</a:tableStyleId>
              </a:tblPr>
              <a:tblGrid>
                <a:gridCol w="5834381">
                  <a:extLst>
                    <a:ext uri="{9D8B030D-6E8A-4147-A177-3AD203B41FA5}">
                      <a16:colId xmlns:a16="http://schemas.microsoft.com/office/drawing/2014/main" val="1468247889"/>
                    </a:ext>
                  </a:extLst>
                </a:gridCol>
                <a:gridCol w="5834381">
                  <a:extLst>
                    <a:ext uri="{9D8B030D-6E8A-4147-A177-3AD203B41FA5}">
                      <a16:colId xmlns:a16="http://schemas.microsoft.com/office/drawing/2014/main" val="1884529371"/>
                    </a:ext>
                  </a:extLst>
                </a:gridCol>
              </a:tblGrid>
              <a:tr h="0">
                <a:tc>
                  <a:txBody>
                    <a:bodyPr/>
                    <a:lstStyle/>
                    <a:p>
                      <a:pPr>
                        <a:buNone/>
                      </a:pPr>
                      <a:r>
                        <a:rPr lang="zh-CN" altLang="en-US" sz="2400" dirty="0"/>
                        <a:t>变量</a:t>
                      </a:r>
                    </a:p>
                  </a:txBody>
                  <a:tcPr anchor="ctr"/>
                </a:tc>
                <a:tc>
                  <a:txBody>
                    <a:bodyPr/>
                    <a:lstStyle/>
                    <a:p>
                      <a:pPr>
                        <a:buNone/>
                      </a:pPr>
                      <a:r>
                        <a:rPr lang="zh-CN" altLang="en-US" sz="2400"/>
                        <a:t>数值</a:t>
                      </a:r>
                    </a:p>
                  </a:txBody>
                  <a:tcPr anchor="ctr"/>
                </a:tc>
                <a:extLst>
                  <a:ext uri="{0D108BD9-81ED-4DB2-BD59-A6C34878D82A}">
                    <a16:rowId xmlns:a16="http://schemas.microsoft.com/office/drawing/2014/main" val="624214875"/>
                  </a:ext>
                </a:extLst>
              </a:tr>
              <a:tr h="0">
                <a:tc>
                  <a:txBody>
                    <a:bodyPr/>
                    <a:lstStyle/>
                    <a:p>
                      <a:pPr>
                        <a:buNone/>
                      </a:pPr>
                      <a:r>
                        <a:rPr lang="en-US" sz="2400" i="1">
                          <a:latin typeface="Times New Roman" panose="02020603050405020304" pitchFamily="18" charset="0"/>
                          <a:cs typeface="Times New Roman" panose="02020603050405020304" pitchFamily="18" charset="0"/>
                        </a:rPr>
                        <a:t>n</a:t>
                      </a:r>
                    </a:p>
                  </a:txBody>
                  <a:tcPr anchor="ctr"/>
                </a:tc>
                <a:tc>
                  <a:txBody>
                    <a:bodyPr/>
                    <a:lstStyle/>
                    <a:p>
                      <a:pPr>
                        <a:buNone/>
                      </a:pPr>
                      <a:r>
                        <a:rPr lang="en-US" altLang="zh-CN" sz="2400" dirty="0"/>
                        <a:t>35</a:t>
                      </a:r>
                    </a:p>
                  </a:txBody>
                  <a:tcPr anchor="ctr"/>
                </a:tc>
                <a:extLst>
                  <a:ext uri="{0D108BD9-81ED-4DB2-BD59-A6C34878D82A}">
                    <a16:rowId xmlns:a16="http://schemas.microsoft.com/office/drawing/2014/main" val="2801246637"/>
                  </a:ext>
                </a:extLst>
              </a:tr>
              <a:tr h="0">
                <a:tc>
                  <a:txBody>
                    <a:bodyPr/>
                    <a:lstStyle/>
                    <a:p>
                      <a:pPr>
                        <a:buNone/>
                      </a:pPr>
                      <a:r>
                        <a:rPr lang="el-GR" sz="2400" i="1">
                          <a:latin typeface="Times New Roman" panose="02020603050405020304" pitchFamily="18" charset="0"/>
                          <a:cs typeface="Times New Roman" panose="02020603050405020304" pitchFamily="18" charset="0"/>
                        </a:rPr>
                        <a:t>φ(</a:t>
                      </a:r>
                      <a:r>
                        <a:rPr lang="en-US" sz="2400" i="1">
                          <a:latin typeface="Times New Roman" panose="02020603050405020304" pitchFamily="18" charset="0"/>
                          <a:cs typeface="Times New Roman" panose="02020603050405020304" pitchFamily="18" charset="0"/>
                        </a:rPr>
                        <a:t>n)</a:t>
                      </a:r>
                    </a:p>
                  </a:txBody>
                  <a:tcPr anchor="ctr"/>
                </a:tc>
                <a:tc>
                  <a:txBody>
                    <a:bodyPr/>
                    <a:lstStyle/>
                    <a:p>
                      <a:pPr>
                        <a:buNone/>
                      </a:pPr>
                      <a:r>
                        <a:rPr lang="en-US" altLang="zh-CN" sz="2400" dirty="0"/>
                        <a:t>24</a:t>
                      </a:r>
                    </a:p>
                  </a:txBody>
                  <a:tcPr anchor="ctr"/>
                </a:tc>
                <a:extLst>
                  <a:ext uri="{0D108BD9-81ED-4DB2-BD59-A6C34878D82A}">
                    <a16:rowId xmlns:a16="http://schemas.microsoft.com/office/drawing/2014/main" val="1139986118"/>
                  </a:ext>
                </a:extLst>
              </a:tr>
              <a:tr h="0">
                <a:tc>
                  <a:txBody>
                    <a:bodyPr/>
                    <a:lstStyle/>
                    <a:p>
                      <a:pPr>
                        <a:buNone/>
                      </a:pPr>
                      <a:r>
                        <a:rPr lang="en-US" altLang="zh-CN" sz="2400" i="1" dirty="0">
                          <a:latin typeface="Times New Roman" panose="02020603050405020304" pitchFamily="18" charset="0"/>
                          <a:cs typeface="Times New Roman" panose="02020603050405020304" pitchFamily="18" charset="0"/>
                        </a:rPr>
                        <a:t>e</a:t>
                      </a:r>
                      <a:endParaRPr lang="en-US" sz="2400" i="1"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2400" dirty="0"/>
                        <a:t>5</a:t>
                      </a:r>
                    </a:p>
                  </a:txBody>
                  <a:tcPr anchor="ctr"/>
                </a:tc>
                <a:extLst>
                  <a:ext uri="{0D108BD9-81ED-4DB2-BD59-A6C34878D82A}">
                    <a16:rowId xmlns:a16="http://schemas.microsoft.com/office/drawing/2014/main" val="404580317"/>
                  </a:ext>
                </a:extLst>
              </a:tr>
              <a:tr h="0">
                <a:tc>
                  <a:txBody>
                    <a:bodyPr/>
                    <a:lstStyle/>
                    <a:p>
                      <a:pPr>
                        <a:buNone/>
                      </a:pPr>
                      <a:r>
                        <a:rPr lang="en-US" sz="2400" i="1" dirty="0">
                          <a:latin typeface="Times New Roman" panose="02020603050405020304" pitchFamily="18" charset="0"/>
                          <a:cs typeface="Times New Roman" panose="02020603050405020304" pitchFamily="18" charset="0"/>
                        </a:rPr>
                        <a:t>d</a:t>
                      </a:r>
                    </a:p>
                  </a:txBody>
                  <a:tcPr anchor="ctr"/>
                </a:tc>
                <a:tc>
                  <a:txBody>
                    <a:bodyPr/>
                    <a:lstStyle/>
                    <a:p>
                      <a:pPr>
                        <a:buNone/>
                      </a:pPr>
                      <a:r>
                        <a:rPr lang="en-US" altLang="zh-CN" sz="2400" dirty="0"/>
                        <a:t>5</a:t>
                      </a:r>
                    </a:p>
                  </a:txBody>
                  <a:tcPr anchor="ctr"/>
                </a:tc>
                <a:extLst>
                  <a:ext uri="{0D108BD9-81ED-4DB2-BD59-A6C34878D82A}">
                    <a16:rowId xmlns:a16="http://schemas.microsoft.com/office/drawing/2014/main" val="4198048601"/>
                  </a:ext>
                </a:extLst>
              </a:tr>
              <a:tr h="0">
                <a:tc>
                  <a:txBody>
                    <a:bodyPr/>
                    <a:lstStyle/>
                    <a:p>
                      <a:pPr>
                        <a:buNone/>
                      </a:pPr>
                      <a:r>
                        <a:rPr lang="en-US" sz="2400" i="1" dirty="0">
                          <a:latin typeface="Times New Roman" panose="02020603050405020304" pitchFamily="18" charset="0"/>
                          <a:cs typeface="Times New Roman" panose="02020603050405020304" pitchFamily="18" charset="0"/>
                        </a:rPr>
                        <a:t>s</a:t>
                      </a:r>
                    </a:p>
                  </a:txBody>
                  <a:tcPr anchor="ctr"/>
                </a:tc>
                <a:tc>
                  <a:txBody>
                    <a:bodyPr/>
                    <a:lstStyle/>
                    <a:p>
                      <a:pPr>
                        <a:buNone/>
                      </a:pPr>
                      <a:r>
                        <a:rPr lang="en-US" altLang="zh-CN" sz="2400" dirty="0"/>
                        <a:t>15</a:t>
                      </a:r>
                    </a:p>
                  </a:txBody>
                  <a:tcPr anchor="ctr"/>
                </a:tc>
                <a:extLst>
                  <a:ext uri="{0D108BD9-81ED-4DB2-BD59-A6C34878D82A}">
                    <a16:rowId xmlns:a16="http://schemas.microsoft.com/office/drawing/2014/main" val="237802207"/>
                  </a:ext>
                </a:extLst>
              </a:tr>
            </a:tbl>
          </a:graphicData>
        </a:graphic>
      </p:graphicFrame>
    </p:spTree>
    <p:extLst>
      <p:ext uri="{BB962C8B-B14F-4D97-AF65-F5344CB8AC3E}">
        <p14:creationId xmlns:p14="http://schemas.microsoft.com/office/powerpoint/2010/main" val="180912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0D45A-C774-86CA-9F54-AA4D111BC26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A293F4D-8CA2-C199-2609-A0D365CA194F}"/>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其他数字签名</a:t>
            </a:r>
          </a:p>
        </p:txBody>
      </p:sp>
      <p:grpSp>
        <p:nvGrpSpPr>
          <p:cNvPr id="3" name="组合 2">
            <a:extLst>
              <a:ext uri="{FF2B5EF4-FFF2-40B4-BE49-F238E27FC236}">
                <a16:creationId xmlns:a16="http://schemas.microsoft.com/office/drawing/2014/main" id="{7BEDB546-A70E-4EC0-2BD4-EC48FA5119CD}"/>
              </a:ext>
            </a:extLst>
          </p:cNvPr>
          <p:cNvGrpSpPr/>
          <p:nvPr/>
        </p:nvGrpSpPr>
        <p:grpSpPr>
          <a:xfrm>
            <a:off x="3401799" y="107955"/>
            <a:ext cx="425713" cy="442041"/>
            <a:chOff x="5823870" y="1767426"/>
            <a:chExt cx="425713" cy="442041"/>
          </a:xfrm>
        </p:grpSpPr>
        <p:grpSp>
          <p:nvGrpSpPr>
            <p:cNvPr id="4" name="Group 10">
              <a:extLst>
                <a:ext uri="{FF2B5EF4-FFF2-40B4-BE49-F238E27FC236}">
                  <a16:creationId xmlns:a16="http://schemas.microsoft.com/office/drawing/2014/main" id="{9C9AE083-F215-7A23-C305-676CFED59C20}"/>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62D64626-A370-E9F4-D6FF-250293820C1E}"/>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7A8BD5DB-17A0-D01F-559A-C9024F9E2C85}"/>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45FD98D1-57DF-8A64-34D4-E87E03C2D3A5}"/>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37E572ED-05EA-1608-0314-9BF2178BE742}"/>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6F571FEA-C49F-D4A4-E468-9FDB38293A89}"/>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56721A5-C4DF-AB1B-D1E0-69DC6253F37D}"/>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14:m>
                  <m:oMath xmlns:m="http://schemas.openxmlformats.org/officeDocument/2006/math">
                    <m:r>
                      <a:rPr lang="zh-CN" altLang="en-US" sz="2800" i="1" smtClean="0">
                        <a:latin typeface="Cambria Math" panose="02040503050406030204" pitchFamily="18" charset="0"/>
                        <a:ea typeface="+mn-ea"/>
                      </a:rPr>
                      <m:t>任意</m:t>
                    </m:r>
                    <m:r>
                      <a:rPr lang="zh-CN" altLang="en-US" sz="2800" i="1">
                        <a:latin typeface="Cambria Math" panose="02040503050406030204" pitchFamily="18" charset="0"/>
                        <a:ea typeface="+mn-ea"/>
                      </a:rPr>
                      <m:t>非对称</m:t>
                    </m:r>
                  </m:oMath>
                </a14:m>
                <a:r>
                  <a:rPr lang="zh-CN" altLang="en-US" sz="2800" dirty="0">
                    <a:latin typeface="+mn-lt"/>
                    <a:ea typeface="+mn-ea"/>
                  </a:rPr>
                  <a:t>算法均可实现数字签名（部分需要改造）</a:t>
                </a:r>
              </a:p>
            </p:txBody>
          </p:sp>
        </mc:Choice>
        <mc:Fallback xmlns="">
          <p:sp>
            <p:nvSpPr>
              <p:cNvPr id="10" name="文本框 9">
                <a:extLst>
                  <a:ext uri="{FF2B5EF4-FFF2-40B4-BE49-F238E27FC236}">
                    <a16:creationId xmlns:a16="http://schemas.microsoft.com/office/drawing/2014/main" id="{656721A5-C4DF-AB1B-D1E0-69DC6253F37D}"/>
                  </a:ext>
                </a:extLst>
              </p:cNvPr>
              <p:cNvSpPr txBox="1">
                <a:spLocks noRot="1" noChangeAspect="1" noMove="1" noResize="1" noEditPoints="1" noAdjustHandles="1" noChangeArrowheads="1" noChangeShapeType="1" noTextEdit="1"/>
              </p:cNvSpPr>
              <p:nvPr/>
            </p:nvSpPr>
            <p:spPr>
              <a:xfrm>
                <a:off x="0" y="725098"/>
                <a:ext cx="12192000" cy="523220"/>
              </a:xfrm>
              <a:prstGeom prst="rect">
                <a:avLst/>
              </a:prstGeom>
              <a:blipFill>
                <a:blip r:embed="rId3"/>
                <a:stretch>
                  <a:fillRect t="-16279" b="-27907"/>
                </a:stretch>
              </a:blipFill>
            </p:spPr>
            <p:txBody>
              <a:bodyPr/>
              <a:lstStyle/>
              <a:p>
                <a:r>
                  <a:rPr lang="zh-CN" altLang="en-US">
                    <a:noFill/>
                  </a:rPr>
                  <a:t> </a:t>
                </a:r>
              </a:p>
            </p:txBody>
          </p:sp>
        </mc:Fallback>
      </mc:AlternateContent>
      <p:graphicFrame>
        <p:nvGraphicFramePr>
          <p:cNvPr id="13" name="表格 12">
            <a:extLst>
              <a:ext uri="{FF2B5EF4-FFF2-40B4-BE49-F238E27FC236}">
                <a16:creationId xmlns:a16="http://schemas.microsoft.com/office/drawing/2014/main" id="{A5F55BC8-5D6B-F1C9-499F-F4A5DB99A17F}"/>
              </a:ext>
            </a:extLst>
          </p:cNvPr>
          <p:cNvGraphicFramePr>
            <a:graphicFrameLocks noGrp="1"/>
          </p:cNvGraphicFramePr>
          <p:nvPr/>
        </p:nvGraphicFramePr>
        <p:xfrm>
          <a:off x="427820" y="1422388"/>
          <a:ext cx="11164740" cy="4852182"/>
        </p:xfrm>
        <a:graphic>
          <a:graphicData uri="http://schemas.openxmlformats.org/drawingml/2006/table">
            <a:tbl>
              <a:tblPr>
                <a:tableStyleId>{5940675A-B579-460E-94D1-54222C63F5DA}</a:tableStyleId>
              </a:tblPr>
              <a:tblGrid>
                <a:gridCol w="3721580">
                  <a:extLst>
                    <a:ext uri="{9D8B030D-6E8A-4147-A177-3AD203B41FA5}">
                      <a16:colId xmlns:a16="http://schemas.microsoft.com/office/drawing/2014/main" val="1414074486"/>
                    </a:ext>
                  </a:extLst>
                </a:gridCol>
                <a:gridCol w="3721580">
                  <a:extLst>
                    <a:ext uri="{9D8B030D-6E8A-4147-A177-3AD203B41FA5}">
                      <a16:colId xmlns:a16="http://schemas.microsoft.com/office/drawing/2014/main" val="3335737197"/>
                    </a:ext>
                  </a:extLst>
                </a:gridCol>
                <a:gridCol w="3721580">
                  <a:extLst>
                    <a:ext uri="{9D8B030D-6E8A-4147-A177-3AD203B41FA5}">
                      <a16:colId xmlns:a16="http://schemas.microsoft.com/office/drawing/2014/main" val="1133552600"/>
                    </a:ext>
                  </a:extLst>
                </a:gridCol>
              </a:tblGrid>
              <a:tr h="483482">
                <a:tc>
                  <a:txBody>
                    <a:bodyPr/>
                    <a:lstStyle/>
                    <a:p>
                      <a:pPr>
                        <a:buNone/>
                      </a:pPr>
                      <a:r>
                        <a:rPr lang="zh-CN" altLang="en-US" sz="2400"/>
                        <a:t>算法名称</a:t>
                      </a:r>
                    </a:p>
                  </a:txBody>
                  <a:tcPr marL="69069" marR="69069" marT="34534" marB="34534" anchor="ctr"/>
                </a:tc>
                <a:tc>
                  <a:txBody>
                    <a:bodyPr/>
                    <a:lstStyle/>
                    <a:p>
                      <a:pPr>
                        <a:buNone/>
                      </a:pPr>
                      <a:r>
                        <a:rPr lang="zh-CN" altLang="en-US" sz="2400" dirty="0"/>
                        <a:t>依赖困难问题</a:t>
                      </a:r>
                    </a:p>
                  </a:txBody>
                  <a:tcPr marL="69069" marR="69069" marT="34534" marB="34534" anchor="ctr"/>
                </a:tc>
                <a:tc>
                  <a:txBody>
                    <a:bodyPr/>
                    <a:lstStyle/>
                    <a:p>
                      <a:pPr>
                        <a:buNone/>
                      </a:pPr>
                      <a:r>
                        <a:rPr lang="zh-CN" altLang="en-US" sz="2400" dirty="0"/>
                        <a:t>备注</a:t>
                      </a:r>
                    </a:p>
                  </a:txBody>
                  <a:tcPr marL="69069" marR="69069" marT="34534" marB="34534" anchor="ctr"/>
                </a:tc>
                <a:extLst>
                  <a:ext uri="{0D108BD9-81ED-4DB2-BD59-A6C34878D82A}">
                    <a16:rowId xmlns:a16="http://schemas.microsoft.com/office/drawing/2014/main" val="571548700"/>
                  </a:ext>
                </a:extLst>
              </a:tr>
              <a:tr h="690689">
                <a:tc>
                  <a:txBody>
                    <a:bodyPr/>
                    <a:lstStyle/>
                    <a:p>
                      <a:pPr>
                        <a:buNone/>
                      </a:pPr>
                      <a:r>
                        <a:rPr lang="en-US" sz="2400" b="1"/>
                        <a:t>RSA</a:t>
                      </a:r>
                      <a:endParaRPr lang="en-US" sz="2400"/>
                    </a:p>
                  </a:txBody>
                  <a:tcPr marL="69069" marR="69069" marT="34534" marB="34534" anchor="ctr"/>
                </a:tc>
                <a:tc>
                  <a:txBody>
                    <a:bodyPr/>
                    <a:lstStyle/>
                    <a:p>
                      <a:pPr>
                        <a:buNone/>
                      </a:pPr>
                      <a:r>
                        <a:rPr lang="zh-CN" altLang="en-US" sz="2400"/>
                        <a:t>整数分解困难</a:t>
                      </a:r>
                    </a:p>
                  </a:txBody>
                  <a:tcPr marL="69069" marR="69069" marT="34534" marB="34534" anchor="ctr"/>
                </a:tc>
                <a:tc>
                  <a:txBody>
                    <a:bodyPr/>
                    <a:lstStyle/>
                    <a:p>
                      <a:pPr>
                        <a:buNone/>
                      </a:pPr>
                      <a:r>
                        <a:rPr lang="zh-CN" altLang="en-US" sz="2400" dirty="0"/>
                        <a:t>最经典的公钥密码；加密与签名方向相反</a:t>
                      </a:r>
                    </a:p>
                  </a:txBody>
                  <a:tcPr marL="69069" marR="69069" marT="34534" marB="34534" anchor="ctr"/>
                </a:tc>
                <a:extLst>
                  <a:ext uri="{0D108BD9-81ED-4DB2-BD59-A6C34878D82A}">
                    <a16:rowId xmlns:a16="http://schemas.microsoft.com/office/drawing/2014/main" val="2145157700"/>
                  </a:ext>
                </a:extLst>
              </a:tr>
              <a:tr h="1105102">
                <a:tc>
                  <a:txBody>
                    <a:bodyPr/>
                    <a:lstStyle/>
                    <a:p>
                      <a:pPr>
                        <a:buNone/>
                      </a:pPr>
                      <a:r>
                        <a:rPr lang="en-US" altLang="zh-CN" sz="2400" b="1" dirty="0"/>
                        <a:t>ElGamal</a:t>
                      </a:r>
                      <a:endParaRPr lang="zh-CN" altLang="en-US" sz="2400" dirty="0"/>
                    </a:p>
                  </a:txBody>
                  <a:tcPr marL="69069" marR="69069" marT="34534" marB="34534" anchor="ctr"/>
                </a:tc>
                <a:tc>
                  <a:txBody>
                    <a:bodyPr/>
                    <a:lstStyle/>
                    <a:p>
                      <a:pPr>
                        <a:buNone/>
                      </a:pPr>
                      <a:r>
                        <a:rPr lang="zh-CN" altLang="en-US" sz="2400" dirty="0"/>
                        <a:t>离散对数困难</a:t>
                      </a:r>
                    </a:p>
                  </a:txBody>
                  <a:tcPr marL="69069" marR="69069" marT="34534" marB="34534" anchor="ctr"/>
                </a:tc>
                <a:tc>
                  <a:txBody>
                    <a:bodyPr/>
                    <a:lstStyle/>
                    <a:p>
                      <a:pPr>
                        <a:buNone/>
                      </a:pPr>
                      <a:r>
                        <a:rPr lang="en-US" altLang="zh-CN" sz="2400" dirty="0"/>
                        <a:t>GnuPG </a:t>
                      </a:r>
                      <a:r>
                        <a:rPr lang="zh-CN" altLang="en-US" sz="2400" dirty="0"/>
                        <a:t>曾使用 </a:t>
                      </a:r>
                      <a:r>
                        <a:rPr lang="en-US" altLang="zh-CN" sz="2400" dirty="0"/>
                        <a:t>ElGamal </a:t>
                      </a:r>
                      <a:r>
                        <a:rPr lang="zh-CN" altLang="en-US" sz="2400" dirty="0"/>
                        <a:t>签名，但随后发现漏洞后仅用于加密</a:t>
                      </a:r>
                    </a:p>
                  </a:txBody>
                  <a:tcPr marL="69069" marR="69069" marT="34534" marB="34534" anchor="ctr"/>
                </a:tc>
                <a:extLst>
                  <a:ext uri="{0D108BD9-81ED-4DB2-BD59-A6C34878D82A}">
                    <a16:rowId xmlns:a16="http://schemas.microsoft.com/office/drawing/2014/main" val="265089377"/>
                  </a:ext>
                </a:extLst>
              </a:tr>
              <a:tr h="690689">
                <a:tc>
                  <a:txBody>
                    <a:bodyPr/>
                    <a:lstStyle/>
                    <a:p>
                      <a:pPr>
                        <a:buNone/>
                      </a:pPr>
                      <a:r>
                        <a:rPr lang="en-US" sz="2400" b="1" dirty="0"/>
                        <a:t>DSA</a:t>
                      </a:r>
                      <a:endParaRPr lang="en-US" sz="2400" dirty="0"/>
                    </a:p>
                  </a:txBody>
                  <a:tcPr marL="69069" marR="69069" marT="34534" marB="34534" anchor="ctr"/>
                </a:tc>
                <a:tc>
                  <a:txBody>
                    <a:bodyPr/>
                    <a:lstStyle/>
                    <a:p>
                      <a:pPr>
                        <a:buNone/>
                      </a:pPr>
                      <a:r>
                        <a:rPr lang="zh-CN" altLang="en-US" sz="2400"/>
                        <a:t>离散对数困难</a:t>
                      </a:r>
                    </a:p>
                  </a:txBody>
                  <a:tcPr marL="69069" marR="69069" marT="34534" marB="34534" anchor="ctr"/>
                </a:tc>
                <a:tc>
                  <a:txBody>
                    <a:bodyPr/>
                    <a:lstStyle/>
                    <a:p>
                      <a:pPr>
                        <a:buNone/>
                      </a:pPr>
                      <a:r>
                        <a:rPr lang="zh-CN" altLang="en-US" sz="2400" dirty="0"/>
                        <a:t>数字签名标准 </a:t>
                      </a:r>
                      <a:r>
                        <a:rPr lang="en-US" altLang="zh-CN" sz="2400" dirty="0"/>
                        <a:t>DSS </a:t>
                      </a:r>
                      <a:r>
                        <a:rPr lang="zh-CN" altLang="en-US" sz="2400" dirty="0"/>
                        <a:t>的核心算法</a:t>
                      </a:r>
                    </a:p>
                  </a:txBody>
                  <a:tcPr marL="69069" marR="69069" marT="34534" marB="34534" anchor="ctr"/>
                </a:tc>
                <a:extLst>
                  <a:ext uri="{0D108BD9-81ED-4DB2-BD59-A6C34878D82A}">
                    <a16:rowId xmlns:a16="http://schemas.microsoft.com/office/drawing/2014/main" val="1229975779"/>
                  </a:ext>
                </a:extLst>
              </a:tr>
              <a:tr h="690689">
                <a:tc>
                  <a:txBody>
                    <a:bodyPr/>
                    <a:lstStyle/>
                    <a:p>
                      <a:pPr>
                        <a:buNone/>
                      </a:pPr>
                      <a:r>
                        <a:rPr lang="en-US" altLang="zh-CN" sz="2400" b="1" dirty="0"/>
                        <a:t>ECDSA</a:t>
                      </a:r>
                      <a:endParaRPr lang="zh-CN" altLang="en-US" sz="2400" dirty="0"/>
                    </a:p>
                  </a:txBody>
                  <a:tcPr marL="69069" marR="69069" marT="34534" marB="34534" anchor="ctr"/>
                </a:tc>
                <a:tc>
                  <a:txBody>
                    <a:bodyPr/>
                    <a:lstStyle/>
                    <a:p>
                      <a:pPr>
                        <a:buNone/>
                      </a:pPr>
                      <a:r>
                        <a:rPr lang="zh-CN" altLang="en-US" sz="2400"/>
                        <a:t>椭圆曲线离散对数困难</a:t>
                      </a:r>
                    </a:p>
                  </a:txBody>
                  <a:tcPr marL="69069" marR="69069" marT="34534" marB="34534" anchor="ctr"/>
                </a:tc>
                <a:tc>
                  <a:txBody>
                    <a:bodyPr/>
                    <a:lstStyle/>
                    <a:p>
                      <a:pPr>
                        <a:buNone/>
                      </a:pPr>
                      <a:r>
                        <a:rPr lang="zh-CN" altLang="en-US" sz="2400" dirty="0"/>
                        <a:t>用椭圆曲线替代 </a:t>
                      </a:r>
                      <a:r>
                        <a:rPr lang="en-US" altLang="zh-CN" sz="2400" dirty="0"/>
                        <a:t>DSA </a:t>
                      </a:r>
                      <a:r>
                        <a:rPr lang="zh-CN" altLang="en-US" sz="2400" dirty="0"/>
                        <a:t>的大数模运算</a:t>
                      </a:r>
                    </a:p>
                  </a:txBody>
                  <a:tcPr marL="69069" marR="69069" marT="34534" marB="34534" anchor="ctr"/>
                </a:tc>
                <a:extLst>
                  <a:ext uri="{0D108BD9-81ED-4DB2-BD59-A6C34878D82A}">
                    <a16:rowId xmlns:a16="http://schemas.microsoft.com/office/drawing/2014/main" val="2750710422"/>
                  </a:ext>
                </a:extLst>
              </a:tr>
              <a:tr h="690689">
                <a:tc>
                  <a:txBody>
                    <a:bodyPr/>
                    <a:lstStyle/>
                    <a:p>
                      <a:pPr>
                        <a:buNone/>
                      </a:pPr>
                      <a:r>
                        <a:rPr lang="en-US" sz="2400" b="1"/>
                        <a:t>Rabin </a:t>
                      </a:r>
                      <a:r>
                        <a:rPr lang="zh-CN" altLang="en-US" sz="2400" b="1"/>
                        <a:t>方式</a:t>
                      </a:r>
                      <a:endParaRPr lang="zh-CN" altLang="en-US" sz="2400"/>
                    </a:p>
                  </a:txBody>
                  <a:tcPr marL="69069" marR="69069" marT="34534" marB="34534" anchor="ctr"/>
                </a:tc>
                <a:tc>
                  <a:txBody>
                    <a:bodyPr/>
                    <a:lstStyle/>
                    <a:p>
                      <a:pPr>
                        <a:buNone/>
                      </a:pPr>
                      <a:r>
                        <a:rPr lang="zh-CN" altLang="en-US" sz="2400" dirty="0"/>
                        <a:t>模平方根困难</a:t>
                      </a:r>
                    </a:p>
                  </a:txBody>
                  <a:tcPr marL="69069" marR="69069" marT="34534" marB="34534" anchor="ctr"/>
                </a:tc>
                <a:tc>
                  <a:txBody>
                    <a:bodyPr/>
                    <a:lstStyle/>
                    <a:p>
                      <a:pPr>
                        <a:buNone/>
                      </a:pPr>
                      <a:r>
                        <a:rPr lang="zh-CN" altLang="en-US" sz="2400" dirty="0"/>
                        <a:t>理论上签名与加密均可；结构类似 </a:t>
                      </a:r>
                      <a:r>
                        <a:rPr lang="en-US" altLang="zh-CN" sz="2400" dirty="0"/>
                        <a:t>RSA</a:t>
                      </a:r>
                      <a:endParaRPr lang="zh-CN" altLang="en-US" sz="2400" dirty="0"/>
                    </a:p>
                  </a:txBody>
                  <a:tcPr marL="69069" marR="69069" marT="34534" marB="34534" anchor="ctr"/>
                </a:tc>
                <a:extLst>
                  <a:ext uri="{0D108BD9-81ED-4DB2-BD59-A6C34878D82A}">
                    <a16:rowId xmlns:a16="http://schemas.microsoft.com/office/drawing/2014/main" val="2622373264"/>
                  </a:ext>
                </a:extLst>
              </a:tr>
            </a:tbl>
          </a:graphicData>
        </a:graphic>
      </p:graphicFrame>
    </p:spTree>
    <p:extLst>
      <p:ext uri="{BB962C8B-B14F-4D97-AF65-F5344CB8AC3E}">
        <p14:creationId xmlns:p14="http://schemas.microsoft.com/office/powerpoint/2010/main" val="877312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B1733-3A74-081E-DF5D-025A879A2100}"/>
            </a:ext>
          </a:extLst>
        </p:cNvPr>
        <p:cNvGrpSpPr/>
        <p:nvPr/>
      </p:nvGrpSpPr>
      <p:grpSpPr>
        <a:xfrm>
          <a:off x="0" y="0"/>
          <a:ext cx="0" cy="0"/>
          <a:chOff x="0" y="0"/>
          <a:chExt cx="0" cy="0"/>
        </a:xfrm>
      </p:grpSpPr>
      <p:sp>
        <p:nvSpPr>
          <p:cNvPr id="132" name="矩形 131">
            <a:extLst>
              <a:ext uri="{FF2B5EF4-FFF2-40B4-BE49-F238E27FC236}">
                <a16:creationId xmlns:a16="http://schemas.microsoft.com/office/drawing/2014/main" id="{8CC0DD54-A2DF-E6E2-4052-034C47EBC178}"/>
              </a:ext>
            </a:extLst>
          </p:cNvPr>
          <p:cNvSpPr/>
          <p:nvPr/>
        </p:nvSpPr>
        <p:spPr>
          <a:xfrm>
            <a:off x="2976045" y="914399"/>
            <a:ext cx="6225142" cy="5451709"/>
          </a:xfrm>
          <a:prstGeom prst="rect">
            <a:avLst/>
          </a:prstGeom>
          <a:solidFill>
            <a:srgbClr val="F0C0C3">
              <a:alpha val="80000"/>
            </a:srgbClr>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740FEC4F-45F3-9269-63B8-1D0FBC7D8E55}"/>
              </a:ext>
            </a:extLst>
          </p:cNvPr>
          <p:cNvSpPr/>
          <p:nvPr/>
        </p:nvSpPr>
        <p:spPr>
          <a:xfrm>
            <a:off x="1567653" y="914401"/>
            <a:ext cx="2810787" cy="54419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0" name="矩形 139">
            <a:extLst>
              <a:ext uri="{FF2B5EF4-FFF2-40B4-BE49-F238E27FC236}">
                <a16:creationId xmlns:a16="http://schemas.microsoft.com/office/drawing/2014/main" id="{5D16351D-5AC6-033A-8D6B-E4BC2F2C3913}"/>
              </a:ext>
            </a:extLst>
          </p:cNvPr>
          <p:cNvSpPr/>
          <p:nvPr/>
        </p:nvSpPr>
        <p:spPr>
          <a:xfrm>
            <a:off x="7808527" y="914400"/>
            <a:ext cx="2810787" cy="54419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2" name="圆角矩形 341">
            <a:extLst>
              <a:ext uri="{FF2B5EF4-FFF2-40B4-BE49-F238E27FC236}">
                <a16:creationId xmlns:a16="http://schemas.microsoft.com/office/drawing/2014/main" id="{164A7B54-16B1-34F9-9EC0-ECF1C7BB30E8}"/>
              </a:ext>
            </a:extLst>
          </p:cNvPr>
          <p:cNvSpPr/>
          <p:nvPr/>
        </p:nvSpPr>
        <p:spPr>
          <a:xfrm>
            <a:off x="5434895" y="965685"/>
            <a:ext cx="1317174" cy="596504"/>
          </a:xfrm>
          <a:prstGeom prst="roundRect">
            <a:avLst>
              <a:gd name="adj" fmla="val 50000"/>
            </a:avLst>
          </a:prstGeom>
          <a:solidFill>
            <a:srgbClr val="F3CDC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敌手</a:t>
            </a:r>
            <a:endPar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algn="ctr"/>
            <a:r>
              <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Adv</a:t>
            </a:r>
          </a:p>
        </p:txBody>
      </p:sp>
      <p:cxnSp>
        <p:nvCxnSpPr>
          <p:cNvPr id="143" name="直线连接符 142">
            <a:extLst>
              <a:ext uri="{FF2B5EF4-FFF2-40B4-BE49-F238E27FC236}">
                <a16:creationId xmlns:a16="http://schemas.microsoft.com/office/drawing/2014/main" id="{D172780A-FC9F-BD1C-AE7A-6986C67DE3F8}"/>
              </a:ext>
            </a:extLst>
          </p:cNvPr>
          <p:cNvCxnSpPr>
            <a:cxnSpLocks/>
            <a:stCxn id="139" idx="2"/>
            <a:endCxn id="140" idx="2"/>
          </p:cNvCxnSpPr>
          <p:nvPr/>
        </p:nvCxnSpPr>
        <p:spPr>
          <a:xfrm>
            <a:off x="9213920" y="1593178"/>
            <a:ext cx="1" cy="476317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42" name="直线连接符 141">
            <a:extLst>
              <a:ext uri="{FF2B5EF4-FFF2-40B4-BE49-F238E27FC236}">
                <a16:creationId xmlns:a16="http://schemas.microsoft.com/office/drawing/2014/main" id="{B19C21FF-CADD-8EA3-9F0C-965FB0EEEB2B}"/>
              </a:ext>
            </a:extLst>
          </p:cNvPr>
          <p:cNvCxnSpPr>
            <a:cxnSpLocks/>
            <a:stCxn id="6" idx="2"/>
            <a:endCxn id="21" idx="2"/>
          </p:cNvCxnSpPr>
          <p:nvPr/>
        </p:nvCxnSpPr>
        <p:spPr>
          <a:xfrm>
            <a:off x="2973046" y="1593179"/>
            <a:ext cx="1" cy="476317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6" name="圆角矩形 5">
            <a:extLst>
              <a:ext uri="{FF2B5EF4-FFF2-40B4-BE49-F238E27FC236}">
                <a16:creationId xmlns:a16="http://schemas.microsoft.com/office/drawing/2014/main" id="{13687B2B-DE9E-B80B-3B35-693A7233244B}"/>
              </a:ext>
            </a:extLst>
          </p:cNvPr>
          <p:cNvSpPr/>
          <p:nvPr/>
        </p:nvSpPr>
        <p:spPr>
          <a:xfrm>
            <a:off x="2314458" y="996675"/>
            <a:ext cx="1317174" cy="596504"/>
          </a:xfrm>
          <a:prstGeom prst="roundRect">
            <a:avLst>
              <a:gd name="adj" fmla="val 50000"/>
            </a:avLst>
          </a:prstGeom>
          <a:solidFill>
            <a:schemeClr val="accent6">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Alice</a:t>
            </a:r>
          </a:p>
        </p:txBody>
      </p:sp>
      <p:sp>
        <p:nvSpPr>
          <p:cNvPr id="139" name="圆角矩形 138">
            <a:extLst>
              <a:ext uri="{FF2B5EF4-FFF2-40B4-BE49-F238E27FC236}">
                <a16:creationId xmlns:a16="http://schemas.microsoft.com/office/drawing/2014/main" id="{B56BFE52-1DFB-1518-DF21-A5EB683AB144}"/>
              </a:ext>
            </a:extLst>
          </p:cNvPr>
          <p:cNvSpPr/>
          <p:nvPr/>
        </p:nvSpPr>
        <p:spPr>
          <a:xfrm>
            <a:off x="8555332" y="996674"/>
            <a:ext cx="1317174" cy="596504"/>
          </a:xfrm>
          <a:prstGeom prst="roundRect">
            <a:avLst>
              <a:gd name="adj" fmla="val 50000"/>
            </a:avLst>
          </a:prstGeom>
          <a:solidFill>
            <a:schemeClr val="accent6">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Bob</a:t>
            </a:r>
          </a:p>
        </p:txBody>
      </p:sp>
      <p:sp>
        <p:nvSpPr>
          <p:cNvPr id="3" name="灯片编号占位符 2">
            <a:extLst>
              <a:ext uri="{FF2B5EF4-FFF2-40B4-BE49-F238E27FC236}">
                <a16:creationId xmlns:a16="http://schemas.microsoft.com/office/drawing/2014/main" id="{C04DDFB7-C35C-6B16-2CF1-9660FE99B5F8}"/>
              </a:ext>
            </a:extLst>
          </p:cNvPr>
          <p:cNvSpPr>
            <a:spLocks noGrp="1"/>
          </p:cNvSpPr>
          <p:nvPr>
            <p:ph type="sldNum" sz="quarter" idx="12"/>
          </p:nvPr>
        </p:nvSpPr>
        <p:spPr/>
        <p:txBody>
          <a:bodyPr/>
          <a:lstStyle/>
          <a:p>
            <a:fld id="{B8AE17C6-53CA-944D-9421-F2F3A04C57E0}" type="slidenum">
              <a:rPr lang="en-US" smtClean="0"/>
              <a:t>20</a:t>
            </a:fld>
            <a:endParaRPr lang="en-US"/>
          </a:p>
        </p:txBody>
      </p:sp>
      <p:sp>
        <p:nvSpPr>
          <p:cNvPr id="4" name="文本框 3">
            <a:extLst>
              <a:ext uri="{FF2B5EF4-FFF2-40B4-BE49-F238E27FC236}">
                <a16:creationId xmlns:a16="http://schemas.microsoft.com/office/drawing/2014/main" id="{49CFE39A-674D-E67C-C8D3-287F035D06C1}"/>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b="1" dirty="0">
                <a:solidFill>
                  <a:srgbClr val="2A50A1"/>
                </a:solidFill>
              </a:rPr>
              <a:t>数字签名算法安全缺陷</a:t>
            </a:r>
            <a:r>
              <a:rPr lang="en-US" altLang="zh-CN" sz="3600" b="1" dirty="0">
                <a:solidFill>
                  <a:srgbClr val="2A50A1"/>
                </a:solidFill>
              </a:rPr>
              <a:t>——</a:t>
            </a:r>
            <a:r>
              <a:rPr lang="zh-CN" altLang="en-US" sz="3600" b="1" dirty="0">
                <a:solidFill>
                  <a:srgbClr val="2A50A1"/>
                </a:solidFill>
              </a:rPr>
              <a:t>中间人攻击</a:t>
            </a:r>
          </a:p>
        </p:txBody>
      </p:sp>
      <p:grpSp>
        <p:nvGrpSpPr>
          <p:cNvPr id="5" name="组合 4">
            <a:extLst>
              <a:ext uri="{FF2B5EF4-FFF2-40B4-BE49-F238E27FC236}">
                <a16:creationId xmlns:a16="http://schemas.microsoft.com/office/drawing/2014/main" id="{B44BD213-EB1B-A24C-E555-CD07F5EEA238}"/>
              </a:ext>
            </a:extLst>
          </p:cNvPr>
          <p:cNvGrpSpPr/>
          <p:nvPr/>
        </p:nvGrpSpPr>
        <p:grpSpPr>
          <a:xfrm>
            <a:off x="8443396" y="97795"/>
            <a:ext cx="425713" cy="442041"/>
            <a:chOff x="5823870" y="1767426"/>
            <a:chExt cx="425713" cy="442041"/>
          </a:xfrm>
        </p:grpSpPr>
        <p:grpSp>
          <p:nvGrpSpPr>
            <p:cNvPr id="7" name="Group 10">
              <a:extLst>
                <a:ext uri="{FF2B5EF4-FFF2-40B4-BE49-F238E27FC236}">
                  <a16:creationId xmlns:a16="http://schemas.microsoft.com/office/drawing/2014/main" id="{A1FE354C-ADED-3234-1882-43BA02525884}"/>
                </a:ext>
              </a:extLst>
            </p:cNvPr>
            <p:cNvGrpSpPr>
              <a:grpSpLocks noChangeAspect="1"/>
            </p:cNvGrpSpPr>
            <p:nvPr/>
          </p:nvGrpSpPr>
          <p:grpSpPr bwMode="auto">
            <a:xfrm rot="18923445">
              <a:off x="5963891" y="1767426"/>
              <a:ext cx="285692" cy="285786"/>
              <a:chOff x="14101" y="4437"/>
              <a:chExt cx="3056" cy="3057"/>
            </a:xfrm>
          </p:grpSpPr>
          <p:sp>
            <p:nvSpPr>
              <p:cNvPr id="11" name="Freeform 11">
                <a:extLst>
                  <a:ext uri="{FF2B5EF4-FFF2-40B4-BE49-F238E27FC236}">
                    <a16:creationId xmlns:a16="http://schemas.microsoft.com/office/drawing/2014/main" id="{039C8C85-D1E5-6B1A-3141-487232EAA461}"/>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12" name="Freeform 12">
                <a:extLst>
                  <a:ext uri="{FF2B5EF4-FFF2-40B4-BE49-F238E27FC236}">
                    <a16:creationId xmlns:a16="http://schemas.microsoft.com/office/drawing/2014/main" id="{9E0F7632-A2D0-286F-DF82-FB7A5D9CEB61}"/>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8" name="Group 10">
              <a:extLst>
                <a:ext uri="{FF2B5EF4-FFF2-40B4-BE49-F238E27FC236}">
                  <a16:creationId xmlns:a16="http://schemas.microsoft.com/office/drawing/2014/main" id="{93938DAF-93B2-C265-E751-23F7CF1431F3}"/>
                </a:ext>
              </a:extLst>
            </p:cNvPr>
            <p:cNvGrpSpPr>
              <a:grpSpLocks noChangeAspect="1"/>
            </p:cNvGrpSpPr>
            <p:nvPr/>
          </p:nvGrpSpPr>
          <p:grpSpPr bwMode="auto">
            <a:xfrm rot="18923445">
              <a:off x="5823870" y="1809585"/>
              <a:ext cx="399751" cy="399882"/>
              <a:chOff x="14101" y="4437"/>
              <a:chExt cx="3056" cy="3057"/>
            </a:xfrm>
          </p:grpSpPr>
          <p:sp>
            <p:nvSpPr>
              <p:cNvPr id="9" name="Freeform 11">
                <a:extLst>
                  <a:ext uri="{FF2B5EF4-FFF2-40B4-BE49-F238E27FC236}">
                    <a16:creationId xmlns:a16="http://schemas.microsoft.com/office/drawing/2014/main" id="{7D8E48B0-76E5-05E6-3F6B-96263E2133D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10" name="Freeform 12">
                <a:extLst>
                  <a:ext uri="{FF2B5EF4-FFF2-40B4-BE49-F238E27FC236}">
                    <a16:creationId xmlns:a16="http://schemas.microsoft.com/office/drawing/2014/main" id="{754EB57A-E7A4-F026-4555-B2B8835933F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Tree>
    <p:extLst>
      <p:ext uri="{BB962C8B-B14F-4D97-AF65-F5344CB8AC3E}">
        <p14:creationId xmlns:p14="http://schemas.microsoft.com/office/powerpoint/2010/main" val="2171799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688B8CC6-B548-40CA-93E4-212D0E04D22F}"/>
              </a:ext>
            </a:extLst>
          </p:cNvPr>
          <p:cNvGrpSpPr/>
          <p:nvPr/>
        </p:nvGrpSpPr>
        <p:grpSpPr>
          <a:xfrm rot="637793">
            <a:off x="6717963" y="-2695151"/>
            <a:ext cx="8786687" cy="13156983"/>
            <a:chOff x="14552960" y="-177472"/>
            <a:chExt cx="7029080" cy="10525183"/>
          </a:xfrm>
        </p:grpSpPr>
        <p:grpSp>
          <p:nvGrpSpPr>
            <p:cNvPr id="28" name="组合 27">
              <a:extLst>
                <a:ext uri="{FF2B5EF4-FFF2-40B4-BE49-F238E27FC236}">
                  <a16:creationId xmlns:a16="http://schemas.microsoft.com/office/drawing/2014/main" id="{D57EA9D9-5E3A-4570-A0A1-FE4F71280BCC}"/>
                </a:ext>
              </a:extLst>
            </p:cNvPr>
            <p:cNvGrpSpPr/>
            <p:nvPr/>
          </p:nvGrpSpPr>
          <p:grpSpPr>
            <a:xfrm rot="1495231">
              <a:off x="15166450" y="-177472"/>
              <a:ext cx="4878842" cy="4879972"/>
              <a:chOff x="18351500" y="3723568"/>
              <a:chExt cx="4878842" cy="4879972"/>
            </a:xfrm>
          </p:grpSpPr>
          <p:sp>
            <p:nvSpPr>
              <p:cNvPr id="32" name="Freeform 6">
                <a:extLst>
                  <a:ext uri="{FF2B5EF4-FFF2-40B4-BE49-F238E27FC236}">
                    <a16:creationId xmlns:a16="http://schemas.microsoft.com/office/drawing/2014/main" id="{A1E9E03B-1BC3-4C9A-8A51-7329E00EC163}"/>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7">
                <a:extLst>
                  <a:ext uri="{FF2B5EF4-FFF2-40B4-BE49-F238E27FC236}">
                    <a16:creationId xmlns:a16="http://schemas.microsoft.com/office/drawing/2014/main" id="{245CCFFC-F09A-47D8-8B3B-88EF31E8902B}"/>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29" name="组合 28">
              <a:extLst>
                <a:ext uri="{FF2B5EF4-FFF2-40B4-BE49-F238E27FC236}">
                  <a16:creationId xmlns:a16="http://schemas.microsoft.com/office/drawing/2014/main" id="{B5AA2E4A-FA11-4014-B207-60C2845236D6}"/>
                </a:ext>
              </a:extLst>
            </p:cNvPr>
            <p:cNvGrpSpPr/>
            <p:nvPr/>
          </p:nvGrpSpPr>
          <p:grpSpPr>
            <a:xfrm rot="12295231">
              <a:off x="14552960" y="3317003"/>
              <a:ext cx="7029080" cy="7030708"/>
              <a:chOff x="18351500" y="3723568"/>
              <a:chExt cx="4878842" cy="4879972"/>
            </a:xfrm>
          </p:grpSpPr>
          <p:sp>
            <p:nvSpPr>
              <p:cNvPr id="30" name="Freeform 6">
                <a:extLst>
                  <a:ext uri="{FF2B5EF4-FFF2-40B4-BE49-F238E27FC236}">
                    <a16:creationId xmlns:a16="http://schemas.microsoft.com/office/drawing/2014/main" id="{3C6CFD63-5B57-41A7-B662-313039308E9A}"/>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7">
                <a:extLst>
                  <a:ext uri="{FF2B5EF4-FFF2-40B4-BE49-F238E27FC236}">
                    <a16:creationId xmlns:a16="http://schemas.microsoft.com/office/drawing/2014/main" id="{1B6F08D9-7F96-4802-B7C9-CB4EEC20831D}"/>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 name="组合 1">
            <a:extLst>
              <a:ext uri="{FF2B5EF4-FFF2-40B4-BE49-F238E27FC236}">
                <a16:creationId xmlns:a16="http://schemas.microsoft.com/office/drawing/2014/main" id="{354D3FBA-4047-4CC0-B783-83C404AE80DA}"/>
              </a:ext>
            </a:extLst>
          </p:cNvPr>
          <p:cNvGrpSpPr/>
          <p:nvPr/>
        </p:nvGrpSpPr>
        <p:grpSpPr>
          <a:xfrm>
            <a:off x="3334299" y="1364545"/>
            <a:ext cx="3989097" cy="538609"/>
            <a:chOff x="3667674" y="1375533"/>
            <a:chExt cx="3989097" cy="538609"/>
          </a:xfrm>
        </p:grpSpPr>
        <p:sp>
          <p:nvSpPr>
            <p:cNvPr id="17" name="文本框 16">
              <a:extLst>
                <a:ext uri="{FF2B5EF4-FFF2-40B4-BE49-F238E27FC236}">
                  <a16:creationId xmlns:a16="http://schemas.microsoft.com/office/drawing/2014/main" id="{9DFB6750-B4E8-42BD-93E8-AF90F8BF68F5}"/>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公钥证书</a:t>
              </a:r>
            </a:p>
          </p:txBody>
        </p:sp>
        <p:sp>
          <p:nvSpPr>
            <p:cNvPr id="78" name="文本框 77">
              <a:extLst>
                <a:ext uri="{FF2B5EF4-FFF2-40B4-BE49-F238E27FC236}">
                  <a16:creationId xmlns:a16="http://schemas.microsoft.com/office/drawing/2014/main" id="{CDC4B2FB-BB76-41C8-965E-0654ED86E1AA}"/>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#01</a:t>
              </a:r>
              <a:endParaRPr lang="zh-CN" altLang="en-US" sz="2800" dirty="0">
                <a:solidFill>
                  <a:schemeClr val="accent1"/>
                </a:solidFill>
              </a:endParaRPr>
            </a:p>
          </p:txBody>
        </p:sp>
      </p:grpSp>
      <p:sp>
        <p:nvSpPr>
          <p:cNvPr id="19" name="文本框 18">
            <a:extLst>
              <a:ext uri="{FF2B5EF4-FFF2-40B4-BE49-F238E27FC236}">
                <a16:creationId xmlns:a16="http://schemas.microsoft.com/office/drawing/2014/main" id="{EA178E5B-74EB-4472-9261-43D09FBB4F2E}"/>
              </a:ext>
            </a:extLst>
          </p:cNvPr>
          <p:cNvSpPr txBox="1"/>
          <p:nvPr/>
        </p:nvSpPr>
        <p:spPr>
          <a:xfrm>
            <a:off x="652513" y="1677787"/>
            <a:ext cx="1288814" cy="769441"/>
          </a:xfrm>
          <a:prstGeom prst="rect">
            <a:avLst/>
          </a:prstGeom>
          <a:noFill/>
        </p:spPr>
        <p:txBody>
          <a:bodyPr wrap="none" lIns="0" tIns="0" rIns="0" bIns="0" rtlCol="0">
            <a:noAutofit/>
          </a:bodyPr>
          <a:lstStyle/>
          <a:p>
            <a:r>
              <a:rPr lang="zh-CN" altLang="en-US" sz="5000" b="1" dirty="0">
                <a:solidFill>
                  <a:schemeClr val="bg2">
                    <a:lumMod val="25000"/>
                  </a:schemeClr>
                </a:solidFill>
              </a:rPr>
              <a:t>目录</a:t>
            </a:r>
          </a:p>
        </p:txBody>
      </p:sp>
      <p:sp>
        <p:nvSpPr>
          <p:cNvPr id="20" name="文本框 19">
            <a:extLst>
              <a:ext uri="{FF2B5EF4-FFF2-40B4-BE49-F238E27FC236}">
                <a16:creationId xmlns:a16="http://schemas.microsoft.com/office/drawing/2014/main" id="{86B7EEC8-D0FE-4CE4-8A07-1E4B690DFD28}"/>
              </a:ext>
            </a:extLst>
          </p:cNvPr>
          <p:cNvSpPr txBox="1"/>
          <p:nvPr/>
        </p:nvSpPr>
        <p:spPr>
          <a:xfrm>
            <a:off x="735264" y="1378338"/>
            <a:ext cx="1585370" cy="307777"/>
          </a:xfrm>
          <a:prstGeom prst="rect">
            <a:avLst/>
          </a:prstGeom>
          <a:noFill/>
        </p:spPr>
        <p:txBody>
          <a:bodyPr wrap="none" lIns="0" tIns="0" rIns="0" bIns="0" rtlCol="0">
            <a:noAutofit/>
          </a:bodyPr>
          <a:lstStyle/>
          <a:p>
            <a:pPr algn="l"/>
            <a:r>
              <a:rPr lang="en-US" altLang="zh-CN" sz="2000" b="1" dirty="0">
                <a:solidFill>
                  <a:schemeClr val="bg2">
                    <a:lumMod val="25000"/>
                  </a:schemeClr>
                </a:solidFill>
              </a:rPr>
              <a:t>CONTENTES</a:t>
            </a:r>
            <a:endParaRPr lang="zh-CN" altLang="en-US" sz="2000" b="1" dirty="0">
              <a:solidFill>
                <a:schemeClr val="bg2">
                  <a:lumMod val="25000"/>
                </a:schemeClr>
              </a:solidFill>
            </a:endParaRPr>
          </a:p>
        </p:txBody>
      </p:sp>
      <p:cxnSp>
        <p:nvCxnSpPr>
          <p:cNvPr id="3" name="直接连接符 2">
            <a:extLst>
              <a:ext uri="{FF2B5EF4-FFF2-40B4-BE49-F238E27FC236}">
                <a16:creationId xmlns:a16="http://schemas.microsoft.com/office/drawing/2014/main" id="{A7B4CD1D-6AD6-4688-8633-DC339240DC4F}"/>
              </a:ext>
            </a:extLst>
          </p:cNvPr>
          <p:cNvCxnSpPr>
            <a:cxnSpLocks/>
          </p:cNvCxnSpPr>
          <p:nvPr/>
        </p:nvCxnSpPr>
        <p:spPr>
          <a:xfrm>
            <a:off x="2857189" y="1378338"/>
            <a:ext cx="0" cy="289377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a:extLst>
              <a:ext uri="{FF2B5EF4-FFF2-40B4-BE49-F238E27FC236}">
                <a16:creationId xmlns:a16="http://schemas.microsoft.com/office/drawing/2014/main" id="{6416BD8B-F9CE-E8CF-4F1C-83B30CEE15E2}"/>
              </a:ext>
            </a:extLst>
          </p:cNvPr>
          <p:cNvGrpSpPr/>
          <p:nvPr/>
        </p:nvGrpSpPr>
        <p:grpSpPr>
          <a:xfrm>
            <a:off x="3314083" y="2177923"/>
            <a:ext cx="3989097" cy="538609"/>
            <a:chOff x="3667674" y="1375533"/>
            <a:chExt cx="3989097" cy="538609"/>
          </a:xfrm>
        </p:grpSpPr>
        <p:sp>
          <p:nvSpPr>
            <p:cNvPr id="5" name="文本框 4">
              <a:extLst>
                <a:ext uri="{FF2B5EF4-FFF2-40B4-BE49-F238E27FC236}">
                  <a16:creationId xmlns:a16="http://schemas.microsoft.com/office/drawing/2014/main" id="{ADDC6358-2D85-14F9-053F-92E174B193B7}"/>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公钥基础设施</a:t>
              </a:r>
            </a:p>
          </p:txBody>
        </p:sp>
        <p:sp>
          <p:nvSpPr>
            <p:cNvPr id="9" name="文本框 8">
              <a:extLst>
                <a:ext uri="{FF2B5EF4-FFF2-40B4-BE49-F238E27FC236}">
                  <a16:creationId xmlns:a16="http://schemas.microsoft.com/office/drawing/2014/main" id="{BD72A633-2665-50C7-397C-4407360E6C8C}"/>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#02</a:t>
              </a:r>
              <a:endParaRPr lang="zh-CN" altLang="en-US" sz="2800" dirty="0">
                <a:solidFill>
                  <a:schemeClr val="accent1"/>
                </a:solidFill>
              </a:endParaRPr>
            </a:p>
          </p:txBody>
        </p:sp>
      </p:grpSp>
      <p:grpSp>
        <p:nvGrpSpPr>
          <p:cNvPr id="10" name="组合 9">
            <a:extLst>
              <a:ext uri="{FF2B5EF4-FFF2-40B4-BE49-F238E27FC236}">
                <a16:creationId xmlns:a16="http://schemas.microsoft.com/office/drawing/2014/main" id="{CAC56C61-304D-CE56-8784-4104EA4FA809}"/>
              </a:ext>
            </a:extLst>
          </p:cNvPr>
          <p:cNvGrpSpPr/>
          <p:nvPr/>
        </p:nvGrpSpPr>
        <p:grpSpPr>
          <a:xfrm>
            <a:off x="3314083" y="2985886"/>
            <a:ext cx="3989097" cy="538609"/>
            <a:chOff x="3667674" y="1375533"/>
            <a:chExt cx="3989097" cy="538609"/>
          </a:xfrm>
        </p:grpSpPr>
        <p:sp>
          <p:nvSpPr>
            <p:cNvPr id="11" name="文本框 10">
              <a:extLst>
                <a:ext uri="{FF2B5EF4-FFF2-40B4-BE49-F238E27FC236}">
                  <a16:creationId xmlns:a16="http://schemas.microsoft.com/office/drawing/2014/main" id="{61183A53-8F8D-9A7B-B90C-32259B30DB48}"/>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公钥证书的实例</a:t>
              </a:r>
            </a:p>
          </p:txBody>
        </p:sp>
        <p:sp>
          <p:nvSpPr>
            <p:cNvPr id="34" name="文本框 33">
              <a:extLst>
                <a:ext uri="{FF2B5EF4-FFF2-40B4-BE49-F238E27FC236}">
                  <a16:creationId xmlns:a16="http://schemas.microsoft.com/office/drawing/2014/main" id="{1F887723-C1E5-875F-762F-7EBD10D89882}"/>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#03</a:t>
              </a:r>
              <a:endParaRPr lang="zh-CN" altLang="en-US" sz="2800" dirty="0">
                <a:solidFill>
                  <a:schemeClr val="accent1"/>
                </a:solidFill>
              </a:endParaRPr>
            </a:p>
          </p:txBody>
        </p:sp>
      </p:grpSp>
    </p:spTree>
    <p:extLst>
      <p:ext uri="{BB962C8B-B14F-4D97-AF65-F5344CB8AC3E}">
        <p14:creationId xmlns:p14="http://schemas.microsoft.com/office/powerpoint/2010/main" val="1895911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48C41-EF96-8809-CBFC-A985D87F28D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A89B17C-2B16-2AD2-1515-94969D6FC652}"/>
              </a:ext>
            </a:extLst>
          </p:cNvPr>
          <p:cNvSpPr txBox="1"/>
          <p:nvPr/>
        </p:nvSpPr>
        <p:spPr>
          <a:xfrm>
            <a:off x="3352513" y="2754066"/>
            <a:ext cx="5482323" cy="615553"/>
          </a:xfrm>
          <a:prstGeom prst="rect">
            <a:avLst/>
          </a:prstGeom>
          <a:noFill/>
        </p:spPr>
        <p:txBody>
          <a:bodyPr wrap="none" lIns="0" tIns="0" rIns="0" bIns="0" rtlCol="0">
            <a:noAutofit/>
          </a:bodyPr>
          <a:lstStyle/>
          <a:p>
            <a:pPr algn="ctr"/>
            <a:r>
              <a:rPr lang="zh-CN" altLang="en-US" sz="4000" dirty="0">
                <a:solidFill>
                  <a:schemeClr val="accent1"/>
                </a:solidFill>
              </a:rPr>
              <a:t>公钥证书</a:t>
            </a:r>
            <a:r>
              <a:rPr lang="en-US" altLang="zh-CN" sz="4000" dirty="0">
                <a:solidFill>
                  <a:schemeClr val="accent1"/>
                </a:solidFill>
              </a:rPr>
              <a:t>/</a:t>
            </a:r>
            <a:r>
              <a:rPr lang="zh-CN" altLang="en-US" sz="4000" dirty="0">
                <a:solidFill>
                  <a:schemeClr val="accent1"/>
                </a:solidFill>
              </a:rPr>
              <a:t>数字证书</a:t>
            </a:r>
          </a:p>
        </p:txBody>
      </p:sp>
      <p:sp>
        <p:nvSpPr>
          <p:cNvPr id="6" name="文本框 5">
            <a:extLst>
              <a:ext uri="{FF2B5EF4-FFF2-40B4-BE49-F238E27FC236}">
                <a16:creationId xmlns:a16="http://schemas.microsoft.com/office/drawing/2014/main" id="{8F3BE3C1-99AE-CC1C-EF2D-2A866F95AE12}"/>
              </a:ext>
            </a:extLst>
          </p:cNvPr>
          <p:cNvSpPr txBox="1"/>
          <p:nvPr/>
        </p:nvSpPr>
        <p:spPr>
          <a:xfrm>
            <a:off x="5720898" y="2041451"/>
            <a:ext cx="750205" cy="538609"/>
          </a:xfrm>
          <a:prstGeom prst="rect">
            <a:avLst/>
          </a:prstGeom>
          <a:noFill/>
        </p:spPr>
        <p:txBody>
          <a:bodyPr wrap="none" lIns="0" tIns="0" rIns="0" bIns="0" rtlCol="0">
            <a:noAutofit/>
          </a:bodyPr>
          <a:lstStyle/>
          <a:p>
            <a:pPr algn="ctr"/>
            <a:r>
              <a:rPr lang="en-US" altLang="zh-CN" sz="4000" dirty="0">
                <a:solidFill>
                  <a:schemeClr val="accent1"/>
                </a:solidFill>
              </a:rPr>
              <a:t>#01</a:t>
            </a:r>
            <a:endParaRPr lang="zh-CN" altLang="en-US" sz="4000" dirty="0">
              <a:solidFill>
                <a:schemeClr val="accent1"/>
              </a:solidFill>
            </a:endParaRPr>
          </a:p>
        </p:txBody>
      </p:sp>
      <p:grpSp>
        <p:nvGrpSpPr>
          <p:cNvPr id="32" name="Group 10">
            <a:extLst>
              <a:ext uri="{FF2B5EF4-FFF2-40B4-BE49-F238E27FC236}">
                <a16:creationId xmlns:a16="http://schemas.microsoft.com/office/drawing/2014/main" id="{D1C1BDEF-04BF-63A7-70D4-DFB5136E17D9}"/>
              </a:ext>
            </a:extLst>
          </p:cNvPr>
          <p:cNvGrpSpPr>
            <a:grpSpLocks noChangeAspect="1"/>
          </p:cNvGrpSpPr>
          <p:nvPr/>
        </p:nvGrpSpPr>
        <p:grpSpPr bwMode="auto">
          <a:xfrm rot="18923445">
            <a:off x="3100272" y="1534089"/>
            <a:ext cx="922672" cy="922974"/>
            <a:chOff x="14101" y="4437"/>
            <a:chExt cx="3056" cy="3057"/>
          </a:xfrm>
        </p:grpSpPr>
        <p:sp>
          <p:nvSpPr>
            <p:cNvPr id="33" name="Freeform 11">
              <a:extLst>
                <a:ext uri="{FF2B5EF4-FFF2-40B4-BE49-F238E27FC236}">
                  <a16:creationId xmlns:a16="http://schemas.microsoft.com/office/drawing/2014/main" id="{F5A9C3A5-0656-117E-A298-6DD1A7A91F92}"/>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4" name="Freeform 12">
              <a:extLst>
                <a:ext uri="{FF2B5EF4-FFF2-40B4-BE49-F238E27FC236}">
                  <a16:creationId xmlns:a16="http://schemas.microsoft.com/office/drawing/2014/main" id="{5E47A1CC-250D-F6BE-B009-9FA9063E887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25" name="组合 24">
            <a:extLst>
              <a:ext uri="{FF2B5EF4-FFF2-40B4-BE49-F238E27FC236}">
                <a16:creationId xmlns:a16="http://schemas.microsoft.com/office/drawing/2014/main" id="{171513FE-D90A-97E7-4B77-AAF67917D167}"/>
              </a:ext>
            </a:extLst>
          </p:cNvPr>
          <p:cNvGrpSpPr/>
          <p:nvPr/>
        </p:nvGrpSpPr>
        <p:grpSpPr>
          <a:xfrm rot="18900000">
            <a:off x="7424365" y="-2902432"/>
            <a:ext cx="6098786" cy="6100199"/>
            <a:chOff x="18351500" y="3723568"/>
            <a:chExt cx="4878842" cy="4879972"/>
          </a:xfrm>
        </p:grpSpPr>
        <p:sp>
          <p:nvSpPr>
            <p:cNvPr id="30" name="Freeform 6">
              <a:extLst>
                <a:ext uri="{FF2B5EF4-FFF2-40B4-BE49-F238E27FC236}">
                  <a16:creationId xmlns:a16="http://schemas.microsoft.com/office/drawing/2014/main" id="{793131CA-562E-B78F-25D3-A074FC378125}"/>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1" name="Freeform 7">
              <a:extLst>
                <a:ext uri="{FF2B5EF4-FFF2-40B4-BE49-F238E27FC236}">
                  <a16:creationId xmlns:a16="http://schemas.microsoft.com/office/drawing/2014/main" id="{CFE24490-6104-D3B6-FD94-435092EA7DE9}"/>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26" name="组合 25">
            <a:extLst>
              <a:ext uri="{FF2B5EF4-FFF2-40B4-BE49-F238E27FC236}">
                <a16:creationId xmlns:a16="http://schemas.microsoft.com/office/drawing/2014/main" id="{60899DB9-1365-4816-A7F1-4295702FDAD4}"/>
              </a:ext>
            </a:extLst>
          </p:cNvPr>
          <p:cNvGrpSpPr/>
          <p:nvPr/>
        </p:nvGrpSpPr>
        <p:grpSpPr>
          <a:xfrm rot="8100000">
            <a:off x="6722596" y="2086183"/>
            <a:ext cx="8786687" cy="8788722"/>
            <a:chOff x="18351500" y="3723568"/>
            <a:chExt cx="4878842" cy="4879972"/>
          </a:xfrm>
        </p:grpSpPr>
        <p:sp>
          <p:nvSpPr>
            <p:cNvPr id="28" name="Freeform 6">
              <a:extLst>
                <a:ext uri="{FF2B5EF4-FFF2-40B4-BE49-F238E27FC236}">
                  <a16:creationId xmlns:a16="http://schemas.microsoft.com/office/drawing/2014/main" id="{D0A9EB2E-96FD-3A2F-9523-36A3B9BE8450}"/>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7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29" name="Freeform 7">
              <a:extLst>
                <a:ext uri="{FF2B5EF4-FFF2-40B4-BE49-F238E27FC236}">
                  <a16:creationId xmlns:a16="http://schemas.microsoft.com/office/drawing/2014/main" id="{37C0AA00-295E-BB55-2730-E7FCD3444093}"/>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5" name="Group 10">
            <a:extLst>
              <a:ext uri="{FF2B5EF4-FFF2-40B4-BE49-F238E27FC236}">
                <a16:creationId xmlns:a16="http://schemas.microsoft.com/office/drawing/2014/main" id="{613469AD-9A58-08D6-0300-AAF21FC00670}"/>
              </a:ext>
            </a:extLst>
          </p:cNvPr>
          <p:cNvGrpSpPr>
            <a:grpSpLocks noChangeAspect="1"/>
          </p:cNvGrpSpPr>
          <p:nvPr/>
        </p:nvGrpSpPr>
        <p:grpSpPr bwMode="auto">
          <a:xfrm rot="8100000">
            <a:off x="10501205" y="2666453"/>
            <a:ext cx="4851400" cy="4852988"/>
            <a:chOff x="14101" y="4437"/>
            <a:chExt cx="3056" cy="3057"/>
          </a:xfrm>
        </p:grpSpPr>
        <p:sp>
          <p:nvSpPr>
            <p:cNvPr id="36" name="Freeform 11">
              <a:extLst>
                <a:ext uri="{FF2B5EF4-FFF2-40B4-BE49-F238E27FC236}">
                  <a16:creationId xmlns:a16="http://schemas.microsoft.com/office/drawing/2014/main" id="{193C255F-349C-8627-314A-D3E8F3606F6F}"/>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7" name="Freeform 12">
              <a:extLst>
                <a:ext uri="{FF2B5EF4-FFF2-40B4-BE49-F238E27FC236}">
                  <a16:creationId xmlns:a16="http://schemas.microsoft.com/office/drawing/2014/main" id="{C115CE08-469C-56DA-C331-619A08E2EF9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8" name="组合 37">
            <a:extLst>
              <a:ext uri="{FF2B5EF4-FFF2-40B4-BE49-F238E27FC236}">
                <a16:creationId xmlns:a16="http://schemas.microsoft.com/office/drawing/2014/main" id="{6E50757B-69B9-2816-D7BA-8079C7D9444D}"/>
              </a:ext>
            </a:extLst>
          </p:cNvPr>
          <p:cNvGrpSpPr/>
          <p:nvPr/>
        </p:nvGrpSpPr>
        <p:grpSpPr>
          <a:xfrm rot="18900000">
            <a:off x="-2098325" y="3005269"/>
            <a:ext cx="6098786" cy="6100199"/>
            <a:chOff x="18351500" y="3723568"/>
            <a:chExt cx="4878842" cy="4879972"/>
          </a:xfrm>
        </p:grpSpPr>
        <p:sp>
          <p:nvSpPr>
            <p:cNvPr id="39" name="Freeform 6">
              <a:extLst>
                <a:ext uri="{FF2B5EF4-FFF2-40B4-BE49-F238E27FC236}">
                  <a16:creationId xmlns:a16="http://schemas.microsoft.com/office/drawing/2014/main" id="{3404029F-0DE2-386D-BC78-3C721FDF9B21}"/>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40" name="Freeform 7">
              <a:extLst>
                <a:ext uri="{FF2B5EF4-FFF2-40B4-BE49-F238E27FC236}">
                  <a16:creationId xmlns:a16="http://schemas.microsoft.com/office/drawing/2014/main" id="{2078348E-E25D-EADF-8808-110348861D4D}"/>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41" name="Group 10">
            <a:extLst>
              <a:ext uri="{FF2B5EF4-FFF2-40B4-BE49-F238E27FC236}">
                <a16:creationId xmlns:a16="http://schemas.microsoft.com/office/drawing/2014/main" id="{E5BBD459-456E-3A1C-9EB2-C7617F3A8413}"/>
              </a:ext>
            </a:extLst>
          </p:cNvPr>
          <p:cNvGrpSpPr>
            <a:grpSpLocks noChangeAspect="1"/>
          </p:cNvGrpSpPr>
          <p:nvPr/>
        </p:nvGrpSpPr>
        <p:grpSpPr bwMode="auto">
          <a:xfrm rot="18923445">
            <a:off x="2714211" y="1610357"/>
            <a:ext cx="1291038" cy="1291460"/>
            <a:chOff x="14101" y="4437"/>
            <a:chExt cx="3056" cy="3057"/>
          </a:xfrm>
        </p:grpSpPr>
        <p:sp>
          <p:nvSpPr>
            <p:cNvPr id="42" name="Freeform 11">
              <a:extLst>
                <a:ext uri="{FF2B5EF4-FFF2-40B4-BE49-F238E27FC236}">
                  <a16:creationId xmlns:a16="http://schemas.microsoft.com/office/drawing/2014/main" id="{DACC32E1-59B0-22C9-E7FB-E3EDF9DCF0E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sp>
          <p:nvSpPr>
            <p:cNvPr id="43" name="Freeform 12">
              <a:extLst>
                <a:ext uri="{FF2B5EF4-FFF2-40B4-BE49-F238E27FC236}">
                  <a16:creationId xmlns:a16="http://schemas.microsoft.com/office/drawing/2014/main" id="{D082546C-FFF9-EB2B-C063-5FAD1172DD8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spTree>
    <p:extLst>
      <p:ext uri="{BB962C8B-B14F-4D97-AF65-F5344CB8AC3E}">
        <p14:creationId xmlns:p14="http://schemas.microsoft.com/office/powerpoint/2010/main" val="1744897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3B334-E2EF-31C3-0331-0969CC4CC90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F74490B-86FE-0D1A-3430-210093690131}"/>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什么是公钥证书</a:t>
            </a:r>
          </a:p>
        </p:txBody>
      </p:sp>
      <p:grpSp>
        <p:nvGrpSpPr>
          <p:cNvPr id="3" name="组合 2">
            <a:extLst>
              <a:ext uri="{FF2B5EF4-FFF2-40B4-BE49-F238E27FC236}">
                <a16:creationId xmlns:a16="http://schemas.microsoft.com/office/drawing/2014/main" id="{B218E4A4-7BA4-7AF9-89CE-BD37EBD536DC}"/>
              </a:ext>
            </a:extLst>
          </p:cNvPr>
          <p:cNvGrpSpPr/>
          <p:nvPr/>
        </p:nvGrpSpPr>
        <p:grpSpPr>
          <a:xfrm>
            <a:off x="3401799" y="107955"/>
            <a:ext cx="425713" cy="442041"/>
            <a:chOff x="5823870" y="1767426"/>
            <a:chExt cx="425713" cy="442041"/>
          </a:xfrm>
        </p:grpSpPr>
        <p:grpSp>
          <p:nvGrpSpPr>
            <p:cNvPr id="4" name="Group 10">
              <a:extLst>
                <a:ext uri="{FF2B5EF4-FFF2-40B4-BE49-F238E27FC236}">
                  <a16:creationId xmlns:a16="http://schemas.microsoft.com/office/drawing/2014/main" id="{7A6F50AC-064B-9A39-784F-D6110A3712FC}"/>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BEB7D98F-3D56-0AE7-E65D-EEE92144181C}"/>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EF458FD7-C9CA-4704-DFD3-3C28CD8EA76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52D3DC3B-EB3D-CDE1-D5AC-374540994A70}"/>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BA847F01-E9F7-D473-06DF-6BB04DCCE451}"/>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274A3DDF-7AE7-D6ED-A132-B239C45BE610}"/>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B5D0766F-DC3B-5C61-2A74-E7CCF1B990A9}"/>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latin typeface="+mn-lt"/>
                <a:ea typeface="+mn-ea"/>
              </a:rPr>
              <a:t>认证机构认定某公钥确实属于某人的证书</a:t>
            </a:r>
          </a:p>
        </p:txBody>
      </p:sp>
      <p:pic>
        <p:nvPicPr>
          <p:cNvPr id="15" name="图片 14">
            <a:extLst>
              <a:ext uri="{FF2B5EF4-FFF2-40B4-BE49-F238E27FC236}">
                <a16:creationId xmlns:a16="http://schemas.microsoft.com/office/drawing/2014/main" id="{5590B43E-1365-5DC8-EDDB-D47E8E256B40}"/>
              </a:ext>
            </a:extLst>
          </p:cNvPr>
          <p:cNvPicPr>
            <a:picLocks noChangeAspect="1"/>
          </p:cNvPicPr>
          <p:nvPr/>
        </p:nvPicPr>
        <p:blipFill>
          <a:blip r:embed="rId3">
            <a:extLst>
              <a:ext uri="{28A0092B-C50C-407E-A947-70E740481C1C}">
                <a14:useLocalDpi xmlns:a14="http://schemas.microsoft.com/office/drawing/2010/main" val="0"/>
              </a:ext>
            </a:extLst>
          </a:blip>
          <a:srcRect l="5721" t="2858" r="14524" b="16825"/>
          <a:stretch>
            <a:fillRect/>
          </a:stretch>
        </p:blipFill>
        <p:spPr>
          <a:xfrm>
            <a:off x="1040121" y="1340654"/>
            <a:ext cx="3887478" cy="5228915"/>
          </a:xfrm>
          <a:prstGeom prst="rect">
            <a:avLst/>
          </a:prstGeom>
        </p:spPr>
      </p:pic>
      <p:sp>
        <p:nvSpPr>
          <p:cNvPr id="16" name="矩形 15">
            <a:extLst>
              <a:ext uri="{FF2B5EF4-FFF2-40B4-BE49-F238E27FC236}">
                <a16:creationId xmlns:a16="http://schemas.microsoft.com/office/drawing/2014/main" id="{550DD271-5D76-035F-8CC7-6C1710EFBC91}"/>
              </a:ext>
            </a:extLst>
          </p:cNvPr>
          <p:cNvSpPr/>
          <p:nvPr/>
        </p:nvSpPr>
        <p:spPr>
          <a:xfrm>
            <a:off x="1255485" y="2719523"/>
            <a:ext cx="3412667" cy="9071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a:extLst>
              <a:ext uri="{FF2B5EF4-FFF2-40B4-BE49-F238E27FC236}">
                <a16:creationId xmlns:a16="http://schemas.microsoft.com/office/drawing/2014/main" id="{5E0764BB-6645-20BD-E075-F33ECD19D1E9}"/>
              </a:ext>
            </a:extLst>
          </p:cNvPr>
          <p:cNvCxnSpPr/>
          <p:nvPr/>
        </p:nvCxnSpPr>
        <p:spPr>
          <a:xfrm>
            <a:off x="4668152" y="3162209"/>
            <a:ext cx="1014190" cy="0"/>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9" name="矩形 18">
            <a:extLst>
              <a:ext uri="{FF2B5EF4-FFF2-40B4-BE49-F238E27FC236}">
                <a16:creationId xmlns:a16="http://schemas.microsoft.com/office/drawing/2014/main" id="{3CFD9D69-EE97-4BFE-A1F2-D95D04924FED}"/>
              </a:ext>
            </a:extLst>
          </p:cNvPr>
          <p:cNvSpPr/>
          <p:nvPr/>
        </p:nvSpPr>
        <p:spPr>
          <a:xfrm>
            <a:off x="1255485" y="3737403"/>
            <a:ext cx="3412667" cy="12681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a:extLst>
              <a:ext uri="{FF2B5EF4-FFF2-40B4-BE49-F238E27FC236}">
                <a16:creationId xmlns:a16="http://schemas.microsoft.com/office/drawing/2014/main" id="{3085BB80-64E3-18D1-3A67-0BF0A19F6BA4}"/>
              </a:ext>
            </a:extLst>
          </p:cNvPr>
          <p:cNvCxnSpPr>
            <a:cxnSpLocks/>
          </p:cNvCxnSpPr>
          <p:nvPr/>
        </p:nvCxnSpPr>
        <p:spPr>
          <a:xfrm>
            <a:off x="4668152" y="4383288"/>
            <a:ext cx="1014190" cy="0"/>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2" name="矩形 21">
            <a:extLst>
              <a:ext uri="{FF2B5EF4-FFF2-40B4-BE49-F238E27FC236}">
                <a16:creationId xmlns:a16="http://schemas.microsoft.com/office/drawing/2014/main" id="{75F808CF-1569-A317-99F1-63146E32F056}"/>
              </a:ext>
            </a:extLst>
          </p:cNvPr>
          <p:cNvSpPr/>
          <p:nvPr/>
        </p:nvSpPr>
        <p:spPr>
          <a:xfrm>
            <a:off x="1255485" y="5116272"/>
            <a:ext cx="3412667" cy="13406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a:extLst>
              <a:ext uri="{FF2B5EF4-FFF2-40B4-BE49-F238E27FC236}">
                <a16:creationId xmlns:a16="http://schemas.microsoft.com/office/drawing/2014/main" id="{E8732E29-B81A-0B0D-B9E3-5B06C11ACCD2}"/>
              </a:ext>
            </a:extLst>
          </p:cNvPr>
          <p:cNvCxnSpPr>
            <a:cxnSpLocks/>
          </p:cNvCxnSpPr>
          <p:nvPr/>
        </p:nvCxnSpPr>
        <p:spPr>
          <a:xfrm>
            <a:off x="4668152" y="5820216"/>
            <a:ext cx="1014190" cy="0"/>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5" name="文本框 24">
            <a:extLst>
              <a:ext uri="{FF2B5EF4-FFF2-40B4-BE49-F238E27FC236}">
                <a16:creationId xmlns:a16="http://schemas.microsoft.com/office/drawing/2014/main" id="{23433EF3-A25D-14A1-6C2B-0BE56523DE43}"/>
              </a:ext>
            </a:extLst>
          </p:cNvPr>
          <p:cNvSpPr txBox="1"/>
          <p:nvPr/>
        </p:nvSpPr>
        <p:spPr>
          <a:xfrm>
            <a:off x="5682342" y="2869821"/>
            <a:ext cx="2002971" cy="584775"/>
          </a:xfrm>
          <a:prstGeom prst="rect">
            <a:avLst/>
          </a:prstGeom>
          <a:solidFill>
            <a:schemeClr val="accent6">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身份信息</a:t>
            </a:r>
            <a:endParaRPr lang="en-US" altLang="zh-CN" sz="3200" dirty="0">
              <a:solidFill>
                <a:srgbClr val="FF0000"/>
              </a:solidFill>
            </a:endParaRPr>
          </a:p>
        </p:txBody>
      </p:sp>
      <p:sp>
        <p:nvSpPr>
          <p:cNvPr id="26" name="文本框 25">
            <a:extLst>
              <a:ext uri="{FF2B5EF4-FFF2-40B4-BE49-F238E27FC236}">
                <a16:creationId xmlns:a16="http://schemas.microsoft.com/office/drawing/2014/main" id="{03FCCF48-4D44-B7CB-488F-1D5F08531080}"/>
              </a:ext>
            </a:extLst>
          </p:cNvPr>
          <p:cNvSpPr txBox="1"/>
          <p:nvPr/>
        </p:nvSpPr>
        <p:spPr>
          <a:xfrm>
            <a:off x="5682341" y="4079081"/>
            <a:ext cx="2002971" cy="584775"/>
          </a:xfrm>
          <a:prstGeom prst="rect">
            <a:avLst/>
          </a:prstGeom>
          <a:solidFill>
            <a:schemeClr val="accent6">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能力信息</a:t>
            </a:r>
            <a:endParaRPr lang="en-US" altLang="zh-CN" sz="3200" dirty="0">
              <a:solidFill>
                <a:srgbClr val="FF0000"/>
              </a:solidFill>
            </a:endParaRPr>
          </a:p>
        </p:txBody>
      </p:sp>
      <p:sp>
        <p:nvSpPr>
          <p:cNvPr id="27" name="文本框 26">
            <a:extLst>
              <a:ext uri="{FF2B5EF4-FFF2-40B4-BE49-F238E27FC236}">
                <a16:creationId xmlns:a16="http://schemas.microsoft.com/office/drawing/2014/main" id="{F575D07C-6C2C-1D09-8B9A-3A169D1887BE}"/>
              </a:ext>
            </a:extLst>
          </p:cNvPr>
          <p:cNvSpPr txBox="1"/>
          <p:nvPr/>
        </p:nvSpPr>
        <p:spPr>
          <a:xfrm>
            <a:off x="5682340" y="5527828"/>
            <a:ext cx="2002971" cy="584775"/>
          </a:xfrm>
          <a:prstGeom prst="rect">
            <a:avLst/>
          </a:prstGeom>
          <a:solidFill>
            <a:schemeClr val="accent6">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认证信息</a:t>
            </a:r>
            <a:endParaRPr lang="en-US" altLang="zh-CN" sz="3200" dirty="0">
              <a:solidFill>
                <a:srgbClr val="FF0000"/>
              </a:solidFill>
            </a:endParaRPr>
          </a:p>
        </p:txBody>
      </p:sp>
      <p:cxnSp>
        <p:nvCxnSpPr>
          <p:cNvPr id="28" name="直接箭头连接符 27">
            <a:extLst>
              <a:ext uri="{FF2B5EF4-FFF2-40B4-BE49-F238E27FC236}">
                <a16:creationId xmlns:a16="http://schemas.microsoft.com/office/drawing/2014/main" id="{6D115E92-9D6A-5E2A-353D-1D5C08015660}"/>
              </a:ext>
            </a:extLst>
          </p:cNvPr>
          <p:cNvCxnSpPr/>
          <p:nvPr/>
        </p:nvCxnSpPr>
        <p:spPr>
          <a:xfrm>
            <a:off x="7687123" y="3162209"/>
            <a:ext cx="1014190" cy="0"/>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9" name="文本框 28">
            <a:extLst>
              <a:ext uri="{FF2B5EF4-FFF2-40B4-BE49-F238E27FC236}">
                <a16:creationId xmlns:a16="http://schemas.microsoft.com/office/drawing/2014/main" id="{5773BCBA-3319-BF7F-D16C-63D85A62D28D}"/>
              </a:ext>
            </a:extLst>
          </p:cNvPr>
          <p:cNvSpPr txBox="1"/>
          <p:nvPr/>
        </p:nvSpPr>
        <p:spPr>
          <a:xfrm>
            <a:off x="8701313" y="2869821"/>
            <a:ext cx="2002971" cy="584775"/>
          </a:xfrm>
          <a:prstGeom prst="rect">
            <a:avLst/>
          </a:prstGeom>
          <a:solidFill>
            <a:schemeClr val="accent4">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用户</a:t>
            </a:r>
            <a:endParaRPr lang="en-US" altLang="zh-CN" sz="3200" dirty="0">
              <a:solidFill>
                <a:srgbClr val="FF0000"/>
              </a:solidFill>
            </a:endParaRPr>
          </a:p>
        </p:txBody>
      </p:sp>
      <p:cxnSp>
        <p:nvCxnSpPr>
          <p:cNvPr id="30" name="直接箭头连接符 29">
            <a:extLst>
              <a:ext uri="{FF2B5EF4-FFF2-40B4-BE49-F238E27FC236}">
                <a16:creationId xmlns:a16="http://schemas.microsoft.com/office/drawing/2014/main" id="{80BAF623-4528-0D79-327E-0D78C470F9F2}"/>
              </a:ext>
            </a:extLst>
          </p:cNvPr>
          <p:cNvCxnSpPr/>
          <p:nvPr/>
        </p:nvCxnSpPr>
        <p:spPr>
          <a:xfrm>
            <a:off x="7687123" y="4383288"/>
            <a:ext cx="1014190" cy="0"/>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1" name="文本框 30">
            <a:extLst>
              <a:ext uri="{FF2B5EF4-FFF2-40B4-BE49-F238E27FC236}">
                <a16:creationId xmlns:a16="http://schemas.microsoft.com/office/drawing/2014/main" id="{8D7135D0-37B9-C531-E779-7223CB86ACC6}"/>
              </a:ext>
            </a:extLst>
          </p:cNvPr>
          <p:cNvSpPr txBox="1"/>
          <p:nvPr/>
        </p:nvSpPr>
        <p:spPr>
          <a:xfrm>
            <a:off x="8701313" y="4090900"/>
            <a:ext cx="2002971" cy="584775"/>
          </a:xfrm>
          <a:prstGeom prst="rect">
            <a:avLst/>
          </a:prstGeom>
          <a:solidFill>
            <a:schemeClr val="accent4">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公钥</a:t>
            </a:r>
            <a:endParaRPr lang="en-US" altLang="zh-CN" sz="3200" dirty="0">
              <a:solidFill>
                <a:srgbClr val="FF0000"/>
              </a:solidFill>
            </a:endParaRPr>
          </a:p>
        </p:txBody>
      </p:sp>
      <p:cxnSp>
        <p:nvCxnSpPr>
          <p:cNvPr id="32" name="直接箭头连接符 31">
            <a:extLst>
              <a:ext uri="{FF2B5EF4-FFF2-40B4-BE49-F238E27FC236}">
                <a16:creationId xmlns:a16="http://schemas.microsoft.com/office/drawing/2014/main" id="{19250E56-A4B6-3A57-C75F-F2C000B8A112}"/>
              </a:ext>
            </a:extLst>
          </p:cNvPr>
          <p:cNvCxnSpPr/>
          <p:nvPr/>
        </p:nvCxnSpPr>
        <p:spPr>
          <a:xfrm>
            <a:off x="7687123" y="5820216"/>
            <a:ext cx="1014190" cy="0"/>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3" name="文本框 32">
            <a:extLst>
              <a:ext uri="{FF2B5EF4-FFF2-40B4-BE49-F238E27FC236}">
                <a16:creationId xmlns:a16="http://schemas.microsoft.com/office/drawing/2014/main" id="{BC77EAD1-B9AA-C342-18AB-70BFAA6E2A69}"/>
              </a:ext>
            </a:extLst>
          </p:cNvPr>
          <p:cNvSpPr txBox="1"/>
          <p:nvPr/>
        </p:nvSpPr>
        <p:spPr>
          <a:xfrm>
            <a:off x="8701313" y="5527828"/>
            <a:ext cx="2002971" cy="584775"/>
          </a:xfrm>
          <a:prstGeom prst="rect">
            <a:avLst/>
          </a:prstGeom>
          <a:solidFill>
            <a:schemeClr val="accent4">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签名</a:t>
            </a:r>
            <a:endParaRPr lang="en-US" altLang="zh-CN" sz="3200" dirty="0">
              <a:solidFill>
                <a:srgbClr val="FF0000"/>
              </a:solidFill>
            </a:endParaRPr>
          </a:p>
        </p:txBody>
      </p:sp>
      <p:sp>
        <p:nvSpPr>
          <p:cNvPr id="34" name="文本框 33">
            <a:extLst>
              <a:ext uri="{FF2B5EF4-FFF2-40B4-BE49-F238E27FC236}">
                <a16:creationId xmlns:a16="http://schemas.microsoft.com/office/drawing/2014/main" id="{1AE09B70-570A-F648-CF12-338B8343B1D3}"/>
              </a:ext>
            </a:extLst>
          </p:cNvPr>
          <p:cNvSpPr txBox="1"/>
          <p:nvPr/>
        </p:nvSpPr>
        <p:spPr>
          <a:xfrm>
            <a:off x="5682340" y="1674394"/>
            <a:ext cx="2002971"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六级证书</a:t>
            </a:r>
            <a:endParaRPr lang="en-US" altLang="zh-CN" sz="3200" dirty="0">
              <a:solidFill>
                <a:srgbClr val="FF0000"/>
              </a:solidFill>
            </a:endParaRPr>
          </a:p>
        </p:txBody>
      </p:sp>
      <p:sp>
        <p:nvSpPr>
          <p:cNvPr id="35" name="文本框 34">
            <a:extLst>
              <a:ext uri="{FF2B5EF4-FFF2-40B4-BE49-F238E27FC236}">
                <a16:creationId xmlns:a16="http://schemas.microsoft.com/office/drawing/2014/main" id="{BFD24E94-CBC3-3BAA-28BA-2AC426CC3BF3}"/>
              </a:ext>
            </a:extLst>
          </p:cNvPr>
          <p:cNvSpPr txBox="1"/>
          <p:nvPr/>
        </p:nvSpPr>
        <p:spPr>
          <a:xfrm>
            <a:off x="8701312" y="1700158"/>
            <a:ext cx="2002971"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公钥证书</a:t>
            </a:r>
            <a:endParaRPr lang="en-US" altLang="zh-CN" sz="3200" dirty="0">
              <a:solidFill>
                <a:srgbClr val="FF0000"/>
              </a:solidFill>
            </a:endParaRPr>
          </a:p>
        </p:txBody>
      </p:sp>
      <p:sp>
        <p:nvSpPr>
          <p:cNvPr id="36" name="矩形 35">
            <a:extLst>
              <a:ext uri="{FF2B5EF4-FFF2-40B4-BE49-F238E27FC236}">
                <a16:creationId xmlns:a16="http://schemas.microsoft.com/office/drawing/2014/main" id="{9AA42117-8216-9C56-1ED4-48079A8D2D20}"/>
              </a:ext>
            </a:extLst>
          </p:cNvPr>
          <p:cNvSpPr/>
          <p:nvPr/>
        </p:nvSpPr>
        <p:spPr>
          <a:xfrm>
            <a:off x="5399316" y="1520524"/>
            <a:ext cx="2496456" cy="4691585"/>
          </a:xfrm>
          <a:prstGeom prst="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67D9500-2A25-8542-C8E6-9A3A96E5312C}"/>
              </a:ext>
            </a:extLst>
          </p:cNvPr>
          <p:cNvSpPr/>
          <p:nvPr/>
        </p:nvSpPr>
        <p:spPr>
          <a:xfrm>
            <a:off x="8418286" y="1520524"/>
            <a:ext cx="2518229" cy="4691585"/>
          </a:xfrm>
          <a:prstGeom prst="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BB490D25-2EE2-A042-A6B5-4C4234904259}"/>
              </a:ext>
            </a:extLst>
          </p:cNvPr>
          <p:cNvSpPr txBox="1"/>
          <p:nvPr/>
        </p:nvSpPr>
        <p:spPr>
          <a:xfrm>
            <a:off x="5142963" y="6317360"/>
            <a:ext cx="7049037" cy="523220"/>
          </a:xfrm>
          <a:prstGeom prst="rect">
            <a:avLst/>
          </a:prstGeom>
          <a:solidFill>
            <a:schemeClr val="accent6">
              <a:lumMod val="40000"/>
              <a:lumOff val="6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公钥证书：确保我拿到的公钥确实属于对方</a:t>
            </a:r>
            <a:endParaRPr lang="zh-CN" altLang="en-US" sz="2800" dirty="0">
              <a:latin typeface="+mn-lt"/>
              <a:ea typeface="+mn-ea"/>
            </a:endParaRPr>
          </a:p>
        </p:txBody>
      </p:sp>
    </p:spTree>
    <p:extLst>
      <p:ext uri="{BB962C8B-B14F-4D97-AF65-F5344CB8AC3E}">
        <p14:creationId xmlns:p14="http://schemas.microsoft.com/office/powerpoint/2010/main" val="135263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fill="hold"/>
                                        <p:tgtEl>
                                          <p:spTgt spid="33"/>
                                        </p:tgtEl>
                                        <p:attrNameLst>
                                          <p:attrName>ppt_x</p:attrName>
                                        </p:attrNameLst>
                                      </p:cBhvr>
                                      <p:tavLst>
                                        <p:tav tm="0">
                                          <p:val>
                                            <p:strVal val="#ppt_x"/>
                                          </p:val>
                                        </p:tav>
                                        <p:tav tm="100000">
                                          <p:val>
                                            <p:strVal val="#ppt_x"/>
                                          </p:val>
                                        </p:tav>
                                      </p:tavLst>
                                    </p:anim>
                                    <p:anim calcmode="lin" valueType="num">
                                      <p:cBhvr additive="base">
                                        <p:cTn id="3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additive="base">
                                        <p:cTn id="43" dur="500" fill="hold"/>
                                        <p:tgtEl>
                                          <p:spTgt spid="34"/>
                                        </p:tgtEl>
                                        <p:attrNameLst>
                                          <p:attrName>ppt_x</p:attrName>
                                        </p:attrNameLst>
                                      </p:cBhvr>
                                      <p:tavLst>
                                        <p:tav tm="0">
                                          <p:val>
                                            <p:strVal val="#ppt_x"/>
                                          </p:val>
                                        </p:tav>
                                        <p:tav tm="100000">
                                          <p:val>
                                            <p:strVal val="#ppt_x"/>
                                          </p:val>
                                        </p:tav>
                                      </p:tavLst>
                                    </p:anim>
                                    <p:anim calcmode="lin" valueType="num">
                                      <p:cBhvr additive="base">
                                        <p:cTn id="4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anim calcmode="lin" valueType="num">
                                      <p:cBhvr additive="base">
                                        <p:cTn id="49" dur="500" fill="hold"/>
                                        <p:tgtEl>
                                          <p:spTgt spid="35"/>
                                        </p:tgtEl>
                                        <p:attrNameLst>
                                          <p:attrName>ppt_x</p:attrName>
                                        </p:attrNameLst>
                                      </p:cBhvr>
                                      <p:tavLst>
                                        <p:tav tm="0">
                                          <p:val>
                                            <p:strVal val="#ppt_x"/>
                                          </p:val>
                                        </p:tav>
                                        <p:tav tm="100000">
                                          <p:val>
                                            <p:strVal val="#ppt_x"/>
                                          </p:val>
                                        </p:tav>
                                      </p:tavLst>
                                    </p:anim>
                                    <p:anim calcmode="lin" valueType="num">
                                      <p:cBhvr additive="base">
                                        <p:cTn id="5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9" grpId="0" animBg="1"/>
      <p:bldP spid="31" grpId="0" animBg="1"/>
      <p:bldP spid="33" grpId="0" animBg="1"/>
      <p:bldP spid="34" grpId="0" animBg="1"/>
      <p:bldP spid="3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89095-3BA2-BCF7-0B3D-1BCAEE47284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F48EFDD-1096-3D82-AB87-AA5C5F87E811}"/>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公钥证书工作流程</a:t>
            </a:r>
          </a:p>
        </p:txBody>
      </p:sp>
      <p:grpSp>
        <p:nvGrpSpPr>
          <p:cNvPr id="3" name="组合 2">
            <a:extLst>
              <a:ext uri="{FF2B5EF4-FFF2-40B4-BE49-F238E27FC236}">
                <a16:creationId xmlns:a16="http://schemas.microsoft.com/office/drawing/2014/main" id="{F3BBC62A-D6DC-C04B-611D-310FDD9D9431}"/>
              </a:ext>
            </a:extLst>
          </p:cNvPr>
          <p:cNvGrpSpPr/>
          <p:nvPr/>
        </p:nvGrpSpPr>
        <p:grpSpPr>
          <a:xfrm>
            <a:off x="3798039" y="107955"/>
            <a:ext cx="425713" cy="442041"/>
            <a:chOff x="5823870" y="1767426"/>
            <a:chExt cx="425713" cy="442041"/>
          </a:xfrm>
        </p:grpSpPr>
        <p:grpSp>
          <p:nvGrpSpPr>
            <p:cNvPr id="4" name="Group 10">
              <a:extLst>
                <a:ext uri="{FF2B5EF4-FFF2-40B4-BE49-F238E27FC236}">
                  <a16:creationId xmlns:a16="http://schemas.microsoft.com/office/drawing/2014/main" id="{C602499B-594B-9155-E3DC-77AAE4997296}"/>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88856E9A-8E7B-EDD2-7710-428AD0FE1F23}"/>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43656F4C-CAFD-86B3-6227-C634DBBE3AF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CF0C8A84-FE8B-A42B-F73B-43BDDAF2D1D3}"/>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29F93F65-A90A-44D6-156E-4AF9F7913D6A}"/>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0A9FF49C-5376-AC1E-7E81-7C4B4518351B}"/>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B0924C9F-AE5F-2F4E-B156-62FAFA8AE4B5}"/>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latin typeface="+mn-lt"/>
                <a:ea typeface="+mn-ea"/>
              </a:rPr>
              <a:t>非对称加密的密钥管理办法</a:t>
            </a:r>
          </a:p>
        </p:txBody>
      </p:sp>
      <p:pic>
        <p:nvPicPr>
          <p:cNvPr id="12" name="图片 11" descr="图示&#10;&#10;AI 生成的内容可能不正确。">
            <a:extLst>
              <a:ext uri="{FF2B5EF4-FFF2-40B4-BE49-F238E27FC236}">
                <a16:creationId xmlns:a16="http://schemas.microsoft.com/office/drawing/2014/main" id="{1674F7CB-B24C-BFF9-9504-614590B487BC}"/>
              </a:ext>
            </a:extLst>
          </p:cNvPr>
          <p:cNvPicPr>
            <a:picLocks noChangeAspect="1"/>
          </p:cNvPicPr>
          <p:nvPr/>
        </p:nvPicPr>
        <p:blipFill>
          <a:blip r:embed="rId3"/>
          <a:stretch>
            <a:fillRect/>
          </a:stretch>
        </p:blipFill>
        <p:spPr>
          <a:xfrm>
            <a:off x="1054586" y="1494385"/>
            <a:ext cx="9539072" cy="4638517"/>
          </a:xfrm>
          <a:prstGeom prst="rect">
            <a:avLst/>
          </a:prstGeom>
        </p:spPr>
      </p:pic>
      <p:pic>
        <p:nvPicPr>
          <p:cNvPr id="14" name="图片 13" descr="图片包含 形状&#10;&#10;AI 生成的内容可能不正确。">
            <a:extLst>
              <a:ext uri="{FF2B5EF4-FFF2-40B4-BE49-F238E27FC236}">
                <a16:creationId xmlns:a16="http://schemas.microsoft.com/office/drawing/2014/main" id="{89AE5275-2258-7D8C-D7C4-2958FE88FAF5}"/>
              </a:ext>
            </a:extLst>
          </p:cNvPr>
          <p:cNvPicPr>
            <a:picLocks noChangeAspect="1"/>
          </p:cNvPicPr>
          <p:nvPr/>
        </p:nvPicPr>
        <p:blipFill>
          <a:blip r:embed="rId4"/>
          <a:stretch>
            <a:fillRect/>
          </a:stretch>
        </p:blipFill>
        <p:spPr>
          <a:xfrm>
            <a:off x="8852598" y="5997969"/>
            <a:ext cx="1009524" cy="479031"/>
          </a:xfrm>
          <a:prstGeom prst="rect">
            <a:avLst/>
          </a:prstGeom>
        </p:spPr>
      </p:pic>
      <p:sp>
        <p:nvSpPr>
          <p:cNvPr id="21" name="文本框 20">
            <a:extLst>
              <a:ext uri="{FF2B5EF4-FFF2-40B4-BE49-F238E27FC236}">
                <a16:creationId xmlns:a16="http://schemas.microsoft.com/office/drawing/2014/main" id="{4EF47A5F-6241-9BE9-DF08-FB5E1F50A251}"/>
              </a:ext>
            </a:extLst>
          </p:cNvPr>
          <p:cNvSpPr txBox="1"/>
          <p:nvPr/>
        </p:nvSpPr>
        <p:spPr>
          <a:xfrm>
            <a:off x="3460007" y="6218948"/>
            <a:ext cx="6198870" cy="461665"/>
          </a:xfrm>
          <a:prstGeom prst="rect">
            <a:avLst/>
          </a:prstGeom>
          <a:noFill/>
        </p:spPr>
        <p:txBody>
          <a:bodyPr wrap="square">
            <a:spAutoFit/>
          </a:bodyPr>
          <a:lstStyle/>
          <a:p>
            <a:r>
              <a:rPr lang="en-US" altLang="zh-CN" sz="2400" dirty="0">
                <a:solidFill>
                  <a:srgbClr val="FF0000"/>
                </a:solidFill>
                <a:latin typeface="+mn-lt"/>
                <a:ea typeface="+mn-ea"/>
              </a:rPr>
              <a:t>Alice</a:t>
            </a:r>
            <a:r>
              <a:rPr lang="zh-CN" altLang="en-US" sz="2400" dirty="0">
                <a:solidFill>
                  <a:srgbClr val="FF0000"/>
                </a:solidFill>
                <a:latin typeface="+mn-lt"/>
                <a:ea typeface="+mn-ea"/>
              </a:rPr>
              <a:t>利用认证机构</a:t>
            </a:r>
            <a:r>
              <a:rPr lang="en-US" altLang="zh-CN" sz="2400" dirty="0">
                <a:solidFill>
                  <a:srgbClr val="FF0000"/>
                </a:solidFill>
                <a:latin typeface="+mn-lt"/>
                <a:ea typeface="+mn-ea"/>
              </a:rPr>
              <a:t>Trust</a:t>
            </a:r>
            <a:r>
              <a:rPr lang="zh-CN" altLang="en-US" sz="2400" dirty="0">
                <a:solidFill>
                  <a:srgbClr val="FF0000"/>
                </a:solidFill>
                <a:latin typeface="+mn-lt"/>
                <a:ea typeface="+mn-ea"/>
              </a:rPr>
              <a:t>向</a:t>
            </a:r>
            <a:r>
              <a:rPr lang="en-US" altLang="zh-CN" sz="2400" dirty="0">
                <a:solidFill>
                  <a:srgbClr val="FF0000"/>
                </a:solidFill>
                <a:latin typeface="+mn-lt"/>
                <a:ea typeface="+mn-ea"/>
              </a:rPr>
              <a:t>Bob</a:t>
            </a:r>
            <a:r>
              <a:rPr lang="zh-CN" altLang="en-US" sz="2400" dirty="0">
                <a:solidFill>
                  <a:srgbClr val="FF0000"/>
                </a:solidFill>
                <a:latin typeface="+mn-lt"/>
                <a:ea typeface="+mn-ea"/>
              </a:rPr>
              <a:t>发送密文</a:t>
            </a:r>
          </a:p>
        </p:txBody>
      </p:sp>
    </p:spTree>
    <p:extLst>
      <p:ext uri="{BB962C8B-B14F-4D97-AF65-F5344CB8AC3E}">
        <p14:creationId xmlns:p14="http://schemas.microsoft.com/office/powerpoint/2010/main" val="815820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1246F-B315-B29F-6B9C-98586FF6DA1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C9CB5D7-5365-D320-6B31-1BCE2CB38A8A}"/>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公钥证书工作流程</a:t>
            </a:r>
          </a:p>
        </p:txBody>
      </p:sp>
      <p:grpSp>
        <p:nvGrpSpPr>
          <p:cNvPr id="3" name="组合 2">
            <a:extLst>
              <a:ext uri="{FF2B5EF4-FFF2-40B4-BE49-F238E27FC236}">
                <a16:creationId xmlns:a16="http://schemas.microsoft.com/office/drawing/2014/main" id="{C781C75D-DC88-CF13-DD35-798EDBDB2304}"/>
              </a:ext>
            </a:extLst>
          </p:cNvPr>
          <p:cNvGrpSpPr/>
          <p:nvPr/>
        </p:nvGrpSpPr>
        <p:grpSpPr>
          <a:xfrm>
            <a:off x="3798039" y="107955"/>
            <a:ext cx="425713" cy="442041"/>
            <a:chOff x="5823870" y="1767426"/>
            <a:chExt cx="425713" cy="442041"/>
          </a:xfrm>
        </p:grpSpPr>
        <p:grpSp>
          <p:nvGrpSpPr>
            <p:cNvPr id="4" name="Group 10">
              <a:extLst>
                <a:ext uri="{FF2B5EF4-FFF2-40B4-BE49-F238E27FC236}">
                  <a16:creationId xmlns:a16="http://schemas.microsoft.com/office/drawing/2014/main" id="{8FBD9886-F33B-75D1-DF08-F00A4BAAC829}"/>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F87EF437-4AC0-5F1C-1142-08331DEF31D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908C4E23-96E4-EBD4-080B-067F01A55BB8}"/>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992E1C96-A264-2836-A3B3-A0E90350E55E}"/>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C22A4E43-7B3B-6965-3E25-58B96A8CFC3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35FAC8E2-8790-BF67-FB6C-0FEFAC01D107}"/>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1974AE5C-CE33-8317-BFCC-682E11DBF9CE}"/>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证书将某个主体的身份与主体的公钥绑定起来，并由可信第三方进行背书</a:t>
            </a:r>
            <a:endParaRPr lang="zh-CN" altLang="en-US" sz="2800" dirty="0">
              <a:latin typeface="+mn-lt"/>
              <a:ea typeface="+mn-ea"/>
            </a:endParaRPr>
          </a:p>
        </p:txBody>
      </p:sp>
      <p:pic>
        <p:nvPicPr>
          <p:cNvPr id="14" name="图片 13" descr="图片包含 形状&#10;&#10;AI 生成的内容可能不正确。">
            <a:extLst>
              <a:ext uri="{FF2B5EF4-FFF2-40B4-BE49-F238E27FC236}">
                <a16:creationId xmlns:a16="http://schemas.microsoft.com/office/drawing/2014/main" id="{9516A542-F285-F76A-1B99-F41083ADEA6E}"/>
              </a:ext>
            </a:extLst>
          </p:cNvPr>
          <p:cNvPicPr>
            <a:picLocks noChangeAspect="1"/>
          </p:cNvPicPr>
          <p:nvPr/>
        </p:nvPicPr>
        <p:blipFill>
          <a:blip r:embed="rId3"/>
          <a:stretch>
            <a:fillRect/>
          </a:stretch>
        </p:blipFill>
        <p:spPr>
          <a:xfrm>
            <a:off x="8852598" y="6043689"/>
            <a:ext cx="1009524" cy="479031"/>
          </a:xfrm>
          <a:prstGeom prst="rect">
            <a:avLst/>
          </a:prstGeom>
        </p:spPr>
      </p:pic>
      <p:grpSp>
        <p:nvGrpSpPr>
          <p:cNvPr id="25" name="组合 24">
            <a:extLst>
              <a:ext uri="{FF2B5EF4-FFF2-40B4-BE49-F238E27FC236}">
                <a16:creationId xmlns:a16="http://schemas.microsoft.com/office/drawing/2014/main" id="{769395FD-DC6B-6D36-BF20-1663A880DC50}"/>
              </a:ext>
            </a:extLst>
          </p:cNvPr>
          <p:cNvGrpSpPr/>
          <p:nvPr/>
        </p:nvGrpSpPr>
        <p:grpSpPr>
          <a:xfrm>
            <a:off x="6503520" y="1761952"/>
            <a:ext cx="5155080" cy="4951268"/>
            <a:chOff x="4939868" y="1472443"/>
            <a:chExt cx="7149348" cy="3690885"/>
          </a:xfrm>
        </p:grpSpPr>
        <p:sp>
          <p:nvSpPr>
            <p:cNvPr id="26" name="矩形 25">
              <a:extLst>
                <a:ext uri="{FF2B5EF4-FFF2-40B4-BE49-F238E27FC236}">
                  <a16:creationId xmlns:a16="http://schemas.microsoft.com/office/drawing/2014/main" id="{3F3BF051-F73C-70A4-5557-0023D99966E6}"/>
                </a:ext>
              </a:extLst>
            </p:cNvPr>
            <p:cNvSpPr/>
            <p:nvPr/>
          </p:nvSpPr>
          <p:spPr>
            <a:xfrm>
              <a:off x="4939868" y="1472443"/>
              <a:ext cx="7149348" cy="3690885"/>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7" name="文本框 26">
              <a:extLst>
                <a:ext uri="{FF2B5EF4-FFF2-40B4-BE49-F238E27FC236}">
                  <a16:creationId xmlns:a16="http://schemas.microsoft.com/office/drawing/2014/main" id="{1FE9AA25-F5AF-6A90-7331-9F15A8FC59F5}"/>
                </a:ext>
              </a:extLst>
            </p:cNvPr>
            <p:cNvSpPr txBox="1"/>
            <p:nvPr/>
          </p:nvSpPr>
          <p:spPr>
            <a:xfrm>
              <a:off x="5176703" y="1541835"/>
              <a:ext cx="6675677" cy="950635"/>
            </a:xfrm>
            <a:prstGeom prst="rect">
              <a:avLst/>
            </a:prstGeom>
            <a:noFill/>
          </p:spPr>
          <p:txBody>
            <a:bodyPr wrap="square" lIns="0" tIns="0" rIns="0" bIns="0" rtlCol="0">
              <a:noAutofit/>
            </a:bodyPr>
            <a:lstStyle/>
            <a:p>
              <a:pPr>
                <a:buNone/>
              </a:pPr>
              <a:r>
                <a:rPr lang="en-US" altLang="zh-CN" sz="2400" b="1" dirty="0"/>
                <a:t>4. Alice</a:t>
              </a:r>
              <a:r>
                <a:rPr lang="zh-CN" altLang="en-US" sz="2400" b="1" dirty="0"/>
                <a:t>从 </a:t>
              </a:r>
              <a:r>
                <a:rPr lang="en-US" altLang="zh-CN" sz="2400" b="1" dirty="0"/>
                <a:t>Trust </a:t>
              </a:r>
              <a:r>
                <a:rPr lang="zh-CN" altLang="en-US" sz="2400" b="1" dirty="0"/>
                <a:t>获取 </a:t>
              </a:r>
              <a:r>
                <a:rPr lang="en-US" altLang="zh-CN" sz="2400" b="1" dirty="0"/>
                <a:t>Bob </a:t>
              </a:r>
              <a:r>
                <a:rPr lang="zh-CN" altLang="en-US" sz="2400" b="1" dirty="0"/>
                <a:t>的证书</a:t>
              </a:r>
            </a:p>
            <a:p>
              <a:pPr>
                <a:buNone/>
              </a:pPr>
              <a:r>
                <a:rPr lang="en-US" altLang="zh-CN" sz="2400" b="1" dirty="0"/>
                <a:t>5. Alice </a:t>
              </a:r>
              <a:r>
                <a:rPr lang="zh-CN" altLang="en-US" sz="2400" b="1" dirty="0"/>
                <a:t>使用 </a:t>
              </a:r>
              <a:r>
                <a:rPr lang="en-US" altLang="zh-CN" sz="2400" b="1" dirty="0"/>
                <a:t>Trust </a:t>
              </a:r>
              <a:r>
                <a:rPr lang="zh-CN" altLang="en-US" sz="2400" b="1" dirty="0"/>
                <a:t>的公钥验证证书的数字签名</a:t>
              </a:r>
            </a:p>
            <a:p>
              <a:pPr>
                <a:buNone/>
              </a:pPr>
              <a:r>
                <a:rPr lang="en-US" altLang="zh-CN" sz="2400" dirty="0"/>
                <a:t>  Alice </a:t>
              </a:r>
              <a:r>
                <a:rPr lang="zh-CN" altLang="en-US" sz="2400" dirty="0"/>
                <a:t>用 </a:t>
              </a:r>
              <a:r>
                <a:rPr lang="en-US" altLang="zh-CN" sz="2400" dirty="0"/>
                <a:t>Trust </a:t>
              </a:r>
              <a:r>
                <a:rPr lang="zh-CN" altLang="en-US" sz="2400" dirty="0"/>
                <a:t>的公钥验证证书上的数字签名。若验证成功，则说明：</a:t>
              </a:r>
            </a:p>
            <a:p>
              <a:r>
                <a:rPr lang="en-US" altLang="zh-CN" sz="2400" dirty="0"/>
                <a:t> (a) </a:t>
              </a:r>
              <a:r>
                <a:rPr lang="zh-CN" altLang="en-US" sz="2400" dirty="0"/>
                <a:t>证书确实由可信的 </a:t>
              </a:r>
              <a:r>
                <a:rPr lang="en-US" altLang="zh-CN" sz="2400" dirty="0"/>
                <a:t>Trust </a:t>
              </a:r>
              <a:r>
                <a:rPr lang="zh-CN" altLang="en-US" sz="2400" dirty="0"/>
                <a:t>签发</a:t>
              </a:r>
            </a:p>
            <a:p>
              <a:r>
                <a:rPr lang="en-US" altLang="zh-CN" sz="2400" dirty="0"/>
                <a:t> (b) </a:t>
              </a:r>
              <a:r>
                <a:rPr lang="zh-CN" altLang="en-US" sz="2400" dirty="0"/>
                <a:t>证书中的公钥确实属于 </a:t>
              </a:r>
              <a:r>
                <a:rPr lang="en-US" altLang="zh-CN" sz="2400" dirty="0"/>
                <a:t>Bob</a:t>
              </a:r>
              <a:endParaRPr lang="zh-CN" altLang="en-US" sz="2400" dirty="0"/>
            </a:p>
            <a:p>
              <a:r>
                <a:rPr lang="en-US" altLang="zh-CN" sz="2400" dirty="0"/>
                <a:t> (c) </a:t>
              </a:r>
              <a:r>
                <a:rPr lang="zh-CN" altLang="en-US" sz="2400" dirty="0"/>
                <a:t>公钥未被篡改</a:t>
              </a:r>
            </a:p>
            <a:p>
              <a:pPr>
                <a:buNone/>
              </a:pPr>
              <a:r>
                <a:rPr lang="zh-CN" altLang="en-US" sz="2400" dirty="0"/>
                <a:t>  此时，</a:t>
              </a:r>
              <a:r>
                <a:rPr lang="en-US" altLang="zh-CN" sz="2400" dirty="0"/>
                <a:t>Alice </a:t>
              </a:r>
              <a:r>
                <a:rPr lang="zh-CN" altLang="en-US" sz="2400" dirty="0"/>
                <a:t>就拥有了</a:t>
              </a:r>
              <a:r>
                <a:rPr lang="zh-CN" altLang="en-US" sz="2400" dirty="0">
                  <a:solidFill>
                    <a:srgbClr val="FF0000"/>
                  </a:solidFill>
                </a:rPr>
                <a:t>合法可信的 </a:t>
              </a:r>
              <a:r>
                <a:rPr lang="en-US" altLang="zh-CN" sz="2400" dirty="0">
                  <a:solidFill>
                    <a:srgbClr val="FF0000"/>
                  </a:solidFill>
                </a:rPr>
                <a:t>Bob </a:t>
              </a:r>
              <a:r>
                <a:rPr lang="zh-CN" altLang="en-US" sz="2400" dirty="0">
                  <a:solidFill>
                    <a:srgbClr val="FF0000"/>
                  </a:solidFill>
                </a:rPr>
                <a:t>的公钥</a:t>
              </a:r>
            </a:p>
            <a:p>
              <a:pPr>
                <a:buNone/>
              </a:pPr>
              <a:r>
                <a:rPr lang="en-US" altLang="zh-CN" sz="2400" b="1" dirty="0"/>
                <a:t>6. Alice </a:t>
              </a:r>
              <a:r>
                <a:rPr lang="zh-CN" altLang="en-US" sz="2400" b="1" dirty="0"/>
                <a:t>使用 </a:t>
              </a:r>
              <a:r>
                <a:rPr lang="en-US" altLang="zh-CN" sz="2400" b="1" dirty="0"/>
                <a:t>Bob </a:t>
              </a:r>
              <a:r>
                <a:rPr lang="zh-CN" altLang="en-US" sz="2400" b="1" dirty="0"/>
                <a:t>的公钥加密消息</a:t>
              </a:r>
              <a:endParaRPr lang="zh-CN" altLang="en-US" sz="2400" dirty="0"/>
            </a:p>
            <a:p>
              <a:pPr>
                <a:buNone/>
              </a:pPr>
              <a:r>
                <a:rPr lang="en-US" altLang="zh-CN" sz="2400" b="1" dirty="0"/>
                <a:t>7. Bob </a:t>
              </a:r>
              <a:r>
                <a:rPr lang="zh-CN" altLang="en-US" sz="2400" b="1" dirty="0"/>
                <a:t>使用自己的私钥解密密文</a:t>
              </a:r>
            </a:p>
          </p:txBody>
        </p:sp>
      </p:grpSp>
      <p:sp>
        <p:nvSpPr>
          <p:cNvPr id="28" name="文本框 27">
            <a:extLst>
              <a:ext uri="{FF2B5EF4-FFF2-40B4-BE49-F238E27FC236}">
                <a16:creationId xmlns:a16="http://schemas.microsoft.com/office/drawing/2014/main" id="{FDCA4B1D-E073-D7F2-63D9-CBFB4CAA4488}"/>
              </a:ext>
            </a:extLst>
          </p:cNvPr>
          <p:cNvSpPr txBox="1"/>
          <p:nvPr/>
        </p:nvSpPr>
        <p:spPr>
          <a:xfrm>
            <a:off x="8042516" y="1226533"/>
            <a:ext cx="2209102" cy="523220"/>
          </a:xfrm>
          <a:prstGeom prst="rect">
            <a:avLst/>
          </a:prstGeom>
          <a:noFill/>
        </p:spPr>
        <p:txBody>
          <a:bodyPr wrap="square">
            <a:spAutoFit/>
          </a:bodyPr>
          <a:lstStyle/>
          <a:p>
            <a:r>
              <a:rPr lang="zh-CN" altLang="en-US" sz="2800" b="1" dirty="0">
                <a:solidFill>
                  <a:srgbClr val="FF0000"/>
                </a:solidFill>
              </a:rPr>
              <a:t>证书的验证</a:t>
            </a:r>
            <a:endParaRPr lang="en-US" altLang="zh-CN" sz="2800" b="1" dirty="0">
              <a:solidFill>
                <a:srgbClr val="FF0000"/>
              </a:solidFill>
            </a:endParaRPr>
          </a:p>
        </p:txBody>
      </p:sp>
      <p:sp>
        <p:nvSpPr>
          <p:cNvPr id="16" name="文本框 15">
            <a:extLst>
              <a:ext uri="{FF2B5EF4-FFF2-40B4-BE49-F238E27FC236}">
                <a16:creationId xmlns:a16="http://schemas.microsoft.com/office/drawing/2014/main" id="{E1A57413-C816-CF63-F9A5-9469CB5B4094}"/>
              </a:ext>
            </a:extLst>
          </p:cNvPr>
          <p:cNvSpPr txBox="1"/>
          <p:nvPr/>
        </p:nvSpPr>
        <p:spPr>
          <a:xfrm>
            <a:off x="1756857" y="1226533"/>
            <a:ext cx="2209102" cy="523220"/>
          </a:xfrm>
          <a:prstGeom prst="rect">
            <a:avLst/>
          </a:prstGeom>
          <a:noFill/>
        </p:spPr>
        <p:txBody>
          <a:bodyPr wrap="square">
            <a:spAutoFit/>
          </a:bodyPr>
          <a:lstStyle/>
          <a:p>
            <a:r>
              <a:rPr lang="zh-CN" altLang="en-US" sz="2800" b="1" dirty="0">
                <a:solidFill>
                  <a:srgbClr val="FF0000"/>
                </a:solidFill>
              </a:rPr>
              <a:t>证书的生成</a:t>
            </a:r>
            <a:endParaRPr lang="en-US" altLang="zh-CN" sz="2800" b="1" dirty="0">
              <a:solidFill>
                <a:srgbClr val="FF0000"/>
              </a:solidFill>
            </a:endParaRPr>
          </a:p>
        </p:txBody>
      </p:sp>
      <p:grpSp>
        <p:nvGrpSpPr>
          <p:cNvPr id="21" name="组合 20">
            <a:extLst>
              <a:ext uri="{FF2B5EF4-FFF2-40B4-BE49-F238E27FC236}">
                <a16:creationId xmlns:a16="http://schemas.microsoft.com/office/drawing/2014/main" id="{786F5CA2-CC12-9655-483E-D2BC5E05AE40}"/>
              </a:ext>
            </a:extLst>
          </p:cNvPr>
          <p:cNvGrpSpPr/>
          <p:nvPr/>
        </p:nvGrpSpPr>
        <p:grpSpPr>
          <a:xfrm>
            <a:off x="476100" y="1749753"/>
            <a:ext cx="5155080" cy="4951268"/>
            <a:chOff x="4939868" y="1472443"/>
            <a:chExt cx="7149348" cy="3690885"/>
          </a:xfrm>
        </p:grpSpPr>
        <p:sp>
          <p:nvSpPr>
            <p:cNvPr id="22" name="矩形 21">
              <a:extLst>
                <a:ext uri="{FF2B5EF4-FFF2-40B4-BE49-F238E27FC236}">
                  <a16:creationId xmlns:a16="http://schemas.microsoft.com/office/drawing/2014/main" id="{DD561336-14B4-81BB-103D-46C215662839}"/>
                </a:ext>
              </a:extLst>
            </p:cNvPr>
            <p:cNvSpPr/>
            <p:nvPr/>
          </p:nvSpPr>
          <p:spPr>
            <a:xfrm>
              <a:off x="4939868" y="1472443"/>
              <a:ext cx="7149348" cy="3690885"/>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文本框 22">
              <a:extLst>
                <a:ext uri="{FF2B5EF4-FFF2-40B4-BE49-F238E27FC236}">
                  <a16:creationId xmlns:a16="http://schemas.microsoft.com/office/drawing/2014/main" id="{0C848F44-B4DF-C59D-5F42-5835A76D9598}"/>
                </a:ext>
              </a:extLst>
            </p:cNvPr>
            <p:cNvSpPr txBox="1"/>
            <p:nvPr/>
          </p:nvSpPr>
          <p:spPr>
            <a:xfrm>
              <a:off x="5176703" y="1541835"/>
              <a:ext cx="6675677" cy="950635"/>
            </a:xfrm>
            <a:prstGeom prst="rect">
              <a:avLst/>
            </a:prstGeom>
            <a:noFill/>
          </p:spPr>
          <p:txBody>
            <a:bodyPr wrap="square" lIns="0" tIns="0" rIns="0" bIns="0" rtlCol="0">
              <a:noAutofit/>
            </a:bodyPr>
            <a:lstStyle/>
            <a:p>
              <a:pPr>
                <a:buNone/>
              </a:pPr>
              <a:r>
                <a:rPr lang="en-US" altLang="zh-CN" sz="2400" b="1" dirty="0"/>
                <a:t>1. Bob </a:t>
              </a:r>
              <a:r>
                <a:rPr lang="zh-CN" altLang="en-US" sz="2400" b="1" dirty="0"/>
                <a:t>生成密钥对</a:t>
              </a:r>
            </a:p>
            <a:p>
              <a:pPr>
                <a:buNone/>
              </a:pPr>
              <a:r>
                <a:rPr lang="en-US" altLang="zh-CN" sz="2400" b="1" dirty="0"/>
                <a:t>2. Bob </a:t>
              </a:r>
              <a:r>
                <a:rPr lang="zh-CN" altLang="en-US" sz="2400" b="1" dirty="0"/>
                <a:t>在认证机构 </a:t>
              </a:r>
              <a:r>
                <a:rPr lang="en-US" altLang="zh-CN" sz="2400" b="1" dirty="0"/>
                <a:t>Trust </a:t>
              </a:r>
              <a:r>
                <a:rPr lang="zh-CN" altLang="en-US" sz="2400" b="1" dirty="0"/>
                <a:t>注册自己的公钥</a:t>
              </a:r>
            </a:p>
            <a:p>
              <a:pPr>
                <a:buNone/>
              </a:pPr>
              <a:r>
                <a:rPr lang="en-US" altLang="zh-CN" sz="2400" dirty="0"/>
                <a:t>  Trust </a:t>
              </a:r>
              <a:r>
                <a:rPr lang="zh-CN" altLang="en-US" sz="2400" dirty="0"/>
                <a:t>对</a:t>
              </a:r>
              <a:r>
                <a:rPr lang="en-US" altLang="zh-CN" sz="2400" dirty="0"/>
                <a:t>Bob</a:t>
              </a:r>
              <a:r>
                <a:rPr lang="zh-CN" altLang="en-US" sz="2400" dirty="0"/>
                <a:t>进行</a:t>
              </a:r>
              <a:r>
                <a:rPr lang="zh-CN" altLang="en-US" sz="2400" dirty="0">
                  <a:solidFill>
                    <a:srgbClr val="FF0000"/>
                  </a:solidFill>
                </a:rPr>
                <a:t>身份核验，</a:t>
              </a:r>
              <a:r>
                <a:rPr lang="zh-CN" altLang="en-US" sz="2400" dirty="0"/>
                <a:t>以确认提交公钥的人确实是 </a:t>
              </a:r>
              <a:r>
                <a:rPr lang="en-US" altLang="zh-CN" sz="2400" dirty="0"/>
                <a:t>Bob</a:t>
              </a:r>
              <a:endParaRPr lang="zh-CN" altLang="en-US" sz="2400" dirty="0"/>
            </a:p>
            <a:p>
              <a:pPr>
                <a:buNone/>
              </a:pPr>
              <a:r>
                <a:rPr lang="en-US" altLang="zh-CN" sz="2400" b="1" dirty="0"/>
                <a:t>3. Trust </a:t>
              </a:r>
              <a:r>
                <a:rPr lang="zh-CN" altLang="en-US" sz="2400" b="1" dirty="0"/>
                <a:t>使用自己的私钥对 </a:t>
              </a:r>
              <a:r>
                <a:rPr lang="en-US" altLang="zh-CN" sz="2400" b="1" dirty="0"/>
                <a:t>Bob </a:t>
              </a:r>
              <a:r>
                <a:rPr lang="zh-CN" altLang="en-US" sz="2400" b="1" dirty="0"/>
                <a:t>的公钥施加数字签名，生成证书</a:t>
              </a:r>
              <a:endParaRPr lang="en-US" altLang="zh-CN" sz="2400" b="1" dirty="0"/>
            </a:p>
            <a:p>
              <a:pPr>
                <a:buNone/>
              </a:pPr>
              <a:r>
                <a:rPr lang="zh-CN" altLang="en-US" sz="2400" dirty="0"/>
                <a:t>  具体的，认证机构</a:t>
              </a:r>
              <a:r>
                <a:rPr lang="en-US" altLang="zh-CN" sz="2400" dirty="0"/>
                <a:t>Trust</a:t>
              </a:r>
              <a:r>
                <a:rPr lang="zh-CN" altLang="en-US" sz="2400" dirty="0"/>
                <a:t>会做：</a:t>
              </a:r>
            </a:p>
            <a:p>
              <a:r>
                <a:rPr lang="en-US" altLang="zh-CN" sz="2400" dirty="0"/>
                <a:t>  (a) </a:t>
              </a:r>
              <a:r>
                <a:rPr lang="zh-CN" altLang="en-US" sz="2400" dirty="0">
                  <a:solidFill>
                    <a:srgbClr val="FF0000"/>
                  </a:solidFill>
                </a:rPr>
                <a:t>对 </a:t>
              </a:r>
              <a:r>
                <a:rPr lang="en-US" altLang="zh-CN" sz="2400" dirty="0">
                  <a:solidFill>
                    <a:srgbClr val="FF0000"/>
                  </a:solidFill>
                </a:rPr>
                <a:t>Bob </a:t>
              </a:r>
              <a:r>
                <a:rPr lang="zh-CN" altLang="en-US" sz="2400" dirty="0">
                  <a:solidFill>
                    <a:srgbClr val="FF0000"/>
                  </a:solidFill>
                </a:rPr>
                <a:t>的公钥进行数字签名</a:t>
              </a:r>
            </a:p>
            <a:p>
              <a:r>
                <a:rPr lang="en-US" altLang="zh-CN" sz="2400" dirty="0"/>
                <a:t>  (b) </a:t>
              </a:r>
              <a:r>
                <a:rPr lang="zh-CN" altLang="en-US" sz="2400" dirty="0"/>
                <a:t>将签名信息（公钥</a:t>
              </a:r>
              <a:r>
                <a:rPr lang="en-US" altLang="zh-CN" sz="2400" dirty="0"/>
                <a:t>+</a:t>
              </a:r>
              <a:r>
                <a:rPr lang="zh-CN" altLang="en-US" sz="2400" dirty="0"/>
                <a:t>签名）与 </a:t>
              </a:r>
              <a:r>
                <a:rPr lang="en-US" altLang="zh-CN" sz="2400" dirty="0"/>
                <a:t>Bob </a:t>
              </a:r>
              <a:r>
                <a:rPr lang="zh-CN" altLang="en-US" sz="2400" dirty="0"/>
                <a:t>的身份信息打包生成公钥证书</a:t>
              </a:r>
            </a:p>
          </p:txBody>
        </p:sp>
      </p:grpSp>
    </p:spTree>
    <p:extLst>
      <p:ext uri="{BB962C8B-B14F-4D97-AF65-F5344CB8AC3E}">
        <p14:creationId xmlns:p14="http://schemas.microsoft.com/office/powerpoint/2010/main" val="3299265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3ED8F-3D76-01FF-BB59-C1603E492B1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B56075C-CC82-00C5-4280-D043402817EA}"/>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关于身份确认</a:t>
            </a:r>
          </a:p>
        </p:txBody>
      </p:sp>
      <p:grpSp>
        <p:nvGrpSpPr>
          <p:cNvPr id="3" name="组合 2">
            <a:extLst>
              <a:ext uri="{FF2B5EF4-FFF2-40B4-BE49-F238E27FC236}">
                <a16:creationId xmlns:a16="http://schemas.microsoft.com/office/drawing/2014/main" id="{BD38CA3B-5F0E-1B80-18D5-D08F22795A00}"/>
              </a:ext>
            </a:extLst>
          </p:cNvPr>
          <p:cNvGrpSpPr/>
          <p:nvPr/>
        </p:nvGrpSpPr>
        <p:grpSpPr>
          <a:xfrm>
            <a:off x="3798039" y="107955"/>
            <a:ext cx="425713" cy="442041"/>
            <a:chOff x="5823870" y="1767426"/>
            <a:chExt cx="425713" cy="442041"/>
          </a:xfrm>
        </p:grpSpPr>
        <p:grpSp>
          <p:nvGrpSpPr>
            <p:cNvPr id="4" name="Group 10">
              <a:extLst>
                <a:ext uri="{FF2B5EF4-FFF2-40B4-BE49-F238E27FC236}">
                  <a16:creationId xmlns:a16="http://schemas.microsoft.com/office/drawing/2014/main" id="{8C878118-D6A9-3C1E-7EB8-03AB97F026F4}"/>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03FD5801-1264-BEC6-C052-79CCC5CA4A05}"/>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B1CC2BF5-186A-C829-0D72-C09CA1D09AC2}"/>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2F0F56FE-48CF-96A1-F4A4-6D71136C5204}"/>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5CDEE5C5-F994-9176-247B-A6B28D834674}"/>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12D7E2C1-1159-D0C1-3AB4-5EF133B67D97}"/>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5EE0441A-7AE5-46AE-C635-4C884AD134CA}"/>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pPr>
              <a:buNone/>
            </a:pPr>
            <a:r>
              <a:rPr lang="zh-CN" altLang="en-US" sz="2800" dirty="0"/>
              <a:t>认证业务准则</a:t>
            </a:r>
            <a:r>
              <a:rPr lang="zh-CN" altLang="en-US" sz="2800" b="1" dirty="0"/>
              <a:t> </a:t>
            </a:r>
            <a:r>
              <a:rPr lang="en-US" altLang="zh-CN" sz="2800" dirty="0"/>
              <a:t>(Certification Practice Statement, CPS)</a:t>
            </a:r>
            <a:endParaRPr lang="zh-CN" altLang="en-US" sz="2800" dirty="0"/>
          </a:p>
        </p:txBody>
      </p:sp>
      <p:grpSp>
        <p:nvGrpSpPr>
          <p:cNvPr id="13" name="组合 12">
            <a:extLst>
              <a:ext uri="{FF2B5EF4-FFF2-40B4-BE49-F238E27FC236}">
                <a16:creationId xmlns:a16="http://schemas.microsoft.com/office/drawing/2014/main" id="{1ED03564-12D3-DB6D-4995-93CCC957810A}"/>
              </a:ext>
            </a:extLst>
          </p:cNvPr>
          <p:cNvGrpSpPr/>
          <p:nvPr/>
        </p:nvGrpSpPr>
        <p:grpSpPr>
          <a:xfrm>
            <a:off x="163680" y="1340654"/>
            <a:ext cx="11868300" cy="1951186"/>
            <a:chOff x="4939868" y="1472443"/>
            <a:chExt cx="7149348" cy="3690885"/>
          </a:xfrm>
        </p:grpSpPr>
        <p:sp>
          <p:nvSpPr>
            <p:cNvPr id="15" name="矩形 14">
              <a:extLst>
                <a:ext uri="{FF2B5EF4-FFF2-40B4-BE49-F238E27FC236}">
                  <a16:creationId xmlns:a16="http://schemas.microsoft.com/office/drawing/2014/main" id="{D0C980D6-B3D6-3166-29AA-B1B69F09AF82}"/>
                </a:ext>
              </a:extLst>
            </p:cNvPr>
            <p:cNvSpPr/>
            <p:nvPr/>
          </p:nvSpPr>
          <p:spPr>
            <a:xfrm>
              <a:off x="4939868" y="1472443"/>
              <a:ext cx="7149348" cy="3690885"/>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文本框 16">
              <a:extLst>
                <a:ext uri="{FF2B5EF4-FFF2-40B4-BE49-F238E27FC236}">
                  <a16:creationId xmlns:a16="http://schemas.microsoft.com/office/drawing/2014/main" id="{6A8D7BFA-D81B-1D23-4422-F685F031DA0E}"/>
                </a:ext>
              </a:extLst>
            </p:cNvPr>
            <p:cNvSpPr txBox="1"/>
            <p:nvPr/>
          </p:nvSpPr>
          <p:spPr>
            <a:xfrm>
              <a:off x="5176703" y="1541835"/>
              <a:ext cx="6675677" cy="950635"/>
            </a:xfrm>
            <a:prstGeom prst="rect">
              <a:avLst/>
            </a:prstGeom>
            <a:noFill/>
          </p:spPr>
          <p:txBody>
            <a:bodyPr wrap="square" lIns="0" tIns="0" rIns="0" bIns="0" rtlCol="0">
              <a:noAutofit/>
            </a:bodyPr>
            <a:lstStyle/>
            <a:p>
              <a:pPr>
                <a:buNone/>
              </a:pPr>
              <a:r>
                <a:rPr lang="en-US" altLang="zh-CN" sz="2000" b="1" dirty="0"/>
                <a:t>1. </a:t>
              </a:r>
              <a:r>
                <a:rPr lang="zh-CN" altLang="en-US" sz="2000" b="1" dirty="0"/>
                <a:t>测试用认证机构</a:t>
              </a:r>
            </a:p>
            <a:p>
              <a:pPr>
                <a:buNone/>
              </a:pPr>
              <a:r>
                <a:rPr lang="zh-CN" altLang="en-US" sz="2000" dirty="0"/>
                <a:t>用于测试环境的 </a:t>
              </a:r>
              <a:r>
                <a:rPr lang="en-US" altLang="zh-CN" sz="2000" dirty="0"/>
                <a:t>CA </a:t>
              </a:r>
              <a:r>
                <a:rPr lang="zh-CN" altLang="en-US" sz="2000" dirty="0"/>
                <a:t>通常</a:t>
              </a:r>
              <a:r>
                <a:rPr lang="zh-CN" altLang="en-US" sz="2000" b="1" dirty="0"/>
                <a:t>不进行任何身份确认</a:t>
              </a:r>
              <a:r>
                <a:rPr lang="zh-CN" altLang="en-US" sz="2000" dirty="0"/>
                <a:t>。（例如开发阶段、教学场景等。）</a:t>
              </a:r>
            </a:p>
            <a:p>
              <a:pPr>
                <a:buNone/>
              </a:pPr>
              <a:r>
                <a:rPr lang="en-US" altLang="zh-CN" sz="2000" b="1" dirty="0"/>
                <a:t>2. </a:t>
              </a:r>
              <a:r>
                <a:rPr lang="zh-CN" altLang="en-US" sz="2000" b="1" dirty="0"/>
                <a:t>政府部门运营的认证机构</a:t>
              </a:r>
            </a:p>
            <a:p>
              <a:pPr>
                <a:buNone/>
              </a:pPr>
              <a:r>
                <a:rPr lang="zh-CN" altLang="en-US" sz="2000" dirty="0"/>
                <a:t>需要依据相关法律法规进行</a:t>
              </a:r>
              <a:r>
                <a:rPr lang="zh-CN" altLang="en-US" sz="2000" b="1" dirty="0"/>
                <a:t>严格的身份确认</a:t>
              </a:r>
              <a:r>
                <a:rPr lang="zh-CN" altLang="en-US" sz="2000" dirty="0"/>
                <a:t>，以满足政府级应用的安全要求。</a:t>
              </a:r>
            </a:p>
            <a:p>
              <a:pPr>
                <a:buNone/>
              </a:pPr>
              <a:r>
                <a:rPr lang="en-US" altLang="zh-CN" sz="2000" b="1" dirty="0"/>
                <a:t>3. </a:t>
              </a:r>
              <a:r>
                <a:rPr lang="zh-CN" altLang="en-US" sz="2000" b="1" dirty="0"/>
                <a:t>企业内部的认证机构</a:t>
              </a:r>
            </a:p>
            <a:p>
              <a:pPr>
                <a:buNone/>
              </a:pPr>
              <a:r>
                <a:rPr lang="zh-CN" altLang="en-US" sz="2000" dirty="0"/>
                <a:t>企业内部 </a:t>
              </a:r>
              <a:r>
                <a:rPr lang="en-US" altLang="zh-CN" sz="2000" dirty="0"/>
                <a:t>CA </a:t>
              </a:r>
              <a:r>
                <a:rPr lang="zh-CN" altLang="en-US" sz="2000" dirty="0"/>
                <a:t>的验证方式侧重内部管理流程的可靠性，通常会联系部门负责人或电话确认身份。</a:t>
              </a:r>
            </a:p>
          </p:txBody>
        </p:sp>
      </p:grpSp>
      <p:sp>
        <p:nvSpPr>
          <p:cNvPr id="19" name="文本框 18">
            <a:extLst>
              <a:ext uri="{FF2B5EF4-FFF2-40B4-BE49-F238E27FC236}">
                <a16:creationId xmlns:a16="http://schemas.microsoft.com/office/drawing/2014/main" id="{9E01B833-D969-925E-743C-F7EB5A1B7B3A}"/>
              </a:ext>
            </a:extLst>
          </p:cNvPr>
          <p:cNvSpPr txBox="1"/>
          <p:nvPr/>
        </p:nvSpPr>
        <p:spPr>
          <a:xfrm>
            <a:off x="73871" y="3566161"/>
            <a:ext cx="11958109" cy="892552"/>
          </a:xfrm>
          <a:prstGeom prst="rect">
            <a:avLst/>
          </a:prstGeom>
          <a:noFill/>
        </p:spPr>
        <p:txBody>
          <a:bodyPr wrap="square">
            <a:spAutoFit/>
          </a:bodyPr>
          <a:lstStyle/>
          <a:p>
            <a:pPr algn="ctr">
              <a:buNone/>
            </a:pPr>
            <a:r>
              <a:rPr lang="zh-CN" altLang="en-US" sz="2800" b="1" dirty="0">
                <a:solidFill>
                  <a:srgbClr val="FF0000"/>
                </a:solidFill>
              </a:rPr>
              <a:t>赛门铁克（</a:t>
            </a:r>
            <a:r>
              <a:rPr lang="en-US" altLang="zh-CN" sz="2800" b="1" dirty="0">
                <a:solidFill>
                  <a:srgbClr val="FF0000"/>
                </a:solidFill>
              </a:rPr>
              <a:t>Symantec</a:t>
            </a:r>
            <a:r>
              <a:rPr lang="zh-CN" altLang="en-US" sz="2800" b="1" dirty="0">
                <a:solidFill>
                  <a:srgbClr val="FF0000"/>
                </a:solidFill>
              </a:rPr>
              <a:t>）的证书服务业务准则</a:t>
            </a:r>
          </a:p>
          <a:p>
            <a:pPr algn="ctr">
              <a:buNone/>
            </a:pPr>
            <a:r>
              <a:rPr lang="zh-CN" altLang="en-US" sz="2400" b="1" dirty="0"/>
              <a:t>将身份确认划分为 </a:t>
            </a:r>
            <a:r>
              <a:rPr lang="en-US" altLang="zh-CN" sz="2400" b="1" dirty="0"/>
              <a:t>Class 1</a:t>
            </a:r>
            <a:r>
              <a:rPr lang="zh-CN" altLang="en-US" sz="2400" b="1" dirty="0"/>
              <a:t>～</a:t>
            </a:r>
            <a:r>
              <a:rPr lang="en-US" altLang="zh-CN" sz="2400" b="1" dirty="0"/>
              <a:t>Class 3</a:t>
            </a:r>
            <a:r>
              <a:rPr lang="zh-CN" altLang="en-US" sz="2400" b="1" dirty="0"/>
              <a:t> 三个等级，级别越高身份确认越严格</a:t>
            </a:r>
          </a:p>
        </p:txBody>
      </p:sp>
      <p:graphicFrame>
        <p:nvGraphicFramePr>
          <p:cNvPr id="20" name="表格 19">
            <a:extLst>
              <a:ext uri="{FF2B5EF4-FFF2-40B4-BE49-F238E27FC236}">
                <a16:creationId xmlns:a16="http://schemas.microsoft.com/office/drawing/2014/main" id="{BBCD3844-529B-6621-D5FD-D24944526B09}"/>
              </a:ext>
            </a:extLst>
          </p:cNvPr>
          <p:cNvGraphicFramePr>
            <a:graphicFrameLocks noGrp="1"/>
          </p:cNvGraphicFramePr>
          <p:nvPr>
            <p:extLst>
              <p:ext uri="{D42A27DB-BD31-4B8C-83A1-F6EECF244321}">
                <p14:modId xmlns:p14="http://schemas.microsoft.com/office/powerpoint/2010/main" val="2771456823"/>
              </p:ext>
            </p:extLst>
          </p:nvPr>
        </p:nvGraphicFramePr>
        <p:xfrm>
          <a:off x="704818" y="4664803"/>
          <a:ext cx="10934002" cy="1889760"/>
        </p:xfrm>
        <a:graphic>
          <a:graphicData uri="http://schemas.openxmlformats.org/drawingml/2006/table">
            <a:tbl>
              <a:tblPr>
                <a:tableStyleId>{5940675A-B579-460E-94D1-54222C63F5DA}</a:tableStyleId>
              </a:tblPr>
              <a:tblGrid>
                <a:gridCol w="5467001">
                  <a:extLst>
                    <a:ext uri="{9D8B030D-6E8A-4147-A177-3AD203B41FA5}">
                      <a16:colId xmlns:a16="http://schemas.microsoft.com/office/drawing/2014/main" val="2785093858"/>
                    </a:ext>
                  </a:extLst>
                </a:gridCol>
                <a:gridCol w="5467001">
                  <a:extLst>
                    <a:ext uri="{9D8B030D-6E8A-4147-A177-3AD203B41FA5}">
                      <a16:colId xmlns:a16="http://schemas.microsoft.com/office/drawing/2014/main" val="4086311843"/>
                    </a:ext>
                  </a:extLst>
                </a:gridCol>
              </a:tblGrid>
              <a:tr h="0">
                <a:tc>
                  <a:txBody>
                    <a:bodyPr/>
                    <a:lstStyle/>
                    <a:p>
                      <a:pPr>
                        <a:buNone/>
                      </a:pPr>
                      <a:r>
                        <a:rPr lang="zh-CN" altLang="en-US" sz="2000" b="1" dirty="0"/>
                        <a:t>等级</a:t>
                      </a:r>
                    </a:p>
                  </a:txBody>
                  <a:tcPr anchor="ctr"/>
                </a:tc>
                <a:tc>
                  <a:txBody>
                    <a:bodyPr/>
                    <a:lstStyle/>
                    <a:p>
                      <a:pPr>
                        <a:buNone/>
                      </a:pPr>
                      <a:r>
                        <a:rPr lang="zh-CN" altLang="en-US" sz="2000" b="1" dirty="0"/>
                        <a:t>身份确认方式</a:t>
                      </a:r>
                    </a:p>
                  </a:txBody>
                  <a:tcPr anchor="ctr"/>
                </a:tc>
                <a:extLst>
                  <a:ext uri="{0D108BD9-81ED-4DB2-BD59-A6C34878D82A}">
                    <a16:rowId xmlns:a16="http://schemas.microsoft.com/office/drawing/2014/main" val="632647182"/>
                  </a:ext>
                </a:extLst>
              </a:tr>
              <a:tr h="0">
                <a:tc>
                  <a:txBody>
                    <a:bodyPr/>
                    <a:lstStyle/>
                    <a:p>
                      <a:pPr>
                        <a:buNone/>
                      </a:pPr>
                      <a:r>
                        <a:rPr lang="en-US" sz="2000" b="1"/>
                        <a:t>Class 1</a:t>
                      </a:r>
                      <a:endParaRPr lang="en-US" sz="2000"/>
                    </a:p>
                  </a:txBody>
                  <a:tcPr anchor="ctr"/>
                </a:tc>
                <a:tc>
                  <a:txBody>
                    <a:bodyPr/>
                    <a:lstStyle/>
                    <a:p>
                      <a:pPr>
                        <a:buNone/>
                      </a:pPr>
                      <a:r>
                        <a:rPr lang="zh-CN" altLang="en-US" sz="2000" dirty="0"/>
                        <a:t>通过向申请人邮箱发送验证邮件确认身份</a:t>
                      </a:r>
                    </a:p>
                  </a:txBody>
                  <a:tcPr anchor="ctr"/>
                </a:tc>
                <a:extLst>
                  <a:ext uri="{0D108BD9-81ED-4DB2-BD59-A6C34878D82A}">
                    <a16:rowId xmlns:a16="http://schemas.microsoft.com/office/drawing/2014/main" val="1515264410"/>
                  </a:ext>
                </a:extLst>
              </a:tr>
              <a:tr h="0">
                <a:tc>
                  <a:txBody>
                    <a:bodyPr/>
                    <a:lstStyle/>
                    <a:p>
                      <a:pPr>
                        <a:buNone/>
                      </a:pPr>
                      <a:r>
                        <a:rPr lang="en-US" sz="2000" b="1"/>
                        <a:t>Class 2</a:t>
                      </a:r>
                      <a:endParaRPr lang="en-US" sz="2000"/>
                    </a:p>
                  </a:txBody>
                  <a:tcPr anchor="ctr"/>
                </a:tc>
                <a:tc>
                  <a:txBody>
                    <a:bodyPr/>
                    <a:lstStyle/>
                    <a:p>
                      <a:pPr>
                        <a:buNone/>
                      </a:pPr>
                      <a:r>
                        <a:rPr lang="zh-CN" altLang="en-US" sz="2000"/>
                        <a:t>通过第三方数据库验证申请人身份，例如工商数据库、信用记录系统等</a:t>
                      </a:r>
                    </a:p>
                  </a:txBody>
                  <a:tcPr anchor="ctr"/>
                </a:tc>
                <a:extLst>
                  <a:ext uri="{0D108BD9-81ED-4DB2-BD59-A6C34878D82A}">
                    <a16:rowId xmlns:a16="http://schemas.microsoft.com/office/drawing/2014/main" val="3995087018"/>
                  </a:ext>
                </a:extLst>
              </a:tr>
              <a:tr h="0">
                <a:tc>
                  <a:txBody>
                    <a:bodyPr/>
                    <a:lstStyle/>
                    <a:p>
                      <a:pPr>
                        <a:buNone/>
                      </a:pPr>
                      <a:r>
                        <a:rPr lang="en-US" sz="2000" b="1" dirty="0"/>
                        <a:t>Class 3</a:t>
                      </a:r>
                      <a:endParaRPr lang="en-US" sz="2000" dirty="0"/>
                    </a:p>
                  </a:txBody>
                  <a:tcPr anchor="ctr"/>
                </a:tc>
                <a:tc>
                  <a:txBody>
                    <a:bodyPr/>
                    <a:lstStyle/>
                    <a:p>
                      <a:pPr>
                        <a:buNone/>
                      </a:pPr>
                      <a:r>
                        <a:rPr lang="zh-CN" altLang="en-US" sz="2000" dirty="0"/>
                        <a:t>通过面对面验证以及身份证件核查来确认身份</a:t>
                      </a:r>
                    </a:p>
                  </a:txBody>
                  <a:tcPr anchor="ctr"/>
                </a:tc>
                <a:extLst>
                  <a:ext uri="{0D108BD9-81ED-4DB2-BD59-A6C34878D82A}">
                    <a16:rowId xmlns:a16="http://schemas.microsoft.com/office/drawing/2014/main" val="2236571959"/>
                  </a:ext>
                </a:extLst>
              </a:tr>
            </a:tbl>
          </a:graphicData>
        </a:graphic>
      </p:graphicFrame>
    </p:spTree>
    <p:extLst>
      <p:ext uri="{BB962C8B-B14F-4D97-AF65-F5344CB8AC3E}">
        <p14:creationId xmlns:p14="http://schemas.microsoft.com/office/powerpoint/2010/main" val="2466201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A4238-6284-412B-1A3D-1BE2EE05ED0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8173372-BA0B-E4B6-A663-971FFAFB49B0}"/>
              </a:ext>
            </a:extLst>
          </p:cNvPr>
          <p:cNvSpPr txBox="1"/>
          <p:nvPr/>
        </p:nvSpPr>
        <p:spPr>
          <a:xfrm>
            <a:off x="3352513" y="2754066"/>
            <a:ext cx="5482323" cy="615553"/>
          </a:xfrm>
          <a:prstGeom prst="rect">
            <a:avLst/>
          </a:prstGeom>
          <a:noFill/>
        </p:spPr>
        <p:txBody>
          <a:bodyPr wrap="none" lIns="0" tIns="0" rIns="0" bIns="0" rtlCol="0">
            <a:noAutofit/>
          </a:bodyPr>
          <a:lstStyle/>
          <a:p>
            <a:pPr algn="ctr"/>
            <a:r>
              <a:rPr lang="zh-CN" altLang="en-US" sz="4000" dirty="0">
                <a:solidFill>
                  <a:schemeClr val="accent1"/>
                </a:solidFill>
              </a:rPr>
              <a:t>公钥基础设施</a:t>
            </a:r>
          </a:p>
        </p:txBody>
      </p:sp>
      <p:sp>
        <p:nvSpPr>
          <p:cNvPr id="6" name="文本框 5">
            <a:extLst>
              <a:ext uri="{FF2B5EF4-FFF2-40B4-BE49-F238E27FC236}">
                <a16:creationId xmlns:a16="http://schemas.microsoft.com/office/drawing/2014/main" id="{5260F214-7FF6-71F1-47DE-2E4AC502914E}"/>
              </a:ext>
            </a:extLst>
          </p:cNvPr>
          <p:cNvSpPr txBox="1"/>
          <p:nvPr/>
        </p:nvSpPr>
        <p:spPr>
          <a:xfrm>
            <a:off x="5720898" y="2041451"/>
            <a:ext cx="750205" cy="538609"/>
          </a:xfrm>
          <a:prstGeom prst="rect">
            <a:avLst/>
          </a:prstGeom>
          <a:noFill/>
        </p:spPr>
        <p:txBody>
          <a:bodyPr wrap="none" lIns="0" tIns="0" rIns="0" bIns="0" rtlCol="0">
            <a:noAutofit/>
          </a:bodyPr>
          <a:lstStyle/>
          <a:p>
            <a:pPr algn="ctr"/>
            <a:r>
              <a:rPr lang="en-US" altLang="zh-CN" sz="4000" dirty="0">
                <a:solidFill>
                  <a:schemeClr val="accent1"/>
                </a:solidFill>
              </a:rPr>
              <a:t>#02</a:t>
            </a:r>
            <a:endParaRPr lang="zh-CN" altLang="en-US" sz="4000" dirty="0">
              <a:solidFill>
                <a:schemeClr val="accent1"/>
              </a:solidFill>
            </a:endParaRPr>
          </a:p>
        </p:txBody>
      </p:sp>
      <p:grpSp>
        <p:nvGrpSpPr>
          <p:cNvPr id="32" name="Group 10">
            <a:extLst>
              <a:ext uri="{FF2B5EF4-FFF2-40B4-BE49-F238E27FC236}">
                <a16:creationId xmlns:a16="http://schemas.microsoft.com/office/drawing/2014/main" id="{36E492B1-7614-6ADE-76C6-DC132F68E2D6}"/>
              </a:ext>
            </a:extLst>
          </p:cNvPr>
          <p:cNvGrpSpPr>
            <a:grpSpLocks noChangeAspect="1"/>
          </p:cNvGrpSpPr>
          <p:nvPr/>
        </p:nvGrpSpPr>
        <p:grpSpPr bwMode="auto">
          <a:xfrm rot="18923445">
            <a:off x="3100272" y="1534089"/>
            <a:ext cx="922672" cy="922974"/>
            <a:chOff x="14101" y="4437"/>
            <a:chExt cx="3056" cy="3057"/>
          </a:xfrm>
        </p:grpSpPr>
        <p:sp>
          <p:nvSpPr>
            <p:cNvPr id="33" name="Freeform 11">
              <a:extLst>
                <a:ext uri="{FF2B5EF4-FFF2-40B4-BE49-F238E27FC236}">
                  <a16:creationId xmlns:a16="http://schemas.microsoft.com/office/drawing/2014/main" id="{2893248E-B471-55E6-CFF5-CDEA4182E1E6}"/>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4" name="Freeform 12">
              <a:extLst>
                <a:ext uri="{FF2B5EF4-FFF2-40B4-BE49-F238E27FC236}">
                  <a16:creationId xmlns:a16="http://schemas.microsoft.com/office/drawing/2014/main" id="{A9FF58EB-67B5-EA1F-E676-E88A10D90C2F}"/>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25" name="组合 24">
            <a:extLst>
              <a:ext uri="{FF2B5EF4-FFF2-40B4-BE49-F238E27FC236}">
                <a16:creationId xmlns:a16="http://schemas.microsoft.com/office/drawing/2014/main" id="{2DF21378-41AE-2C2A-AE36-ADBEC5DF74B6}"/>
              </a:ext>
            </a:extLst>
          </p:cNvPr>
          <p:cNvGrpSpPr/>
          <p:nvPr/>
        </p:nvGrpSpPr>
        <p:grpSpPr>
          <a:xfrm rot="18900000">
            <a:off x="7424365" y="-2902432"/>
            <a:ext cx="6098786" cy="6100199"/>
            <a:chOff x="18351500" y="3723568"/>
            <a:chExt cx="4878842" cy="4879972"/>
          </a:xfrm>
        </p:grpSpPr>
        <p:sp>
          <p:nvSpPr>
            <p:cNvPr id="30" name="Freeform 6">
              <a:extLst>
                <a:ext uri="{FF2B5EF4-FFF2-40B4-BE49-F238E27FC236}">
                  <a16:creationId xmlns:a16="http://schemas.microsoft.com/office/drawing/2014/main" id="{4DD7F0E3-8E0C-1303-8ED8-84C434A91FE9}"/>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1" name="Freeform 7">
              <a:extLst>
                <a:ext uri="{FF2B5EF4-FFF2-40B4-BE49-F238E27FC236}">
                  <a16:creationId xmlns:a16="http://schemas.microsoft.com/office/drawing/2014/main" id="{8CA613A5-2D89-E7D0-0797-D5CADC0E9172}"/>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26" name="组合 25">
            <a:extLst>
              <a:ext uri="{FF2B5EF4-FFF2-40B4-BE49-F238E27FC236}">
                <a16:creationId xmlns:a16="http://schemas.microsoft.com/office/drawing/2014/main" id="{15DCB24E-74BF-F202-AADC-90CC232BD0FF}"/>
              </a:ext>
            </a:extLst>
          </p:cNvPr>
          <p:cNvGrpSpPr/>
          <p:nvPr/>
        </p:nvGrpSpPr>
        <p:grpSpPr>
          <a:xfrm rot="8100000">
            <a:off x="6722596" y="2086183"/>
            <a:ext cx="8786687" cy="8788722"/>
            <a:chOff x="18351500" y="3723568"/>
            <a:chExt cx="4878842" cy="4879972"/>
          </a:xfrm>
        </p:grpSpPr>
        <p:sp>
          <p:nvSpPr>
            <p:cNvPr id="28" name="Freeform 6">
              <a:extLst>
                <a:ext uri="{FF2B5EF4-FFF2-40B4-BE49-F238E27FC236}">
                  <a16:creationId xmlns:a16="http://schemas.microsoft.com/office/drawing/2014/main" id="{83074C10-D970-55F6-3C71-9493C96D42B8}"/>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7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29" name="Freeform 7">
              <a:extLst>
                <a:ext uri="{FF2B5EF4-FFF2-40B4-BE49-F238E27FC236}">
                  <a16:creationId xmlns:a16="http://schemas.microsoft.com/office/drawing/2014/main" id="{85EBBAD8-B9BB-205E-6D64-84B56ABC9724}"/>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5" name="Group 10">
            <a:extLst>
              <a:ext uri="{FF2B5EF4-FFF2-40B4-BE49-F238E27FC236}">
                <a16:creationId xmlns:a16="http://schemas.microsoft.com/office/drawing/2014/main" id="{2E18A812-93EF-606C-6EB6-73A234D85DC9}"/>
              </a:ext>
            </a:extLst>
          </p:cNvPr>
          <p:cNvGrpSpPr>
            <a:grpSpLocks noChangeAspect="1"/>
          </p:cNvGrpSpPr>
          <p:nvPr/>
        </p:nvGrpSpPr>
        <p:grpSpPr bwMode="auto">
          <a:xfrm rot="8100000">
            <a:off x="10501205" y="2666453"/>
            <a:ext cx="4851400" cy="4852988"/>
            <a:chOff x="14101" y="4437"/>
            <a:chExt cx="3056" cy="3057"/>
          </a:xfrm>
        </p:grpSpPr>
        <p:sp>
          <p:nvSpPr>
            <p:cNvPr id="36" name="Freeform 11">
              <a:extLst>
                <a:ext uri="{FF2B5EF4-FFF2-40B4-BE49-F238E27FC236}">
                  <a16:creationId xmlns:a16="http://schemas.microsoft.com/office/drawing/2014/main" id="{E09EA765-4BD9-C252-66CA-1527529AEA47}"/>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7" name="Freeform 12">
              <a:extLst>
                <a:ext uri="{FF2B5EF4-FFF2-40B4-BE49-F238E27FC236}">
                  <a16:creationId xmlns:a16="http://schemas.microsoft.com/office/drawing/2014/main" id="{9B395722-7C39-4189-75C9-1F767ACD54C0}"/>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8" name="组合 37">
            <a:extLst>
              <a:ext uri="{FF2B5EF4-FFF2-40B4-BE49-F238E27FC236}">
                <a16:creationId xmlns:a16="http://schemas.microsoft.com/office/drawing/2014/main" id="{8D49E284-1413-19B0-E13A-05273567337F}"/>
              </a:ext>
            </a:extLst>
          </p:cNvPr>
          <p:cNvGrpSpPr/>
          <p:nvPr/>
        </p:nvGrpSpPr>
        <p:grpSpPr>
          <a:xfrm rot="18900000">
            <a:off x="-2098325" y="3005269"/>
            <a:ext cx="6098786" cy="6100199"/>
            <a:chOff x="18351500" y="3723568"/>
            <a:chExt cx="4878842" cy="4879972"/>
          </a:xfrm>
        </p:grpSpPr>
        <p:sp>
          <p:nvSpPr>
            <p:cNvPr id="39" name="Freeform 6">
              <a:extLst>
                <a:ext uri="{FF2B5EF4-FFF2-40B4-BE49-F238E27FC236}">
                  <a16:creationId xmlns:a16="http://schemas.microsoft.com/office/drawing/2014/main" id="{6389B242-D034-A00D-430F-F482689BE6DE}"/>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40" name="Freeform 7">
              <a:extLst>
                <a:ext uri="{FF2B5EF4-FFF2-40B4-BE49-F238E27FC236}">
                  <a16:creationId xmlns:a16="http://schemas.microsoft.com/office/drawing/2014/main" id="{0A8BE5C1-BEFD-7098-8536-97DF4ABA99A0}"/>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41" name="Group 10">
            <a:extLst>
              <a:ext uri="{FF2B5EF4-FFF2-40B4-BE49-F238E27FC236}">
                <a16:creationId xmlns:a16="http://schemas.microsoft.com/office/drawing/2014/main" id="{1A0FDA77-6C6B-7905-54DC-2C0E39BD5976}"/>
              </a:ext>
            </a:extLst>
          </p:cNvPr>
          <p:cNvGrpSpPr>
            <a:grpSpLocks noChangeAspect="1"/>
          </p:cNvGrpSpPr>
          <p:nvPr/>
        </p:nvGrpSpPr>
        <p:grpSpPr bwMode="auto">
          <a:xfrm rot="18923445">
            <a:off x="2714211" y="1610357"/>
            <a:ext cx="1291038" cy="1291460"/>
            <a:chOff x="14101" y="4437"/>
            <a:chExt cx="3056" cy="3057"/>
          </a:xfrm>
        </p:grpSpPr>
        <p:sp>
          <p:nvSpPr>
            <p:cNvPr id="42" name="Freeform 11">
              <a:extLst>
                <a:ext uri="{FF2B5EF4-FFF2-40B4-BE49-F238E27FC236}">
                  <a16:creationId xmlns:a16="http://schemas.microsoft.com/office/drawing/2014/main" id="{C3FDB9A0-99CD-C1E7-91CD-B6E2D80A867A}"/>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sp>
          <p:nvSpPr>
            <p:cNvPr id="43" name="Freeform 12">
              <a:extLst>
                <a:ext uri="{FF2B5EF4-FFF2-40B4-BE49-F238E27FC236}">
                  <a16:creationId xmlns:a16="http://schemas.microsoft.com/office/drawing/2014/main" id="{13D5F37B-BEAA-8A57-0BDA-44FDEFFF0FEA}"/>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spTree>
    <p:extLst>
      <p:ext uri="{BB962C8B-B14F-4D97-AF65-F5344CB8AC3E}">
        <p14:creationId xmlns:p14="http://schemas.microsoft.com/office/powerpoint/2010/main" val="303326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65A92-F84F-9686-710C-4FA2BC4C3F8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91F0B21-6FE3-3661-0616-9A2159C16BFE}"/>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公钥基础设置</a:t>
            </a:r>
            <a:r>
              <a:rPr lang="en-US" altLang="zh-CN" sz="3600" dirty="0">
                <a:solidFill>
                  <a:schemeClr val="accent1"/>
                </a:solidFill>
              </a:rPr>
              <a:t>(Pubic-Key Infrastructure, PKI)</a:t>
            </a:r>
            <a:endParaRPr lang="zh-CN" altLang="en-US" sz="3600" dirty="0">
              <a:solidFill>
                <a:schemeClr val="accent1"/>
              </a:solidFill>
            </a:endParaRPr>
          </a:p>
        </p:txBody>
      </p:sp>
      <p:grpSp>
        <p:nvGrpSpPr>
          <p:cNvPr id="3" name="组合 2">
            <a:extLst>
              <a:ext uri="{FF2B5EF4-FFF2-40B4-BE49-F238E27FC236}">
                <a16:creationId xmlns:a16="http://schemas.microsoft.com/office/drawing/2014/main" id="{EBCDDEE0-4964-E81D-6CF6-9DB3D2FD55C6}"/>
              </a:ext>
            </a:extLst>
          </p:cNvPr>
          <p:cNvGrpSpPr/>
          <p:nvPr/>
        </p:nvGrpSpPr>
        <p:grpSpPr>
          <a:xfrm>
            <a:off x="9109179" y="107955"/>
            <a:ext cx="425713" cy="442041"/>
            <a:chOff x="5823870" y="1767426"/>
            <a:chExt cx="425713" cy="442041"/>
          </a:xfrm>
        </p:grpSpPr>
        <p:grpSp>
          <p:nvGrpSpPr>
            <p:cNvPr id="4" name="Group 10">
              <a:extLst>
                <a:ext uri="{FF2B5EF4-FFF2-40B4-BE49-F238E27FC236}">
                  <a16:creationId xmlns:a16="http://schemas.microsoft.com/office/drawing/2014/main" id="{82A780D2-F425-9084-D933-AAB5E6DD3330}"/>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A44929DB-D2B2-C185-0A09-E02111650E49}"/>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499466D3-806D-CAE1-4B75-854B8871DB22}"/>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4B307FED-F86A-5362-EEF7-246B300BC330}"/>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C0707CC4-E6D2-9613-08F9-B7BB2C6E4FFA}"/>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E21405F6-D458-353E-A037-4CCC846FE8D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F5F0A166-4821-8D25-9CFA-BF3271577D96}"/>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pPr>
              <a:buNone/>
            </a:pPr>
            <a:r>
              <a:rPr lang="en-US" altLang="zh-CN" sz="2800" dirty="0"/>
              <a:t>PKI</a:t>
            </a:r>
            <a:r>
              <a:rPr lang="zh-CN" altLang="en-US" sz="2800" dirty="0"/>
              <a:t>是为了能够更有效地运用公钥而制定的一系列规范和规格的总称</a:t>
            </a:r>
          </a:p>
        </p:txBody>
      </p:sp>
      <p:sp>
        <p:nvSpPr>
          <p:cNvPr id="15" name="矩形 14">
            <a:extLst>
              <a:ext uri="{FF2B5EF4-FFF2-40B4-BE49-F238E27FC236}">
                <a16:creationId xmlns:a16="http://schemas.microsoft.com/office/drawing/2014/main" id="{F17F9811-AB16-542C-343A-55DCFFD1BDF1}"/>
              </a:ext>
            </a:extLst>
          </p:cNvPr>
          <p:cNvSpPr/>
          <p:nvPr/>
        </p:nvSpPr>
        <p:spPr>
          <a:xfrm>
            <a:off x="681840" y="3157037"/>
            <a:ext cx="4835040" cy="139446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en-US" altLang="zh-CN" sz="2400" dirty="0">
                <a:solidFill>
                  <a:schemeClr val="tx1"/>
                </a:solidFill>
              </a:rPr>
              <a:t>1.</a:t>
            </a:r>
            <a:r>
              <a:rPr lang="zh-CN" altLang="en-US" sz="2400" dirty="0">
                <a:solidFill>
                  <a:schemeClr val="tx1"/>
                </a:solidFill>
              </a:rPr>
              <a:t>用户</a:t>
            </a:r>
            <a:r>
              <a:rPr lang="en-US" altLang="zh-CN" sz="2400" dirty="0">
                <a:solidFill>
                  <a:schemeClr val="tx1"/>
                </a:solidFill>
              </a:rPr>
              <a:t>——</a:t>
            </a:r>
            <a:r>
              <a:rPr lang="zh-CN" altLang="en-US" sz="2400" dirty="0">
                <a:solidFill>
                  <a:schemeClr val="tx1"/>
                </a:solidFill>
              </a:rPr>
              <a:t>使用</a:t>
            </a:r>
            <a:r>
              <a:rPr lang="en-US" altLang="zh-CN" sz="2400" dirty="0">
                <a:solidFill>
                  <a:schemeClr val="tx1"/>
                </a:solidFill>
              </a:rPr>
              <a:t>PKI</a:t>
            </a:r>
            <a:r>
              <a:rPr lang="zh-CN" altLang="en-US" sz="2400" dirty="0">
                <a:solidFill>
                  <a:schemeClr val="tx1"/>
                </a:solidFill>
              </a:rPr>
              <a:t>的人</a:t>
            </a:r>
            <a:r>
              <a:rPr lang="en-US" altLang="zh-CN" sz="2400" dirty="0">
                <a:solidFill>
                  <a:schemeClr val="tx1"/>
                </a:solidFill>
              </a:rPr>
              <a:t>/</a:t>
            </a:r>
            <a:r>
              <a:rPr lang="zh-CN" altLang="en-US" sz="2400" dirty="0">
                <a:solidFill>
                  <a:schemeClr val="tx1"/>
                </a:solidFill>
              </a:rPr>
              <a:t>机构</a:t>
            </a:r>
          </a:p>
          <a:p>
            <a:r>
              <a:rPr lang="en-US" altLang="zh-CN" sz="2400" dirty="0">
                <a:solidFill>
                  <a:schemeClr val="tx1"/>
                </a:solidFill>
              </a:rPr>
              <a:t>2.</a:t>
            </a:r>
            <a:r>
              <a:rPr lang="zh-CN" altLang="en-US" sz="2400" dirty="0">
                <a:solidFill>
                  <a:schemeClr val="tx1"/>
                </a:solidFill>
              </a:rPr>
              <a:t>认证机构</a:t>
            </a:r>
            <a:r>
              <a:rPr lang="en-US" altLang="zh-CN" sz="2400" dirty="0">
                <a:solidFill>
                  <a:schemeClr val="tx1"/>
                </a:solidFill>
              </a:rPr>
              <a:t>——</a:t>
            </a:r>
            <a:r>
              <a:rPr lang="zh-CN" altLang="en-US" sz="2400" dirty="0">
                <a:solidFill>
                  <a:schemeClr val="tx1"/>
                </a:solidFill>
              </a:rPr>
              <a:t>颁发证书的人</a:t>
            </a:r>
            <a:r>
              <a:rPr lang="en-US" altLang="zh-CN" sz="2400" dirty="0">
                <a:solidFill>
                  <a:schemeClr val="tx1"/>
                </a:solidFill>
              </a:rPr>
              <a:t>/</a:t>
            </a:r>
            <a:r>
              <a:rPr lang="zh-CN" altLang="en-US" sz="2400" dirty="0">
                <a:solidFill>
                  <a:schemeClr val="tx1"/>
                </a:solidFill>
              </a:rPr>
              <a:t>机构</a:t>
            </a:r>
          </a:p>
          <a:p>
            <a:r>
              <a:rPr lang="en-US" altLang="zh-CN" sz="2400" dirty="0">
                <a:solidFill>
                  <a:schemeClr val="tx1"/>
                </a:solidFill>
              </a:rPr>
              <a:t>3.</a:t>
            </a:r>
            <a:r>
              <a:rPr lang="zh-CN" altLang="en-US" sz="2400" dirty="0">
                <a:solidFill>
                  <a:schemeClr val="tx1"/>
                </a:solidFill>
              </a:rPr>
              <a:t>仓库</a:t>
            </a:r>
            <a:r>
              <a:rPr lang="en-US" altLang="zh-CN" sz="2400" dirty="0">
                <a:solidFill>
                  <a:schemeClr val="tx1"/>
                </a:solidFill>
              </a:rPr>
              <a:t>——</a:t>
            </a:r>
            <a:r>
              <a:rPr lang="zh-CN" altLang="en-US" sz="2400" dirty="0">
                <a:solidFill>
                  <a:schemeClr val="tx1"/>
                </a:solidFill>
              </a:rPr>
              <a:t>保存证书的数据库</a:t>
            </a:r>
          </a:p>
        </p:txBody>
      </p:sp>
      <p:sp>
        <p:nvSpPr>
          <p:cNvPr id="19" name="文本框 18">
            <a:extLst>
              <a:ext uri="{FF2B5EF4-FFF2-40B4-BE49-F238E27FC236}">
                <a16:creationId xmlns:a16="http://schemas.microsoft.com/office/drawing/2014/main" id="{13F91DC4-3241-439D-5695-2F798E57D173}"/>
              </a:ext>
            </a:extLst>
          </p:cNvPr>
          <p:cNvSpPr txBox="1"/>
          <p:nvPr/>
        </p:nvSpPr>
        <p:spPr>
          <a:xfrm>
            <a:off x="1222978" y="2570896"/>
            <a:ext cx="2905549" cy="523220"/>
          </a:xfrm>
          <a:prstGeom prst="rect">
            <a:avLst/>
          </a:prstGeom>
          <a:noFill/>
        </p:spPr>
        <p:txBody>
          <a:bodyPr wrap="square">
            <a:spAutoFit/>
          </a:bodyPr>
          <a:lstStyle/>
          <a:p>
            <a:pPr algn="ctr">
              <a:buNone/>
            </a:pPr>
            <a:r>
              <a:rPr lang="en-US" altLang="zh-CN" sz="2800" dirty="0">
                <a:solidFill>
                  <a:srgbClr val="FF0000"/>
                </a:solidFill>
              </a:rPr>
              <a:t>PKI </a:t>
            </a:r>
            <a:r>
              <a:rPr lang="zh-CN" altLang="en-US" sz="2800" dirty="0">
                <a:solidFill>
                  <a:srgbClr val="FF0000"/>
                </a:solidFill>
              </a:rPr>
              <a:t>的组成要素</a:t>
            </a:r>
            <a:endParaRPr lang="zh-CN" altLang="en-US" sz="2400" b="1" dirty="0">
              <a:solidFill>
                <a:srgbClr val="FF0000"/>
              </a:solidFill>
            </a:endParaRPr>
          </a:p>
        </p:txBody>
      </p:sp>
      <p:grpSp>
        <p:nvGrpSpPr>
          <p:cNvPr id="22" name="组合 21">
            <a:extLst>
              <a:ext uri="{FF2B5EF4-FFF2-40B4-BE49-F238E27FC236}">
                <a16:creationId xmlns:a16="http://schemas.microsoft.com/office/drawing/2014/main" id="{A118FEA6-332C-823F-2E8D-AACA28B27336}"/>
              </a:ext>
            </a:extLst>
          </p:cNvPr>
          <p:cNvGrpSpPr/>
          <p:nvPr/>
        </p:nvGrpSpPr>
        <p:grpSpPr>
          <a:xfrm>
            <a:off x="5751373" y="1422388"/>
            <a:ext cx="6029148" cy="5258689"/>
            <a:chOff x="6195591" y="1520524"/>
            <a:chExt cx="5539209" cy="4831359"/>
          </a:xfrm>
        </p:grpSpPr>
        <p:pic>
          <p:nvPicPr>
            <p:cNvPr id="12" name="图片 11" descr="图示&#10;&#10;AI 生成的内容可能不正确。">
              <a:extLst>
                <a:ext uri="{FF2B5EF4-FFF2-40B4-BE49-F238E27FC236}">
                  <a16:creationId xmlns:a16="http://schemas.microsoft.com/office/drawing/2014/main" id="{B2CCC5E7-56F0-41E4-8C4B-04D9B67D4D8F}"/>
                </a:ext>
              </a:extLst>
            </p:cNvPr>
            <p:cNvPicPr>
              <a:picLocks noChangeAspect="1"/>
            </p:cNvPicPr>
            <p:nvPr/>
          </p:nvPicPr>
          <p:blipFill>
            <a:blip r:embed="rId3"/>
            <a:stretch>
              <a:fillRect/>
            </a:stretch>
          </p:blipFill>
          <p:spPr>
            <a:xfrm>
              <a:off x="6195591" y="1520524"/>
              <a:ext cx="5539209" cy="4831359"/>
            </a:xfrm>
            <a:prstGeom prst="rect">
              <a:avLst/>
            </a:prstGeom>
          </p:spPr>
        </p:pic>
        <p:grpSp>
          <p:nvGrpSpPr>
            <p:cNvPr id="21" name="组合 20">
              <a:extLst>
                <a:ext uri="{FF2B5EF4-FFF2-40B4-BE49-F238E27FC236}">
                  <a16:creationId xmlns:a16="http://schemas.microsoft.com/office/drawing/2014/main" id="{A5AE2D59-FB19-0183-7608-B380FC67C758}"/>
                </a:ext>
              </a:extLst>
            </p:cNvPr>
            <p:cNvGrpSpPr/>
            <p:nvPr/>
          </p:nvGrpSpPr>
          <p:grpSpPr>
            <a:xfrm>
              <a:off x="6359899" y="3589020"/>
              <a:ext cx="632851" cy="265247"/>
              <a:chOff x="6359899" y="3589020"/>
              <a:chExt cx="632851" cy="265247"/>
            </a:xfrm>
          </p:grpSpPr>
          <p:pic>
            <p:nvPicPr>
              <p:cNvPr id="16" name="图片 15" descr="图片包含 背景图案&#10;&#10;AI 生成的内容可能不正确。">
                <a:extLst>
                  <a:ext uri="{FF2B5EF4-FFF2-40B4-BE49-F238E27FC236}">
                    <a16:creationId xmlns:a16="http://schemas.microsoft.com/office/drawing/2014/main" id="{26B680B4-F4D3-A1F3-A3CF-0BAABC222EBD}"/>
                  </a:ext>
                </a:extLst>
              </p:cNvPr>
              <p:cNvPicPr>
                <a:picLocks noChangeAspect="1"/>
              </p:cNvPicPr>
              <p:nvPr/>
            </p:nvPicPr>
            <p:blipFill>
              <a:blip r:embed="rId4"/>
              <a:stretch>
                <a:fillRect/>
              </a:stretch>
            </p:blipFill>
            <p:spPr>
              <a:xfrm>
                <a:off x="6359899" y="3589020"/>
                <a:ext cx="452381" cy="225694"/>
              </a:xfrm>
              <a:prstGeom prst="rect">
                <a:avLst/>
              </a:prstGeom>
            </p:spPr>
          </p:pic>
          <p:pic>
            <p:nvPicPr>
              <p:cNvPr id="18" name="图片 17" descr="图片包含 背景图案&#10;&#10;AI 生成的内容可能不正确。">
                <a:extLst>
                  <a:ext uri="{FF2B5EF4-FFF2-40B4-BE49-F238E27FC236}">
                    <a16:creationId xmlns:a16="http://schemas.microsoft.com/office/drawing/2014/main" id="{1AFE02BA-894B-0B6D-495D-905C0A5DC71E}"/>
                  </a:ext>
                </a:extLst>
              </p:cNvPr>
              <p:cNvPicPr>
                <a:picLocks noChangeAspect="1"/>
              </p:cNvPicPr>
              <p:nvPr/>
            </p:nvPicPr>
            <p:blipFill>
              <a:blip r:embed="rId4"/>
              <a:stretch>
                <a:fillRect/>
              </a:stretch>
            </p:blipFill>
            <p:spPr>
              <a:xfrm>
                <a:off x="6540369" y="3701867"/>
                <a:ext cx="452381" cy="152400"/>
              </a:xfrm>
              <a:prstGeom prst="rect">
                <a:avLst/>
              </a:prstGeom>
            </p:spPr>
          </p:pic>
        </p:grpSp>
      </p:grpSp>
    </p:spTree>
    <p:extLst>
      <p:ext uri="{BB962C8B-B14F-4D97-AF65-F5344CB8AC3E}">
        <p14:creationId xmlns:p14="http://schemas.microsoft.com/office/powerpoint/2010/main" val="24010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7CFD3-0936-7093-9041-B36CB3F6E37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09CC51E-05A2-6D0F-92B9-3F237D8F7B59}"/>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dirty="0">
                <a:solidFill>
                  <a:schemeClr val="accent1"/>
                </a:solidFill>
              </a:rPr>
              <a:t>PKI </a:t>
            </a:r>
            <a:r>
              <a:rPr lang="zh-CN" altLang="en-US" sz="3600" dirty="0">
                <a:solidFill>
                  <a:schemeClr val="accent1"/>
                </a:solidFill>
              </a:rPr>
              <a:t>的组成要素</a:t>
            </a:r>
          </a:p>
        </p:txBody>
      </p:sp>
      <p:grpSp>
        <p:nvGrpSpPr>
          <p:cNvPr id="3" name="组合 2">
            <a:extLst>
              <a:ext uri="{FF2B5EF4-FFF2-40B4-BE49-F238E27FC236}">
                <a16:creationId xmlns:a16="http://schemas.microsoft.com/office/drawing/2014/main" id="{02CEA979-E4A7-27B7-075E-CA6CA9BB13AF}"/>
              </a:ext>
            </a:extLst>
          </p:cNvPr>
          <p:cNvGrpSpPr/>
          <p:nvPr/>
        </p:nvGrpSpPr>
        <p:grpSpPr>
          <a:xfrm>
            <a:off x="3295119" y="108987"/>
            <a:ext cx="425713" cy="442041"/>
            <a:chOff x="5823870" y="1767426"/>
            <a:chExt cx="425713" cy="442041"/>
          </a:xfrm>
        </p:grpSpPr>
        <p:grpSp>
          <p:nvGrpSpPr>
            <p:cNvPr id="4" name="Group 10">
              <a:extLst>
                <a:ext uri="{FF2B5EF4-FFF2-40B4-BE49-F238E27FC236}">
                  <a16:creationId xmlns:a16="http://schemas.microsoft.com/office/drawing/2014/main" id="{30AAE5E7-EBA5-014E-EE1E-5B36E6FDB3AA}"/>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4CA8EE3F-5D69-3644-F6A6-951CEFE92582}"/>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A2A583B8-3044-9FEE-6599-000F66B7D7AC}"/>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0DDD9C3B-2698-8E6B-C5A6-5AD14A3DDE7D}"/>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B171002B-EABD-33DA-E271-4B873C135E22}"/>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90160886-E606-3E2A-3469-D005A339985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96CB910A-2BF8-8E2F-374F-008C98831955}"/>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用户 </a:t>
            </a:r>
            <a:r>
              <a:rPr lang="en-US" altLang="zh-CN" sz="2800" dirty="0"/>
              <a:t>(User)</a:t>
            </a:r>
            <a:endParaRPr lang="zh-CN" altLang="en-US" sz="2800" dirty="0"/>
          </a:p>
        </p:txBody>
      </p:sp>
      <p:sp>
        <p:nvSpPr>
          <p:cNvPr id="14" name="矩形 13">
            <a:extLst>
              <a:ext uri="{FF2B5EF4-FFF2-40B4-BE49-F238E27FC236}">
                <a16:creationId xmlns:a16="http://schemas.microsoft.com/office/drawing/2014/main" id="{F4E64C40-2198-5EFC-568A-BD3D3A326BA4}"/>
              </a:ext>
            </a:extLst>
          </p:cNvPr>
          <p:cNvSpPr/>
          <p:nvPr/>
        </p:nvSpPr>
        <p:spPr>
          <a:xfrm>
            <a:off x="639985" y="1339622"/>
            <a:ext cx="4835040" cy="5259298"/>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000" b="1" dirty="0">
                <a:solidFill>
                  <a:srgbClr val="FF0000"/>
                </a:solidFill>
              </a:rPr>
              <a:t>注册自己公钥的用户（</a:t>
            </a:r>
            <a:r>
              <a:rPr lang="en-US" altLang="zh-CN" sz="2000" b="1" dirty="0">
                <a:solidFill>
                  <a:srgbClr val="FF0000"/>
                </a:solidFill>
              </a:rPr>
              <a:t>Bob</a:t>
            </a:r>
            <a:r>
              <a:rPr lang="zh-CN" altLang="en-US" sz="2000" b="1" dirty="0">
                <a:solidFill>
                  <a:srgbClr val="FF0000"/>
                </a:solidFill>
              </a:rPr>
              <a:t>）的操作</a:t>
            </a:r>
            <a:endParaRPr lang="en-US" altLang="zh-CN" sz="2000" b="1" dirty="0">
              <a:solidFill>
                <a:srgbClr val="FF0000"/>
              </a:solidFill>
            </a:endParaRPr>
          </a:p>
          <a:p>
            <a:r>
              <a:rPr lang="en-US" altLang="zh-CN" sz="2000" dirty="0">
                <a:solidFill>
                  <a:schemeClr val="tx1"/>
                </a:solidFill>
              </a:rPr>
              <a:t>——</a:t>
            </a:r>
            <a:r>
              <a:rPr lang="zh-CN" altLang="en-US" sz="2000" dirty="0">
                <a:solidFill>
                  <a:schemeClr val="tx1"/>
                </a:solidFill>
              </a:rPr>
              <a:t>即希望将自己的公钥加入 </a:t>
            </a:r>
            <a:r>
              <a:rPr lang="en-US" altLang="zh-CN" sz="2000" dirty="0">
                <a:solidFill>
                  <a:schemeClr val="tx1"/>
                </a:solidFill>
              </a:rPr>
              <a:t>PKI </a:t>
            </a:r>
            <a:r>
              <a:rPr lang="zh-CN" altLang="en-US" sz="2000" dirty="0">
                <a:solidFill>
                  <a:schemeClr val="tx1"/>
                </a:solidFill>
              </a:rPr>
              <a:t>并获得证书的用户</a:t>
            </a:r>
            <a:endParaRPr lang="en-US" altLang="zh-CN" sz="2000" dirty="0">
              <a:solidFill>
                <a:schemeClr val="tx1"/>
              </a:solidFill>
            </a:endParaRPr>
          </a:p>
          <a:p>
            <a:endParaRPr lang="zh-CN" altLang="en-US" sz="2000" dirty="0">
              <a:solidFill>
                <a:schemeClr val="tx1"/>
              </a:solidFill>
            </a:endParaRPr>
          </a:p>
          <a:p>
            <a:pPr marL="342900" indent="-342900">
              <a:buFont typeface="Arial" panose="020B0604020202020204" pitchFamily="34" charset="0"/>
              <a:buChar char="•"/>
            </a:pPr>
            <a:r>
              <a:rPr lang="zh-CN" altLang="en-US" sz="2000" dirty="0">
                <a:solidFill>
                  <a:srgbClr val="FF0000"/>
                </a:solidFill>
              </a:rPr>
              <a:t>生成密钥对</a:t>
            </a:r>
            <a:r>
              <a:rPr lang="zh-CN" altLang="en-US" sz="2000" dirty="0">
                <a:solidFill>
                  <a:schemeClr val="tx1"/>
                </a:solidFill>
              </a:rPr>
              <a:t>：也可以委托认证机构代为生成</a:t>
            </a:r>
          </a:p>
          <a:p>
            <a:pPr marL="342900" indent="-342900">
              <a:buFont typeface="Arial" panose="020B0604020202020204" pitchFamily="34" charset="0"/>
              <a:buChar char="•"/>
            </a:pPr>
            <a:r>
              <a:rPr lang="zh-CN" altLang="en-US" sz="2000" dirty="0">
                <a:solidFill>
                  <a:srgbClr val="FF0000"/>
                </a:solidFill>
              </a:rPr>
              <a:t>在认证机构注册公钥</a:t>
            </a:r>
            <a:r>
              <a:rPr lang="zh-CN" altLang="en-US" sz="2000" dirty="0">
                <a:solidFill>
                  <a:schemeClr val="tx1"/>
                </a:solidFill>
              </a:rPr>
              <a:t>：将生成的公钥提交给 </a:t>
            </a:r>
            <a:r>
              <a:rPr lang="en-US" altLang="zh-CN" sz="2000" dirty="0">
                <a:solidFill>
                  <a:schemeClr val="tx1"/>
                </a:solidFill>
              </a:rPr>
              <a:t>CA</a:t>
            </a:r>
            <a:endParaRPr lang="zh-CN" altLang="en-US" sz="2000" dirty="0">
              <a:solidFill>
                <a:schemeClr val="tx1"/>
              </a:solidFill>
            </a:endParaRPr>
          </a:p>
          <a:p>
            <a:pPr marL="342900" indent="-342900">
              <a:buFont typeface="Arial" panose="020B0604020202020204" pitchFamily="34" charset="0"/>
              <a:buChar char="•"/>
            </a:pPr>
            <a:r>
              <a:rPr lang="zh-CN" altLang="en-US" sz="2000" dirty="0">
                <a:solidFill>
                  <a:srgbClr val="FF0000"/>
                </a:solidFill>
              </a:rPr>
              <a:t>向认证机构申请证书</a:t>
            </a:r>
            <a:r>
              <a:rPr lang="zh-CN" altLang="en-US" sz="2000" dirty="0">
                <a:solidFill>
                  <a:schemeClr val="tx1"/>
                </a:solidFill>
              </a:rPr>
              <a:t>：由 </a:t>
            </a:r>
            <a:r>
              <a:rPr lang="en-US" altLang="zh-CN" sz="2000" dirty="0">
                <a:solidFill>
                  <a:schemeClr val="tx1"/>
                </a:solidFill>
              </a:rPr>
              <a:t>CA </a:t>
            </a:r>
            <a:r>
              <a:rPr lang="zh-CN" altLang="en-US" sz="2000" dirty="0">
                <a:solidFill>
                  <a:schemeClr val="tx1"/>
                </a:solidFill>
              </a:rPr>
              <a:t>对其公钥进行签名，生成证书</a:t>
            </a:r>
          </a:p>
          <a:p>
            <a:pPr marL="342900" indent="-342900">
              <a:buFont typeface="Arial" panose="020B0604020202020204" pitchFamily="34" charset="0"/>
              <a:buChar char="•"/>
            </a:pPr>
            <a:r>
              <a:rPr lang="zh-CN" altLang="en-US" sz="2000" dirty="0">
                <a:solidFill>
                  <a:srgbClr val="FF0000"/>
                </a:solidFill>
              </a:rPr>
              <a:t>根据需要申请作废</a:t>
            </a:r>
            <a:r>
              <a:rPr lang="en-US" altLang="zh-CN" sz="2000" dirty="0">
                <a:solidFill>
                  <a:srgbClr val="FF0000"/>
                </a:solidFill>
              </a:rPr>
              <a:t>/</a:t>
            </a:r>
            <a:r>
              <a:rPr lang="zh-CN" altLang="en-US" sz="2000" dirty="0">
                <a:solidFill>
                  <a:srgbClr val="FF0000"/>
                </a:solidFill>
              </a:rPr>
              <a:t>吊销已注册的公钥</a:t>
            </a:r>
            <a:r>
              <a:rPr lang="zh-CN" altLang="en-US" sz="2000" dirty="0">
                <a:solidFill>
                  <a:schemeClr val="tx1"/>
                </a:solidFill>
              </a:rPr>
              <a:t>：如私钥泄露或身份变更，需要提交证书吊销请求</a:t>
            </a:r>
            <a:endParaRPr lang="en-US" altLang="zh-CN" sz="2000" dirty="0">
              <a:solidFill>
                <a:schemeClr val="tx1"/>
              </a:solidFill>
            </a:endParaRPr>
          </a:p>
          <a:p>
            <a:pPr marL="342900" indent="-342900">
              <a:buFont typeface="Arial" panose="020B0604020202020204" pitchFamily="34" charset="0"/>
              <a:buChar char="•"/>
            </a:pPr>
            <a:r>
              <a:rPr lang="zh-CN" altLang="en-US" sz="2000" dirty="0">
                <a:solidFill>
                  <a:srgbClr val="FF0000"/>
                </a:solidFill>
              </a:rPr>
              <a:t>解密接收到的密文</a:t>
            </a:r>
            <a:r>
              <a:rPr lang="zh-CN" altLang="en-US" sz="2000" dirty="0">
                <a:solidFill>
                  <a:schemeClr val="tx1"/>
                </a:solidFill>
              </a:rPr>
              <a:t>：使用自己的私钥恢复由对方加密的消息</a:t>
            </a:r>
          </a:p>
          <a:p>
            <a:pPr marL="342900" indent="-342900">
              <a:buFont typeface="Arial" panose="020B0604020202020204" pitchFamily="34" charset="0"/>
              <a:buChar char="•"/>
            </a:pPr>
            <a:r>
              <a:rPr lang="zh-CN" altLang="en-US" sz="2000" dirty="0">
                <a:solidFill>
                  <a:srgbClr val="FF0000"/>
                </a:solidFill>
              </a:rPr>
              <a:t>对消息进行数字签名</a:t>
            </a:r>
            <a:r>
              <a:rPr lang="zh-CN" altLang="en-US" sz="2000" dirty="0">
                <a:solidFill>
                  <a:schemeClr val="tx1"/>
                </a:solidFill>
              </a:rPr>
              <a:t>：使用自己的私钥对消息进行认证</a:t>
            </a:r>
          </a:p>
        </p:txBody>
      </p:sp>
      <p:sp>
        <p:nvSpPr>
          <p:cNvPr id="20" name="文本框 19">
            <a:extLst>
              <a:ext uri="{FF2B5EF4-FFF2-40B4-BE49-F238E27FC236}">
                <a16:creationId xmlns:a16="http://schemas.microsoft.com/office/drawing/2014/main" id="{92AC5E3B-7B32-0459-74AF-40F45A0F1EC3}"/>
              </a:ext>
            </a:extLst>
          </p:cNvPr>
          <p:cNvSpPr txBox="1"/>
          <p:nvPr/>
        </p:nvSpPr>
        <p:spPr>
          <a:xfrm>
            <a:off x="5993130" y="1519492"/>
            <a:ext cx="6198870" cy="1384995"/>
          </a:xfrm>
          <a:prstGeom prst="rect">
            <a:avLst/>
          </a:prstGeom>
          <a:noFill/>
        </p:spPr>
        <p:txBody>
          <a:bodyPr wrap="square">
            <a:spAutoFit/>
          </a:bodyPr>
          <a:lstStyle/>
          <a:p>
            <a:r>
              <a:rPr lang="zh-CN" altLang="en-US" sz="2800" dirty="0">
                <a:solidFill>
                  <a:srgbClr val="FF0000"/>
                </a:solidFill>
              </a:rPr>
              <a:t>用户分为两类：</a:t>
            </a:r>
          </a:p>
          <a:p>
            <a:r>
              <a:rPr lang="en-US" altLang="zh-CN" sz="2800" dirty="0">
                <a:solidFill>
                  <a:srgbClr val="FF0000"/>
                </a:solidFill>
              </a:rPr>
              <a:t>1.</a:t>
            </a:r>
            <a:r>
              <a:rPr lang="zh-CN" altLang="en-US" sz="2800" dirty="0">
                <a:solidFill>
                  <a:srgbClr val="FF0000"/>
                </a:solidFill>
              </a:rPr>
              <a:t>注册自己公钥的用户（</a:t>
            </a:r>
            <a:r>
              <a:rPr lang="en-US" altLang="zh-CN" sz="2800" dirty="0">
                <a:solidFill>
                  <a:srgbClr val="FF0000"/>
                </a:solidFill>
              </a:rPr>
              <a:t>Bob</a:t>
            </a:r>
            <a:r>
              <a:rPr lang="zh-CN" altLang="en-US" sz="2800" dirty="0">
                <a:solidFill>
                  <a:srgbClr val="FF0000"/>
                </a:solidFill>
              </a:rPr>
              <a:t>）</a:t>
            </a:r>
          </a:p>
          <a:p>
            <a:r>
              <a:rPr lang="en-US" altLang="zh-CN" sz="2800" dirty="0">
                <a:solidFill>
                  <a:srgbClr val="FF0000"/>
                </a:solidFill>
              </a:rPr>
              <a:t>2.</a:t>
            </a:r>
            <a:r>
              <a:rPr lang="zh-CN" altLang="en-US" sz="2800" dirty="0">
                <a:solidFill>
                  <a:srgbClr val="FF0000"/>
                </a:solidFill>
              </a:rPr>
              <a:t>使用他人已注册公钥的用户（</a:t>
            </a:r>
            <a:r>
              <a:rPr lang="en-US" altLang="zh-CN" sz="2800" dirty="0">
                <a:solidFill>
                  <a:srgbClr val="FF0000"/>
                </a:solidFill>
              </a:rPr>
              <a:t>Alice</a:t>
            </a:r>
            <a:r>
              <a:rPr lang="zh-CN" altLang="en-US" sz="2800" dirty="0">
                <a:solidFill>
                  <a:srgbClr val="FF0000"/>
                </a:solidFill>
              </a:rPr>
              <a:t>）</a:t>
            </a:r>
          </a:p>
        </p:txBody>
      </p:sp>
      <p:sp>
        <p:nvSpPr>
          <p:cNvPr id="23" name="矩形 22">
            <a:extLst>
              <a:ext uri="{FF2B5EF4-FFF2-40B4-BE49-F238E27FC236}">
                <a16:creationId xmlns:a16="http://schemas.microsoft.com/office/drawing/2014/main" id="{57364C37-B0CB-58E3-0119-98E7FECB08C1}"/>
              </a:ext>
            </a:extLst>
          </p:cNvPr>
          <p:cNvSpPr/>
          <p:nvPr/>
        </p:nvSpPr>
        <p:spPr>
          <a:xfrm>
            <a:off x="6292535" y="3427802"/>
            <a:ext cx="5193180" cy="270510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000" b="1" dirty="0">
                <a:solidFill>
                  <a:srgbClr val="FF0000"/>
                </a:solidFill>
              </a:rPr>
              <a:t>使用他人已注册公钥的用户（</a:t>
            </a:r>
            <a:r>
              <a:rPr lang="en-US" altLang="zh-CN" sz="2000" b="1" dirty="0">
                <a:solidFill>
                  <a:srgbClr val="FF0000"/>
                </a:solidFill>
              </a:rPr>
              <a:t>Alice</a:t>
            </a:r>
            <a:r>
              <a:rPr lang="zh-CN" altLang="en-US" sz="2000" b="1" dirty="0">
                <a:solidFill>
                  <a:srgbClr val="FF0000"/>
                </a:solidFill>
              </a:rPr>
              <a:t>）的操作</a:t>
            </a:r>
          </a:p>
          <a:p>
            <a:pPr>
              <a:buNone/>
            </a:pPr>
            <a:r>
              <a:rPr lang="en-US" altLang="zh-CN" sz="2000" dirty="0">
                <a:solidFill>
                  <a:schemeClr val="tx1"/>
                </a:solidFill>
              </a:rPr>
              <a:t>——</a:t>
            </a:r>
            <a:r>
              <a:rPr lang="zh-CN" altLang="en-US" sz="2000" dirty="0">
                <a:solidFill>
                  <a:schemeClr val="tx1"/>
                </a:solidFill>
              </a:rPr>
              <a:t>即希望使用对方证书进行安全通信的用户</a:t>
            </a:r>
            <a:endParaRPr lang="en-US" altLang="zh-CN" sz="2000" dirty="0">
              <a:solidFill>
                <a:schemeClr val="tx1"/>
              </a:solidFill>
            </a:endParaRPr>
          </a:p>
          <a:p>
            <a:pPr>
              <a:buNone/>
            </a:pPr>
            <a:endParaRPr lang="zh-CN" altLang="en-US" sz="2000" dirty="0">
              <a:solidFill>
                <a:schemeClr val="tx1"/>
              </a:solidFill>
            </a:endParaRPr>
          </a:p>
          <a:p>
            <a:pPr marL="342900" indent="-342900">
              <a:buFont typeface="Arial" panose="020B0604020202020204" pitchFamily="34" charset="0"/>
              <a:buChar char="•"/>
            </a:pPr>
            <a:r>
              <a:rPr lang="zh-CN" altLang="en-US" sz="2000" dirty="0">
                <a:solidFill>
                  <a:srgbClr val="FF0000"/>
                </a:solidFill>
              </a:rPr>
              <a:t>将消息加密后发送给接收者</a:t>
            </a:r>
            <a:r>
              <a:rPr lang="zh-CN" altLang="en-US" sz="2000" dirty="0">
                <a:solidFill>
                  <a:schemeClr val="tx1"/>
                </a:solidFill>
              </a:rPr>
              <a:t>：使用对方的公钥加密消息</a:t>
            </a:r>
            <a:endParaRPr lang="en-US" altLang="zh-CN" sz="2000" dirty="0">
              <a:solidFill>
                <a:schemeClr val="tx1"/>
              </a:solidFill>
            </a:endParaRPr>
          </a:p>
          <a:p>
            <a:pPr marL="342900" indent="-342900">
              <a:buFont typeface="Arial" panose="020B0604020202020204" pitchFamily="34" charset="0"/>
              <a:buChar char="•"/>
            </a:pPr>
            <a:r>
              <a:rPr lang="zh-CN" altLang="en-US" sz="2000" dirty="0">
                <a:solidFill>
                  <a:srgbClr val="FF0000"/>
                </a:solidFill>
              </a:rPr>
              <a:t>验证数字签名</a:t>
            </a:r>
            <a:r>
              <a:rPr lang="zh-CN" altLang="en-US" sz="2000" dirty="0">
                <a:solidFill>
                  <a:schemeClr val="tx1"/>
                </a:solidFill>
              </a:rPr>
              <a:t>：使用对方的公钥验证其发送的签名消息是否真实可靠</a:t>
            </a:r>
          </a:p>
        </p:txBody>
      </p:sp>
    </p:spTree>
    <p:extLst>
      <p:ext uri="{BB962C8B-B14F-4D97-AF65-F5344CB8AC3E}">
        <p14:creationId xmlns:p14="http://schemas.microsoft.com/office/powerpoint/2010/main" val="261781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3904D-3A26-AD9F-65A5-6E5101DED69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3F0CC7C-4FF7-5CA7-B12F-80790CAD5A53}"/>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dirty="0">
                <a:solidFill>
                  <a:schemeClr val="accent1"/>
                </a:solidFill>
              </a:rPr>
              <a:t>PKI </a:t>
            </a:r>
            <a:r>
              <a:rPr lang="zh-CN" altLang="en-US" sz="3600" dirty="0">
                <a:solidFill>
                  <a:schemeClr val="accent1"/>
                </a:solidFill>
              </a:rPr>
              <a:t>的组成要素</a:t>
            </a:r>
          </a:p>
        </p:txBody>
      </p:sp>
      <p:grpSp>
        <p:nvGrpSpPr>
          <p:cNvPr id="3" name="组合 2">
            <a:extLst>
              <a:ext uri="{FF2B5EF4-FFF2-40B4-BE49-F238E27FC236}">
                <a16:creationId xmlns:a16="http://schemas.microsoft.com/office/drawing/2014/main" id="{9AFC0593-4517-B623-F594-B01E96650179}"/>
              </a:ext>
            </a:extLst>
          </p:cNvPr>
          <p:cNvGrpSpPr/>
          <p:nvPr/>
        </p:nvGrpSpPr>
        <p:grpSpPr>
          <a:xfrm>
            <a:off x="3295119" y="108987"/>
            <a:ext cx="425713" cy="442041"/>
            <a:chOff x="5823870" y="1767426"/>
            <a:chExt cx="425713" cy="442041"/>
          </a:xfrm>
        </p:grpSpPr>
        <p:grpSp>
          <p:nvGrpSpPr>
            <p:cNvPr id="4" name="Group 10">
              <a:extLst>
                <a:ext uri="{FF2B5EF4-FFF2-40B4-BE49-F238E27FC236}">
                  <a16:creationId xmlns:a16="http://schemas.microsoft.com/office/drawing/2014/main" id="{5023168A-C361-503B-8DAE-79B4F46707A1}"/>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A661757A-CB8A-44B5-18FE-41570B0CCB31}"/>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4DE4EF14-2D8C-0E23-41A7-3B3DA1C4EBCE}"/>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AA28F450-5762-25A2-8EE7-15BF31BC9EBC}"/>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B603CCF5-13B7-7EF5-E856-F0941AAAD773}"/>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D46C0BAE-3D73-8A67-7267-3E5CFC6340E4}"/>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44C69E57-2565-9E70-58C1-07B219B493E3}"/>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认证机构 </a:t>
            </a:r>
            <a:r>
              <a:rPr lang="en-US" altLang="zh-CN" sz="2800" dirty="0"/>
              <a:t>(Certification Authority,</a:t>
            </a:r>
            <a:r>
              <a:rPr lang="zh-CN" altLang="en-US" sz="2800" dirty="0"/>
              <a:t> </a:t>
            </a:r>
            <a:r>
              <a:rPr lang="en-US" altLang="zh-CN" sz="2800" dirty="0"/>
              <a:t>CA)</a:t>
            </a:r>
            <a:endParaRPr lang="zh-CN" altLang="en-US" sz="2800" dirty="0"/>
          </a:p>
        </p:txBody>
      </p:sp>
      <p:sp>
        <p:nvSpPr>
          <p:cNvPr id="14" name="矩形 13">
            <a:extLst>
              <a:ext uri="{FF2B5EF4-FFF2-40B4-BE49-F238E27FC236}">
                <a16:creationId xmlns:a16="http://schemas.microsoft.com/office/drawing/2014/main" id="{924EFE3F-D78D-2225-9D0B-EF56604FE520}"/>
              </a:ext>
            </a:extLst>
          </p:cNvPr>
          <p:cNvSpPr/>
          <p:nvPr/>
        </p:nvSpPr>
        <p:spPr>
          <a:xfrm>
            <a:off x="571404" y="1519492"/>
            <a:ext cx="10957704" cy="2176208"/>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000" b="1" dirty="0">
                <a:solidFill>
                  <a:srgbClr val="FF0000"/>
                </a:solidFill>
              </a:rPr>
              <a:t>认证机构（</a:t>
            </a:r>
            <a:r>
              <a:rPr lang="en-US" altLang="zh-CN" sz="2000" b="1" dirty="0">
                <a:solidFill>
                  <a:srgbClr val="FF0000"/>
                </a:solidFill>
              </a:rPr>
              <a:t>Certification Authority, CA</a:t>
            </a:r>
            <a:r>
              <a:rPr lang="zh-CN" altLang="en-US" sz="2000" b="1" dirty="0">
                <a:solidFill>
                  <a:srgbClr val="FF0000"/>
                </a:solidFill>
              </a:rPr>
              <a:t>）是负责管理证书的实体，即可信第三方</a:t>
            </a:r>
            <a:r>
              <a:rPr lang="en-US" altLang="zh-CN" sz="2000" b="1" dirty="0">
                <a:solidFill>
                  <a:srgbClr val="FF0000"/>
                </a:solidFill>
              </a:rPr>
              <a:t>Trust</a:t>
            </a:r>
            <a:r>
              <a:rPr lang="zh-CN" altLang="en-US" sz="2000" b="1" dirty="0">
                <a:solidFill>
                  <a:srgbClr val="FF0000"/>
                </a:solidFill>
              </a:rPr>
              <a:t>认证机构具体进行的操作包括：</a:t>
            </a:r>
          </a:p>
          <a:p>
            <a:pPr marL="342900" indent="-342900">
              <a:buFont typeface="Arial" panose="020B0604020202020204" pitchFamily="34" charset="0"/>
              <a:buChar char="•"/>
            </a:pPr>
            <a:r>
              <a:rPr lang="zh-CN" altLang="en-US" sz="2000" dirty="0">
                <a:solidFill>
                  <a:schemeClr val="tx1"/>
                </a:solidFill>
              </a:rPr>
              <a:t>生成密钥对（也可以由用户生成）</a:t>
            </a:r>
          </a:p>
          <a:p>
            <a:pPr marL="342900" indent="-342900">
              <a:buFont typeface="Arial" panose="020B0604020202020204" pitchFamily="34" charset="0"/>
              <a:buChar char="•"/>
            </a:pPr>
            <a:r>
              <a:rPr lang="zh-CN" altLang="en-US" sz="2000" dirty="0">
                <a:solidFill>
                  <a:schemeClr val="tx1"/>
                </a:solidFill>
              </a:rPr>
              <a:t>在注册公钥时对本人身份进行认证</a:t>
            </a:r>
          </a:p>
          <a:p>
            <a:pPr marL="342900" indent="-342900">
              <a:buFont typeface="Arial" panose="020B0604020202020204" pitchFamily="34" charset="0"/>
              <a:buChar char="•"/>
            </a:pPr>
            <a:r>
              <a:rPr lang="zh-CN" altLang="en-US" sz="2000" dirty="0">
                <a:solidFill>
                  <a:schemeClr val="tx1"/>
                </a:solidFill>
              </a:rPr>
              <a:t>生成并颁发证书</a:t>
            </a:r>
          </a:p>
          <a:p>
            <a:pPr marL="342900" indent="-342900">
              <a:buFont typeface="Arial" panose="020B0604020202020204" pitchFamily="34" charset="0"/>
              <a:buChar char="•"/>
            </a:pPr>
            <a:r>
              <a:rPr lang="zh-CN" altLang="en-US" sz="2000" dirty="0">
                <a:solidFill>
                  <a:schemeClr val="tx1"/>
                </a:solidFill>
              </a:rPr>
              <a:t>作废证书</a:t>
            </a:r>
            <a:endParaRPr lang="en-US" altLang="zh-CN" sz="2000" dirty="0">
              <a:solidFill>
                <a:schemeClr val="tx1"/>
              </a:solidFill>
            </a:endParaRPr>
          </a:p>
        </p:txBody>
      </p:sp>
      <p:sp>
        <p:nvSpPr>
          <p:cNvPr id="11" name="矩形 10">
            <a:extLst>
              <a:ext uri="{FF2B5EF4-FFF2-40B4-BE49-F238E27FC236}">
                <a16:creationId xmlns:a16="http://schemas.microsoft.com/office/drawing/2014/main" id="{06A876EB-99CE-BAF9-2660-E5409E78ACF5}"/>
              </a:ext>
            </a:extLst>
          </p:cNvPr>
          <p:cNvSpPr/>
          <p:nvPr/>
        </p:nvSpPr>
        <p:spPr>
          <a:xfrm>
            <a:off x="571404" y="4099560"/>
            <a:ext cx="10957704" cy="188214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000" b="1" dirty="0">
                <a:solidFill>
                  <a:schemeClr val="tx1"/>
                </a:solidFill>
              </a:rPr>
              <a:t>在认证机构的工作中，“公钥注册”和“本人身份认证”这部分可以由注册机构（</a:t>
            </a:r>
            <a:r>
              <a:rPr lang="en-US" altLang="zh-CN" sz="2000" b="1" dirty="0">
                <a:solidFill>
                  <a:schemeClr val="tx1"/>
                </a:solidFill>
              </a:rPr>
              <a:t>Registration Authority, RA</a:t>
            </a:r>
            <a:r>
              <a:rPr lang="zh-CN" altLang="en-US" sz="2000" b="1" dirty="0">
                <a:solidFill>
                  <a:schemeClr val="tx1"/>
                </a:solidFill>
              </a:rPr>
              <a:t>）代为处理。这样可以减轻认证机构的负担，使其集中精力进行证书的颁发。</a:t>
            </a:r>
          </a:p>
          <a:p>
            <a:endParaRPr lang="en-US" altLang="zh-CN" sz="2000" b="1" dirty="0">
              <a:solidFill>
                <a:srgbClr val="FF0000"/>
              </a:solidFill>
            </a:endParaRPr>
          </a:p>
          <a:p>
            <a:r>
              <a:rPr lang="zh-CN" altLang="en-US" sz="2000" b="1" dirty="0">
                <a:solidFill>
                  <a:srgbClr val="FF0000"/>
                </a:solidFill>
              </a:rPr>
              <a:t>不过，引入注册机构也有弊端，例如认证机构需要对注册机构本身进行认证，并且随着组成要素的增加，沟通过程会变得复杂，易受攻击的点也会随之增加。</a:t>
            </a:r>
          </a:p>
        </p:txBody>
      </p:sp>
    </p:spTree>
    <p:extLst>
      <p:ext uri="{BB962C8B-B14F-4D97-AF65-F5344CB8AC3E}">
        <p14:creationId xmlns:p14="http://schemas.microsoft.com/office/powerpoint/2010/main" val="716495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88C8-833B-6CEB-0AF7-9839E3FF7E0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388BD70-39F9-13BE-D2D0-F472E5F3A93B}"/>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dirty="0">
                <a:solidFill>
                  <a:schemeClr val="accent1"/>
                </a:solidFill>
              </a:rPr>
              <a:t>PKI </a:t>
            </a:r>
            <a:r>
              <a:rPr lang="zh-CN" altLang="en-US" sz="3600" dirty="0">
                <a:solidFill>
                  <a:schemeClr val="accent1"/>
                </a:solidFill>
              </a:rPr>
              <a:t>的组成要素</a:t>
            </a:r>
          </a:p>
        </p:txBody>
      </p:sp>
      <p:grpSp>
        <p:nvGrpSpPr>
          <p:cNvPr id="3" name="组合 2">
            <a:extLst>
              <a:ext uri="{FF2B5EF4-FFF2-40B4-BE49-F238E27FC236}">
                <a16:creationId xmlns:a16="http://schemas.microsoft.com/office/drawing/2014/main" id="{59BC757C-6BD9-EFDD-D7F8-0E940EFA19AE}"/>
              </a:ext>
            </a:extLst>
          </p:cNvPr>
          <p:cNvGrpSpPr/>
          <p:nvPr/>
        </p:nvGrpSpPr>
        <p:grpSpPr>
          <a:xfrm>
            <a:off x="3295119" y="108987"/>
            <a:ext cx="425713" cy="442041"/>
            <a:chOff x="5823870" y="1767426"/>
            <a:chExt cx="425713" cy="442041"/>
          </a:xfrm>
        </p:grpSpPr>
        <p:grpSp>
          <p:nvGrpSpPr>
            <p:cNvPr id="4" name="Group 10">
              <a:extLst>
                <a:ext uri="{FF2B5EF4-FFF2-40B4-BE49-F238E27FC236}">
                  <a16:creationId xmlns:a16="http://schemas.microsoft.com/office/drawing/2014/main" id="{32FDC597-78B8-DD81-217A-26827B306DC6}"/>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DDDB9BF1-E897-524E-724A-029A9F4D0023}"/>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54189632-778E-9E59-5881-D14D5989A750}"/>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EB74037F-8963-C710-C7AA-89E12A0B16F1}"/>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69E1EF7F-8AF2-9FE2-C71C-06D0E9B73A77}"/>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0D50E03A-9D14-AFD1-029E-9D8F97A4A52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F186ED77-AB7D-113C-15BC-C5C3D236FAB2}"/>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仓库 </a:t>
            </a:r>
            <a:r>
              <a:rPr lang="en-US" altLang="zh-CN" sz="2800" dirty="0"/>
              <a:t>(Repository)</a:t>
            </a:r>
            <a:endParaRPr lang="zh-CN" altLang="en-US" sz="2800" dirty="0"/>
          </a:p>
        </p:txBody>
      </p:sp>
      <p:sp>
        <p:nvSpPr>
          <p:cNvPr id="14" name="矩形 13">
            <a:extLst>
              <a:ext uri="{FF2B5EF4-FFF2-40B4-BE49-F238E27FC236}">
                <a16:creationId xmlns:a16="http://schemas.microsoft.com/office/drawing/2014/main" id="{F8566836-C2D0-60D7-D1FA-89197CC131BD}"/>
              </a:ext>
            </a:extLst>
          </p:cNvPr>
          <p:cNvSpPr/>
          <p:nvPr/>
        </p:nvSpPr>
        <p:spPr>
          <a:xfrm>
            <a:off x="571404" y="1519492"/>
            <a:ext cx="10957704" cy="2176208"/>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tx1"/>
                </a:solidFill>
              </a:rPr>
              <a:t>仓库是一个保存证书的数据库，</a:t>
            </a:r>
            <a:r>
              <a:rPr lang="en-US" altLang="zh-CN" sz="2400" dirty="0">
                <a:solidFill>
                  <a:schemeClr val="tx1"/>
                </a:solidFill>
              </a:rPr>
              <a:t>PKI </a:t>
            </a:r>
            <a:r>
              <a:rPr lang="zh-CN" altLang="en-US" sz="2400" dirty="0">
                <a:solidFill>
                  <a:schemeClr val="tx1"/>
                </a:solidFill>
              </a:rPr>
              <a:t>用户在需要时可以从中获取证书，它的作用类似打电话时使用的电话本。</a:t>
            </a:r>
            <a:r>
              <a:rPr lang="en-US" altLang="zh-CN" sz="2400" dirty="0">
                <a:solidFill>
                  <a:schemeClr val="tx1"/>
                </a:solidFill>
              </a:rPr>
              <a:t>Alice </a:t>
            </a:r>
            <a:r>
              <a:rPr lang="zh-CN" altLang="en-US" sz="2400" dirty="0">
                <a:solidFill>
                  <a:schemeClr val="tx1"/>
                </a:solidFill>
              </a:rPr>
              <a:t>获取 </a:t>
            </a:r>
            <a:r>
              <a:rPr lang="en-US" altLang="zh-CN" sz="2400" dirty="0">
                <a:solidFill>
                  <a:schemeClr val="tx1"/>
                </a:solidFill>
              </a:rPr>
              <a:t>Bob </a:t>
            </a:r>
            <a:r>
              <a:rPr lang="zh-CN" altLang="en-US" sz="2400" dirty="0">
                <a:solidFill>
                  <a:schemeClr val="tx1"/>
                </a:solidFill>
              </a:rPr>
              <a:t>的证书时就可以使用仓库。仓库也称为证书目录。</a:t>
            </a:r>
            <a:endParaRPr lang="en-US" altLang="zh-CN" sz="2400" dirty="0">
              <a:solidFill>
                <a:schemeClr val="tx1"/>
              </a:solidFill>
            </a:endParaRPr>
          </a:p>
        </p:txBody>
      </p:sp>
    </p:spTree>
    <p:extLst>
      <p:ext uri="{BB962C8B-B14F-4D97-AF65-F5344CB8AC3E}">
        <p14:creationId xmlns:p14="http://schemas.microsoft.com/office/powerpoint/2010/main" val="1488111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50FBE-67D8-9766-2ABD-95EC5F6694B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0068E16-399F-8C0C-2174-F44E57316409}"/>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认证机构的工作</a:t>
            </a:r>
          </a:p>
        </p:txBody>
      </p:sp>
      <p:grpSp>
        <p:nvGrpSpPr>
          <p:cNvPr id="3" name="组合 2">
            <a:extLst>
              <a:ext uri="{FF2B5EF4-FFF2-40B4-BE49-F238E27FC236}">
                <a16:creationId xmlns:a16="http://schemas.microsoft.com/office/drawing/2014/main" id="{EFC3C285-5E4B-346D-976E-8806EAA948BF}"/>
              </a:ext>
            </a:extLst>
          </p:cNvPr>
          <p:cNvGrpSpPr/>
          <p:nvPr/>
        </p:nvGrpSpPr>
        <p:grpSpPr>
          <a:xfrm>
            <a:off x="3310359" y="108987"/>
            <a:ext cx="425713" cy="442041"/>
            <a:chOff x="5823870" y="1767426"/>
            <a:chExt cx="425713" cy="442041"/>
          </a:xfrm>
        </p:grpSpPr>
        <p:grpSp>
          <p:nvGrpSpPr>
            <p:cNvPr id="4" name="Group 10">
              <a:extLst>
                <a:ext uri="{FF2B5EF4-FFF2-40B4-BE49-F238E27FC236}">
                  <a16:creationId xmlns:a16="http://schemas.microsoft.com/office/drawing/2014/main" id="{5DDA42BE-C0ED-1C7C-0B02-6EE04FF0E5C7}"/>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0D7F3A66-A24A-BF4E-A139-03E8D8DD36D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479E4CB6-C18E-53A1-D0CD-778CBE26DED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A66506D5-E22D-E072-D218-FA67253C53B9}"/>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3A5A0AF1-C18F-FE97-5F7B-9C7A1485C61E}"/>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E912263A-BB1D-8834-CA52-831B4DD49E0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97A574AE-F246-4132-D173-BC42E56C0EE4}"/>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密钥生成、证书注册、证书作废</a:t>
            </a:r>
          </a:p>
        </p:txBody>
      </p:sp>
      <p:sp>
        <p:nvSpPr>
          <p:cNvPr id="13" name="矩形 12">
            <a:extLst>
              <a:ext uri="{FF2B5EF4-FFF2-40B4-BE49-F238E27FC236}">
                <a16:creationId xmlns:a16="http://schemas.microsoft.com/office/drawing/2014/main" id="{0863DB82-C410-F8C1-A7D4-372F6C15685E}"/>
              </a:ext>
            </a:extLst>
          </p:cNvPr>
          <p:cNvSpPr/>
          <p:nvPr/>
        </p:nvSpPr>
        <p:spPr>
          <a:xfrm>
            <a:off x="251364" y="1587232"/>
            <a:ext cx="5844636" cy="1838614"/>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rgbClr val="FF0000"/>
                </a:solidFill>
              </a:rPr>
              <a:t>生成密钥对</a:t>
            </a:r>
            <a:r>
              <a:rPr lang="en-US" altLang="zh-CN" sz="2400" dirty="0">
                <a:solidFill>
                  <a:schemeClr val="tx1"/>
                </a:solidFill>
              </a:rPr>
              <a:t>——</a:t>
            </a:r>
            <a:r>
              <a:rPr lang="zh-CN" altLang="en-US" sz="2400" dirty="0">
                <a:solidFill>
                  <a:schemeClr val="tx1"/>
                </a:solidFill>
              </a:rPr>
              <a:t>生成密钥对有两种方式：</a:t>
            </a:r>
          </a:p>
          <a:p>
            <a:pPr marL="457200" indent="-457200">
              <a:buFont typeface="+mj-lt"/>
              <a:buAutoNum type="arabicPeriod"/>
            </a:pPr>
            <a:r>
              <a:rPr lang="zh-CN" altLang="en-US" sz="2400" dirty="0">
                <a:solidFill>
                  <a:schemeClr val="tx1"/>
                </a:solidFill>
              </a:rPr>
              <a:t>由 </a:t>
            </a:r>
            <a:r>
              <a:rPr lang="en-US" altLang="zh-CN" sz="2400" dirty="0">
                <a:solidFill>
                  <a:schemeClr val="tx1"/>
                </a:solidFill>
              </a:rPr>
              <a:t>PKI </a:t>
            </a:r>
            <a:r>
              <a:rPr lang="zh-CN" altLang="en-US" sz="2400" dirty="0">
                <a:solidFill>
                  <a:schemeClr val="tx1"/>
                </a:solidFill>
              </a:rPr>
              <a:t>用户自行生成</a:t>
            </a:r>
          </a:p>
          <a:p>
            <a:pPr marL="457200" indent="-457200">
              <a:buFont typeface="+mj-lt"/>
              <a:buAutoNum type="arabicPeriod"/>
            </a:pPr>
            <a:r>
              <a:rPr lang="zh-CN" altLang="en-US" sz="2400" dirty="0">
                <a:solidFill>
                  <a:schemeClr val="tx1"/>
                </a:solidFill>
              </a:rPr>
              <a:t>由认证机构生成</a:t>
            </a:r>
          </a:p>
        </p:txBody>
      </p:sp>
      <p:sp>
        <p:nvSpPr>
          <p:cNvPr id="15" name="矩形 14">
            <a:extLst>
              <a:ext uri="{FF2B5EF4-FFF2-40B4-BE49-F238E27FC236}">
                <a16:creationId xmlns:a16="http://schemas.microsoft.com/office/drawing/2014/main" id="{945D5274-BD5A-2950-75AC-B29E0F109955}"/>
              </a:ext>
            </a:extLst>
          </p:cNvPr>
          <p:cNvSpPr/>
          <p:nvPr/>
        </p:nvSpPr>
        <p:spPr>
          <a:xfrm>
            <a:off x="251364" y="3520440"/>
            <a:ext cx="5844636" cy="307086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rgbClr val="FF0000"/>
                </a:solidFill>
              </a:rPr>
              <a:t>注册证书</a:t>
            </a:r>
            <a:r>
              <a:rPr lang="en-US" altLang="zh-CN" sz="2400" dirty="0">
                <a:solidFill>
                  <a:schemeClr val="tx1"/>
                </a:solidFill>
              </a:rPr>
              <a:t>——</a:t>
            </a:r>
            <a:r>
              <a:rPr lang="zh-CN" altLang="en-US" sz="2400" dirty="0">
                <a:solidFill>
                  <a:schemeClr val="tx1"/>
                </a:solidFill>
              </a:rPr>
              <a:t>当用户自行生成密钥对时，会向认证机构申请生成证书：</a:t>
            </a:r>
          </a:p>
          <a:p>
            <a:pPr marL="457200" indent="-457200">
              <a:buFont typeface="+mj-lt"/>
              <a:buAutoNum type="arabicPeriod"/>
            </a:pPr>
            <a:r>
              <a:rPr lang="zh-CN" altLang="en-US" sz="2400" dirty="0">
                <a:solidFill>
                  <a:schemeClr val="tx1"/>
                </a:solidFill>
              </a:rPr>
              <a:t>认证机构会根据其认证业务准则（</a:t>
            </a:r>
            <a:r>
              <a:rPr lang="en-US" altLang="zh-CN" sz="2400" dirty="0">
                <a:solidFill>
                  <a:schemeClr val="tx1"/>
                </a:solidFill>
              </a:rPr>
              <a:t>CPS</a:t>
            </a:r>
            <a:r>
              <a:rPr lang="zh-CN" altLang="en-US" sz="2400" dirty="0">
                <a:solidFill>
                  <a:schemeClr val="tx1"/>
                </a:solidFill>
              </a:rPr>
              <a:t>）对用户身份进行认证，并生成证书</a:t>
            </a:r>
            <a:endParaRPr lang="en-US" altLang="zh-CN" sz="2400" dirty="0">
              <a:solidFill>
                <a:schemeClr val="tx1"/>
              </a:solidFill>
            </a:endParaRPr>
          </a:p>
          <a:p>
            <a:pPr marL="457200" indent="-457200">
              <a:buFont typeface="+mj-lt"/>
              <a:buAutoNum type="arabicPeriod"/>
            </a:pPr>
            <a:r>
              <a:rPr lang="zh-CN" altLang="en-US" sz="2400" dirty="0">
                <a:solidFill>
                  <a:schemeClr val="tx1"/>
                </a:solidFill>
              </a:rPr>
              <a:t>生成证书时，需要使用认证机构的私钥对证书内容进行数字签名</a:t>
            </a:r>
          </a:p>
        </p:txBody>
      </p:sp>
      <p:sp>
        <p:nvSpPr>
          <p:cNvPr id="16" name="矩形 15">
            <a:extLst>
              <a:ext uri="{FF2B5EF4-FFF2-40B4-BE49-F238E27FC236}">
                <a16:creationId xmlns:a16="http://schemas.microsoft.com/office/drawing/2014/main" id="{151EB914-1D97-501A-DD55-40769AB7C2F9}"/>
              </a:ext>
            </a:extLst>
          </p:cNvPr>
          <p:cNvSpPr/>
          <p:nvPr/>
        </p:nvSpPr>
        <p:spPr>
          <a:xfrm>
            <a:off x="6210204" y="1519492"/>
            <a:ext cx="5844636" cy="5071808"/>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rgbClr val="FF0000"/>
                </a:solidFill>
              </a:rPr>
              <a:t>作废证书</a:t>
            </a:r>
            <a:r>
              <a:rPr lang="en-US" altLang="zh-CN" sz="2400" dirty="0">
                <a:solidFill>
                  <a:schemeClr val="tx1"/>
                </a:solidFill>
              </a:rPr>
              <a:t>——</a:t>
            </a:r>
            <a:r>
              <a:rPr lang="zh-CN" altLang="en-US" sz="2400" dirty="0">
                <a:solidFill>
                  <a:schemeClr val="tx1"/>
                </a:solidFill>
              </a:rPr>
              <a:t>当用户的私钥丢失或被盗时，认证机构需要作废该证书：</a:t>
            </a:r>
          </a:p>
          <a:p>
            <a:pPr marL="457200" indent="-457200">
              <a:buFont typeface="+mj-lt"/>
              <a:buAutoNum type="arabicPeriod"/>
            </a:pPr>
            <a:r>
              <a:rPr lang="zh-CN" altLang="en-US" sz="2400" dirty="0">
                <a:solidFill>
                  <a:schemeClr val="tx1"/>
                </a:solidFill>
              </a:rPr>
              <a:t>由于用户可能已保存证书副本，所以无法通过删除证书使其失效。因此，要作废数字证书，认证机构需要制作</a:t>
            </a:r>
            <a:r>
              <a:rPr lang="zh-CN" altLang="en-US" sz="2400" b="1" dirty="0">
                <a:solidFill>
                  <a:srgbClr val="FF0000"/>
                </a:solidFill>
              </a:rPr>
              <a:t>证书作废清单 </a:t>
            </a:r>
            <a:r>
              <a:rPr lang="en-US" altLang="zh-CN" sz="2400" b="1" dirty="0">
                <a:solidFill>
                  <a:srgbClr val="FF0000"/>
                </a:solidFill>
              </a:rPr>
              <a:t>(Certificate Revocation List, CRL)</a:t>
            </a:r>
            <a:endParaRPr lang="zh-CN" altLang="en-US" sz="2400" b="1" dirty="0">
              <a:solidFill>
                <a:srgbClr val="FF0000"/>
              </a:solidFill>
            </a:endParaRPr>
          </a:p>
          <a:p>
            <a:pPr marL="457200" indent="-457200">
              <a:buFont typeface="+mj-lt"/>
              <a:buAutoNum type="arabicPeriod"/>
            </a:pPr>
            <a:r>
              <a:rPr lang="en-US" altLang="zh-CN" sz="2400" dirty="0">
                <a:solidFill>
                  <a:schemeClr val="tx1"/>
                </a:solidFill>
              </a:rPr>
              <a:t>CRL </a:t>
            </a:r>
            <a:r>
              <a:rPr lang="zh-CN" altLang="en-US" sz="2400" dirty="0">
                <a:solidFill>
                  <a:schemeClr val="tx1"/>
                </a:solidFill>
              </a:rPr>
              <a:t>是认证机构发布的“已作废证书序列号列表”，并由认证机构加上数字签名。证书序列号是在颁发证书时赋予的编号，每张证书中都会记录</a:t>
            </a:r>
          </a:p>
          <a:p>
            <a:endParaRPr lang="zh-CN" altLang="en-US" sz="2400" dirty="0">
              <a:solidFill>
                <a:schemeClr val="tx1"/>
              </a:solidFill>
            </a:endParaRPr>
          </a:p>
        </p:txBody>
      </p:sp>
    </p:spTree>
    <p:extLst>
      <p:ext uri="{BB962C8B-B14F-4D97-AF65-F5344CB8AC3E}">
        <p14:creationId xmlns:p14="http://schemas.microsoft.com/office/powerpoint/2010/main" val="3624983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457D-F094-76BA-7BB0-3AE1291B417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FA5F886-54C5-8943-48FE-99D9563B0661}"/>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证书的层级结构</a:t>
            </a:r>
          </a:p>
        </p:txBody>
      </p:sp>
      <p:grpSp>
        <p:nvGrpSpPr>
          <p:cNvPr id="3" name="组合 2">
            <a:extLst>
              <a:ext uri="{FF2B5EF4-FFF2-40B4-BE49-F238E27FC236}">
                <a16:creationId xmlns:a16="http://schemas.microsoft.com/office/drawing/2014/main" id="{A1B6551C-98FF-64BF-016D-F202DAE77DA7}"/>
              </a:ext>
            </a:extLst>
          </p:cNvPr>
          <p:cNvGrpSpPr/>
          <p:nvPr/>
        </p:nvGrpSpPr>
        <p:grpSpPr>
          <a:xfrm>
            <a:off x="3310359" y="108987"/>
            <a:ext cx="425713" cy="442041"/>
            <a:chOff x="5823870" y="1767426"/>
            <a:chExt cx="425713" cy="442041"/>
          </a:xfrm>
        </p:grpSpPr>
        <p:grpSp>
          <p:nvGrpSpPr>
            <p:cNvPr id="4" name="Group 10">
              <a:extLst>
                <a:ext uri="{FF2B5EF4-FFF2-40B4-BE49-F238E27FC236}">
                  <a16:creationId xmlns:a16="http://schemas.microsoft.com/office/drawing/2014/main" id="{8803B0D5-DF9C-0E50-EFC5-BE2290AB7714}"/>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22C7E791-9ACB-E94E-EBF7-B7AEAA26C7B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7F0DABCB-8C84-852D-31CB-C57CC3E81788}"/>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8F915D21-302D-735F-C93B-7BA2888356E4}"/>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1D6FF603-125C-4C8D-53A4-206876A2EC58}"/>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75E134F5-559E-1DFD-0C38-F21254E2D9E9}"/>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750E3F8E-6D45-70E7-C8E9-B7C47DD87A30}"/>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用于验证的认证机构</a:t>
            </a:r>
            <a:r>
              <a:rPr lang="en-US" altLang="zh-CN" sz="2800" dirty="0"/>
              <a:t>(CA)</a:t>
            </a:r>
            <a:r>
              <a:rPr lang="zh-CN" altLang="en-US" sz="2800" dirty="0"/>
              <a:t>公钥本身是否可信？</a:t>
            </a:r>
          </a:p>
        </p:txBody>
      </p:sp>
      <p:sp>
        <p:nvSpPr>
          <p:cNvPr id="13" name="矩形 12">
            <a:extLst>
              <a:ext uri="{FF2B5EF4-FFF2-40B4-BE49-F238E27FC236}">
                <a16:creationId xmlns:a16="http://schemas.microsoft.com/office/drawing/2014/main" id="{C745D87A-6C28-99EC-94DD-FCE7FC8AE6BA}"/>
              </a:ext>
            </a:extLst>
          </p:cNvPr>
          <p:cNvSpPr/>
          <p:nvPr/>
        </p:nvSpPr>
        <p:spPr>
          <a:xfrm>
            <a:off x="251364" y="1587232"/>
            <a:ext cx="5844636" cy="1838614"/>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tx1"/>
                </a:solidFill>
              </a:rPr>
              <a:t>认证机构公钥的验证：由上级认证机构进行签名认证机构的公钥，生成 认证机构的公钥证书。这种“认证机构为认证机构签名”的关系会形成一个逐层向上的证书链（</a:t>
            </a:r>
            <a:r>
              <a:rPr lang="en-US" altLang="zh-CN" sz="2400" dirty="0">
                <a:solidFill>
                  <a:schemeClr val="tx1"/>
                </a:solidFill>
              </a:rPr>
              <a:t>Certificate Chain</a:t>
            </a:r>
            <a:r>
              <a:rPr lang="zh-CN" altLang="en-US" sz="2400" dirty="0">
                <a:solidFill>
                  <a:schemeClr val="tx1"/>
                </a:solidFill>
              </a:rPr>
              <a:t>）。</a:t>
            </a:r>
          </a:p>
        </p:txBody>
      </p:sp>
      <p:sp>
        <p:nvSpPr>
          <p:cNvPr id="15" name="矩形 14">
            <a:extLst>
              <a:ext uri="{FF2B5EF4-FFF2-40B4-BE49-F238E27FC236}">
                <a16:creationId xmlns:a16="http://schemas.microsoft.com/office/drawing/2014/main" id="{BA62DF8D-5C7E-11CF-D2D3-E93AF0A6CA16}"/>
              </a:ext>
            </a:extLst>
          </p:cNvPr>
          <p:cNvSpPr/>
          <p:nvPr/>
        </p:nvSpPr>
        <p:spPr>
          <a:xfrm>
            <a:off x="251364" y="3520440"/>
            <a:ext cx="5844636" cy="307086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tx1"/>
                </a:solidFill>
              </a:rPr>
              <a:t>黑龙江省人民政府（省级认证机构） </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哈尔滨市人民政府（市级认证机构）        </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南岗区人民政府（区级认证机构）</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哈尔滨工业大学（部门级认证机构）</a:t>
            </a:r>
            <a:endParaRPr lang="en-US" altLang="zh-CN" sz="2400" dirty="0">
              <a:solidFill>
                <a:schemeClr val="tx1"/>
              </a:solidFill>
            </a:endParaRPr>
          </a:p>
          <a:p>
            <a:endParaRPr lang="en-US" altLang="zh-CN" sz="2400" dirty="0">
              <a:solidFill>
                <a:schemeClr val="tx1"/>
              </a:solidFill>
            </a:endParaRPr>
          </a:p>
        </p:txBody>
      </p:sp>
      <p:sp>
        <p:nvSpPr>
          <p:cNvPr id="16" name="矩形 15">
            <a:extLst>
              <a:ext uri="{FF2B5EF4-FFF2-40B4-BE49-F238E27FC236}">
                <a16:creationId xmlns:a16="http://schemas.microsoft.com/office/drawing/2014/main" id="{0E6BF8B1-A202-A389-6E84-07411622C870}"/>
              </a:ext>
            </a:extLst>
          </p:cNvPr>
          <p:cNvSpPr/>
          <p:nvPr/>
        </p:nvSpPr>
        <p:spPr>
          <a:xfrm>
            <a:off x="6210204" y="1587232"/>
            <a:ext cx="5844636" cy="5004068"/>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tx1"/>
                </a:solidFill>
              </a:rPr>
              <a:t>假设 </a:t>
            </a:r>
            <a:r>
              <a:rPr lang="en-US" altLang="zh-CN" sz="2400" dirty="0">
                <a:solidFill>
                  <a:schemeClr val="tx1"/>
                </a:solidFill>
              </a:rPr>
              <a:t>Bob </a:t>
            </a:r>
            <a:r>
              <a:rPr lang="zh-CN" altLang="en-US" sz="2400" dirty="0">
                <a:solidFill>
                  <a:schemeClr val="tx1"/>
                </a:solidFill>
              </a:rPr>
              <a:t>是哈尔滨工业大学的一名工作人员：</a:t>
            </a:r>
            <a:endParaRPr lang="en-US" altLang="zh-CN" sz="2400" dirty="0">
              <a:solidFill>
                <a:schemeClr val="tx1"/>
              </a:solidFill>
            </a:endParaRPr>
          </a:p>
          <a:p>
            <a:endParaRPr lang="en-US" altLang="zh-CN" sz="2400" dirty="0">
              <a:solidFill>
                <a:schemeClr val="tx1"/>
              </a:solidFill>
            </a:endParaRPr>
          </a:p>
          <a:p>
            <a:r>
              <a:rPr lang="en-US" altLang="zh-CN" sz="2400" dirty="0">
                <a:solidFill>
                  <a:schemeClr val="tx1"/>
                </a:solidFill>
              </a:rPr>
              <a:t>Bob </a:t>
            </a:r>
            <a:r>
              <a:rPr lang="zh-CN" altLang="en-US" sz="2400" dirty="0">
                <a:solidFill>
                  <a:schemeClr val="tx1"/>
                </a:solidFill>
              </a:rPr>
              <a:t>的公钥由哈尔滨工业大学认证机构办法证书；</a:t>
            </a:r>
            <a:endParaRPr lang="en-US" altLang="zh-CN" sz="2400" dirty="0">
              <a:solidFill>
                <a:schemeClr val="tx1"/>
              </a:solidFill>
            </a:endParaRPr>
          </a:p>
          <a:p>
            <a:r>
              <a:rPr lang="zh-CN" altLang="en-US" sz="2400" dirty="0">
                <a:solidFill>
                  <a:schemeClr val="tx1"/>
                </a:solidFill>
              </a:rPr>
              <a:t>哈尔滨工业大学认证机构的公钥由南岗区认证机构颁发证书；</a:t>
            </a:r>
            <a:endParaRPr lang="en-US" altLang="zh-CN" sz="2400" dirty="0">
              <a:solidFill>
                <a:schemeClr val="tx1"/>
              </a:solidFill>
            </a:endParaRPr>
          </a:p>
          <a:p>
            <a:r>
              <a:rPr lang="zh-CN" altLang="en-US" sz="2400" dirty="0">
                <a:solidFill>
                  <a:schemeClr val="tx1"/>
                </a:solidFill>
              </a:rPr>
              <a:t>南岗区认证机构的公钥由哈尔滨市认证机构 颁发证书；</a:t>
            </a:r>
            <a:endParaRPr lang="en-US" altLang="zh-CN" sz="2400" dirty="0">
              <a:solidFill>
                <a:schemeClr val="tx1"/>
              </a:solidFill>
            </a:endParaRPr>
          </a:p>
          <a:p>
            <a:r>
              <a:rPr lang="zh-CN" altLang="en-US" sz="2400" dirty="0">
                <a:solidFill>
                  <a:schemeClr val="tx1"/>
                </a:solidFill>
              </a:rPr>
              <a:t>哈尔滨市认证机构的公钥又由黑龙江省认证机构颁发证书。</a:t>
            </a:r>
            <a:endParaRPr lang="en-US" altLang="zh-CN" sz="2400" dirty="0">
              <a:solidFill>
                <a:schemeClr val="tx1"/>
              </a:solidFill>
            </a:endParaRPr>
          </a:p>
          <a:p>
            <a:r>
              <a:rPr lang="zh-CN" altLang="en-US" sz="2400" dirty="0">
                <a:solidFill>
                  <a:schemeClr val="tx1"/>
                </a:solidFill>
              </a:rPr>
              <a:t>（这一链条可以继续向上扩展，但必须有一个顶点</a:t>
            </a:r>
            <a:r>
              <a:rPr lang="en-US" altLang="zh-CN" sz="2400" dirty="0">
                <a:solidFill>
                  <a:schemeClr val="tx1"/>
                </a:solidFill>
              </a:rPr>
              <a:t>——</a:t>
            </a:r>
            <a:r>
              <a:rPr lang="zh-CN" altLang="en-US" sz="2400" dirty="0">
                <a:solidFill>
                  <a:schemeClr val="tx1"/>
                </a:solidFill>
              </a:rPr>
              <a:t>根</a:t>
            </a:r>
            <a:r>
              <a:rPr lang="en-US" altLang="zh-CN" sz="2400" dirty="0">
                <a:solidFill>
                  <a:schemeClr val="tx1"/>
                </a:solidFill>
              </a:rPr>
              <a:t>CA</a:t>
            </a:r>
            <a:r>
              <a:rPr lang="zh-CN" altLang="en-US" sz="2400" dirty="0">
                <a:solidFill>
                  <a:schemeClr val="tx1"/>
                </a:solidFill>
              </a:rPr>
              <a:t>）</a:t>
            </a:r>
            <a:endParaRPr lang="en-US" altLang="zh-CN" sz="2400" dirty="0">
              <a:solidFill>
                <a:schemeClr val="tx1"/>
              </a:solidFill>
            </a:endParaRPr>
          </a:p>
        </p:txBody>
      </p:sp>
      <p:cxnSp>
        <p:nvCxnSpPr>
          <p:cNvPr id="12" name="直接箭头连接符 11">
            <a:extLst>
              <a:ext uri="{FF2B5EF4-FFF2-40B4-BE49-F238E27FC236}">
                <a16:creationId xmlns:a16="http://schemas.microsoft.com/office/drawing/2014/main" id="{B25C2031-42D5-6331-9B01-D2DD64869D50}"/>
              </a:ext>
            </a:extLst>
          </p:cNvPr>
          <p:cNvCxnSpPr/>
          <p:nvPr/>
        </p:nvCxnSpPr>
        <p:spPr>
          <a:xfrm>
            <a:off x="2053772" y="4002180"/>
            <a:ext cx="0" cy="319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30582504-26A8-36B5-9516-0767C9986CDA}"/>
              </a:ext>
            </a:extLst>
          </p:cNvPr>
          <p:cNvSpPr txBox="1"/>
          <p:nvPr/>
        </p:nvSpPr>
        <p:spPr>
          <a:xfrm>
            <a:off x="2167977" y="3952162"/>
            <a:ext cx="649514" cy="369332"/>
          </a:xfrm>
          <a:prstGeom prst="rect">
            <a:avLst/>
          </a:prstGeom>
          <a:noFill/>
        </p:spPr>
        <p:txBody>
          <a:bodyPr wrap="square">
            <a:spAutoFit/>
          </a:bodyPr>
          <a:lstStyle/>
          <a:p>
            <a:r>
              <a:rPr lang="zh-CN" altLang="en-US" sz="1800" dirty="0">
                <a:solidFill>
                  <a:schemeClr val="tx1"/>
                </a:solidFill>
              </a:rPr>
              <a:t>认证</a:t>
            </a:r>
            <a:endParaRPr lang="zh-CN" altLang="en-US" dirty="0"/>
          </a:p>
        </p:txBody>
      </p:sp>
      <p:cxnSp>
        <p:nvCxnSpPr>
          <p:cNvPr id="19" name="直接箭头连接符 18">
            <a:extLst>
              <a:ext uri="{FF2B5EF4-FFF2-40B4-BE49-F238E27FC236}">
                <a16:creationId xmlns:a16="http://schemas.microsoft.com/office/drawing/2014/main" id="{82F2193E-5F04-A221-AA4D-236EE6F604C3}"/>
              </a:ext>
            </a:extLst>
          </p:cNvPr>
          <p:cNvCxnSpPr/>
          <p:nvPr/>
        </p:nvCxnSpPr>
        <p:spPr>
          <a:xfrm>
            <a:off x="2053772" y="4727895"/>
            <a:ext cx="0" cy="319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0C877907-E8AA-EDCB-486E-2B4A60473146}"/>
              </a:ext>
            </a:extLst>
          </p:cNvPr>
          <p:cNvSpPr txBox="1"/>
          <p:nvPr/>
        </p:nvSpPr>
        <p:spPr>
          <a:xfrm>
            <a:off x="2167977" y="4677877"/>
            <a:ext cx="649514" cy="369332"/>
          </a:xfrm>
          <a:prstGeom prst="rect">
            <a:avLst/>
          </a:prstGeom>
          <a:noFill/>
        </p:spPr>
        <p:txBody>
          <a:bodyPr wrap="square">
            <a:spAutoFit/>
          </a:bodyPr>
          <a:lstStyle/>
          <a:p>
            <a:r>
              <a:rPr lang="zh-CN" altLang="en-US" sz="1800" dirty="0">
                <a:solidFill>
                  <a:schemeClr val="tx1"/>
                </a:solidFill>
              </a:rPr>
              <a:t>认证</a:t>
            </a:r>
            <a:endParaRPr lang="zh-CN" altLang="en-US" dirty="0"/>
          </a:p>
        </p:txBody>
      </p:sp>
      <p:cxnSp>
        <p:nvCxnSpPr>
          <p:cNvPr id="21" name="直接箭头连接符 20">
            <a:extLst>
              <a:ext uri="{FF2B5EF4-FFF2-40B4-BE49-F238E27FC236}">
                <a16:creationId xmlns:a16="http://schemas.microsoft.com/office/drawing/2014/main" id="{EDF43F72-678F-46A3-0E26-0EBD0B690EBC}"/>
              </a:ext>
            </a:extLst>
          </p:cNvPr>
          <p:cNvCxnSpPr/>
          <p:nvPr/>
        </p:nvCxnSpPr>
        <p:spPr>
          <a:xfrm>
            <a:off x="2053772" y="5453610"/>
            <a:ext cx="0" cy="319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DA9933F6-F9DF-BE32-965C-C2BEE5284617}"/>
              </a:ext>
            </a:extLst>
          </p:cNvPr>
          <p:cNvSpPr txBox="1"/>
          <p:nvPr/>
        </p:nvSpPr>
        <p:spPr>
          <a:xfrm>
            <a:off x="2167977" y="5403592"/>
            <a:ext cx="649514" cy="369332"/>
          </a:xfrm>
          <a:prstGeom prst="rect">
            <a:avLst/>
          </a:prstGeom>
          <a:noFill/>
        </p:spPr>
        <p:txBody>
          <a:bodyPr wrap="square">
            <a:spAutoFit/>
          </a:bodyPr>
          <a:lstStyle/>
          <a:p>
            <a:r>
              <a:rPr lang="zh-CN" altLang="en-US" sz="1800" dirty="0">
                <a:solidFill>
                  <a:schemeClr val="tx1"/>
                </a:solidFill>
              </a:rPr>
              <a:t>认证</a:t>
            </a:r>
            <a:endParaRPr lang="zh-CN" altLang="en-US" dirty="0"/>
          </a:p>
        </p:txBody>
      </p:sp>
    </p:spTree>
    <p:extLst>
      <p:ext uri="{BB962C8B-B14F-4D97-AF65-F5344CB8AC3E}">
        <p14:creationId xmlns:p14="http://schemas.microsoft.com/office/powerpoint/2010/main" val="1963025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8C02F-C584-5577-863C-6DCBB0737E0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F59370D-6456-CEAE-717F-E2BECE67256D}"/>
              </a:ext>
            </a:extLst>
          </p:cNvPr>
          <p:cNvSpPr txBox="1"/>
          <p:nvPr/>
        </p:nvSpPr>
        <p:spPr>
          <a:xfrm>
            <a:off x="73871" y="89363"/>
            <a:ext cx="1545295" cy="461665"/>
          </a:xfrm>
          <a:prstGeom prst="rect">
            <a:avLst/>
          </a:prstGeom>
          <a:noFill/>
        </p:spPr>
        <p:txBody>
          <a:bodyPr wrap="none" lIns="0" tIns="0" rIns="0" bIns="0" rtlCol="0">
            <a:noAutofit/>
          </a:bodyPr>
          <a:lstStyle/>
          <a:p>
            <a:r>
              <a:rPr lang="zh-CN" altLang="en-US" sz="3600" dirty="0">
                <a:solidFill>
                  <a:schemeClr val="accent1"/>
                </a:solidFill>
              </a:rPr>
              <a:t>证书的层级结构</a:t>
            </a:r>
          </a:p>
        </p:txBody>
      </p:sp>
      <p:grpSp>
        <p:nvGrpSpPr>
          <p:cNvPr id="3" name="组合 2">
            <a:extLst>
              <a:ext uri="{FF2B5EF4-FFF2-40B4-BE49-F238E27FC236}">
                <a16:creationId xmlns:a16="http://schemas.microsoft.com/office/drawing/2014/main" id="{E75AAEBA-5140-F81C-41A5-972CFF2B8C7B}"/>
              </a:ext>
            </a:extLst>
          </p:cNvPr>
          <p:cNvGrpSpPr/>
          <p:nvPr/>
        </p:nvGrpSpPr>
        <p:grpSpPr>
          <a:xfrm>
            <a:off x="3310359" y="108987"/>
            <a:ext cx="425713" cy="442041"/>
            <a:chOff x="5823870" y="1767426"/>
            <a:chExt cx="425713" cy="442041"/>
          </a:xfrm>
        </p:grpSpPr>
        <p:grpSp>
          <p:nvGrpSpPr>
            <p:cNvPr id="4" name="Group 10">
              <a:extLst>
                <a:ext uri="{FF2B5EF4-FFF2-40B4-BE49-F238E27FC236}">
                  <a16:creationId xmlns:a16="http://schemas.microsoft.com/office/drawing/2014/main" id="{6F5AE4AE-8731-F1E6-D5A5-BBB2F4A8AB46}"/>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542B9358-B8C9-9CAC-2DF5-B371910C3D34}"/>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0F1AF2B0-29BF-422E-C133-5D3CD6D65FE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FF5E948D-BC19-4EF2-CD10-77AC34E8DE58}"/>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8C1C65AA-3BC3-C1A6-B9A9-427FC50C33B5}"/>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00875D2D-C5AE-8468-1A1C-0826AD1C58FD}"/>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B103F623-425B-1CE6-A578-96B636D181C3}"/>
              </a:ext>
            </a:extLst>
          </p:cNvPr>
          <p:cNvSpPr txBox="1"/>
          <p:nvPr/>
        </p:nvSpPr>
        <p:spPr>
          <a:xfrm>
            <a:off x="0" y="725098"/>
            <a:ext cx="12192000"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根</a:t>
            </a:r>
            <a:r>
              <a:rPr lang="en-US" altLang="zh-CN" sz="2800" dirty="0"/>
              <a:t>CA</a:t>
            </a:r>
            <a:r>
              <a:rPr lang="zh-CN" altLang="en-US" sz="2800" dirty="0"/>
              <a:t>如何获得认证？</a:t>
            </a:r>
          </a:p>
        </p:txBody>
      </p:sp>
      <p:sp>
        <p:nvSpPr>
          <p:cNvPr id="13" name="矩形 12">
            <a:extLst>
              <a:ext uri="{FF2B5EF4-FFF2-40B4-BE49-F238E27FC236}">
                <a16:creationId xmlns:a16="http://schemas.microsoft.com/office/drawing/2014/main" id="{E8EAC0A5-37A8-87B5-A041-62E1543A49A9}"/>
              </a:ext>
            </a:extLst>
          </p:cNvPr>
          <p:cNvSpPr/>
          <p:nvPr/>
        </p:nvSpPr>
        <p:spPr>
          <a:xfrm>
            <a:off x="251364" y="1295615"/>
            <a:ext cx="11803476" cy="2177528"/>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tx1"/>
                </a:solidFill>
              </a:rPr>
              <a:t>如果黑龙江省人民政府认证机构 是最上级单位，不存在更高一级认证机构，那么它就是根 </a:t>
            </a:r>
            <a:r>
              <a:rPr lang="en-US" altLang="zh-CN" sz="2400" dirty="0">
                <a:solidFill>
                  <a:schemeClr val="tx1"/>
                </a:solidFill>
              </a:rPr>
              <a:t>CA (Root CA)</a:t>
            </a:r>
          </a:p>
          <a:p>
            <a:endParaRPr lang="en-US" altLang="zh-CN" sz="2400" dirty="0">
              <a:solidFill>
                <a:schemeClr val="tx1"/>
              </a:solidFill>
            </a:endParaRPr>
          </a:p>
          <a:p>
            <a:r>
              <a:rPr lang="zh-CN" altLang="en-US" sz="2400" dirty="0">
                <a:solidFill>
                  <a:schemeClr val="tx1"/>
                </a:solidFill>
              </a:rPr>
              <a:t>由于根 </a:t>
            </a:r>
            <a:r>
              <a:rPr lang="en-US" altLang="zh-CN" sz="2400" dirty="0">
                <a:solidFill>
                  <a:schemeClr val="tx1"/>
                </a:solidFill>
              </a:rPr>
              <a:t>CA </a:t>
            </a:r>
            <a:r>
              <a:rPr lang="zh-CN" altLang="en-US" sz="2400" dirty="0">
                <a:solidFill>
                  <a:schemeClr val="tx1"/>
                </a:solidFill>
              </a:rPr>
              <a:t>上面没有更高级机构为它签名，它的公钥证书必须使用自己的私钥对自己的公钥进行数字签名这就是</a:t>
            </a:r>
            <a:r>
              <a:rPr lang="zh-CN" altLang="en-US" sz="2400" dirty="0">
                <a:solidFill>
                  <a:srgbClr val="FF0000"/>
                </a:solidFill>
              </a:rPr>
              <a:t>自签名证书</a:t>
            </a:r>
            <a:r>
              <a:rPr lang="en-US" altLang="zh-CN" sz="2400" dirty="0">
                <a:solidFill>
                  <a:schemeClr val="tx1"/>
                </a:solidFill>
              </a:rPr>
              <a:t>(self-signed certificate)</a:t>
            </a:r>
          </a:p>
        </p:txBody>
      </p:sp>
      <p:sp>
        <p:nvSpPr>
          <p:cNvPr id="15" name="矩形 14">
            <a:extLst>
              <a:ext uri="{FF2B5EF4-FFF2-40B4-BE49-F238E27FC236}">
                <a16:creationId xmlns:a16="http://schemas.microsoft.com/office/drawing/2014/main" id="{416A2186-79B6-7622-01D1-6DD0135682BC}"/>
              </a:ext>
            </a:extLst>
          </p:cNvPr>
          <p:cNvSpPr/>
          <p:nvPr/>
        </p:nvSpPr>
        <p:spPr>
          <a:xfrm>
            <a:off x="251364" y="3614781"/>
            <a:ext cx="5844636" cy="307086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tx1"/>
                </a:solidFill>
              </a:rPr>
              <a:t>黑龙江省人民政府（省级认证机构） </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哈尔滨市人民政府（市级认证机构）        </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南岗区人民政府（区级认证机构）</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哈尔滨工业大学（部门级认证机构）</a:t>
            </a:r>
            <a:endParaRPr lang="en-US" altLang="zh-CN" sz="2400" dirty="0">
              <a:solidFill>
                <a:schemeClr val="tx1"/>
              </a:solidFill>
            </a:endParaRPr>
          </a:p>
          <a:p>
            <a:endParaRPr lang="en-US" altLang="zh-CN" sz="2400" dirty="0">
              <a:solidFill>
                <a:schemeClr val="tx1"/>
              </a:solidFill>
            </a:endParaRPr>
          </a:p>
        </p:txBody>
      </p:sp>
      <p:cxnSp>
        <p:nvCxnSpPr>
          <p:cNvPr id="12" name="直接箭头连接符 11">
            <a:extLst>
              <a:ext uri="{FF2B5EF4-FFF2-40B4-BE49-F238E27FC236}">
                <a16:creationId xmlns:a16="http://schemas.microsoft.com/office/drawing/2014/main" id="{F5E2DEE1-E129-3B2D-C30C-6F3D1AA870B2}"/>
              </a:ext>
            </a:extLst>
          </p:cNvPr>
          <p:cNvCxnSpPr/>
          <p:nvPr/>
        </p:nvCxnSpPr>
        <p:spPr>
          <a:xfrm>
            <a:off x="2053772" y="4096521"/>
            <a:ext cx="0" cy="319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0DBAB60-F806-66E3-145E-A5AD34AE6C1D}"/>
              </a:ext>
            </a:extLst>
          </p:cNvPr>
          <p:cNvSpPr txBox="1"/>
          <p:nvPr/>
        </p:nvSpPr>
        <p:spPr>
          <a:xfrm>
            <a:off x="2167977" y="4046503"/>
            <a:ext cx="649514" cy="369332"/>
          </a:xfrm>
          <a:prstGeom prst="rect">
            <a:avLst/>
          </a:prstGeom>
          <a:noFill/>
        </p:spPr>
        <p:txBody>
          <a:bodyPr wrap="square">
            <a:spAutoFit/>
          </a:bodyPr>
          <a:lstStyle/>
          <a:p>
            <a:r>
              <a:rPr lang="zh-CN" altLang="en-US" sz="1800" dirty="0">
                <a:solidFill>
                  <a:schemeClr val="tx1"/>
                </a:solidFill>
              </a:rPr>
              <a:t>认证</a:t>
            </a:r>
            <a:endParaRPr lang="zh-CN" altLang="en-US" dirty="0"/>
          </a:p>
        </p:txBody>
      </p:sp>
      <p:cxnSp>
        <p:nvCxnSpPr>
          <p:cNvPr id="19" name="直接箭头连接符 18">
            <a:extLst>
              <a:ext uri="{FF2B5EF4-FFF2-40B4-BE49-F238E27FC236}">
                <a16:creationId xmlns:a16="http://schemas.microsoft.com/office/drawing/2014/main" id="{F86ADCA2-92E9-A8A6-BBB7-CD286A62B3D2}"/>
              </a:ext>
            </a:extLst>
          </p:cNvPr>
          <p:cNvCxnSpPr/>
          <p:nvPr/>
        </p:nvCxnSpPr>
        <p:spPr>
          <a:xfrm>
            <a:off x="2053772" y="4822236"/>
            <a:ext cx="0" cy="319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37D4B11F-8D9D-9D66-FA5B-19DADB924187}"/>
              </a:ext>
            </a:extLst>
          </p:cNvPr>
          <p:cNvSpPr txBox="1"/>
          <p:nvPr/>
        </p:nvSpPr>
        <p:spPr>
          <a:xfrm>
            <a:off x="2167977" y="4772218"/>
            <a:ext cx="649514" cy="369332"/>
          </a:xfrm>
          <a:prstGeom prst="rect">
            <a:avLst/>
          </a:prstGeom>
          <a:noFill/>
        </p:spPr>
        <p:txBody>
          <a:bodyPr wrap="square">
            <a:spAutoFit/>
          </a:bodyPr>
          <a:lstStyle/>
          <a:p>
            <a:r>
              <a:rPr lang="zh-CN" altLang="en-US" sz="1800" dirty="0">
                <a:solidFill>
                  <a:schemeClr val="tx1"/>
                </a:solidFill>
              </a:rPr>
              <a:t>认证</a:t>
            </a:r>
            <a:endParaRPr lang="zh-CN" altLang="en-US" dirty="0"/>
          </a:p>
        </p:txBody>
      </p:sp>
      <p:cxnSp>
        <p:nvCxnSpPr>
          <p:cNvPr id="21" name="直接箭头连接符 20">
            <a:extLst>
              <a:ext uri="{FF2B5EF4-FFF2-40B4-BE49-F238E27FC236}">
                <a16:creationId xmlns:a16="http://schemas.microsoft.com/office/drawing/2014/main" id="{9FBB50A5-7BC4-7583-5AE8-085001EA399F}"/>
              </a:ext>
            </a:extLst>
          </p:cNvPr>
          <p:cNvCxnSpPr/>
          <p:nvPr/>
        </p:nvCxnSpPr>
        <p:spPr>
          <a:xfrm>
            <a:off x="2053772" y="5547951"/>
            <a:ext cx="0" cy="319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1AAE04F9-0CD5-DDD5-1878-31B4473A6D8C}"/>
              </a:ext>
            </a:extLst>
          </p:cNvPr>
          <p:cNvSpPr txBox="1"/>
          <p:nvPr/>
        </p:nvSpPr>
        <p:spPr>
          <a:xfrm>
            <a:off x="2167977" y="5497933"/>
            <a:ext cx="649514" cy="369332"/>
          </a:xfrm>
          <a:prstGeom prst="rect">
            <a:avLst/>
          </a:prstGeom>
          <a:noFill/>
        </p:spPr>
        <p:txBody>
          <a:bodyPr wrap="square">
            <a:spAutoFit/>
          </a:bodyPr>
          <a:lstStyle/>
          <a:p>
            <a:r>
              <a:rPr lang="zh-CN" altLang="en-US" sz="1800" dirty="0">
                <a:solidFill>
                  <a:schemeClr val="tx1"/>
                </a:solidFill>
              </a:rPr>
              <a:t>认证</a:t>
            </a:r>
            <a:endParaRPr lang="zh-CN" altLang="en-US" dirty="0"/>
          </a:p>
        </p:txBody>
      </p:sp>
      <p:sp>
        <p:nvSpPr>
          <p:cNvPr id="14" name="文本框 13">
            <a:extLst>
              <a:ext uri="{FF2B5EF4-FFF2-40B4-BE49-F238E27FC236}">
                <a16:creationId xmlns:a16="http://schemas.microsoft.com/office/drawing/2014/main" id="{8E67258C-37E2-8A1B-4037-77C59B56972E}"/>
              </a:ext>
            </a:extLst>
          </p:cNvPr>
          <p:cNvSpPr txBox="1"/>
          <p:nvPr/>
        </p:nvSpPr>
        <p:spPr>
          <a:xfrm>
            <a:off x="6532739" y="3571889"/>
            <a:ext cx="4007853" cy="1569660"/>
          </a:xfrm>
          <a:prstGeom prst="rect">
            <a:avLst/>
          </a:prstGeom>
          <a:noFill/>
        </p:spPr>
        <p:txBody>
          <a:bodyPr wrap="square">
            <a:spAutoFit/>
          </a:bodyPr>
          <a:lstStyle/>
          <a:p>
            <a:r>
              <a:rPr lang="zh-CN" altLang="en-US" sz="2400" dirty="0"/>
              <a:t>根CA，使用自己的私钥对自己的公钥进行签名，生成</a:t>
            </a:r>
            <a:r>
              <a:rPr lang="zh-CN" altLang="en-US" sz="2400" dirty="0">
                <a:solidFill>
                  <a:srgbClr val="FF0000"/>
                </a:solidFill>
              </a:rPr>
              <a:t>自签名</a:t>
            </a:r>
            <a:r>
              <a:rPr lang="zh-CN" altLang="en-US" sz="2400" dirty="0"/>
              <a:t>证书（这代表用户无条件</a:t>
            </a:r>
            <a:r>
              <a:rPr lang="zh-CN" altLang="en-US" sz="2400" dirty="0">
                <a:solidFill>
                  <a:srgbClr val="FF0000"/>
                </a:solidFill>
              </a:rPr>
              <a:t>信任</a:t>
            </a:r>
            <a:r>
              <a:rPr lang="zh-CN" altLang="en-US" sz="2400" dirty="0"/>
              <a:t>根</a:t>
            </a:r>
            <a:r>
              <a:rPr lang="en-US" altLang="zh-CN" sz="2400" dirty="0"/>
              <a:t>CA</a:t>
            </a:r>
            <a:r>
              <a:rPr lang="zh-CN" altLang="en-US" sz="2400" dirty="0"/>
              <a:t>）</a:t>
            </a:r>
          </a:p>
        </p:txBody>
      </p:sp>
      <p:sp>
        <p:nvSpPr>
          <p:cNvPr id="17" name="矩形 16">
            <a:extLst>
              <a:ext uri="{FF2B5EF4-FFF2-40B4-BE49-F238E27FC236}">
                <a16:creationId xmlns:a16="http://schemas.microsoft.com/office/drawing/2014/main" id="{E4FD9A33-6125-0691-8A8D-0219F2D051A8}"/>
              </a:ext>
            </a:extLst>
          </p:cNvPr>
          <p:cNvSpPr/>
          <p:nvPr/>
        </p:nvSpPr>
        <p:spPr>
          <a:xfrm>
            <a:off x="318342" y="3686884"/>
            <a:ext cx="4790683" cy="3596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a:extLst>
              <a:ext uri="{FF2B5EF4-FFF2-40B4-BE49-F238E27FC236}">
                <a16:creationId xmlns:a16="http://schemas.microsoft.com/office/drawing/2014/main" id="{490DD736-74CA-9354-C985-332E0A18E158}"/>
              </a:ext>
            </a:extLst>
          </p:cNvPr>
          <p:cNvCxnSpPr>
            <a:cxnSpLocks/>
          </p:cNvCxnSpPr>
          <p:nvPr/>
        </p:nvCxnSpPr>
        <p:spPr>
          <a:xfrm>
            <a:off x="5109025" y="3846540"/>
            <a:ext cx="1423714" cy="0"/>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117785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A9EA4-9314-B328-9ADC-96D2AECEBD1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73EE330-2C09-B377-F0DE-328DE526A013}"/>
              </a:ext>
            </a:extLst>
          </p:cNvPr>
          <p:cNvSpPr txBox="1"/>
          <p:nvPr/>
        </p:nvSpPr>
        <p:spPr>
          <a:xfrm>
            <a:off x="3352513" y="2754066"/>
            <a:ext cx="5482323" cy="615553"/>
          </a:xfrm>
          <a:prstGeom prst="rect">
            <a:avLst/>
          </a:prstGeom>
          <a:noFill/>
        </p:spPr>
        <p:txBody>
          <a:bodyPr wrap="none" lIns="0" tIns="0" rIns="0" bIns="0" rtlCol="0">
            <a:noAutofit/>
          </a:bodyPr>
          <a:lstStyle/>
          <a:p>
            <a:pPr algn="ctr"/>
            <a:r>
              <a:rPr lang="zh-CN" altLang="en-US" sz="4000" dirty="0">
                <a:solidFill>
                  <a:schemeClr val="accent1"/>
                </a:solidFill>
              </a:rPr>
              <a:t>公钥证书的实例</a:t>
            </a:r>
          </a:p>
        </p:txBody>
      </p:sp>
      <p:sp>
        <p:nvSpPr>
          <p:cNvPr id="6" name="文本框 5">
            <a:extLst>
              <a:ext uri="{FF2B5EF4-FFF2-40B4-BE49-F238E27FC236}">
                <a16:creationId xmlns:a16="http://schemas.microsoft.com/office/drawing/2014/main" id="{0D35565D-045E-61DD-B7EF-F860BD021570}"/>
              </a:ext>
            </a:extLst>
          </p:cNvPr>
          <p:cNvSpPr txBox="1"/>
          <p:nvPr/>
        </p:nvSpPr>
        <p:spPr>
          <a:xfrm>
            <a:off x="5720898" y="2041451"/>
            <a:ext cx="750205" cy="538609"/>
          </a:xfrm>
          <a:prstGeom prst="rect">
            <a:avLst/>
          </a:prstGeom>
          <a:noFill/>
        </p:spPr>
        <p:txBody>
          <a:bodyPr wrap="none" lIns="0" tIns="0" rIns="0" bIns="0" rtlCol="0">
            <a:noAutofit/>
          </a:bodyPr>
          <a:lstStyle/>
          <a:p>
            <a:pPr algn="ctr"/>
            <a:r>
              <a:rPr lang="en-US" altLang="zh-CN" sz="4000" dirty="0">
                <a:solidFill>
                  <a:schemeClr val="accent1"/>
                </a:solidFill>
              </a:rPr>
              <a:t>#03</a:t>
            </a:r>
            <a:endParaRPr lang="zh-CN" altLang="en-US" sz="4000" dirty="0">
              <a:solidFill>
                <a:schemeClr val="accent1"/>
              </a:solidFill>
            </a:endParaRPr>
          </a:p>
        </p:txBody>
      </p:sp>
      <p:grpSp>
        <p:nvGrpSpPr>
          <p:cNvPr id="32" name="Group 10">
            <a:extLst>
              <a:ext uri="{FF2B5EF4-FFF2-40B4-BE49-F238E27FC236}">
                <a16:creationId xmlns:a16="http://schemas.microsoft.com/office/drawing/2014/main" id="{8BCE78D3-83B5-A779-3B93-9EBF1090FCAF}"/>
              </a:ext>
            </a:extLst>
          </p:cNvPr>
          <p:cNvGrpSpPr>
            <a:grpSpLocks noChangeAspect="1"/>
          </p:cNvGrpSpPr>
          <p:nvPr/>
        </p:nvGrpSpPr>
        <p:grpSpPr bwMode="auto">
          <a:xfrm rot="18923445">
            <a:off x="3100272" y="1534089"/>
            <a:ext cx="922672" cy="922974"/>
            <a:chOff x="14101" y="4437"/>
            <a:chExt cx="3056" cy="3057"/>
          </a:xfrm>
        </p:grpSpPr>
        <p:sp>
          <p:nvSpPr>
            <p:cNvPr id="33" name="Freeform 11">
              <a:extLst>
                <a:ext uri="{FF2B5EF4-FFF2-40B4-BE49-F238E27FC236}">
                  <a16:creationId xmlns:a16="http://schemas.microsoft.com/office/drawing/2014/main" id="{11C008D6-6464-4F76-1EA3-440D65C7D787}"/>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4" name="Freeform 12">
              <a:extLst>
                <a:ext uri="{FF2B5EF4-FFF2-40B4-BE49-F238E27FC236}">
                  <a16:creationId xmlns:a16="http://schemas.microsoft.com/office/drawing/2014/main" id="{946A5EE3-F648-D5E4-8A44-D60352FC9563}"/>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25" name="组合 24">
            <a:extLst>
              <a:ext uri="{FF2B5EF4-FFF2-40B4-BE49-F238E27FC236}">
                <a16:creationId xmlns:a16="http://schemas.microsoft.com/office/drawing/2014/main" id="{39694D84-6154-7638-E430-11A20D67B27A}"/>
              </a:ext>
            </a:extLst>
          </p:cNvPr>
          <p:cNvGrpSpPr/>
          <p:nvPr/>
        </p:nvGrpSpPr>
        <p:grpSpPr>
          <a:xfrm rot="18900000">
            <a:off x="7424365" y="-2902432"/>
            <a:ext cx="6098786" cy="6100199"/>
            <a:chOff x="18351500" y="3723568"/>
            <a:chExt cx="4878842" cy="4879972"/>
          </a:xfrm>
        </p:grpSpPr>
        <p:sp>
          <p:nvSpPr>
            <p:cNvPr id="30" name="Freeform 6">
              <a:extLst>
                <a:ext uri="{FF2B5EF4-FFF2-40B4-BE49-F238E27FC236}">
                  <a16:creationId xmlns:a16="http://schemas.microsoft.com/office/drawing/2014/main" id="{D4589B8D-CED5-7A62-793B-DCF70CC59DBA}"/>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1" name="Freeform 7">
              <a:extLst>
                <a:ext uri="{FF2B5EF4-FFF2-40B4-BE49-F238E27FC236}">
                  <a16:creationId xmlns:a16="http://schemas.microsoft.com/office/drawing/2014/main" id="{40EDC0C7-77A9-81AA-01C7-D50595EE1103}"/>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26" name="组合 25">
            <a:extLst>
              <a:ext uri="{FF2B5EF4-FFF2-40B4-BE49-F238E27FC236}">
                <a16:creationId xmlns:a16="http://schemas.microsoft.com/office/drawing/2014/main" id="{1C68DEE7-75E3-0D46-BBB5-ABF4A3EBE73F}"/>
              </a:ext>
            </a:extLst>
          </p:cNvPr>
          <p:cNvGrpSpPr/>
          <p:nvPr/>
        </p:nvGrpSpPr>
        <p:grpSpPr>
          <a:xfrm rot="8100000">
            <a:off x="6722596" y="2086183"/>
            <a:ext cx="8786687" cy="8788722"/>
            <a:chOff x="18351500" y="3723568"/>
            <a:chExt cx="4878842" cy="4879972"/>
          </a:xfrm>
        </p:grpSpPr>
        <p:sp>
          <p:nvSpPr>
            <p:cNvPr id="28" name="Freeform 6">
              <a:extLst>
                <a:ext uri="{FF2B5EF4-FFF2-40B4-BE49-F238E27FC236}">
                  <a16:creationId xmlns:a16="http://schemas.microsoft.com/office/drawing/2014/main" id="{0C442FCD-0C6E-B633-6ECE-5A1C38BA09E5}"/>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7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29" name="Freeform 7">
              <a:extLst>
                <a:ext uri="{FF2B5EF4-FFF2-40B4-BE49-F238E27FC236}">
                  <a16:creationId xmlns:a16="http://schemas.microsoft.com/office/drawing/2014/main" id="{3AE7110C-0CA6-41D0-E984-73A942BBDF9B}"/>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5" name="Group 10">
            <a:extLst>
              <a:ext uri="{FF2B5EF4-FFF2-40B4-BE49-F238E27FC236}">
                <a16:creationId xmlns:a16="http://schemas.microsoft.com/office/drawing/2014/main" id="{D2AF6086-9B56-602D-C8B1-C20D958CBD00}"/>
              </a:ext>
            </a:extLst>
          </p:cNvPr>
          <p:cNvGrpSpPr>
            <a:grpSpLocks noChangeAspect="1"/>
          </p:cNvGrpSpPr>
          <p:nvPr/>
        </p:nvGrpSpPr>
        <p:grpSpPr bwMode="auto">
          <a:xfrm rot="8100000">
            <a:off x="10501205" y="2666453"/>
            <a:ext cx="4851400" cy="4852988"/>
            <a:chOff x="14101" y="4437"/>
            <a:chExt cx="3056" cy="3057"/>
          </a:xfrm>
        </p:grpSpPr>
        <p:sp>
          <p:nvSpPr>
            <p:cNvPr id="36" name="Freeform 11">
              <a:extLst>
                <a:ext uri="{FF2B5EF4-FFF2-40B4-BE49-F238E27FC236}">
                  <a16:creationId xmlns:a16="http://schemas.microsoft.com/office/drawing/2014/main" id="{50C0438E-33E5-2A99-116B-BEC19CC19534}"/>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37" name="Freeform 12">
              <a:extLst>
                <a:ext uri="{FF2B5EF4-FFF2-40B4-BE49-F238E27FC236}">
                  <a16:creationId xmlns:a16="http://schemas.microsoft.com/office/drawing/2014/main" id="{5274BF68-7CD2-4061-D0AA-C92928E5EF69}"/>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8" name="组合 37">
            <a:extLst>
              <a:ext uri="{FF2B5EF4-FFF2-40B4-BE49-F238E27FC236}">
                <a16:creationId xmlns:a16="http://schemas.microsoft.com/office/drawing/2014/main" id="{D8127306-DEE2-02F3-B47D-59BF3CFDFC0D}"/>
              </a:ext>
            </a:extLst>
          </p:cNvPr>
          <p:cNvGrpSpPr/>
          <p:nvPr/>
        </p:nvGrpSpPr>
        <p:grpSpPr>
          <a:xfrm rot="18900000">
            <a:off x="-2098325" y="3005269"/>
            <a:ext cx="6098786" cy="6100199"/>
            <a:chOff x="18351500" y="3723568"/>
            <a:chExt cx="4878842" cy="4879972"/>
          </a:xfrm>
        </p:grpSpPr>
        <p:sp>
          <p:nvSpPr>
            <p:cNvPr id="39" name="Freeform 6">
              <a:extLst>
                <a:ext uri="{FF2B5EF4-FFF2-40B4-BE49-F238E27FC236}">
                  <a16:creationId xmlns:a16="http://schemas.microsoft.com/office/drawing/2014/main" id="{AE982EF1-8FD1-0482-5284-55324313AA09}"/>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40" name="Freeform 7">
              <a:extLst>
                <a:ext uri="{FF2B5EF4-FFF2-40B4-BE49-F238E27FC236}">
                  <a16:creationId xmlns:a16="http://schemas.microsoft.com/office/drawing/2014/main" id="{E42C1B90-8613-1951-4D71-55613D202295}"/>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41" name="Group 10">
            <a:extLst>
              <a:ext uri="{FF2B5EF4-FFF2-40B4-BE49-F238E27FC236}">
                <a16:creationId xmlns:a16="http://schemas.microsoft.com/office/drawing/2014/main" id="{3B019E9A-A47F-0778-08E0-66F6AAC2A850}"/>
              </a:ext>
            </a:extLst>
          </p:cNvPr>
          <p:cNvGrpSpPr>
            <a:grpSpLocks noChangeAspect="1"/>
          </p:cNvGrpSpPr>
          <p:nvPr/>
        </p:nvGrpSpPr>
        <p:grpSpPr bwMode="auto">
          <a:xfrm rot="18923445">
            <a:off x="2714211" y="1610357"/>
            <a:ext cx="1291038" cy="1291460"/>
            <a:chOff x="14101" y="4437"/>
            <a:chExt cx="3056" cy="3057"/>
          </a:xfrm>
        </p:grpSpPr>
        <p:sp>
          <p:nvSpPr>
            <p:cNvPr id="42" name="Freeform 11">
              <a:extLst>
                <a:ext uri="{FF2B5EF4-FFF2-40B4-BE49-F238E27FC236}">
                  <a16:creationId xmlns:a16="http://schemas.microsoft.com/office/drawing/2014/main" id="{C5408B5B-FBD9-D23C-7283-B9BCE0DDB4FE}"/>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sp>
          <p:nvSpPr>
            <p:cNvPr id="43" name="Freeform 12">
              <a:extLst>
                <a:ext uri="{FF2B5EF4-FFF2-40B4-BE49-F238E27FC236}">
                  <a16:creationId xmlns:a16="http://schemas.microsoft.com/office/drawing/2014/main" id="{BD154B94-BBD6-7731-F369-D40F62AD249F}"/>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spTree>
    <p:extLst>
      <p:ext uri="{BB962C8B-B14F-4D97-AF65-F5344CB8AC3E}">
        <p14:creationId xmlns:p14="http://schemas.microsoft.com/office/powerpoint/2010/main" val="702845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7276-7904-FC8E-C0C5-43476D2CB1E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EAE124E-D88E-95E5-065B-205232AE5B89}"/>
              </a:ext>
            </a:extLst>
          </p:cNvPr>
          <p:cNvSpPr txBox="1"/>
          <p:nvPr/>
        </p:nvSpPr>
        <p:spPr>
          <a:xfrm>
            <a:off x="73871" y="89363"/>
            <a:ext cx="1545295" cy="461665"/>
          </a:xfrm>
          <a:prstGeom prst="rect">
            <a:avLst/>
          </a:prstGeom>
          <a:noFill/>
        </p:spPr>
        <p:txBody>
          <a:bodyPr wrap="none" lIns="0" tIns="0" rIns="0" bIns="0" rtlCol="0">
            <a:noAutofit/>
          </a:bodyPr>
          <a:lstStyle/>
          <a:p>
            <a:r>
              <a:rPr lang="en-US" altLang="zh-CN" sz="3600" dirty="0">
                <a:solidFill>
                  <a:schemeClr val="accent1"/>
                </a:solidFill>
              </a:rPr>
              <a:t>X.509</a:t>
            </a:r>
            <a:r>
              <a:rPr lang="zh-CN" altLang="en-US" sz="3600" dirty="0">
                <a:solidFill>
                  <a:schemeClr val="accent1"/>
                </a:solidFill>
              </a:rPr>
              <a:t>证书（一种公钥证书标准）</a:t>
            </a:r>
          </a:p>
        </p:txBody>
      </p:sp>
      <p:grpSp>
        <p:nvGrpSpPr>
          <p:cNvPr id="3" name="组合 2">
            <a:extLst>
              <a:ext uri="{FF2B5EF4-FFF2-40B4-BE49-F238E27FC236}">
                <a16:creationId xmlns:a16="http://schemas.microsoft.com/office/drawing/2014/main" id="{04EB271F-7A94-AC8A-52E3-5F4F513213B6}"/>
              </a:ext>
            </a:extLst>
          </p:cNvPr>
          <p:cNvGrpSpPr/>
          <p:nvPr/>
        </p:nvGrpSpPr>
        <p:grpSpPr>
          <a:xfrm>
            <a:off x="6518379" y="108987"/>
            <a:ext cx="425713" cy="442041"/>
            <a:chOff x="5823870" y="1767426"/>
            <a:chExt cx="425713" cy="442041"/>
          </a:xfrm>
        </p:grpSpPr>
        <p:grpSp>
          <p:nvGrpSpPr>
            <p:cNvPr id="4" name="Group 10">
              <a:extLst>
                <a:ext uri="{FF2B5EF4-FFF2-40B4-BE49-F238E27FC236}">
                  <a16:creationId xmlns:a16="http://schemas.microsoft.com/office/drawing/2014/main" id="{5DA63EE4-7D99-06CF-3F3B-FC3565D0065D}"/>
                </a:ext>
              </a:extLst>
            </p:cNvPr>
            <p:cNvGrpSpPr>
              <a:grpSpLocks noChangeAspect="1"/>
            </p:cNvGrpSpPr>
            <p:nvPr/>
          </p:nvGrpSpPr>
          <p:grpSpPr bwMode="auto">
            <a:xfrm rot="18923445">
              <a:off x="5963891" y="1767426"/>
              <a:ext cx="285692" cy="285786"/>
              <a:chOff x="14101" y="4437"/>
              <a:chExt cx="3056" cy="3057"/>
            </a:xfrm>
          </p:grpSpPr>
          <p:sp>
            <p:nvSpPr>
              <p:cNvPr id="8" name="Freeform 11">
                <a:extLst>
                  <a:ext uri="{FF2B5EF4-FFF2-40B4-BE49-F238E27FC236}">
                    <a16:creationId xmlns:a16="http://schemas.microsoft.com/office/drawing/2014/main" id="{7C58ADE9-5B93-5F9E-58F4-9D15654A104A}"/>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9" name="Freeform 12">
                <a:extLst>
                  <a:ext uri="{FF2B5EF4-FFF2-40B4-BE49-F238E27FC236}">
                    <a16:creationId xmlns:a16="http://schemas.microsoft.com/office/drawing/2014/main" id="{3F877B00-2257-C438-D7E6-5716F1A47566}"/>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5" name="Group 10">
              <a:extLst>
                <a:ext uri="{FF2B5EF4-FFF2-40B4-BE49-F238E27FC236}">
                  <a16:creationId xmlns:a16="http://schemas.microsoft.com/office/drawing/2014/main" id="{A72BF739-475F-626B-5A03-04FD4861FB61}"/>
                </a:ext>
              </a:extLst>
            </p:cNvPr>
            <p:cNvGrpSpPr>
              <a:grpSpLocks noChangeAspect="1"/>
            </p:cNvGrpSpPr>
            <p:nvPr/>
          </p:nvGrpSpPr>
          <p:grpSpPr bwMode="auto">
            <a:xfrm rot="18923445">
              <a:off x="5823870" y="1809585"/>
              <a:ext cx="399751" cy="399882"/>
              <a:chOff x="14101" y="4437"/>
              <a:chExt cx="3056" cy="3057"/>
            </a:xfrm>
          </p:grpSpPr>
          <p:sp>
            <p:nvSpPr>
              <p:cNvPr id="6" name="Freeform 11">
                <a:extLst>
                  <a:ext uri="{FF2B5EF4-FFF2-40B4-BE49-F238E27FC236}">
                    <a16:creationId xmlns:a16="http://schemas.microsoft.com/office/drawing/2014/main" id="{5CBB898D-9311-B25E-4A51-F56A8248DD50}"/>
                  </a:ext>
                </a:extLst>
              </p:cNvPr>
              <p:cNvSpPr>
                <a:spLocks/>
              </p:cNvSpPr>
              <p:nvPr/>
            </p:nvSpPr>
            <p:spPr bwMode="auto">
              <a:xfrm>
                <a:off x="14187" y="4475"/>
                <a:ext cx="2884" cy="2432"/>
              </a:xfrm>
              <a:custGeom>
                <a:avLst/>
                <a:gdLst>
                  <a:gd name="T0" fmla="*/ 1773 w 2137"/>
                  <a:gd name="T1" fmla="*/ 1802 h 1802"/>
                  <a:gd name="T2" fmla="*/ 363 w 2137"/>
                  <a:gd name="T3" fmla="*/ 1802 h 1802"/>
                  <a:gd name="T4" fmla="*/ 112 w 2137"/>
                  <a:gd name="T5" fmla="*/ 1366 h 1802"/>
                  <a:gd name="T6" fmla="*/ 817 w 2137"/>
                  <a:gd name="T7" fmla="*/ 145 h 1802"/>
                  <a:gd name="T8" fmla="*/ 1068 w 2137"/>
                  <a:gd name="T9" fmla="*/ 0 h 1802"/>
                  <a:gd name="T10" fmla="*/ 1320 w 2137"/>
                  <a:gd name="T11" fmla="*/ 145 h 1802"/>
                  <a:gd name="T12" fmla="*/ 2025 w 2137"/>
                  <a:gd name="T13" fmla="*/ 1366 h 1802"/>
                  <a:gd name="T14" fmla="*/ 1773 w 2137"/>
                  <a:gd name="T15" fmla="*/ 1802 h 18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7" h="1802">
                    <a:moveTo>
                      <a:pt x="1773" y="1802"/>
                    </a:moveTo>
                    <a:cubicBezTo>
                      <a:pt x="363" y="1802"/>
                      <a:pt x="363" y="1802"/>
                      <a:pt x="363" y="1802"/>
                    </a:cubicBezTo>
                    <a:cubicBezTo>
                      <a:pt x="140" y="1802"/>
                      <a:pt x="0" y="1560"/>
                      <a:pt x="112" y="1366"/>
                    </a:cubicBezTo>
                    <a:cubicBezTo>
                      <a:pt x="817" y="145"/>
                      <a:pt x="817" y="145"/>
                      <a:pt x="817" y="145"/>
                    </a:cubicBezTo>
                    <a:cubicBezTo>
                      <a:pt x="873" y="48"/>
                      <a:pt x="970" y="0"/>
                      <a:pt x="1068" y="0"/>
                    </a:cubicBezTo>
                    <a:cubicBezTo>
                      <a:pt x="1166" y="0"/>
                      <a:pt x="1264" y="48"/>
                      <a:pt x="1320" y="145"/>
                    </a:cubicBezTo>
                    <a:cubicBezTo>
                      <a:pt x="2025" y="1366"/>
                      <a:pt x="2025" y="1366"/>
                      <a:pt x="2025" y="1366"/>
                    </a:cubicBezTo>
                    <a:cubicBezTo>
                      <a:pt x="2137" y="1560"/>
                      <a:pt x="1997" y="1802"/>
                      <a:pt x="1773" y="1802"/>
                    </a:cubicBezTo>
                    <a:close/>
                  </a:path>
                </a:pathLst>
              </a:custGeom>
              <a:noFill/>
              <a:ln w="9525">
                <a:solidFill>
                  <a:schemeClr val="accent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p>
            </p:txBody>
          </p:sp>
          <p:sp>
            <p:nvSpPr>
              <p:cNvPr id="7" name="Freeform 12">
                <a:extLst>
                  <a:ext uri="{FF2B5EF4-FFF2-40B4-BE49-F238E27FC236}">
                    <a16:creationId xmlns:a16="http://schemas.microsoft.com/office/drawing/2014/main" id="{449404E8-B0E0-F25B-AC85-8D6413927791}"/>
                  </a:ext>
                </a:extLst>
              </p:cNvPr>
              <p:cNvSpPr>
                <a:spLocks noEditPoints="1"/>
              </p:cNvSpPr>
              <p:nvPr/>
            </p:nvSpPr>
            <p:spPr bwMode="auto">
              <a:xfrm>
                <a:off x="14101" y="4437"/>
                <a:ext cx="3056" cy="3057"/>
              </a:xfrm>
              <a:custGeom>
                <a:avLst/>
                <a:gdLst>
                  <a:gd name="T0" fmla="*/ 1599 w 3199"/>
                  <a:gd name="T1" fmla="*/ 4 h 3199"/>
                  <a:gd name="T2" fmla="*/ 2220 w 3199"/>
                  <a:gd name="T3" fmla="*/ 129 h 3199"/>
                  <a:gd name="T4" fmla="*/ 2728 w 3199"/>
                  <a:gd name="T5" fmla="*/ 471 h 3199"/>
                  <a:gd name="T6" fmla="*/ 3069 w 3199"/>
                  <a:gd name="T7" fmla="*/ 978 h 3199"/>
                  <a:gd name="T8" fmla="*/ 3195 w 3199"/>
                  <a:gd name="T9" fmla="*/ 1599 h 3199"/>
                  <a:gd name="T10" fmla="*/ 3069 w 3199"/>
                  <a:gd name="T11" fmla="*/ 2220 h 3199"/>
                  <a:gd name="T12" fmla="*/ 2728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8"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8"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10" y="2410"/>
                      <a:pt x="129" y="2220"/>
                    </a:cubicBezTo>
                    <a:cubicBezTo>
                      <a:pt x="46" y="2024"/>
                      <a:pt x="4" y="1815"/>
                      <a:pt x="4" y="1599"/>
                    </a:cubicBezTo>
                    <a:cubicBezTo>
                      <a:pt x="4" y="1384"/>
                      <a:pt x="46" y="1175"/>
                      <a:pt x="129" y="978"/>
                    </a:cubicBezTo>
                    <a:cubicBezTo>
                      <a:pt x="210"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a:p>
            </p:txBody>
          </p:sp>
        </p:grpSp>
      </p:grpSp>
      <p:sp>
        <p:nvSpPr>
          <p:cNvPr id="10" name="文本框 9">
            <a:extLst>
              <a:ext uri="{FF2B5EF4-FFF2-40B4-BE49-F238E27FC236}">
                <a16:creationId xmlns:a16="http://schemas.microsoft.com/office/drawing/2014/main" id="{DA643DF5-4EC2-C5A9-BBCA-E1E93543BDD4}"/>
              </a:ext>
            </a:extLst>
          </p:cNvPr>
          <p:cNvSpPr txBox="1"/>
          <p:nvPr/>
        </p:nvSpPr>
        <p:spPr>
          <a:xfrm>
            <a:off x="0" y="725098"/>
            <a:ext cx="5609771"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zh-CN" altLang="en-US" sz="2800" dirty="0"/>
              <a:t>公钥证书示例</a:t>
            </a:r>
          </a:p>
        </p:txBody>
      </p:sp>
      <p:sp>
        <p:nvSpPr>
          <p:cNvPr id="30" name="文本框 29">
            <a:extLst>
              <a:ext uri="{FF2B5EF4-FFF2-40B4-BE49-F238E27FC236}">
                <a16:creationId xmlns:a16="http://schemas.microsoft.com/office/drawing/2014/main" id="{39FBB622-5B4D-250A-5C6F-563E34F97700}"/>
              </a:ext>
            </a:extLst>
          </p:cNvPr>
          <p:cNvSpPr txBox="1"/>
          <p:nvPr/>
        </p:nvSpPr>
        <p:spPr>
          <a:xfrm>
            <a:off x="1841414" y="1699126"/>
            <a:ext cx="2002971" cy="584775"/>
          </a:xfrm>
          <a:prstGeom prst="rect">
            <a:avLst/>
          </a:prstGeom>
          <a:solidFill>
            <a:schemeClr val="accent5">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公钥证书</a:t>
            </a:r>
            <a:endParaRPr lang="en-US" altLang="zh-CN" sz="3200" dirty="0">
              <a:solidFill>
                <a:srgbClr val="FF0000"/>
              </a:solidFill>
            </a:endParaRPr>
          </a:p>
        </p:txBody>
      </p:sp>
      <p:sp>
        <p:nvSpPr>
          <p:cNvPr id="31" name="矩形 30">
            <a:extLst>
              <a:ext uri="{FF2B5EF4-FFF2-40B4-BE49-F238E27FC236}">
                <a16:creationId xmlns:a16="http://schemas.microsoft.com/office/drawing/2014/main" id="{D5209949-21A1-C11E-256E-58094EA1CA35}"/>
              </a:ext>
            </a:extLst>
          </p:cNvPr>
          <p:cNvSpPr/>
          <p:nvPr/>
        </p:nvSpPr>
        <p:spPr>
          <a:xfrm>
            <a:off x="268516" y="1519492"/>
            <a:ext cx="5181599" cy="4691585"/>
          </a:xfrm>
          <a:prstGeom prst="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F47F5F2B-F0AD-0572-49AB-31CFC14A60E7}"/>
              </a:ext>
            </a:extLst>
          </p:cNvPr>
          <p:cNvSpPr txBox="1"/>
          <p:nvPr/>
        </p:nvSpPr>
        <p:spPr>
          <a:xfrm>
            <a:off x="333828" y="2626098"/>
            <a:ext cx="5065487" cy="584775"/>
          </a:xfrm>
          <a:prstGeom prst="rect">
            <a:avLst/>
          </a:prstGeom>
          <a:solidFill>
            <a:schemeClr val="accent4">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用户（已认证的用户信息）</a:t>
            </a:r>
            <a:endParaRPr lang="en-US" altLang="zh-CN" sz="3200" dirty="0">
              <a:solidFill>
                <a:srgbClr val="FF0000"/>
              </a:solidFill>
            </a:endParaRPr>
          </a:p>
        </p:txBody>
      </p:sp>
      <p:sp>
        <p:nvSpPr>
          <p:cNvPr id="33" name="文本框 32">
            <a:extLst>
              <a:ext uri="{FF2B5EF4-FFF2-40B4-BE49-F238E27FC236}">
                <a16:creationId xmlns:a16="http://schemas.microsoft.com/office/drawing/2014/main" id="{221388C3-F1F0-64DB-D7E5-F3D50880BCD9}"/>
              </a:ext>
            </a:extLst>
          </p:cNvPr>
          <p:cNvSpPr txBox="1"/>
          <p:nvPr/>
        </p:nvSpPr>
        <p:spPr>
          <a:xfrm>
            <a:off x="321655" y="3955101"/>
            <a:ext cx="5065487" cy="584775"/>
          </a:xfrm>
          <a:prstGeom prst="rect">
            <a:avLst/>
          </a:prstGeom>
          <a:solidFill>
            <a:schemeClr val="accent4">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公钥（</a:t>
            </a:r>
            <a:r>
              <a:rPr lang="en-US" altLang="zh-CN" sz="3200" dirty="0">
                <a:solidFill>
                  <a:srgbClr val="FF0000"/>
                </a:solidFill>
              </a:rPr>
              <a:t>PKI</a:t>
            </a:r>
            <a:r>
              <a:rPr lang="zh-CN" altLang="en-US" sz="3200" dirty="0">
                <a:solidFill>
                  <a:srgbClr val="FF0000"/>
                </a:solidFill>
              </a:rPr>
              <a:t>用户的公钥）</a:t>
            </a:r>
            <a:endParaRPr lang="en-US" altLang="zh-CN" sz="3200" dirty="0">
              <a:solidFill>
                <a:srgbClr val="FF0000"/>
              </a:solidFill>
            </a:endParaRPr>
          </a:p>
        </p:txBody>
      </p:sp>
      <p:sp>
        <p:nvSpPr>
          <p:cNvPr id="34" name="文本框 33">
            <a:extLst>
              <a:ext uri="{FF2B5EF4-FFF2-40B4-BE49-F238E27FC236}">
                <a16:creationId xmlns:a16="http://schemas.microsoft.com/office/drawing/2014/main" id="{914F677F-A845-4DE7-F20F-7D5F3E27A40C}"/>
              </a:ext>
            </a:extLst>
          </p:cNvPr>
          <p:cNvSpPr txBox="1"/>
          <p:nvPr/>
        </p:nvSpPr>
        <p:spPr>
          <a:xfrm>
            <a:off x="333828" y="5284105"/>
            <a:ext cx="5065487" cy="584775"/>
          </a:xfrm>
          <a:prstGeom prst="rect">
            <a:avLst/>
          </a:prstGeom>
          <a:solidFill>
            <a:schemeClr val="accent4">
              <a:lumMod val="40000"/>
              <a:lumOff val="60000"/>
            </a:schemeClr>
          </a:solidFill>
        </p:spPr>
        <p:txBody>
          <a:bodyPr wrap="square" rtlCol="0">
            <a:spAutoFit/>
          </a:bodyPr>
          <a:lstStyle>
            <a:defPPr>
              <a:defRPr lang="en-US"/>
            </a:defPPr>
            <a:lvl1pPr>
              <a:defRPr kumimoji="1" sz="2100">
                <a:latin typeface="Times New Roman" panose="02020503050405090304" pitchFamily="18" charset="0"/>
                <a:ea typeface="黑体" panose="02010609060101010101" pitchFamily="49" charset="-122"/>
                <a:cs typeface="Times New Roman" panose="02020503050405090304" pitchFamily="18" charset="0"/>
              </a:defRPr>
            </a:lvl1pPr>
          </a:lstStyle>
          <a:p>
            <a:pPr algn="ctr">
              <a:buNone/>
            </a:pPr>
            <a:r>
              <a:rPr lang="zh-CN" altLang="en-US" sz="3200" dirty="0">
                <a:solidFill>
                  <a:srgbClr val="FF0000"/>
                </a:solidFill>
              </a:rPr>
              <a:t>签名（认证机构的签名）</a:t>
            </a:r>
            <a:endParaRPr lang="en-US" altLang="zh-CN" sz="3200" dirty="0">
              <a:solidFill>
                <a:srgbClr val="FF0000"/>
              </a:solidFill>
            </a:endParaRPr>
          </a:p>
        </p:txBody>
      </p:sp>
      <p:graphicFrame>
        <p:nvGraphicFramePr>
          <p:cNvPr id="35" name="表格 34">
            <a:extLst>
              <a:ext uri="{FF2B5EF4-FFF2-40B4-BE49-F238E27FC236}">
                <a16:creationId xmlns:a16="http://schemas.microsoft.com/office/drawing/2014/main" id="{7943BD36-28B2-843C-67A6-621FC3CEF93B}"/>
              </a:ext>
            </a:extLst>
          </p:cNvPr>
          <p:cNvGraphicFramePr>
            <a:graphicFrameLocks noGrp="1"/>
          </p:cNvGraphicFramePr>
          <p:nvPr>
            <p:extLst>
              <p:ext uri="{D42A27DB-BD31-4B8C-83A1-F6EECF244321}">
                <p14:modId xmlns:p14="http://schemas.microsoft.com/office/powerpoint/2010/main" val="2589040266"/>
              </p:ext>
            </p:extLst>
          </p:nvPr>
        </p:nvGraphicFramePr>
        <p:xfrm>
          <a:off x="6421616" y="1401946"/>
          <a:ext cx="5501868" cy="5195546"/>
        </p:xfrm>
        <a:graphic>
          <a:graphicData uri="http://schemas.openxmlformats.org/drawingml/2006/table">
            <a:tbl>
              <a:tblPr>
                <a:tableStyleId>{5940675A-B579-460E-94D1-54222C63F5DA}</a:tableStyleId>
              </a:tblPr>
              <a:tblGrid>
                <a:gridCol w="1361417">
                  <a:extLst>
                    <a:ext uri="{9D8B030D-6E8A-4147-A177-3AD203B41FA5}">
                      <a16:colId xmlns:a16="http://schemas.microsoft.com/office/drawing/2014/main" val="1613209948"/>
                    </a:ext>
                  </a:extLst>
                </a:gridCol>
                <a:gridCol w="1785537">
                  <a:extLst>
                    <a:ext uri="{9D8B030D-6E8A-4147-A177-3AD203B41FA5}">
                      <a16:colId xmlns:a16="http://schemas.microsoft.com/office/drawing/2014/main" val="2847714049"/>
                    </a:ext>
                  </a:extLst>
                </a:gridCol>
                <a:gridCol w="2354914">
                  <a:extLst>
                    <a:ext uri="{9D8B030D-6E8A-4147-A177-3AD203B41FA5}">
                      <a16:colId xmlns:a16="http://schemas.microsoft.com/office/drawing/2014/main" val="3666385881"/>
                    </a:ext>
                  </a:extLst>
                </a:gridCol>
              </a:tblGrid>
              <a:tr h="181306">
                <a:tc>
                  <a:txBody>
                    <a:bodyPr/>
                    <a:lstStyle/>
                    <a:p>
                      <a:pPr>
                        <a:buNone/>
                      </a:pPr>
                      <a:r>
                        <a:rPr lang="zh-CN" altLang="en-US" sz="1200"/>
                        <a:t>字段名称</a:t>
                      </a:r>
                    </a:p>
                  </a:txBody>
                  <a:tcPr marL="45326" marR="45326" marT="22663" marB="22663" anchor="ctr"/>
                </a:tc>
                <a:tc>
                  <a:txBody>
                    <a:bodyPr/>
                    <a:lstStyle/>
                    <a:p>
                      <a:pPr>
                        <a:buNone/>
                      </a:pPr>
                      <a:r>
                        <a:rPr lang="zh-CN" altLang="en-US" sz="1200"/>
                        <a:t>英文名称</a:t>
                      </a:r>
                    </a:p>
                  </a:txBody>
                  <a:tcPr marL="45326" marR="45326" marT="22663" marB="22663" anchor="ctr"/>
                </a:tc>
                <a:tc>
                  <a:txBody>
                    <a:bodyPr/>
                    <a:lstStyle/>
                    <a:p>
                      <a:pPr>
                        <a:buNone/>
                      </a:pPr>
                      <a:r>
                        <a:rPr lang="zh-CN" altLang="en-US" sz="1200"/>
                        <a:t>内容说明</a:t>
                      </a:r>
                    </a:p>
                  </a:txBody>
                  <a:tcPr marL="45326" marR="45326" marT="22663" marB="22663" anchor="ctr"/>
                </a:tc>
                <a:extLst>
                  <a:ext uri="{0D108BD9-81ED-4DB2-BD59-A6C34878D82A}">
                    <a16:rowId xmlns:a16="http://schemas.microsoft.com/office/drawing/2014/main" val="2157080983"/>
                  </a:ext>
                </a:extLst>
              </a:tr>
              <a:tr h="317285">
                <a:tc>
                  <a:txBody>
                    <a:bodyPr/>
                    <a:lstStyle/>
                    <a:p>
                      <a:pPr>
                        <a:buNone/>
                      </a:pPr>
                      <a:r>
                        <a:rPr lang="zh-CN" altLang="en-US" sz="1200" dirty="0"/>
                        <a:t>版本号</a:t>
                      </a:r>
                    </a:p>
                  </a:txBody>
                  <a:tcPr marL="45326" marR="45326" marT="22663" marB="22663" anchor="ctr"/>
                </a:tc>
                <a:tc>
                  <a:txBody>
                    <a:bodyPr/>
                    <a:lstStyle/>
                    <a:p>
                      <a:pPr>
                        <a:buNone/>
                      </a:pPr>
                      <a:r>
                        <a:rPr lang="en-US" sz="1200" dirty="0"/>
                        <a:t>Version</a:t>
                      </a:r>
                    </a:p>
                  </a:txBody>
                  <a:tcPr marL="45326" marR="45326" marT="22663" marB="22663" anchor="ctr"/>
                </a:tc>
                <a:tc>
                  <a:txBody>
                    <a:bodyPr/>
                    <a:lstStyle/>
                    <a:p>
                      <a:pPr>
                        <a:buNone/>
                      </a:pPr>
                      <a:r>
                        <a:rPr lang="zh-CN" altLang="en-US" sz="1200" dirty="0"/>
                        <a:t>指示证书的 </a:t>
                      </a:r>
                      <a:r>
                        <a:rPr lang="en-US" altLang="zh-CN" sz="1200" dirty="0"/>
                        <a:t>X.509 </a:t>
                      </a:r>
                      <a:r>
                        <a:rPr lang="zh-CN" altLang="en-US" sz="1200" dirty="0"/>
                        <a:t>版本，通常为 </a:t>
                      </a:r>
                      <a:r>
                        <a:rPr lang="en-US" altLang="zh-CN" sz="1200" dirty="0"/>
                        <a:t>v3</a:t>
                      </a:r>
                      <a:r>
                        <a:rPr lang="zh-CN" altLang="en-US" sz="1200" dirty="0"/>
                        <a:t>（值为 </a:t>
                      </a:r>
                      <a:r>
                        <a:rPr lang="en-US" altLang="zh-CN" sz="1200" dirty="0"/>
                        <a:t>2</a:t>
                      </a:r>
                      <a:r>
                        <a:rPr lang="zh-CN" altLang="en-US" sz="1200" dirty="0"/>
                        <a:t>）</a:t>
                      </a:r>
                    </a:p>
                  </a:txBody>
                  <a:tcPr marL="45326" marR="45326" marT="22663" marB="22663" anchor="ctr"/>
                </a:tc>
                <a:extLst>
                  <a:ext uri="{0D108BD9-81ED-4DB2-BD59-A6C34878D82A}">
                    <a16:rowId xmlns:a16="http://schemas.microsoft.com/office/drawing/2014/main" val="1868269071"/>
                  </a:ext>
                </a:extLst>
              </a:tr>
              <a:tr h="317285">
                <a:tc>
                  <a:txBody>
                    <a:bodyPr/>
                    <a:lstStyle/>
                    <a:p>
                      <a:pPr>
                        <a:buNone/>
                      </a:pPr>
                      <a:r>
                        <a:rPr lang="zh-CN" altLang="en-US" sz="1200"/>
                        <a:t>序列号</a:t>
                      </a:r>
                    </a:p>
                  </a:txBody>
                  <a:tcPr marL="45326" marR="45326" marT="22663" marB="22663" anchor="ctr"/>
                </a:tc>
                <a:tc>
                  <a:txBody>
                    <a:bodyPr/>
                    <a:lstStyle/>
                    <a:p>
                      <a:pPr>
                        <a:buNone/>
                      </a:pPr>
                      <a:r>
                        <a:rPr lang="en-US" sz="1200"/>
                        <a:t>Serial Number</a:t>
                      </a:r>
                    </a:p>
                  </a:txBody>
                  <a:tcPr marL="45326" marR="45326" marT="22663" marB="22663" anchor="ctr"/>
                </a:tc>
                <a:tc>
                  <a:txBody>
                    <a:bodyPr/>
                    <a:lstStyle/>
                    <a:p>
                      <a:pPr>
                        <a:buNone/>
                      </a:pPr>
                      <a:r>
                        <a:rPr lang="zh-CN" altLang="en-US" sz="1200" dirty="0"/>
                        <a:t>由证书颁发机构（</a:t>
                      </a:r>
                      <a:r>
                        <a:rPr lang="en-US" altLang="zh-CN" sz="1200" dirty="0"/>
                        <a:t>CA</a:t>
                      </a:r>
                      <a:r>
                        <a:rPr lang="zh-CN" altLang="en-US" sz="1200" dirty="0"/>
                        <a:t>）分配的唯一标识符</a:t>
                      </a:r>
                    </a:p>
                  </a:txBody>
                  <a:tcPr marL="45326" marR="45326" marT="22663" marB="22663" anchor="ctr"/>
                </a:tc>
                <a:extLst>
                  <a:ext uri="{0D108BD9-81ED-4DB2-BD59-A6C34878D82A}">
                    <a16:rowId xmlns:a16="http://schemas.microsoft.com/office/drawing/2014/main" val="390963569"/>
                  </a:ext>
                </a:extLst>
              </a:tr>
              <a:tr h="317285">
                <a:tc>
                  <a:txBody>
                    <a:bodyPr/>
                    <a:lstStyle/>
                    <a:p>
                      <a:pPr>
                        <a:buNone/>
                      </a:pPr>
                      <a:r>
                        <a:rPr lang="zh-CN" altLang="en-US" sz="1200"/>
                        <a:t>签名算法</a:t>
                      </a:r>
                    </a:p>
                  </a:txBody>
                  <a:tcPr marL="45326" marR="45326" marT="22663" marB="22663" anchor="ctr"/>
                </a:tc>
                <a:tc>
                  <a:txBody>
                    <a:bodyPr/>
                    <a:lstStyle/>
                    <a:p>
                      <a:pPr>
                        <a:buNone/>
                      </a:pPr>
                      <a:r>
                        <a:rPr lang="en-US" sz="1200"/>
                        <a:t>Signature Algorithm</a:t>
                      </a:r>
                    </a:p>
                  </a:txBody>
                  <a:tcPr marL="45326" marR="45326" marT="22663" marB="22663" anchor="ctr"/>
                </a:tc>
                <a:tc>
                  <a:txBody>
                    <a:bodyPr/>
                    <a:lstStyle/>
                    <a:p>
                      <a:pPr>
                        <a:buNone/>
                      </a:pPr>
                      <a:r>
                        <a:rPr lang="zh-CN" altLang="en-US" sz="1200" dirty="0"/>
                        <a:t>用于签名的算法，如 </a:t>
                      </a:r>
                      <a:r>
                        <a:rPr lang="en-US" sz="1200" dirty="0"/>
                        <a:t>SHA256withRSA</a:t>
                      </a:r>
                    </a:p>
                  </a:txBody>
                  <a:tcPr marL="45326" marR="45326" marT="22663" marB="22663" anchor="ctr"/>
                </a:tc>
                <a:extLst>
                  <a:ext uri="{0D108BD9-81ED-4DB2-BD59-A6C34878D82A}">
                    <a16:rowId xmlns:a16="http://schemas.microsoft.com/office/drawing/2014/main" val="2970315080"/>
                  </a:ext>
                </a:extLst>
              </a:tr>
              <a:tr h="317285">
                <a:tc>
                  <a:txBody>
                    <a:bodyPr/>
                    <a:lstStyle/>
                    <a:p>
                      <a:pPr>
                        <a:buNone/>
                      </a:pPr>
                      <a:r>
                        <a:rPr lang="zh-CN" altLang="en-US" sz="1200"/>
                        <a:t>颁发者</a:t>
                      </a:r>
                    </a:p>
                  </a:txBody>
                  <a:tcPr marL="45326" marR="45326" marT="22663" marB="22663" anchor="ctr"/>
                </a:tc>
                <a:tc>
                  <a:txBody>
                    <a:bodyPr/>
                    <a:lstStyle/>
                    <a:p>
                      <a:pPr>
                        <a:buNone/>
                      </a:pPr>
                      <a:r>
                        <a:rPr lang="en-US" sz="1200"/>
                        <a:t>Issuer</a:t>
                      </a:r>
                    </a:p>
                  </a:txBody>
                  <a:tcPr marL="45326" marR="45326" marT="22663" marB="22663" anchor="ctr"/>
                </a:tc>
                <a:tc>
                  <a:txBody>
                    <a:bodyPr/>
                    <a:lstStyle/>
                    <a:p>
                      <a:pPr>
                        <a:buNone/>
                      </a:pPr>
                      <a:r>
                        <a:rPr lang="zh-CN" altLang="en-US" sz="1200" dirty="0"/>
                        <a:t>颁发证书的 </a:t>
                      </a:r>
                      <a:r>
                        <a:rPr lang="en-US" sz="1200" dirty="0"/>
                        <a:t>CA </a:t>
                      </a:r>
                      <a:r>
                        <a:rPr lang="zh-CN" altLang="en-US" sz="1200" dirty="0"/>
                        <a:t>的标识信息（</a:t>
                      </a:r>
                      <a:r>
                        <a:rPr lang="en-US" sz="1200" dirty="0" err="1"/>
                        <a:t>DN，Distinguished</a:t>
                      </a:r>
                      <a:r>
                        <a:rPr lang="en-US" sz="1200" dirty="0"/>
                        <a:t> Name）</a:t>
                      </a:r>
                    </a:p>
                  </a:txBody>
                  <a:tcPr marL="45326" marR="45326" marT="22663" marB="22663" anchor="ctr"/>
                </a:tc>
                <a:extLst>
                  <a:ext uri="{0D108BD9-81ED-4DB2-BD59-A6C34878D82A}">
                    <a16:rowId xmlns:a16="http://schemas.microsoft.com/office/drawing/2014/main" val="1927215784"/>
                  </a:ext>
                </a:extLst>
              </a:tr>
              <a:tr h="317285">
                <a:tc>
                  <a:txBody>
                    <a:bodyPr/>
                    <a:lstStyle/>
                    <a:p>
                      <a:pPr>
                        <a:buNone/>
                      </a:pPr>
                      <a:r>
                        <a:rPr lang="zh-CN" altLang="en-US" sz="1200"/>
                        <a:t>有效期</a:t>
                      </a:r>
                    </a:p>
                  </a:txBody>
                  <a:tcPr marL="45326" marR="45326" marT="22663" marB="22663" anchor="ctr"/>
                </a:tc>
                <a:tc>
                  <a:txBody>
                    <a:bodyPr/>
                    <a:lstStyle/>
                    <a:p>
                      <a:pPr>
                        <a:buNone/>
                      </a:pPr>
                      <a:r>
                        <a:rPr lang="en-US" sz="1200"/>
                        <a:t>Validity</a:t>
                      </a:r>
                    </a:p>
                  </a:txBody>
                  <a:tcPr marL="45326" marR="45326" marT="22663" marB="22663" anchor="ctr"/>
                </a:tc>
                <a:tc>
                  <a:txBody>
                    <a:bodyPr/>
                    <a:lstStyle/>
                    <a:p>
                      <a:pPr>
                        <a:buNone/>
                      </a:pPr>
                      <a:r>
                        <a:rPr lang="zh-CN" altLang="en-US" sz="1200"/>
                        <a:t>包含以下两项：</a:t>
                      </a:r>
                      <a:r>
                        <a:rPr lang="en-US" altLang="zh-CN" sz="1200"/>
                        <a:t>• </a:t>
                      </a:r>
                      <a:r>
                        <a:rPr lang="zh-CN" altLang="en-US" sz="1200"/>
                        <a:t>生效时间（</a:t>
                      </a:r>
                      <a:r>
                        <a:rPr lang="en-US" sz="1200"/>
                        <a:t>Not Before）• </a:t>
                      </a:r>
                      <a:r>
                        <a:rPr lang="zh-CN" altLang="en-US" sz="1200"/>
                        <a:t>失效时间（</a:t>
                      </a:r>
                      <a:r>
                        <a:rPr lang="en-US" sz="1200"/>
                        <a:t>Not After）</a:t>
                      </a:r>
                    </a:p>
                  </a:txBody>
                  <a:tcPr marL="45326" marR="45326" marT="22663" marB="22663" anchor="ctr"/>
                </a:tc>
                <a:extLst>
                  <a:ext uri="{0D108BD9-81ED-4DB2-BD59-A6C34878D82A}">
                    <a16:rowId xmlns:a16="http://schemas.microsoft.com/office/drawing/2014/main" val="4092361783"/>
                  </a:ext>
                </a:extLst>
              </a:tr>
              <a:tr h="317285">
                <a:tc>
                  <a:txBody>
                    <a:bodyPr/>
                    <a:lstStyle/>
                    <a:p>
                      <a:pPr>
                        <a:buNone/>
                      </a:pPr>
                      <a:r>
                        <a:rPr lang="zh-CN" altLang="en-US" sz="1200"/>
                        <a:t>主体</a:t>
                      </a:r>
                    </a:p>
                  </a:txBody>
                  <a:tcPr marL="45326" marR="45326" marT="22663" marB="22663" anchor="ctr"/>
                </a:tc>
                <a:tc>
                  <a:txBody>
                    <a:bodyPr/>
                    <a:lstStyle/>
                    <a:p>
                      <a:pPr>
                        <a:buNone/>
                      </a:pPr>
                      <a:r>
                        <a:rPr lang="en-US" sz="1200"/>
                        <a:t>Subject</a:t>
                      </a:r>
                    </a:p>
                  </a:txBody>
                  <a:tcPr marL="45326" marR="45326" marT="22663" marB="22663" anchor="ctr"/>
                </a:tc>
                <a:tc>
                  <a:txBody>
                    <a:bodyPr/>
                    <a:lstStyle/>
                    <a:p>
                      <a:pPr>
                        <a:buNone/>
                      </a:pPr>
                      <a:r>
                        <a:rPr lang="zh-CN" altLang="en-US" sz="1200" dirty="0"/>
                        <a:t>证书持有者的标识信息（</a:t>
                      </a:r>
                      <a:r>
                        <a:rPr lang="en-US" altLang="zh-CN" sz="1200" dirty="0"/>
                        <a:t>DN</a:t>
                      </a:r>
                      <a:r>
                        <a:rPr lang="zh-CN" altLang="en-US" sz="1200" dirty="0"/>
                        <a:t>），如个人或组织</a:t>
                      </a:r>
                    </a:p>
                  </a:txBody>
                  <a:tcPr marL="45326" marR="45326" marT="22663" marB="22663" anchor="ctr"/>
                </a:tc>
                <a:extLst>
                  <a:ext uri="{0D108BD9-81ED-4DB2-BD59-A6C34878D82A}">
                    <a16:rowId xmlns:a16="http://schemas.microsoft.com/office/drawing/2014/main" val="200337170"/>
                  </a:ext>
                </a:extLst>
              </a:tr>
              <a:tr h="317285">
                <a:tc>
                  <a:txBody>
                    <a:bodyPr/>
                    <a:lstStyle/>
                    <a:p>
                      <a:pPr>
                        <a:buNone/>
                      </a:pPr>
                      <a:r>
                        <a:rPr lang="zh-CN" altLang="en-US" sz="1200"/>
                        <a:t>主体公钥信息</a:t>
                      </a:r>
                    </a:p>
                  </a:txBody>
                  <a:tcPr marL="45326" marR="45326" marT="22663" marB="22663" anchor="ctr"/>
                </a:tc>
                <a:tc>
                  <a:txBody>
                    <a:bodyPr/>
                    <a:lstStyle/>
                    <a:p>
                      <a:pPr>
                        <a:buNone/>
                      </a:pPr>
                      <a:r>
                        <a:rPr lang="en-US" sz="1200"/>
                        <a:t>Subject Public Key Info</a:t>
                      </a:r>
                    </a:p>
                  </a:txBody>
                  <a:tcPr marL="45326" marR="45326" marT="22663" marB="22663" anchor="ctr"/>
                </a:tc>
                <a:tc>
                  <a:txBody>
                    <a:bodyPr/>
                    <a:lstStyle/>
                    <a:p>
                      <a:pPr>
                        <a:buNone/>
                      </a:pPr>
                      <a:r>
                        <a:rPr lang="zh-CN" altLang="en-US" sz="1200" dirty="0"/>
                        <a:t>包含：</a:t>
                      </a:r>
                      <a:r>
                        <a:rPr lang="en-US" altLang="zh-CN" sz="1200" dirty="0"/>
                        <a:t>• </a:t>
                      </a:r>
                      <a:r>
                        <a:rPr lang="zh-CN" altLang="en-US" sz="1200" dirty="0"/>
                        <a:t>公钥算法（如 </a:t>
                      </a:r>
                      <a:r>
                        <a:rPr lang="en-US" altLang="zh-CN" sz="1200" dirty="0"/>
                        <a:t>RSA</a:t>
                      </a:r>
                      <a:r>
                        <a:rPr lang="zh-CN" altLang="en-US" sz="1200" dirty="0"/>
                        <a:t>、</a:t>
                      </a:r>
                      <a:r>
                        <a:rPr lang="en-US" altLang="zh-CN" sz="1200" dirty="0"/>
                        <a:t>ECDSA</a:t>
                      </a:r>
                      <a:r>
                        <a:rPr lang="zh-CN" altLang="en-US" sz="1200" dirty="0"/>
                        <a:t>）</a:t>
                      </a:r>
                      <a:r>
                        <a:rPr lang="en-US" altLang="zh-CN" sz="1200" dirty="0"/>
                        <a:t>• </a:t>
                      </a:r>
                      <a:r>
                        <a:rPr lang="zh-CN" altLang="en-US" sz="1200" dirty="0"/>
                        <a:t>公钥值</a:t>
                      </a:r>
                    </a:p>
                  </a:txBody>
                  <a:tcPr marL="45326" marR="45326" marT="22663" marB="22663" anchor="ctr"/>
                </a:tc>
                <a:extLst>
                  <a:ext uri="{0D108BD9-81ED-4DB2-BD59-A6C34878D82A}">
                    <a16:rowId xmlns:a16="http://schemas.microsoft.com/office/drawing/2014/main" val="171684359"/>
                  </a:ext>
                </a:extLst>
              </a:tr>
              <a:tr h="181306">
                <a:tc>
                  <a:txBody>
                    <a:bodyPr/>
                    <a:lstStyle/>
                    <a:p>
                      <a:pPr>
                        <a:buNone/>
                      </a:pPr>
                      <a:r>
                        <a:rPr lang="zh-CN" altLang="en-US" sz="1200"/>
                        <a:t>颁发者唯一标识</a:t>
                      </a:r>
                    </a:p>
                  </a:txBody>
                  <a:tcPr marL="45326" marR="45326" marT="22663" marB="22663" anchor="ctr"/>
                </a:tc>
                <a:tc>
                  <a:txBody>
                    <a:bodyPr/>
                    <a:lstStyle/>
                    <a:p>
                      <a:pPr>
                        <a:buNone/>
                      </a:pPr>
                      <a:r>
                        <a:rPr lang="en-US" sz="1200"/>
                        <a:t>Issuer Unique ID</a:t>
                      </a:r>
                    </a:p>
                  </a:txBody>
                  <a:tcPr marL="45326" marR="45326" marT="22663" marB="22663" anchor="ctr"/>
                </a:tc>
                <a:tc>
                  <a:txBody>
                    <a:bodyPr/>
                    <a:lstStyle/>
                    <a:p>
                      <a:pPr>
                        <a:buNone/>
                      </a:pPr>
                      <a:r>
                        <a:rPr lang="zh-CN" altLang="en-US" sz="1200" dirty="0"/>
                        <a:t>可选字段（</a:t>
                      </a:r>
                      <a:r>
                        <a:rPr lang="en-US" altLang="zh-CN" sz="1200" dirty="0"/>
                        <a:t>v2+</a:t>
                      </a:r>
                      <a:r>
                        <a:rPr lang="zh-CN" altLang="en-US" sz="1200" dirty="0"/>
                        <a:t>）</a:t>
                      </a:r>
                    </a:p>
                  </a:txBody>
                  <a:tcPr marL="45326" marR="45326" marT="22663" marB="22663" anchor="ctr"/>
                </a:tc>
                <a:extLst>
                  <a:ext uri="{0D108BD9-81ED-4DB2-BD59-A6C34878D82A}">
                    <a16:rowId xmlns:a16="http://schemas.microsoft.com/office/drawing/2014/main" val="1794355977"/>
                  </a:ext>
                </a:extLst>
              </a:tr>
              <a:tr h="181306">
                <a:tc>
                  <a:txBody>
                    <a:bodyPr/>
                    <a:lstStyle/>
                    <a:p>
                      <a:pPr>
                        <a:buNone/>
                      </a:pPr>
                      <a:r>
                        <a:rPr lang="zh-CN" altLang="en-US" sz="1200"/>
                        <a:t>主体唯一标识</a:t>
                      </a:r>
                    </a:p>
                  </a:txBody>
                  <a:tcPr marL="45326" marR="45326" marT="22663" marB="22663" anchor="ctr"/>
                </a:tc>
                <a:tc>
                  <a:txBody>
                    <a:bodyPr/>
                    <a:lstStyle/>
                    <a:p>
                      <a:pPr>
                        <a:buNone/>
                      </a:pPr>
                      <a:r>
                        <a:rPr lang="en-US" sz="1200"/>
                        <a:t>Subject Unique ID</a:t>
                      </a:r>
                    </a:p>
                  </a:txBody>
                  <a:tcPr marL="45326" marR="45326" marT="22663" marB="22663" anchor="ctr"/>
                </a:tc>
                <a:tc>
                  <a:txBody>
                    <a:bodyPr/>
                    <a:lstStyle/>
                    <a:p>
                      <a:pPr>
                        <a:buNone/>
                      </a:pPr>
                      <a:r>
                        <a:rPr lang="zh-CN" altLang="en-US" sz="1200" dirty="0"/>
                        <a:t>可选字段（</a:t>
                      </a:r>
                      <a:r>
                        <a:rPr lang="en-US" altLang="zh-CN" sz="1200" dirty="0"/>
                        <a:t>v2+</a:t>
                      </a:r>
                      <a:r>
                        <a:rPr lang="zh-CN" altLang="en-US" sz="1200" dirty="0"/>
                        <a:t>）</a:t>
                      </a:r>
                    </a:p>
                  </a:txBody>
                  <a:tcPr marL="45326" marR="45326" marT="22663" marB="22663" anchor="ctr"/>
                </a:tc>
                <a:extLst>
                  <a:ext uri="{0D108BD9-81ED-4DB2-BD59-A6C34878D82A}">
                    <a16:rowId xmlns:a16="http://schemas.microsoft.com/office/drawing/2014/main" val="3531796657"/>
                  </a:ext>
                </a:extLst>
              </a:tr>
              <a:tr h="1405120">
                <a:tc>
                  <a:txBody>
                    <a:bodyPr/>
                    <a:lstStyle/>
                    <a:p>
                      <a:pPr>
                        <a:buNone/>
                      </a:pPr>
                      <a:r>
                        <a:rPr lang="zh-CN" altLang="en-US" sz="1200"/>
                        <a:t>扩展项</a:t>
                      </a:r>
                    </a:p>
                  </a:txBody>
                  <a:tcPr marL="45326" marR="45326" marT="22663" marB="22663" anchor="ctr"/>
                </a:tc>
                <a:tc>
                  <a:txBody>
                    <a:bodyPr/>
                    <a:lstStyle/>
                    <a:p>
                      <a:pPr>
                        <a:buNone/>
                      </a:pPr>
                      <a:r>
                        <a:rPr lang="en-US" sz="1200"/>
                        <a:t>Extensions（v3+）</a:t>
                      </a:r>
                    </a:p>
                  </a:txBody>
                  <a:tcPr marL="45326" marR="45326" marT="22663" marB="22663" anchor="ctr"/>
                </a:tc>
                <a:tc>
                  <a:txBody>
                    <a:bodyPr/>
                    <a:lstStyle/>
                    <a:p>
                      <a:pPr>
                        <a:buNone/>
                      </a:pPr>
                      <a:r>
                        <a:rPr lang="zh-CN" altLang="en-US" sz="1200" dirty="0"/>
                        <a:t>常见扩展项包括：</a:t>
                      </a:r>
                      <a:endParaRPr lang="en-US" altLang="zh-CN" sz="1200" dirty="0"/>
                    </a:p>
                    <a:p>
                      <a:pPr>
                        <a:buNone/>
                      </a:pPr>
                      <a:r>
                        <a:rPr lang="en-US" altLang="zh-CN" sz="1200" dirty="0"/>
                        <a:t>• </a:t>
                      </a:r>
                      <a:r>
                        <a:rPr lang="zh-CN" altLang="en-US" sz="1200" dirty="0"/>
                        <a:t>密钥用法（</a:t>
                      </a:r>
                      <a:r>
                        <a:rPr lang="en-US" sz="1200" dirty="0"/>
                        <a:t>Key Usage）：</a:t>
                      </a:r>
                      <a:r>
                        <a:rPr lang="zh-CN" altLang="en-US" sz="1200" dirty="0"/>
                        <a:t>如数字签名、密钥加密</a:t>
                      </a:r>
                      <a:endParaRPr lang="en-US" altLang="zh-CN" sz="1200" dirty="0"/>
                    </a:p>
                    <a:p>
                      <a:pPr>
                        <a:buNone/>
                      </a:pPr>
                      <a:r>
                        <a:rPr lang="en-US" altLang="zh-CN" sz="1200" dirty="0"/>
                        <a:t>• </a:t>
                      </a:r>
                      <a:r>
                        <a:rPr lang="zh-CN" altLang="en-US" sz="1200" dirty="0"/>
                        <a:t>扩展密钥用法（</a:t>
                      </a:r>
                      <a:r>
                        <a:rPr lang="en-US" sz="1200" dirty="0"/>
                        <a:t>Extended Key Usage）：</a:t>
                      </a:r>
                      <a:r>
                        <a:rPr lang="zh-CN" altLang="en-US" sz="1200" dirty="0"/>
                        <a:t>如服务器认证、客户端认证</a:t>
                      </a:r>
                    </a:p>
                  </a:txBody>
                  <a:tcPr marL="45326" marR="45326" marT="22663" marB="22663" anchor="ctr"/>
                </a:tc>
                <a:extLst>
                  <a:ext uri="{0D108BD9-81ED-4DB2-BD59-A6C34878D82A}">
                    <a16:rowId xmlns:a16="http://schemas.microsoft.com/office/drawing/2014/main" val="3591310881"/>
                  </a:ext>
                </a:extLst>
              </a:tr>
              <a:tr h="181306">
                <a:tc>
                  <a:txBody>
                    <a:bodyPr/>
                    <a:lstStyle/>
                    <a:p>
                      <a:pPr>
                        <a:buNone/>
                      </a:pPr>
                      <a:r>
                        <a:rPr lang="zh-CN" altLang="en-US" sz="1200"/>
                        <a:t>签名值</a:t>
                      </a:r>
                    </a:p>
                  </a:txBody>
                  <a:tcPr marL="45326" marR="45326" marT="22663" marB="22663" anchor="ctr"/>
                </a:tc>
                <a:tc>
                  <a:txBody>
                    <a:bodyPr/>
                    <a:lstStyle/>
                    <a:p>
                      <a:pPr>
                        <a:buNone/>
                      </a:pPr>
                      <a:r>
                        <a:rPr lang="en-US" sz="1200"/>
                        <a:t>Signature Value</a:t>
                      </a:r>
                    </a:p>
                  </a:txBody>
                  <a:tcPr marL="45326" marR="45326" marT="22663" marB="22663" anchor="ctr"/>
                </a:tc>
                <a:tc>
                  <a:txBody>
                    <a:bodyPr/>
                    <a:lstStyle/>
                    <a:p>
                      <a:pPr>
                        <a:buNone/>
                      </a:pPr>
                      <a:r>
                        <a:rPr lang="en-US" altLang="zh-CN" sz="1200" dirty="0"/>
                        <a:t>CA </a:t>
                      </a:r>
                      <a:r>
                        <a:rPr lang="zh-CN" altLang="en-US" sz="1200" dirty="0"/>
                        <a:t>对证书内容的数字签名</a:t>
                      </a:r>
                    </a:p>
                  </a:txBody>
                  <a:tcPr marL="45326" marR="45326" marT="22663" marB="22663" anchor="ctr"/>
                </a:tc>
                <a:extLst>
                  <a:ext uri="{0D108BD9-81ED-4DB2-BD59-A6C34878D82A}">
                    <a16:rowId xmlns:a16="http://schemas.microsoft.com/office/drawing/2014/main" val="3562574762"/>
                  </a:ext>
                </a:extLst>
              </a:tr>
            </a:tbl>
          </a:graphicData>
        </a:graphic>
      </p:graphicFrame>
      <p:sp>
        <p:nvSpPr>
          <p:cNvPr id="36" name="文本框 35">
            <a:extLst>
              <a:ext uri="{FF2B5EF4-FFF2-40B4-BE49-F238E27FC236}">
                <a16:creationId xmlns:a16="http://schemas.microsoft.com/office/drawing/2014/main" id="{7A0812D8-52FB-0B12-4285-272A9C37C5C0}"/>
              </a:ext>
            </a:extLst>
          </p:cNvPr>
          <p:cNvSpPr txBox="1"/>
          <p:nvPr/>
        </p:nvSpPr>
        <p:spPr>
          <a:xfrm>
            <a:off x="6421616" y="725098"/>
            <a:ext cx="5609771" cy="523220"/>
          </a:xfrm>
          <a:prstGeom prst="rect">
            <a:avLst/>
          </a:prstGeom>
          <a:solidFill>
            <a:schemeClr val="accent1">
              <a:lumMod val="20000"/>
              <a:lumOff val="80000"/>
            </a:schemeClr>
          </a:solidFill>
        </p:spPr>
        <p:txBody>
          <a:bodyPr wrap="square" rtlCol="0">
            <a:spAutoFit/>
          </a:bodyPr>
          <a:lstStyle>
            <a:defPPr>
              <a:defRPr lang="en-US"/>
            </a:defPPr>
            <a:lvl1pPr>
              <a:defRPr kumimoji="1" sz="2100">
                <a:latin typeface="Times New Roman" panose="02020603050405020304" pitchFamily="18" charset="0"/>
                <a:ea typeface="SimHei" panose="02010609060101010101" pitchFamily="49" charset="-122"/>
                <a:cs typeface="Times New Roman" panose="02020603050405020304" pitchFamily="18" charset="0"/>
              </a:defRPr>
            </a:lvl1pPr>
          </a:lstStyle>
          <a:p>
            <a:r>
              <a:rPr lang="en-US" altLang="zh-CN" sz="2800" dirty="0"/>
              <a:t>X.509-V3</a:t>
            </a:r>
            <a:r>
              <a:rPr lang="zh-CN" altLang="en-US" sz="2800" dirty="0"/>
              <a:t>证书内容</a:t>
            </a:r>
          </a:p>
        </p:txBody>
      </p:sp>
      <p:cxnSp>
        <p:nvCxnSpPr>
          <p:cNvPr id="37" name="直线连接符 46">
            <a:extLst>
              <a:ext uri="{FF2B5EF4-FFF2-40B4-BE49-F238E27FC236}">
                <a16:creationId xmlns:a16="http://schemas.microsoft.com/office/drawing/2014/main" id="{471B5AC8-ED83-D47C-97EC-9F8662989BA8}"/>
              </a:ext>
            </a:extLst>
          </p:cNvPr>
          <p:cNvCxnSpPr>
            <a:cxnSpLocks/>
          </p:cNvCxnSpPr>
          <p:nvPr/>
        </p:nvCxnSpPr>
        <p:spPr>
          <a:xfrm>
            <a:off x="6004560" y="725098"/>
            <a:ext cx="0" cy="5872394"/>
          </a:xfrm>
          <a:prstGeom prst="line">
            <a:avLst/>
          </a:prstGeom>
          <a:ln w="76200">
            <a:solidFill>
              <a:srgbClr val="001F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66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additive="base">
                                        <p:cTn id="25" dur="500" fill="hold"/>
                                        <p:tgtEl>
                                          <p:spTgt spid="34"/>
                                        </p:tgtEl>
                                        <p:attrNameLst>
                                          <p:attrName>ppt_x</p:attrName>
                                        </p:attrNameLst>
                                      </p:cBhvr>
                                      <p:tavLst>
                                        <p:tav tm="0">
                                          <p:val>
                                            <p:strVal val="#ppt_x"/>
                                          </p:val>
                                        </p:tav>
                                        <p:tav tm="100000">
                                          <p:val>
                                            <p:strVal val="#ppt_x"/>
                                          </p:val>
                                        </p:tav>
                                      </p:tavLst>
                                    </p:anim>
                                    <p:anim calcmode="lin" valueType="num">
                                      <p:cBhvr additive="base">
                                        <p:cTn id="2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P spid="33" grpId="0" animBg="1"/>
      <p:bldP spid="3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8463D-FD1F-712A-01F2-1B2A71621E97}"/>
            </a:ext>
          </a:extLst>
        </p:cNvPr>
        <p:cNvGrpSpPr/>
        <p:nvPr/>
      </p:nvGrpSpPr>
      <p:grpSpPr>
        <a:xfrm>
          <a:off x="0" y="0"/>
          <a:ext cx="0" cy="0"/>
          <a:chOff x="0" y="0"/>
          <a:chExt cx="0" cy="0"/>
        </a:xfrm>
      </p:grpSpPr>
      <p:grpSp>
        <p:nvGrpSpPr>
          <p:cNvPr id="22" name="组合 21">
            <a:extLst>
              <a:ext uri="{FF2B5EF4-FFF2-40B4-BE49-F238E27FC236}">
                <a16:creationId xmlns:a16="http://schemas.microsoft.com/office/drawing/2014/main" id="{92CF5A2B-ADB0-D484-15D1-1D07414F546A}"/>
              </a:ext>
            </a:extLst>
          </p:cNvPr>
          <p:cNvGrpSpPr/>
          <p:nvPr/>
        </p:nvGrpSpPr>
        <p:grpSpPr>
          <a:xfrm rot="637793">
            <a:off x="6717963" y="-2695151"/>
            <a:ext cx="8786687" cy="13156983"/>
            <a:chOff x="14552960" y="-177472"/>
            <a:chExt cx="7029080" cy="10525183"/>
          </a:xfrm>
        </p:grpSpPr>
        <p:grpSp>
          <p:nvGrpSpPr>
            <p:cNvPr id="28" name="组合 27">
              <a:extLst>
                <a:ext uri="{FF2B5EF4-FFF2-40B4-BE49-F238E27FC236}">
                  <a16:creationId xmlns:a16="http://schemas.microsoft.com/office/drawing/2014/main" id="{9DCBD846-D10E-CA12-DABB-76BF359C3CCB}"/>
                </a:ext>
              </a:extLst>
            </p:cNvPr>
            <p:cNvGrpSpPr/>
            <p:nvPr/>
          </p:nvGrpSpPr>
          <p:grpSpPr>
            <a:xfrm rot="1495231">
              <a:off x="15166450" y="-177472"/>
              <a:ext cx="4878842" cy="4879972"/>
              <a:chOff x="18351500" y="3723568"/>
              <a:chExt cx="4878842" cy="4879972"/>
            </a:xfrm>
          </p:grpSpPr>
          <p:sp>
            <p:nvSpPr>
              <p:cNvPr id="32" name="Freeform 6">
                <a:extLst>
                  <a:ext uri="{FF2B5EF4-FFF2-40B4-BE49-F238E27FC236}">
                    <a16:creationId xmlns:a16="http://schemas.microsoft.com/office/drawing/2014/main" id="{17A3DBDD-BA99-BADE-B095-F559C87B0C58}"/>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7">
                <a:extLst>
                  <a:ext uri="{FF2B5EF4-FFF2-40B4-BE49-F238E27FC236}">
                    <a16:creationId xmlns:a16="http://schemas.microsoft.com/office/drawing/2014/main" id="{FCD0E32D-CAB4-0FC3-69A9-79DCA6ECD864}"/>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29" name="组合 28">
              <a:extLst>
                <a:ext uri="{FF2B5EF4-FFF2-40B4-BE49-F238E27FC236}">
                  <a16:creationId xmlns:a16="http://schemas.microsoft.com/office/drawing/2014/main" id="{4BFE5E8B-CF18-1BF9-3570-488F05659F11}"/>
                </a:ext>
              </a:extLst>
            </p:cNvPr>
            <p:cNvGrpSpPr/>
            <p:nvPr/>
          </p:nvGrpSpPr>
          <p:grpSpPr>
            <a:xfrm rot="12295231">
              <a:off x="14552960" y="3317003"/>
              <a:ext cx="7029080" cy="7030708"/>
              <a:chOff x="18351500" y="3723568"/>
              <a:chExt cx="4878842" cy="4879972"/>
            </a:xfrm>
          </p:grpSpPr>
          <p:sp>
            <p:nvSpPr>
              <p:cNvPr id="30" name="Freeform 6">
                <a:extLst>
                  <a:ext uri="{FF2B5EF4-FFF2-40B4-BE49-F238E27FC236}">
                    <a16:creationId xmlns:a16="http://schemas.microsoft.com/office/drawing/2014/main" id="{8D0C7612-9F21-1273-29DC-1D8DD93BD0B2}"/>
                  </a:ext>
                </a:extLst>
              </p:cNvPr>
              <p:cNvSpPr>
                <a:spLocks noEditPoints="1"/>
              </p:cNvSpPr>
              <p:nvPr/>
            </p:nvSpPr>
            <p:spPr bwMode="auto">
              <a:xfrm>
                <a:off x="18500952" y="3796591"/>
                <a:ext cx="4578350" cy="3860800"/>
              </a:xfrm>
              <a:custGeom>
                <a:avLst/>
                <a:gdLst>
                  <a:gd name="T0" fmla="*/ 2025 w 2137"/>
                  <a:gd name="T1" fmla="*/ 1366 h 1802"/>
                  <a:gd name="T2" fmla="*/ 1320 w 2137"/>
                  <a:gd name="T3" fmla="*/ 145 h 1802"/>
                  <a:gd name="T4" fmla="*/ 1068 w 2137"/>
                  <a:gd name="T5" fmla="*/ 0 h 1802"/>
                  <a:gd name="T6" fmla="*/ 816 w 2137"/>
                  <a:gd name="T7" fmla="*/ 145 h 1802"/>
                  <a:gd name="T8" fmla="*/ 111 w 2137"/>
                  <a:gd name="T9" fmla="*/ 1366 h 1802"/>
                  <a:gd name="T10" fmla="*/ 363 w 2137"/>
                  <a:gd name="T11" fmla="*/ 1802 h 1802"/>
                  <a:gd name="T12" fmla="*/ 1773 w 2137"/>
                  <a:gd name="T13" fmla="*/ 1802 h 1802"/>
                  <a:gd name="T14" fmla="*/ 2025 w 2137"/>
                  <a:gd name="T15" fmla="*/ 1366 h 1802"/>
                  <a:gd name="T16" fmla="*/ 1852 w 2137"/>
                  <a:gd name="T17" fmla="*/ 1557 h 1802"/>
                  <a:gd name="T18" fmla="*/ 1773 w 2137"/>
                  <a:gd name="T19" fmla="*/ 1602 h 1802"/>
                  <a:gd name="T20" fmla="*/ 363 w 2137"/>
                  <a:gd name="T21" fmla="*/ 1602 h 1802"/>
                  <a:gd name="T22" fmla="*/ 285 w 2137"/>
                  <a:gd name="T23" fmla="*/ 1557 h 1802"/>
                  <a:gd name="T24" fmla="*/ 285 w 2137"/>
                  <a:gd name="T25" fmla="*/ 1466 h 1802"/>
                  <a:gd name="T26" fmla="*/ 990 w 2137"/>
                  <a:gd name="T27" fmla="*/ 245 h 1802"/>
                  <a:gd name="T28" fmla="*/ 1068 w 2137"/>
                  <a:gd name="T29" fmla="*/ 200 h 1802"/>
                  <a:gd name="T30" fmla="*/ 1147 w 2137"/>
                  <a:gd name="T31" fmla="*/ 245 h 1802"/>
                  <a:gd name="T32" fmla="*/ 1852 w 2137"/>
                  <a:gd name="T33" fmla="*/ 1466 h 1802"/>
                  <a:gd name="T34" fmla="*/ 1852 w 2137"/>
                  <a:gd name="T35" fmla="*/ 1557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7" h="1802">
                    <a:moveTo>
                      <a:pt x="2025" y="1366"/>
                    </a:moveTo>
                    <a:cubicBezTo>
                      <a:pt x="1320" y="145"/>
                      <a:pt x="1320" y="145"/>
                      <a:pt x="1320" y="145"/>
                    </a:cubicBezTo>
                    <a:cubicBezTo>
                      <a:pt x="1264" y="48"/>
                      <a:pt x="1166" y="0"/>
                      <a:pt x="1068" y="0"/>
                    </a:cubicBezTo>
                    <a:cubicBezTo>
                      <a:pt x="970" y="0"/>
                      <a:pt x="872" y="48"/>
                      <a:pt x="816" y="145"/>
                    </a:cubicBezTo>
                    <a:cubicBezTo>
                      <a:pt x="111" y="1366"/>
                      <a:pt x="111" y="1366"/>
                      <a:pt x="111" y="1366"/>
                    </a:cubicBezTo>
                    <a:cubicBezTo>
                      <a:pt x="0" y="1560"/>
                      <a:pt x="139" y="1802"/>
                      <a:pt x="363" y="1802"/>
                    </a:cubicBezTo>
                    <a:cubicBezTo>
                      <a:pt x="1773" y="1802"/>
                      <a:pt x="1773" y="1802"/>
                      <a:pt x="1773" y="1802"/>
                    </a:cubicBezTo>
                    <a:cubicBezTo>
                      <a:pt x="1997" y="1802"/>
                      <a:pt x="2137" y="1560"/>
                      <a:pt x="2025" y="1366"/>
                    </a:cubicBezTo>
                    <a:close/>
                    <a:moveTo>
                      <a:pt x="1852" y="1557"/>
                    </a:moveTo>
                    <a:cubicBezTo>
                      <a:pt x="1842" y="1574"/>
                      <a:pt x="1819" y="1602"/>
                      <a:pt x="1773" y="1602"/>
                    </a:cubicBezTo>
                    <a:cubicBezTo>
                      <a:pt x="363" y="1602"/>
                      <a:pt x="363" y="1602"/>
                      <a:pt x="363" y="1602"/>
                    </a:cubicBezTo>
                    <a:cubicBezTo>
                      <a:pt x="318" y="1602"/>
                      <a:pt x="294" y="1574"/>
                      <a:pt x="285" y="1557"/>
                    </a:cubicBezTo>
                    <a:cubicBezTo>
                      <a:pt x="275" y="1540"/>
                      <a:pt x="262" y="1505"/>
                      <a:pt x="285" y="1466"/>
                    </a:cubicBezTo>
                    <a:cubicBezTo>
                      <a:pt x="990" y="245"/>
                      <a:pt x="990" y="245"/>
                      <a:pt x="990" y="245"/>
                    </a:cubicBezTo>
                    <a:cubicBezTo>
                      <a:pt x="1012" y="205"/>
                      <a:pt x="1049" y="200"/>
                      <a:pt x="1068" y="200"/>
                    </a:cubicBezTo>
                    <a:cubicBezTo>
                      <a:pt x="1088" y="200"/>
                      <a:pt x="1124" y="205"/>
                      <a:pt x="1147" y="245"/>
                    </a:cubicBezTo>
                    <a:cubicBezTo>
                      <a:pt x="1852" y="1466"/>
                      <a:pt x="1852" y="1466"/>
                      <a:pt x="1852" y="1466"/>
                    </a:cubicBezTo>
                    <a:cubicBezTo>
                      <a:pt x="1875" y="1505"/>
                      <a:pt x="1862" y="1540"/>
                      <a:pt x="1852" y="1557"/>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7">
                <a:extLst>
                  <a:ext uri="{FF2B5EF4-FFF2-40B4-BE49-F238E27FC236}">
                    <a16:creationId xmlns:a16="http://schemas.microsoft.com/office/drawing/2014/main" id="{BED75DFB-C591-C02B-79FE-389E3E93535D}"/>
                  </a:ext>
                </a:extLst>
              </p:cNvPr>
              <p:cNvSpPr>
                <a:spLocks noEditPoints="1"/>
              </p:cNvSpPr>
              <p:nvPr/>
            </p:nvSpPr>
            <p:spPr bwMode="auto">
              <a:xfrm>
                <a:off x="18351500" y="3723568"/>
                <a:ext cx="4878842" cy="4879972"/>
              </a:xfrm>
              <a:custGeom>
                <a:avLst/>
                <a:gdLst>
                  <a:gd name="T0" fmla="*/ 1599 w 3199"/>
                  <a:gd name="T1" fmla="*/ 4 h 3199"/>
                  <a:gd name="T2" fmla="*/ 2220 w 3199"/>
                  <a:gd name="T3" fmla="*/ 129 h 3199"/>
                  <a:gd name="T4" fmla="*/ 2727 w 3199"/>
                  <a:gd name="T5" fmla="*/ 471 h 3199"/>
                  <a:gd name="T6" fmla="*/ 3069 w 3199"/>
                  <a:gd name="T7" fmla="*/ 978 h 3199"/>
                  <a:gd name="T8" fmla="*/ 3195 w 3199"/>
                  <a:gd name="T9" fmla="*/ 1599 h 3199"/>
                  <a:gd name="T10" fmla="*/ 3069 w 3199"/>
                  <a:gd name="T11" fmla="*/ 2220 h 3199"/>
                  <a:gd name="T12" fmla="*/ 2727 w 3199"/>
                  <a:gd name="T13" fmla="*/ 2727 h 3199"/>
                  <a:gd name="T14" fmla="*/ 2220 w 3199"/>
                  <a:gd name="T15" fmla="*/ 3069 h 3199"/>
                  <a:gd name="T16" fmla="*/ 1599 w 3199"/>
                  <a:gd name="T17" fmla="*/ 3195 h 3199"/>
                  <a:gd name="T18" fmla="*/ 978 w 3199"/>
                  <a:gd name="T19" fmla="*/ 3069 h 3199"/>
                  <a:gd name="T20" fmla="*/ 471 w 3199"/>
                  <a:gd name="T21" fmla="*/ 2727 h 3199"/>
                  <a:gd name="T22" fmla="*/ 129 w 3199"/>
                  <a:gd name="T23" fmla="*/ 2220 h 3199"/>
                  <a:gd name="T24" fmla="*/ 4 w 3199"/>
                  <a:gd name="T25" fmla="*/ 1599 h 3199"/>
                  <a:gd name="T26" fmla="*/ 129 w 3199"/>
                  <a:gd name="T27" fmla="*/ 978 h 3199"/>
                  <a:gd name="T28" fmla="*/ 471 w 3199"/>
                  <a:gd name="T29" fmla="*/ 471 h 3199"/>
                  <a:gd name="T30" fmla="*/ 978 w 3199"/>
                  <a:gd name="T31" fmla="*/ 129 h 3199"/>
                  <a:gd name="T32" fmla="*/ 1599 w 3199"/>
                  <a:gd name="T33" fmla="*/ 4 h 3199"/>
                  <a:gd name="T34" fmla="*/ 1599 w 3199"/>
                  <a:gd name="T35" fmla="*/ 0 h 3199"/>
                  <a:gd name="T36" fmla="*/ 0 w 3199"/>
                  <a:gd name="T37" fmla="*/ 1599 h 3199"/>
                  <a:gd name="T38" fmla="*/ 1599 w 3199"/>
                  <a:gd name="T39" fmla="*/ 3199 h 3199"/>
                  <a:gd name="T40" fmla="*/ 3199 w 3199"/>
                  <a:gd name="T41" fmla="*/ 1599 h 3199"/>
                  <a:gd name="T42" fmla="*/ 1599 w 3199"/>
                  <a:gd name="T43" fmla="*/ 0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99" h="3199">
                    <a:moveTo>
                      <a:pt x="1599" y="4"/>
                    </a:moveTo>
                    <a:cubicBezTo>
                      <a:pt x="1815" y="4"/>
                      <a:pt x="2024" y="46"/>
                      <a:pt x="2220" y="129"/>
                    </a:cubicBezTo>
                    <a:cubicBezTo>
                      <a:pt x="2410" y="210"/>
                      <a:pt x="2581" y="325"/>
                      <a:pt x="2727" y="471"/>
                    </a:cubicBezTo>
                    <a:cubicBezTo>
                      <a:pt x="2874" y="618"/>
                      <a:pt x="2989" y="788"/>
                      <a:pt x="3069" y="978"/>
                    </a:cubicBezTo>
                    <a:cubicBezTo>
                      <a:pt x="3153" y="1175"/>
                      <a:pt x="3195" y="1384"/>
                      <a:pt x="3195" y="1599"/>
                    </a:cubicBezTo>
                    <a:cubicBezTo>
                      <a:pt x="3195" y="1815"/>
                      <a:pt x="3153" y="2024"/>
                      <a:pt x="3069" y="2220"/>
                    </a:cubicBezTo>
                    <a:cubicBezTo>
                      <a:pt x="2989" y="2410"/>
                      <a:pt x="2874" y="2581"/>
                      <a:pt x="2727" y="2727"/>
                    </a:cubicBezTo>
                    <a:cubicBezTo>
                      <a:pt x="2581" y="2874"/>
                      <a:pt x="2410" y="2989"/>
                      <a:pt x="2220" y="3069"/>
                    </a:cubicBezTo>
                    <a:cubicBezTo>
                      <a:pt x="2024" y="3153"/>
                      <a:pt x="1815" y="3195"/>
                      <a:pt x="1599" y="3195"/>
                    </a:cubicBezTo>
                    <a:cubicBezTo>
                      <a:pt x="1384" y="3195"/>
                      <a:pt x="1175" y="3153"/>
                      <a:pt x="978" y="3069"/>
                    </a:cubicBezTo>
                    <a:cubicBezTo>
                      <a:pt x="788" y="2989"/>
                      <a:pt x="618" y="2874"/>
                      <a:pt x="471" y="2727"/>
                    </a:cubicBezTo>
                    <a:cubicBezTo>
                      <a:pt x="325" y="2581"/>
                      <a:pt x="209" y="2410"/>
                      <a:pt x="129" y="2220"/>
                    </a:cubicBezTo>
                    <a:cubicBezTo>
                      <a:pt x="46" y="2024"/>
                      <a:pt x="4" y="1815"/>
                      <a:pt x="4" y="1599"/>
                    </a:cubicBezTo>
                    <a:cubicBezTo>
                      <a:pt x="4" y="1384"/>
                      <a:pt x="46" y="1175"/>
                      <a:pt x="129" y="978"/>
                    </a:cubicBezTo>
                    <a:cubicBezTo>
                      <a:pt x="209" y="788"/>
                      <a:pt x="325" y="618"/>
                      <a:pt x="471" y="471"/>
                    </a:cubicBezTo>
                    <a:cubicBezTo>
                      <a:pt x="618" y="325"/>
                      <a:pt x="788" y="210"/>
                      <a:pt x="978" y="129"/>
                    </a:cubicBezTo>
                    <a:cubicBezTo>
                      <a:pt x="1175" y="46"/>
                      <a:pt x="1384" y="4"/>
                      <a:pt x="1599" y="4"/>
                    </a:cubicBezTo>
                    <a:moveTo>
                      <a:pt x="1599" y="0"/>
                    </a:moveTo>
                    <a:cubicBezTo>
                      <a:pt x="716" y="0"/>
                      <a:pt x="0" y="716"/>
                      <a:pt x="0" y="1599"/>
                    </a:cubicBezTo>
                    <a:cubicBezTo>
                      <a:pt x="0" y="2483"/>
                      <a:pt x="716" y="3199"/>
                      <a:pt x="1599" y="3199"/>
                    </a:cubicBezTo>
                    <a:cubicBezTo>
                      <a:pt x="2483" y="3199"/>
                      <a:pt x="3199" y="2483"/>
                      <a:pt x="3199" y="1599"/>
                    </a:cubicBezTo>
                    <a:cubicBezTo>
                      <a:pt x="3199" y="716"/>
                      <a:pt x="2483" y="0"/>
                      <a:pt x="1599" y="0"/>
                    </a:cubicBez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19" name="文本框 18">
            <a:extLst>
              <a:ext uri="{FF2B5EF4-FFF2-40B4-BE49-F238E27FC236}">
                <a16:creationId xmlns:a16="http://schemas.microsoft.com/office/drawing/2014/main" id="{7645A2DD-17A6-D0C7-1F7D-2C6B0784F537}"/>
              </a:ext>
            </a:extLst>
          </p:cNvPr>
          <p:cNvSpPr txBox="1"/>
          <p:nvPr/>
        </p:nvSpPr>
        <p:spPr>
          <a:xfrm>
            <a:off x="652513" y="752752"/>
            <a:ext cx="1288814" cy="769441"/>
          </a:xfrm>
          <a:prstGeom prst="rect">
            <a:avLst/>
          </a:prstGeom>
          <a:noFill/>
        </p:spPr>
        <p:txBody>
          <a:bodyPr wrap="none" lIns="0" tIns="0" rIns="0" bIns="0" rtlCol="0">
            <a:noAutofit/>
          </a:bodyPr>
          <a:lstStyle/>
          <a:p>
            <a:r>
              <a:rPr lang="zh-CN" altLang="en-US" sz="4000" b="1" dirty="0">
                <a:solidFill>
                  <a:schemeClr val="bg2">
                    <a:lumMod val="25000"/>
                  </a:schemeClr>
                </a:solidFill>
              </a:rPr>
              <a:t>课程小结</a:t>
            </a:r>
            <a:endParaRPr lang="en-US" altLang="zh-CN" sz="4000" b="1" dirty="0">
              <a:solidFill>
                <a:schemeClr val="bg2">
                  <a:lumMod val="25000"/>
                </a:schemeClr>
              </a:solidFill>
            </a:endParaRPr>
          </a:p>
          <a:p>
            <a:endParaRPr lang="zh-CN" altLang="en-US" sz="4000" b="1" dirty="0">
              <a:solidFill>
                <a:schemeClr val="bg2">
                  <a:lumMod val="25000"/>
                </a:schemeClr>
              </a:solidFill>
            </a:endParaRPr>
          </a:p>
        </p:txBody>
      </p:sp>
      <p:sp>
        <p:nvSpPr>
          <p:cNvPr id="20" name="文本框 19">
            <a:extLst>
              <a:ext uri="{FF2B5EF4-FFF2-40B4-BE49-F238E27FC236}">
                <a16:creationId xmlns:a16="http://schemas.microsoft.com/office/drawing/2014/main" id="{92F2DEEF-7BEB-E47E-2909-6903AAC1E669}"/>
              </a:ext>
            </a:extLst>
          </p:cNvPr>
          <p:cNvSpPr txBox="1"/>
          <p:nvPr/>
        </p:nvSpPr>
        <p:spPr>
          <a:xfrm>
            <a:off x="735264" y="453303"/>
            <a:ext cx="1585370" cy="307777"/>
          </a:xfrm>
          <a:prstGeom prst="rect">
            <a:avLst/>
          </a:prstGeom>
          <a:noFill/>
        </p:spPr>
        <p:txBody>
          <a:bodyPr wrap="none" lIns="0" tIns="0" rIns="0" bIns="0" rtlCol="0">
            <a:noAutofit/>
          </a:bodyPr>
          <a:lstStyle/>
          <a:p>
            <a:r>
              <a:rPr lang="en-US" altLang="zh-CN" sz="2000" b="1" dirty="0">
                <a:solidFill>
                  <a:schemeClr val="bg2">
                    <a:lumMod val="25000"/>
                  </a:schemeClr>
                </a:solidFill>
              </a:rPr>
              <a:t>SUMMARY</a:t>
            </a:r>
            <a:endParaRPr lang="zh-CN" altLang="en-US" sz="2000" b="1" dirty="0">
              <a:solidFill>
                <a:schemeClr val="bg2">
                  <a:lumMod val="25000"/>
                </a:schemeClr>
              </a:solidFill>
            </a:endParaRPr>
          </a:p>
        </p:txBody>
      </p:sp>
      <p:cxnSp>
        <p:nvCxnSpPr>
          <p:cNvPr id="3" name="直接连接符 2">
            <a:extLst>
              <a:ext uri="{FF2B5EF4-FFF2-40B4-BE49-F238E27FC236}">
                <a16:creationId xmlns:a16="http://schemas.microsoft.com/office/drawing/2014/main" id="{9DC8267A-57EB-A5AA-DBE6-14E5063AD447}"/>
              </a:ext>
            </a:extLst>
          </p:cNvPr>
          <p:cNvCxnSpPr>
            <a:cxnSpLocks/>
          </p:cNvCxnSpPr>
          <p:nvPr/>
        </p:nvCxnSpPr>
        <p:spPr>
          <a:xfrm>
            <a:off x="2857189" y="453303"/>
            <a:ext cx="0" cy="289377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C79DB8D2-56C2-223C-BE1B-BFC779779DB9}"/>
              </a:ext>
            </a:extLst>
          </p:cNvPr>
          <p:cNvSpPr txBox="1"/>
          <p:nvPr/>
        </p:nvSpPr>
        <p:spPr>
          <a:xfrm>
            <a:off x="647976" y="3993520"/>
            <a:ext cx="1288814" cy="769441"/>
          </a:xfrm>
          <a:prstGeom prst="rect">
            <a:avLst/>
          </a:prstGeom>
          <a:noFill/>
        </p:spPr>
        <p:txBody>
          <a:bodyPr wrap="none" lIns="0" tIns="0" rIns="0" bIns="0" rtlCol="0">
            <a:noAutofit/>
          </a:bodyPr>
          <a:lstStyle/>
          <a:p>
            <a:r>
              <a:rPr lang="zh-CN" altLang="en-US" sz="4000" b="1" dirty="0">
                <a:solidFill>
                  <a:schemeClr val="bg2">
                    <a:lumMod val="25000"/>
                  </a:schemeClr>
                </a:solidFill>
              </a:rPr>
              <a:t>下节预告</a:t>
            </a:r>
          </a:p>
        </p:txBody>
      </p:sp>
      <p:sp>
        <p:nvSpPr>
          <p:cNvPr id="45" name="文本框 44">
            <a:extLst>
              <a:ext uri="{FF2B5EF4-FFF2-40B4-BE49-F238E27FC236}">
                <a16:creationId xmlns:a16="http://schemas.microsoft.com/office/drawing/2014/main" id="{B45BBD0D-1166-B19D-3818-E6FB5E8865A8}"/>
              </a:ext>
            </a:extLst>
          </p:cNvPr>
          <p:cNvSpPr txBox="1"/>
          <p:nvPr/>
        </p:nvSpPr>
        <p:spPr>
          <a:xfrm>
            <a:off x="730727" y="3694071"/>
            <a:ext cx="1585370" cy="307777"/>
          </a:xfrm>
          <a:prstGeom prst="rect">
            <a:avLst/>
          </a:prstGeom>
          <a:noFill/>
        </p:spPr>
        <p:txBody>
          <a:bodyPr wrap="none" lIns="0" tIns="0" rIns="0" bIns="0" rtlCol="0">
            <a:noAutofit/>
          </a:bodyPr>
          <a:lstStyle/>
          <a:p>
            <a:r>
              <a:rPr lang="en-US" altLang="zh-CN" sz="2000" b="1">
                <a:solidFill>
                  <a:schemeClr val="bg2">
                    <a:lumMod val="25000"/>
                  </a:schemeClr>
                </a:solidFill>
              </a:rPr>
              <a:t>PREVIEW</a:t>
            </a:r>
            <a:endParaRPr lang="zh-CN" altLang="en-US" sz="2000" b="1" dirty="0">
              <a:solidFill>
                <a:schemeClr val="bg2">
                  <a:lumMod val="25000"/>
                </a:schemeClr>
              </a:solidFill>
            </a:endParaRPr>
          </a:p>
        </p:txBody>
      </p:sp>
      <p:cxnSp>
        <p:nvCxnSpPr>
          <p:cNvPr id="46" name="直接连接符 2">
            <a:extLst>
              <a:ext uri="{FF2B5EF4-FFF2-40B4-BE49-F238E27FC236}">
                <a16:creationId xmlns:a16="http://schemas.microsoft.com/office/drawing/2014/main" id="{29F12E77-47DB-470B-1C73-53D882634A31}"/>
              </a:ext>
            </a:extLst>
          </p:cNvPr>
          <p:cNvCxnSpPr>
            <a:cxnSpLocks/>
          </p:cNvCxnSpPr>
          <p:nvPr/>
        </p:nvCxnSpPr>
        <p:spPr>
          <a:xfrm>
            <a:off x="2852652" y="3694071"/>
            <a:ext cx="0" cy="289377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符 46">
            <a:extLst>
              <a:ext uri="{FF2B5EF4-FFF2-40B4-BE49-F238E27FC236}">
                <a16:creationId xmlns:a16="http://schemas.microsoft.com/office/drawing/2014/main" id="{DDDF648A-C093-0702-4269-5EBD7F6C1B0E}"/>
              </a:ext>
            </a:extLst>
          </p:cNvPr>
          <p:cNvCxnSpPr>
            <a:cxnSpLocks/>
          </p:cNvCxnSpPr>
          <p:nvPr/>
        </p:nvCxnSpPr>
        <p:spPr>
          <a:xfrm>
            <a:off x="7004" y="3493551"/>
            <a:ext cx="7773285" cy="0"/>
          </a:xfrm>
          <a:prstGeom prst="line">
            <a:avLst/>
          </a:prstGeom>
          <a:ln w="76200">
            <a:solidFill>
              <a:srgbClr val="001F60"/>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C5D0853C-0D5C-C43E-560C-BB9A10B0E764}"/>
              </a:ext>
            </a:extLst>
          </p:cNvPr>
          <p:cNvSpPr txBox="1"/>
          <p:nvPr/>
        </p:nvSpPr>
        <p:spPr>
          <a:xfrm>
            <a:off x="0" y="5708061"/>
            <a:ext cx="2691523" cy="523220"/>
          </a:xfrm>
          <a:prstGeom prst="rect">
            <a:avLst/>
          </a:prstGeom>
          <a:solidFill>
            <a:schemeClr val="accent2">
              <a:lumMod val="20000"/>
              <a:lumOff val="80000"/>
            </a:schemeClr>
          </a:solidFill>
        </p:spPr>
        <p:txBody>
          <a:bodyPr wrap="square" rtlCol="0">
            <a:spAutoFit/>
          </a:bodyPr>
          <a:lstStyle/>
          <a:p>
            <a:pPr algn="ctr"/>
            <a:r>
              <a:rPr kumimoji="1" lang="zh-CN" altLang="en-US" sz="2800" dirty="0">
                <a:latin typeface="Times New Roman" panose="02020603050405020304" pitchFamily="18" charset="0"/>
                <a:ea typeface="SimHei" panose="02010609060101010101" pitchFamily="49" charset="-122"/>
                <a:cs typeface="Times New Roman" panose="02020603050405020304" pitchFamily="18" charset="0"/>
              </a:rPr>
              <a:t>作业提醒</a:t>
            </a:r>
          </a:p>
        </p:txBody>
      </p:sp>
      <p:grpSp>
        <p:nvGrpSpPr>
          <p:cNvPr id="2" name="组合 1">
            <a:extLst>
              <a:ext uri="{FF2B5EF4-FFF2-40B4-BE49-F238E27FC236}">
                <a16:creationId xmlns:a16="http://schemas.microsoft.com/office/drawing/2014/main" id="{DE4A84F2-F338-839B-1DF5-9FE1097C4569}"/>
              </a:ext>
            </a:extLst>
          </p:cNvPr>
          <p:cNvGrpSpPr/>
          <p:nvPr/>
        </p:nvGrpSpPr>
        <p:grpSpPr>
          <a:xfrm>
            <a:off x="3329762" y="707175"/>
            <a:ext cx="3989097" cy="538609"/>
            <a:chOff x="3667674" y="1375533"/>
            <a:chExt cx="3989097" cy="538609"/>
          </a:xfrm>
        </p:grpSpPr>
        <p:sp>
          <p:nvSpPr>
            <p:cNvPr id="14" name="文本框 13">
              <a:extLst>
                <a:ext uri="{FF2B5EF4-FFF2-40B4-BE49-F238E27FC236}">
                  <a16:creationId xmlns:a16="http://schemas.microsoft.com/office/drawing/2014/main" id="{88DEC662-B1B6-D83A-D918-D1963F2C9893}"/>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公钥证书</a:t>
              </a:r>
            </a:p>
          </p:txBody>
        </p:sp>
        <p:sp>
          <p:nvSpPr>
            <p:cNvPr id="15" name="文本框 14">
              <a:extLst>
                <a:ext uri="{FF2B5EF4-FFF2-40B4-BE49-F238E27FC236}">
                  <a16:creationId xmlns:a16="http://schemas.microsoft.com/office/drawing/2014/main" id="{634AD30A-2C89-740E-E825-415DA5A49E46}"/>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#01</a:t>
              </a:r>
              <a:endParaRPr lang="zh-CN" altLang="en-US" sz="2800" dirty="0">
                <a:solidFill>
                  <a:schemeClr val="accent1"/>
                </a:solidFill>
              </a:endParaRPr>
            </a:p>
          </p:txBody>
        </p:sp>
      </p:grpSp>
      <p:grpSp>
        <p:nvGrpSpPr>
          <p:cNvPr id="16" name="组合 15">
            <a:extLst>
              <a:ext uri="{FF2B5EF4-FFF2-40B4-BE49-F238E27FC236}">
                <a16:creationId xmlns:a16="http://schemas.microsoft.com/office/drawing/2014/main" id="{4C2009C4-1559-D258-E72B-A7932F1CE99E}"/>
              </a:ext>
            </a:extLst>
          </p:cNvPr>
          <p:cNvGrpSpPr/>
          <p:nvPr/>
        </p:nvGrpSpPr>
        <p:grpSpPr>
          <a:xfrm>
            <a:off x="3309546" y="1520553"/>
            <a:ext cx="3989097" cy="538609"/>
            <a:chOff x="3667674" y="1375533"/>
            <a:chExt cx="3989097" cy="538609"/>
          </a:xfrm>
        </p:grpSpPr>
        <p:sp>
          <p:nvSpPr>
            <p:cNvPr id="17" name="文本框 16">
              <a:extLst>
                <a:ext uri="{FF2B5EF4-FFF2-40B4-BE49-F238E27FC236}">
                  <a16:creationId xmlns:a16="http://schemas.microsoft.com/office/drawing/2014/main" id="{1B4BD34F-03B3-1822-8B39-8DF6283FEFB0}"/>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公钥基础设施</a:t>
              </a:r>
            </a:p>
          </p:txBody>
        </p:sp>
        <p:sp>
          <p:nvSpPr>
            <p:cNvPr id="18" name="文本框 17">
              <a:extLst>
                <a:ext uri="{FF2B5EF4-FFF2-40B4-BE49-F238E27FC236}">
                  <a16:creationId xmlns:a16="http://schemas.microsoft.com/office/drawing/2014/main" id="{0BAA2395-5340-6804-7705-0753E3589B87}"/>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#02</a:t>
              </a:r>
              <a:endParaRPr lang="zh-CN" altLang="en-US" sz="2800" dirty="0">
                <a:solidFill>
                  <a:schemeClr val="accent1"/>
                </a:solidFill>
              </a:endParaRPr>
            </a:p>
          </p:txBody>
        </p:sp>
      </p:grpSp>
      <p:grpSp>
        <p:nvGrpSpPr>
          <p:cNvPr id="21" name="组合 20">
            <a:extLst>
              <a:ext uri="{FF2B5EF4-FFF2-40B4-BE49-F238E27FC236}">
                <a16:creationId xmlns:a16="http://schemas.microsoft.com/office/drawing/2014/main" id="{FB845EDB-3EDA-FD50-D9CF-B1C689CFC51D}"/>
              </a:ext>
            </a:extLst>
          </p:cNvPr>
          <p:cNvGrpSpPr/>
          <p:nvPr/>
        </p:nvGrpSpPr>
        <p:grpSpPr>
          <a:xfrm>
            <a:off x="3309546" y="2328516"/>
            <a:ext cx="3989097" cy="538609"/>
            <a:chOff x="3667674" y="1375533"/>
            <a:chExt cx="3989097" cy="538609"/>
          </a:xfrm>
        </p:grpSpPr>
        <p:sp>
          <p:nvSpPr>
            <p:cNvPr id="23" name="文本框 22">
              <a:extLst>
                <a:ext uri="{FF2B5EF4-FFF2-40B4-BE49-F238E27FC236}">
                  <a16:creationId xmlns:a16="http://schemas.microsoft.com/office/drawing/2014/main" id="{0C4F42EF-AB28-CB38-1FC4-130E5DCA14BD}"/>
                </a:ext>
              </a:extLst>
            </p:cNvPr>
            <p:cNvSpPr txBox="1"/>
            <p:nvPr/>
          </p:nvSpPr>
          <p:spPr>
            <a:xfrm>
              <a:off x="4579005" y="1405326"/>
              <a:ext cx="3077766" cy="461665"/>
            </a:xfrm>
            <a:prstGeom prst="rect">
              <a:avLst/>
            </a:prstGeom>
            <a:noFill/>
          </p:spPr>
          <p:txBody>
            <a:bodyPr wrap="none" lIns="0" tIns="0" rIns="0" bIns="0" rtlCol="0">
              <a:noAutofit/>
            </a:bodyPr>
            <a:lstStyle/>
            <a:p>
              <a:r>
                <a:rPr lang="zh-CN" altLang="en-US" sz="2400" dirty="0">
                  <a:solidFill>
                    <a:schemeClr val="accent1"/>
                  </a:solidFill>
                </a:rPr>
                <a:t>信任原则</a:t>
              </a:r>
            </a:p>
          </p:txBody>
        </p:sp>
        <p:sp>
          <p:nvSpPr>
            <p:cNvPr id="24" name="文本框 23">
              <a:extLst>
                <a:ext uri="{FF2B5EF4-FFF2-40B4-BE49-F238E27FC236}">
                  <a16:creationId xmlns:a16="http://schemas.microsoft.com/office/drawing/2014/main" id="{CAB8A475-12A6-3BEE-7688-E272A1C8D7C5}"/>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#03</a:t>
              </a:r>
              <a:endParaRPr lang="zh-CN" altLang="en-US" sz="2800" dirty="0">
                <a:solidFill>
                  <a:schemeClr val="accent1"/>
                </a:solidFill>
              </a:endParaRPr>
            </a:p>
          </p:txBody>
        </p:sp>
      </p:grpSp>
      <p:grpSp>
        <p:nvGrpSpPr>
          <p:cNvPr id="4" name="组合 3">
            <a:extLst>
              <a:ext uri="{FF2B5EF4-FFF2-40B4-BE49-F238E27FC236}">
                <a16:creationId xmlns:a16="http://schemas.microsoft.com/office/drawing/2014/main" id="{55250D61-4C55-98FF-27FE-5021A842CAD2}"/>
              </a:ext>
            </a:extLst>
          </p:cNvPr>
          <p:cNvGrpSpPr/>
          <p:nvPr/>
        </p:nvGrpSpPr>
        <p:grpSpPr>
          <a:xfrm>
            <a:off x="3329762" y="4060683"/>
            <a:ext cx="3989097" cy="538609"/>
            <a:chOff x="3667674" y="1375533"/>
            <a:chExt cx="3989097" cy="538609"/>
          </a:xfrm>
        </p:grpSpPr>
        <p:sp>
          <p:nvSpPr>
            <p:cNvPr id="5" name="文本框 4">
              <a:extLst>
                <a:ext uri="{FF2B5EF4-FFF2-40B4-BE49-F238E27FC236}">
                  <a16:creationId xmlns:a16="http://schemas.microsoft.com/office/drawing/2014/main" id="{DB04DFF6-3FA4-F3F4-4589-F47E0339C39E}"/>
                </a:ext>
              </a:extLst>
            </p:cNvPr>
            <p:cNvSpPr txBox="1"/>
            <p:nvPr/>
          </p:nvSpPr>
          <p:spPr>
            <a:xfrm>
              <a:off x="4579005" y="1405326"/>
              <a:ext cx="3077766" cy="461665"/>
            </a:xfrm>
            <a:prstGeom prst="rect">
              <a:avLst/>
            </a:prstGeom>
            <a:noFill/>
          </p:spPr>
          <p:txBody>
            <a:bodyPr wrap="none" lIns="0" tIns="0" rIns="0" bIns="0" rtlCol="0">
              <a:noAutofit/>
            </a:bodyPr>
            <a:lstStyle/>
            <a:p>
              <a:r>
                <a:rPr lang="en-US" altLang="zh-CN" sz="2400" dirty="0">
                  <a:solidFill>
                    <a:schemeClr val="accent1"/>
                  </a:solidFill>
                </a:rPr>
                <a:t>SSL/TLS</a:t>
              </a:r>
              <a:r>
                <a:rPr lang="zh-CN" altLang="en-US" sz="2400" dirty="0">
                  <a:solidFill>
                    <a:schemeClr val="accent1"/>
                  </a:solidFill>
                </a:rPr>
                <a:t>协议原理</a:t>
              </a:r>
            </a:p>
          </p:txBody>
        </p:sp>
        <p:sp>
          <p:nvSpPr>
            <p:cNvPr id="6" name="文本框 5">
              <a:extLst>
                <a:ext uri="{FF2B5EF4-FFF2-40B4-BE49-F238E27FC236}">
                  <a16:creationId xmlns:a16="http://schemas.microsoft.com/office/drawing/2014/main" id="{1B49CDAD-B6F1-272C-0A5D-4C9833872BC4}"/>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#01</a:t>
              </a:r>
              <a:endParaRPr lang="zh-CN" altLang="en-US" sz="2800" dirty="0">
                <a:solidFill>
                  <a:schemeClr val="accent1"/>
                </a:solidFill>
              </a:endParaRPr>
            </a:p>
          </p:txBody>
        </p:sp>
      </p:grpSp>
      <p:grpSp>
        <p:nvGrpSpPr>
          <p:cNvPr id="8" name="组合 7">
            <a:extLst>
              <a:ext uri="{FF2B5EF4-FFF2-40B4-BE49-F238E27FC236}">
                <a16:creationId xmlns:a16="http://schemas.microsoft.com/office/drawing/2014/main" id="{E56522AE-25A0-52CF-D06F-3F02C692864F}"/>
              </a:ext>
            </a:extLst>
          </p:cNvPr>
          <p:cNvGrpSpPr/>
          <p:nvPr/>
        </p:nvGrpSpPr>
        <p:grpSpPr>
          <a:xfrm>
            <a:off x="3309546" y="4874061"/>
            <a:ext cx="3989097" cy="538609"/>
            <a:chOff x="3667674" y="1375533"/>
            <a:chExt cx="3989097" cy="538609"/>
          </a:xfrm>
        </p:grpSpPr>
        <p:sp>
          <p:nvSpPr>
            <p:cNvPr id="9" name="文本框 8">
              <a:extLst>
                <a:ext uri="{FF2B5EF4-FFF2-40B4-BE49-F238E27FC236}">
                  <a16:creationId xmlns:a16="http://schemas.microsoft.com/office/drawing/2014/main" id="{FE7AC093-E256-1C8C-9C9E-2454E0037DDB}"/>
                </a:ext>
              </a:extLst>
            </p:cNvPr>
            <p:cNvSpPr txBox="1"/>
            <p:nvPr/>
          </p:nvSpPr>
          <p:spPr>
            <a:xfrm>
              <a:off x="4579005" y="1405326"/>
              <a:ext cx="3077766" cy="461665"/>
            </a:xfrm>
            <a:prstGeom prst="rect">
              <a:avLst/>
            </a:prstGeom>
            <a:noFill/>
          </p:spPr>
          <p:txBody>
            <a:bodyPr wrap="none" lIns="0" tIns="0" rIns="0" bIns="0" rtlCol="0">
              <a:noAutofit/>
            </a:bodyPr>
            <a:lstStyle/>
            <a:p>
              <a:r>
                <a:rPr lang="en-US" altLang="zh-CN" sz="2400" dirty="0">
                  <a:solidFill>
                    <a:schemeClr val="accent1"/>
                  </a:solidFill>
                </a:rPr>
                <a:t>SSL/TLS</a:t>
              </a:r>
              <a:r>
                <a:rPr lang="zh-CN" altLang="en-US" sz="2400" dirty="0">
                  <a:solidFill>
                    <a:schemeClr val="accent1"/>
                  </a:solidFill>
                </a:rPr>
                <a:t>通信技术</a:t>
              </a:r>
            </a:p>
          </p:txBody>
        </p:sp>
        <p:sp>
          <p:nvSpPr>
            <p:cNvPr id="10" name="文本框 9">
              <a:extLst>
                <a:ext uri="{FF2B5EF4-FFF2-40B4-BE49-F238E27FC236}">
                  <a16:creationId xmlns:a16="http://schemas.microsoft.com/office/drawing/2014/main" id="{DADB0209-2938-5461-1857-9386272B84EA}"/>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#02</a:t>
              </a:r>
              <a:endParaRPr lang="zh-CN" altLang="en-US" sz="2800" dirty="0">
                <a:solidFill>
                  <a:schemeClr val="accent1"/>
                </a:solidFill>
              </a:endParaRPr>
            </a:p>
          </p:txBody>
        </p:sp>
      </p:grpSp>
      <p:grpSp>
        <p:nvGrpSpPr>
          <p:cNvPr id="11" name="组合 10">
            <a:extLst>
              <a:ext uri="{FF2B5EF4-FFF2-40B4-BE49-F238E27FC236}">
                <a16:creationId xmlns:a16="http://schemas.microsoft.com/office/drawing/2014/main" id="{F5FFF8FC-56ED-A686-C0AE-0A84BB5EB32A}"/>
              </a:ext>
            </a:extLst>
          </p:cNvPr>
          <p:cNvGrpSpPr/>
          <p:nvPr/>
        </p:nvGrpSpPr>
        <p:grpSpPr>
          <a:xfrm>
            <a:off x="3309546" y="5682024"/>
            <a:ext cx="3989097" cy="538609"/>
            <a:chOff x="3667674" y="1375533"/>
            <a:chExt cx="3989097" cy="538609"/>
          </a:xfrm>
        </p:grpSpPr>
        <p:sp>
          <p:nvSpPr>
            <p:cNvPr id="12" name="文本框 11">
              <a:extLst>
                <a:ext uri="{FF2B5EF4-FFF2-40B4-BE49-F238E27FC236}">
                  <a16:creationId xmlns:a16="http://schemas.microsoft.com/office/drawing/2014/main" id="{DBDAF410-99BC-9EE5-48F9-5CCD0907D4D6}"/>
                </a:ext>
              </a:extLst>
            </p:cNvPr>
            <p:cNvSpPr txBox="1"/>
            <p:nvPr/>
          </p:nvSpPr>
          <p:spPr>
            <a:xfrm>
              <a:off x="4579005" y="1405326"/>
              <a:ext cx="3077766" cy="461665"/>
            </a:xfrm>
            <a:prstGeom prst="rect">
              <a:avLst/>
            </a:prstGeom>
            <a:noFill/>
          </p:spPr>
          <p:txBody>
            <a:bodyPr wrap="none" lIns="0" tIns="0" rIns="0" bIns="0" rtlCol="0">
              <a:noAutofit/>
            </a:bodyPr>
            <a:lstStyle/>
            <a:p>
              <a:r>
                <a:rPr lang="en-US" altLang="zh-CN" sz="2400" dirty="0">
                  <a:solidFill>
                    <a:schemeClr val="accent1"/>
                  </a:solidFill>
                </a:rPr>
                <a:t>SSL/TLS</a:t>
              </a:r>
              <a:r>
                <a:rPr lang="zh-CN" altLang="en-US" sz="2400" dirty="0">
                  <a:solidFill>
                    <a:schemeClr val="accent1"/>
                  </a:solidFill>
                </a:rPr>
                <a:t>安全风险</a:t>
              </a:r>
            </a:p>
          </p:txBody>
        </p:sp>
        <p:sp>
          <p:nvSpPr>
            <p:cNvPr id="13" name="文本框 12">
              <a:extLst>
                <a:ext uri="{FF2B5EF4-FFF2-40B4-BE49-F238E27FC236}">
                  <a16:creationId xmlns:a16="http://schemas.microsoft.com/office/drawing/2014/main" id="{89BFBFE1-5191-459C-1503-8B9BCAAA0E69}"/>
                </a:ext>
              </a:extLst>
            </p:cNvPr>
            <p:cNvSpPr txBox="1"/>
            <p:nvPr/>
          </p:nvSpPr>
          <p:spPr>
            <a:xfrm>
              <a:off x="3667674" y="1375533"/>
              <a:ext cx="750205" cy="538609"/>
            </a:xfrm>
            <a:prstGeom prst="rect">
              <a:avLst/>
            </a:prstGeom>
            <a:noFill/>
          </p:spPr>
          <p:txBody>
            <a:bodyPr wrap="none" lIns="0" tIns="0" rIns="0" bIns="0" rtlCol="0">
              <a:noAutofit/>
            </a:bodyPr>
            <a:lstStyle/>
            <a:p>
              <a:r>
                <a:rPr lang="en-US" altLang="zh-CN" sz="2800" dirty="0">
                  <a:solidFill>
                    <a:schemeClr val="accent1"/>
                  </a:solidFill>
                </a:rPr>
                <a:t>#03</a:t>
              </a:r>
              <a:endParaRPr lang="zh-CN" altLang="en-US" sz="2800" dirty="0">
                <a:solidFill>
                  <a:schemeClr val="accent1"/>
                </a:solidFill>
              </a:endParaRPr>
            </a:p>
          </p:txBody>
        </p:sp>
      </p:grpSp>
    </p:spTree>
    <p:extLst>
      <p:ext uri="{BB962C8B-B14F-4D97-AF65-F5344CB8AC3E}">
        <p14:creationId xmlns:p14="http://schemas.microsoft.com/office/powerpoint/2010/main" val="112321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E5EF0D9-74F0-4CBD-8EB3-E06F15247A89}"/>
              </a:ext>
            </a:extLst>
          </p:cNvPr>
          <p:cNvGrpSpPr/>
          <p:nvPr/>
        </p:nvGrpSpPr>
        <p:grpSpPr>
          <a:xfrm>
            <a:off x="731838" y="1656965"/>
            <a:ext cx="3125794" cy="1606508"/>
            <a:chOff x="3834754" y="2495699"/>
            <a:chExt cx="3125794" cy="1606508"/>
          </a:xfrm>
        </p:grpSpPr>
        <p:sp>
          <p:nvSpPr>
            <p:cNvPr id="3" name="文本框 2">
              <a:extLst>
                <a:ext uri="{FF2B5EF4-FFF2-40B4-BE49-F238E27FC236}">
                  <a16:creationId xmlns:a16="http://schemas.microsoft.com/office/drawing/2014/main" id="{BBDE1650-85C7-4A9B-8F63-E81D3F1E0338}"/>
                </a:ext>
              </a:extLst>
            </p:cNvPr>
            <p:cNvSpPr txBox="1"/>
            <p:nvPr/>
          </p:nvSpPr>
          <p:spPr>
            <a:xfrm>
              <a:off x="3839501" y="2495699"/>
              <a:ext cx="3121047" cy="923330"/>
            </a:xfrm>
            <a:prstGeom prst="rect">
              <a:avLst/>
            </a:prstGeom>
            <a:noFill/>
          </p:spPr>
          <p:txBody>
            <a:bodyPr wrap="none" lIns="0" tIns="0" rIns="0" bIns="0" rtlCol="0">
              <a:noAutofit/>
            </a:bodyPr>
            <a:lstStyle/>
            <a:p>
              <a:pPr algn="l">
                <a:spcBef>
                  <a:spcPct val="0"/>
                </a:spcBef>
                <a:buClrTx/>
                <a:buSzTx/>
                <a:buFont typeface="Wingdings" panose="05000000000000000000" pitchFamily="2" charset="2"/>
                <a:buNone/>
              </a:pPr>
              <a:r>
                <a:rPr lang="zh-CN" altLang="en-US" sz="4400" b="1" dirty="0">
                  <a:solidFill>
                    <a:schemeClr val="bg1"/>
                  </a:solidFill>
                  <a:latin typeface="Courier New" panose="02070309020205020404" pitchFamily="49" charset="0"/>
                </a:rPr>
                <a:t>感谢各位同学！</a:t>
              </a:r>
            </a:p>
          </p:txBody>
        </p:sp>
        <p:grpSp>
          <p:nvGrpSpPr>
            <p:cNvPr id="4" name="组合 3">
              <a:extLst>
                <a:ext uri="{FF2B5EF4-FFF2-40B4-BE49-F238E27FC236}">
                  <a16:creationId xmlns:a16="http://schemas.microsoft.com/office/drawing/2014/main" id="{F73685BA-9C3E-4785-BA25-027DA8C0D4EA}"/>
                </a:ext>
              </a:extLst>
            </p:cNvPr>
            <p:cNvGrpSpPr/>
            <p:nvPr userDrawn="1"/>
          </p:nvGrpSpPr>
          <p:grpSpPr>
            <a:xfrm>
              <a:off x="3834754" y="3397344"/>
              <a:ext cx="1124118" cy="704863"/>
              <a:chOff x="2468044" y="3339787"/>
              <a:chExt cx="1124118" cy="704863"/>
            </a:xfrm>
          </p:grpSpPr>
          <p:sp>
            <p:nvSpPr>
              <p:cNvPr id="5" name="文本框 4">
                <a:extLst>
                  <a:ext uri="{FF2B5EF4-FFF2-40B4-BE49-F238E27FC236}">
                    <a16:creationId xmlns:a16="http://schemas.microsoft.com/office/drawing/2014/main" id="{F02CDF5C-630B-4176-91E0-EC7A84F82601}"/>
                  </a:ext>
                </a:extLst>
              </p:cNvPr>
              <p:cNvSpPr txBox="1"/>
              <p:nvPr/>
            </p:nvSpPr>
            <p:spPr>
              <a:xfrm>
                <a:off x="2552710" y="3339787"/>
                <a:ext cx="1039452" cy="307777"/>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200" dirty="0">
                    <a:solidFill>
                      <a:schemeClr val="bg1"/>
                    </a:solidFill>
                  </a:rPr>
                  <a:t>欢迎交流学习</a:t>
                </a:r>
              </a:p>
            </p:txBody>
          </p:sp>
          <p:sp>
            <p:nvSpPr>
              <p:cNvPr id="6" name="文本框 5">
                <a:extLst>
                  <a:ext uri="{FF2B5EF4-FFF2-40B4-BE49-F238E27FC236}">
                    <a16:creationId xmlns:a16="http://schemas.microsoft.com/office/drawing/2014/main" id="{230F1DBB-3DD4-4747-B5B3-412C2675D383}"/>
                  </a:ext>
                </a:extLst>
              </p:cNvPr>
              <p:cNvSpPr txBox="1"/>
              <p:nvPr/>
            </p:nvSpPr>
            <p:spPr>
              <a:xfrm>
                <a:off x="2468044" y="3736873"/>
                <a:ext cx="1011495" cy="307777"/>
              </a:xfrm>
              <a:prstGeom prst="rect">
                <a:avLst/>
              </a:prstGeom>
              <a:noFill/>
            </p:spPr>
            <p:txBody>
              <a:bodyPr wrap="none" lIns="0" tIns="0" rIns="0" bIns="0" rtlCol="0">
                <a:noAutofit/>
              </a:bodyPr>
              <a:lstStyle/>
              <a:p>
                <a:endParaRPr lang="zh-CN" altLang="en-US" sz="2200" dirty="0">
                  <a:solidFill>
                    <a:schemeClr val="bg1"/>
                  </a:solidFill>
                </a:endParaRPr>
              </a:p>
            </p:txBody>
          </p:sp>
        </p:grpSp>
      </p:grpSp>
      <p:sp>
        <p:nvSpPr>
          <p:cNvPr id="7" name="文本框 6">
            <a:extLst>
              <a:ext uri="{FF2B5EF4-FFF2-40B4-BE49-F238E27FC236}">
                <a16:creationId xmlns:a16="http://schemas.microsoft.com/office/drawing/2014/main" id="{48690384-B2B0-E128-55A6-CB6A9F742EB1}"/>
              </a:ext>
            </a:extLst>
          </p:cNvPr>
          <p:cNvSpPr txBox="1"/>
          <p:nvPr/>
        </p:nvSpPr>
        <p:spPr>
          <a:xfrm>
            <a:off x="884238" y="5105840"/>
            <a:ext cx="1991309" cy="748964"/>
          </a:xfrm>
          <a:prstGeom prst="rect">
            <a:avLst/>
          </a:prstGeom>
          <a:noFill/>
        </p:spPr>
        <p:txBody>
          <a:bodyPr wrap="none" lIns="0" tIns="0" rIns="0" bIns="0" rtlCol="0">
            <a:noAutofit/>
          </a:bodyPr>
          <a:lstStyle/>
          <a:p>
            <a:r>
              <a:rPr lang="zh-CN" altLang="en-US" sz="2400" dirty="0">
                <a:solidFill>
                  <a:schemeClr val="bg1"/>
                </a:solidFill>
                <a:latin typeface="+mn-ea"/>
              </a:rPr>
              <a:t>刘广睿</a:t>
            </a:r>
            <a:endParaRPr lang="en-US" altLang="zh-CN" sz="2400" dirty="0">
              <a:solidFill>
                <a:schemeClr val="bg1"/>
              </a:solidFill>
              <a:latin typeface="+mn-ea"/>
            </a:endParaRPr>
          </a:p>
          <a:p>
            <a:r>
              <a:rPr lang="zh-CN" altLang="en-US" sz="2400" dirty="0">
                <a:solidFill>
                  <a:schemeClr val="bg1"/>
                </a:solidFill>
                <a:latin typeface="+mn-ea"/>
              </a:rPr>
              <a:t>哈尔滨工业大学 计算学部</a:t>
            </a:r>
          </a:p>
        </p:txBody>
      </p:sp>
      <p:sp>
        <p:nvSpPr>
          <p:cNvPr id="8" name="文本框 7">
            <a:extLst>
              <a:ext uri="{FF2B5EF4-FFF2-40B4-BE49-F238E27FC236}">
                <a16:creationId xmlns:a16="http://schemas.microsoft.com/office/drawing/2014/main" id="{AE2331C9-B0B7-14CB-E360-31C2F2AE29DB}"/>
              </a:ext>
            </a:extLst>
          </p:cNvPr>
          <p:cNvSpPr txBox="1"/>
          <p:nvPr/>
        </p:nvSpPr>
        <p:spPr>
          <a:xfrm>
            <a:off x="884238" y="6098001"/>
            <a:ext cx="1510029" cy="230832"/>
          </a:xfrm>
          <a:prstGeom prst="rect">
            <a:avLst/>
          </a:prstGeom>
          <a:noFill/>
        </p:spPr>
        <p:txBody>
          <a:bodyPr wrap="none" lIns="0" tIns="0" rIns="0" bIns="0" rtlCol="0">
            <a:noAutofit/>
          </a:bodyPr>
          <a:lstStyle/>
          <a:p>
            <a:r>
              <a:rPr lang="en-US" altLang="zh-CN" sz="2400" dirty="0">
                <a:solidFill>
                  <a:schemeClr val="bg1"/>
                </a:solidFill>
              </a:rPr>
              <a:t>2025</a:t>
            </a:r>
            <a:r>
              <a:rPr lang="zh-CN" altLang="en-US" sz="2400" dirty="0">
                <a:solidFill>
                  <a:schemeClr val="bg1"/>
                </a:solidFill>
              </a:rPr>
              <a:t>秋</a:t>
            </a:r>
          </a:p>
        </p:txBody>
      </p:sp>
      <p:pic>
        <p:nvPicPr>
          <p:cNvPr id="10" name="图片 9">
            <a:extLst>
              <a:ext uri="{FF2B5EF4-FFF2-40B4-BE49-F238E27FC236}">
                <a16:creationId xmlns:a16="http://schemas.microsoft.com/office/drawing/2014/main" id="{421D443F-15AB-F188-107A-3C93554EDA13}"/>
              </a:ext>
            </a:extLst>
          </p:cNvPr>
          <p:cNvPicPr>
            <a:picLocks noChangeAspect="1"/>
          </p:cNvPicPr>
          <p:nvPr/>
        </p:nvPicPr>
        <p:blipFill>
          <a:blip r:embed="rId3"/>
          <a:stretch>
            <a:fillRect/>
          </a:stretch>
        </p:blipFill>
        <p:spPr>
          <a:xfrm>
            <a:off x="6096000" y="5566988"/>
            <a:ext cx="4707689" cy="1292858"/>
          </a:xfrm>
          <a:prstGeom prst="rect">
            <a:avLst/>
          </a:prstGeom>
        </p:spPr>
      </p:pic>
    </p:spTree>
    <p:extLst>
      <p:ext uri="{BB962C8B-B14F-4D97-AF65-F5344CB8AC3E}">
        <p14:creationId xmlns:p14="http://schemas.microsoft.com/office/powerpoint/2010/main" val="873782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55f52171-deb4-4d87-9864-47bd9ea656bf&quot;,&quot;Name&quot;:&quot;2&quot;,&quot;Kind&quot;:&quot;Custom&quot;,&quot;OldGuidesSetting&quot;:{&quot;HeaderHeight&quot;:0.0,&quot;FooterHeight&quot;:0.0,&quot;SideMargin&quot;:6.0,&quot;TopMargin&quot;:4.0,&quot;BottomMargin&quot;:8.0,&quot;IntervalMargin&quot;:0.0}}"/>
</p:tagLst>
</file>

<file path=ppt/theme/theme1.xml><?xml version="1.0" encoding="utf-8"?>
<a:theme xmlns:a="http://schemas.openxmlformats.org/drawingml/2006/main" name="主题1">
  <a:themeElements>
    <a:clrScheme name="蓝紫渐变">
      <a:dk1>
        <a:srgbClr val="000000"/>
      </a:dk1>
      <a:lt1>
        <a:srgbClr val="FFFFFF"/>
      </a:lt1>
      <a:dk2>
        <a:srgbClr val="44546A"/>
      </a:dk2>
      <a:lt2>
        <a:srgbClr val="E7E6E6"/>
      </a:lt2>
      <a:accent1>
        <a:srgbClr val="2A50A1"/>
      </a:accent1>
      <a:accent2>
        <a:srgbClr val="8891C8"/>
      </a:accent2>
      <a:accent3>
        <a:srgbClr val="B8D6EE"/>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1" id="{2B54C7FC-80FA-4268-B1AB-7A4718C2F40B}" vid="{49D17BBD-BC41-4722-83BC-2CAB04E0C72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26229</TotalTime>
  <Words>3367</Words>
  <Application>Microsoft Office PowerPoint</Application>
  <PresentationFormat>宽屏</PresentationFormat>
  <Paragraphs>535</Paragraphs>
  <Slides>38</Slides>
  <Notes>35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等线</vt:lpstr>
      <vt:lpstr>Arial</vt:lpstr>
      <vt:lpstr>Cambria Math</vt:lpstr>
      <vt:lpstr>Courier New</vt:lpstr>
      <vt:lpstr>Times New Roman</vt:lpstr>
      <vt:lpstr>Wingdings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滚筒洗衣机, WeChat:cooljyh</dc:creator>
  <cp:lastModifiedBy>广睿 刘</cp:lastModifiedBy>
  <cp:revision>832</cp:revision>
  <cp:lastPrinted>2025-11-24T13:27:28Z</cp:lastPrinted>
  <dcterms:created xsi:type="dcterms:W3CDTF">2022-03-15T01:56:04Z</dcterms:created>
  <dcterms:modified xsi:type="dcterms:W3CDTF">2025-12-09T05:04:42Z</dcterms:modified>
</cp:coreProperties>
</file>