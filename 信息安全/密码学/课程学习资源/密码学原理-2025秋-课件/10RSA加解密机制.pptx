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518" r:id="rId2"/>
    <p:sldId id="666" r:id="rId3"/>
    <p:sldId id="683" r:id="rId4"/>
    <p:sldId id="684" r:id="rId5"/>
    <p:sldId id="685" r:id="rId6"/>
    <p:sldId id="694" r:id="rId7"/>
    <p:sldId id="427" r:id="rId8"/>
    <p:sldId id="435" r:id="rId9"/>
    <p:sldId id="697" r:id="rId10"/>
    <p:sldId id="698" r:id="rId11"/>
    <p:sldId id="699" r:id="rId12"/>
    <p:sldId id="700" r:id="rId13"/>
    <p:sldId id="701" r:id="rId14"/>
    <p:sldId id="703" r:id="rId15"/>
    <p:sldId id="702" r:id="rId16"/>
    <p:sldId id="704" r:id="rId17"/>
    <p:sldId id="705" r:id="rId18"/>
    <p:sldId id="706" r:id="rId19"/>
    <p:sldId id="516" r:id="rId20"/>
    <p:sldId id="670" r:id="rId21"/>
    <p:sldId id="725" r:id="rId22"/>
    <p:sldId id="708" r:id="rId23"/>
    <p:sldId id="712" r:id="rId24"/>
    <p:sldId id="556" r:id="rId25"/>
    <p:sldId id="713" r:id="rId26"/>
    <p:sldId id="714" r:id="rId27"/>
    <p:sldId id="715" r:id="rId28"/>
    <p:sldId id="709" r:id="rId29"/>
    <p:sldId id="710" r:id="rId30"/>
    <p:sldId id="711" r:id="rId31"/>
    <p:sldId id="716" r:id="rId32"/>
    <p:sldId id="732" r:id="rId33"/>
    <p:sldId id="717" r:id="rId34"/>
    <p:sldId id="731" r:id="rId35"/>
    <p:sldId id="718" r:id="rId36"/>
    <p:sldId id="719" r:id="rId37"/>
    <p:sldId id="720" r:id="rId38"/>
    <p:sldId id="721" r:id="rId39"/>
    <p:sldId id="723" r:id="rId40"/>
    <p:sldId id="724" r:id="rId41"/>
    <p:sldId id="671" r:id="rId42"/>
    <p:sldId id="726" r:id="rId43"/>
    <p:sldId id="727" r:id="rId44"/>
    <p:sldId id="554" r:id="rId45"/>
    <p:sldId id="728" r:id="rId46"/>
    <p:sldId id="729" r:id="rId47"/>
    <p:sldId id="730" r:id="rId48"/>
    <p:sldId id="535" r:id="rId49"/>
    <p:sldId id="307" r:id="rId50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3F2"/>
    <a:srgbClr val="EBEBF8"/>
    <a:srgbClr val="FF6161"/>
    <a:srgbClr val="FFA7A7"/>
    <a:srgbClr val="2A50A1"/>
    <a:srgbClr val="152851"/>
    <a:srgbClr val="FFFFFF"/>
    <a:srgbClr val="4E5CAB"/>
    <a:srgbClr val="FF4747"/>
    <a:srgbClr val="F35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5" autoAdjust="0"/>
    <p:restoredTop sz="89586" autoAdjust="0"/>
  </p:normalViewPr>
  <p:slideViewPr>
    <p:cSldViewPr snapToGrid="0" showGuides="1">
      <p:cViewPr>
        <p:scale>
          <a:sx n="100" d="100"/>
          <a:sy n="100" d="100"/>
        </p:scale>
        <p:origin x="1435" y="2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13DC21E-85DA-4BB8-8DB9-4A7F665A6D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7C0327-D93C-4C09-B71F-1298A02789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557B5-F843-48B3-A788-12C67245D8C5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155753-1757-421A-89A5-BDE6E23D2C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86167D-2C8B-4E23-AF2D-B21291C380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331E2-87C0-43E7-9F25-B91BB9001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0925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C9AD7-9524-433D-9BE7-788EEE17CFA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B8F8F-C2EC-4CC8-9A1E-190092C81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3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E5CF-4CFF-5801-C4D2-52048B37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A424DE-33D8-4E6D-5C97-7D01F0194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3BC28D-9E92-9263-1C10-FE2568ECE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10:00</a:t>
            </a:r>
            <a:r>
              <a:rPr lang="zh-CN" altLang="en-US" dirty="0"/>
              <a:t>开始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DEB92-1189-960B-C308-629A1639D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781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436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881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6B4F-6E55-FF7F-F30B-FFC7BA14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EB17DA-1856-EAEC-DD08-417469871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1C9F5A-86D0-17A0-F863-637EF312E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0FE42E57-8B12-D010-EBC3-62A0C8AC23B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6AD285-44BD-BED5-136D-9D45991BE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20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F60FE-DF56-53D5-1BB3-36D0AF9F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B86E9C-235D-9067-02CD-FA803C87C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4AED6F-1A4F-4437-9EF7-396BA0C15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B9A69745-C488-BC97-8DA0-92B944DF292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D4C90C-F81B-D4E2-5DCC-6B54BC975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88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CE32-C5A1-EE96-8950-61F10855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AFC11F-72C1-AC81-293B-4BE018E1F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A7C93F-F1AF-82CF-EAEB-16E615A70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10:10</a:t>
            </a:r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B4614CB6-8C0F-7800-4384-0AA76328CBC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2B0FD7-E6DF-2610-A8C2-AF674BCC3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30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10:20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084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FF044-8E95-E806-7359-72055DDED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57605A-92E1-47A3-3421-79FCBB10F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C8D2CE-B261-78A6-AF32-6607DF605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10:40</a:t>
            </a:r>
            <a:r>
              <a:rPr kumimoji="1" lang="zh-CN" altLang="en-US" dirty="0"/>
              <a:t>结束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9F8EC-752E-1225-9E86-C3E992D12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561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75513-9832-31C6-400A-C01196D5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C058EA-1CE9-6362-0F1C-1A6F9B508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D73B7B-B129-3E75-5FE5-D34A28A1D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10:40</a:t>
            </a:r>
            <a:r>
              <a:rPr kumimoji="1" lang="zh-CN" altLang="en-US" dirty="0"/>
              <a:t>结束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682550-406B-7E3D-6A23-488C80466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267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C3E79-021E-80FB-992A-FF8301BF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179A9F-8FED-23DF-4B2C-057D90AC9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0C9478-9A17-5F67-BA71-764C794B3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10:40</a:t>
            </a:r>
            <a:r>
              <a:rPr kumimoji="1" lang="zh-CN" altLang="en-US" dirty="0"/>
              <a:t>结束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6CD23D-CFB1-D5A0-2028-C1907AE99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889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2F48-9470-39D5-84C4-B0DFF749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C6C4A1-C046-C56E-0A5F-F28AFB3FD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D52DED-9DF8-90A0-8216-AEE081CB4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10:40</a:t>
            </a:r>
            <a:r>
              <a:rPr kumimoji="1" lang="zh-CN" altLang="en-US" dirty="0"/>
              <a:t>结束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E26152-7E17-4957-9A92-83C16C47D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638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F2128-BC86-3A34-2B43-E27C49BB0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FB791D-0B83-E065-A329-F97BA727E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E7E06A-184A-67C9-939C-23F2F0AA6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10:40</a:t>
            </a:r>
            <a:r>
              <a:rPr kumimoji="1" lang="zh-CN" altLang="en-US" dirty="0"/>
              <a:t>结束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AD1958-EE45-D529-34BC-B1F68447C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073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58AD-D9EA-A064-7590-CD3B90E2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D34F51-8A84-FC8C-A8BB-856E78AD3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62BF5F-D148-D76F-C59D-6F7E3986B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质数？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2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和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3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也是质数却没有倒数，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不是质数却有倒数</a:t>
            </a:r>
            <a:endParaRPr lang="zh-CN" altLang="zh-CN" sz="1200" dirty="0">
              <a:latin typeface="Arial" panose="020B0604020202020204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2517BF-ACB2-D58F-996A-6191ED841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088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B1FC-994A-0062-47F0-83086E45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8A2E9B-CAC2-C004-6C2B-8F8BFEE9F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B646B9-D263-032D-5A84-2A28B6AC3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F9B26-40B1-1661-855E-401FABDB4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696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BD1A-F727-3CB6-31E9-BA6358FE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C1BDFF-E27E-54D5-0354-E14C8AC2B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17B149-9DA0-D995-E30A-6CA403289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B7C74F-4419-BFE6-B627-0AAA4572F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781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FC9B1-7B57-66EA-89E4-35CBACE6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742CA2-6829-A77B-C14D-38B2C3999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F19272-33DD-0330-F3C9-555817539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80A63B-E611-ED3C-4EEB-CEE323D57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123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E18E-6B03-B4D3-42BB-D5207074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9EA6CB-D25B-619A-7BA0-7BCFE18CC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D64ED5-F873-C9E8-2397-6F50A0333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10:25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3D01B-AB37-F594-EE9D-ACA835D79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46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10:30</a:t>
            </a:r>
            <a:r>
              <a:rPr kumimoji="1" lang="zh-CN" altLang="en-US" dirty="0"/>
              <a:t>结束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32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951D-D2F0-CE66-EDF2-DD1385D6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324F2A-94FA-1CDE-6C27-40BF7944F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B471C-118D-901F-E03D-DBFD5374E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15:20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5E968B-E942-FF09-37BF-DB4FE23AD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9134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6388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10:40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4565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10:50</a:t>
            </a:r>
            <a:r>
              <a:rPr lang="zh-CN" altLang="en-US" dirty="0"/>
              <a:t>课间休息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4070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10:55</a:t>
            </a:r>
            <a:r>
              <a:rPr lang="zh-CN" altLang="en-US" dirty="0"/>
              <a:t>开始上课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264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881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B1EEC-9398-8FEE-8047-9529268D5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FD7E6C-8990-2AF4-2682-3F5B014C2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A78B0C-8A79-331A-585D-31306EEB3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4+5+5+5=19</a:t>
            </a:r>
          </a:p>
          <a:p>
            <a:r>
              <a:rPr lang="en-US" altLang="zh-CN" dirty="0"/>
              <a:t>19+19+5=43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6AFFF8-6C53-990C-9E60-E60C2D315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132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4+5+5+5=19</a:t>
            </a:r>
          </a:p>
          <a:p>
            <a:r>
              <a:rPr lang="en-US" altLang="zh-CN" dirty="0"/>
              <a:t>19+19+5=43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8737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FB67-33FF-7BCD-7B2C-CC46D84E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9E529D-6558-3FEA-80AC-FC23BD21C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528510-3A1B-5E6B-126C-532F3C3E8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4+5+5+5=19</a:t>
            </a:r>
          </a:p>
          <a:p>
            <a:r>
              <a:rPr lang="en-US" altLang="zh-CN" dirty="0"/>
              <a:t>19+19+5=43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41DEA-82FE-B8A4-FA48-214F747AE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8665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BE535-DF84-A5FB-13DB-4D52A13DE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50CB04-2C07-DB4A-EFCD-AD1F6703D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CD4466-E6BF-24CF-7A95-3DAAF12A5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4+5+5+5=19</a:t>
            </a:r>
          </a:p>
          <a:p>
            <a:r>
              <a:rPr lang="en-US" altLang="zh-CN" dirty="0"/>
              <a:t>19+19+5=43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A60504-B427-B2FE-9AD0-916C937D1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6456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11:05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3755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BA9A8-FEB5-060B-9536-125A25D7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AE33C0-E6AC-E4C6-A7A6-B5F8E2DDF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23494F-936A-0796-139D-7C60984F9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质数？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2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和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3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也是质数却没有倒数，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不是质数却有倒数</a:t>
            </a:r>
            <a:endParaRPr lang="zh-CN" altLang="zh-CN" sz="1200" dirty="0">
              <a:latin typeface="Arial" panose="020B0604020202020204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62AF56-EEB1-7354-A750-E0D4764D4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760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64B8-69BE-F56F-F045-2240600A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D75E06-87CA-417F-12B8-E5C1A551C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8EE718-2BD2-03DB-8AE0-F447DFEFE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F608A7-0486-4535-7EEA-F31BC1149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8283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3794-174E-7F10-BA62-EA304068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9A691B-4989-0B66-D433-EC5174A6E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D113CC-6008-CC19-C00A-AC20336B2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4+5+5+5=19</a:t>
            </a:r>
          </a:p>
          <a:p>
            <a:r>
              <a:rPr lang="en-US" altLang="zh-CN" dirty="0"/>
              <a:t>19+19+5=43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80E536-1687-3401-EFD9-A5891D043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6064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D49AB-E49F-8238-1790-55BB019B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CCBE5E-D2E3-E258-B54C-CF1A177A7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F8E2BF-30D8-9E32-B2F7-559958D8B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11:20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CBA51C-48AD-6646-7A31-8DFD37ECB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65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0431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11:20-11:30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6351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11:20-11:30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9069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1589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11:45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6418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F0AD5-92EC-0D7A-C3A6-34AC0E40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BD8F7F-AFF4-9D64-53A8-5BF70FCE4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8E90FB-E499-E66F-6D34-425E219DC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15:10</a:t>
            </a:r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F075CD43-E7DC-B768-00B3-8DD25F992C1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358516-613A-BF37-DA8B-A08474A5F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174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11:45</a:t>
            </a:r>
            <a:r>
              <a:rPr kumimoji="1" lang="zh-CN" altLang="en-US" dirty="0"/>
              <a:t>结束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9473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676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81FE403-EFBE-407B-B1B0-589475D313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79BA6D-EC23-4497-9041-CE1317A49D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D99F5985-A2DB-49D7-0706-93D3C101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1001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CDD81EF3-E712-F5C6-BDC9-F704CAEF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925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17CE0AD8-4B8A-4CB3-90A2-2EBD4D419B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883884EC-E0BD-292A-12C5-46119C62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8509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DC7B277-97E2-48C0-9D4D-EB6B0FE9FA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28FEE77D-2CC8-414A-04A7-967603AF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3730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3E7863A-1514-4D60-AE03-86A6CDA04DBD}"/>
              </a:ext>
            </a:extLst>
          </p:cNvPr>
          <p:cNvSpPr/>
          <p:nvPr userDrawn="1"/>
        </p:nvSpPr>
        <p:spPr>
          <a:xfrm>
            <a:off x="0" y="-1"/>
            <a:ext cx="12192000" cy="272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3477F4-59D1-4BC5-B4A9-27AF6AF5FD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9942022" y="151774"/>
            <a:ext cx="2088899" cy="511106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A3F02F0D-D97F-A414-C3BA-2DD34611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3405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BAB4A06-08C2-4C23-89B2-C98B3F8C7F75}"/>
              </a:ext>
            </a:extLst>
          </p:cNvPr>
          <p:cNvSpPr/>
          <p:nvPr userDrawn="1"/>
        </p:nvSpPr>
        <p:spPr>
          <a:xfrm>
            <a:off x="0" y="1"/>
            <a:ext cx="4684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76BB2E33-D1D3-4B64-A8DE-FCB20D58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16587A-6048-4612-8826-36F563D3AC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9942022" y="151774"/>
            <a:ext cx="2088899" cy="5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2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BAB4A06-08C2-4C23-89B2-C98B3F8C7F75}"/>
              </a:ext>
            </a:extLst>
          </p:cNvPr>
          <p:cNvSpPr/>
          <p:nvPr userDrawn="1"/>
        </p:nvSpPr>
        <p:spPr>
          <a:xfrm>
            <a:off x="0" y="1"/>
            <a:ext cx="4684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91384DB8-DD7B-6F63-0A62-DA2C1F99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386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0EC24C7-A0C0-4B33-8A17-49C5A5794F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8274DD1-C79A-4AC5-B392-A4900D81502B}"/>
              </a:ext>
            </a:extLst>
          </p:cNvPr>
          <p:cNvGrpSpPr/>
          <p:nvPr userDrawn="1"/>
        </p:nvGrpSpPr>
        <p:grpSpPr>
          <a:xfrm rot="20394303">
            <a:off x="3221945" y="-1575994"/>
            <a:ext cx="11439261" cy="11910951"/>
            <a:chOff x="3439566" y="1666270"/>
            <a:chExt cx="11439261" cy="11910951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3B3CDDB-B14C-42F2-A1F1-49B0792801F9}"/>
                </a:ext>
              </a:extLst>
            </p:cNvPr>
            <p:cNvGrpSpPr/>
            <p:nvPr/>
          </p:nvGrpSpPr>
          <p:grpSpPr>
            <a:xfrm rot="4029167">
              <a:off x="8779335" y="1665563"/>
              <a:ext cx="6098786" cy="6100199"/>
              <a:chOff x="18351500" y="3723568"/>
              <a:chExt cx="4878842" cy="4879972"/>
            </a:xfrm>
          </p:grpSpPr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26E67D38-75E0-4071-95F6-2AE5FDAF86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5A2EBA7D-F88D-443E-AA35-69B8AB9B65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3386FE9-1899-4359-9BFD-946DEFB6A584}"/>
                </a:ext>
              </a:extLst>
            </p:cNvPr>
            <p:cNvGrpSpPr/>
            <p:nvPr/>
          </p:nvGrpSpPr>
          <p:grpSpPr>
            <a:xfrm rot="14829167">
              <a:off x="3440583" y="4789517"/>
              <a:ext cx="8786687" cy="8788722"/>
              <a:chOff x="18351500" y="3723568"/>
              <a:chExt cx="4878842" cy="4879972"/>
            </a:xfrm>
          </p:grpSpPr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F24A2437-0A2C-45FB-9F89-DF6496635E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74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491B2948-B0A7-4C57-902F-1D49D22C7E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54E713C6-2984-4AD1-870F-DA1B300B2C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8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F93E90-9242-47EA-9503-C81D319405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C3F978FE-3E48-1401-F5BC-1480EF56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9562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DF50A41-D5D0-094F-ACFA-76933026B598}" type="datetime1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951929C-A4A1-CCA1-7D58-1C9B6247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3967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副标题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27C9616-A78E-42B7-B805-E89A55542A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F639B804-1261-E23F-0730-1E314A2F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6292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9B3896-319D-45EF-A996-F06C43596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73E40-2F7A-654D-BA68-80A2D59C5920}" type="datetime1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9B380B-4756-4CAD-8741-32E82C5C1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C9323-1CD7-4830-B0EE-DC83BF437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05AE2-E521-4071-B027-062C254CF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3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1" r:id="rId2"/>
    <p:sldLayoutId id="2147483654" r:id="rId3"/>
    <p:sldLayoutId id="2147483666" r:id="rId4"/>
    <p:sldLayoutId id="2147483667" r:id="rId5"/>
    <p:sldLayoutId id="2147483668" r:id="rId6"/>
    <p:sldLayoutId id="2147483655" r:id="rId7"/>
    <p:sldLayoutId id="214748365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 userDrawn="1">
          <p15:clr>
            <a:srgbClr val="F26B43"/>
          </p15:clr>
        </p15:guide>
        <p15:guide id="2" orient="horz" pos="3968" userDrawn="1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2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0.png"/><Relationship Id="rId5" Type="http://schemas.openxmlformats.org/officeDocument/2006/relationships/image" Target="../media/image3.png"/><Relationship Id="rId4" Type="http://schemas.openxmlformats.org/officeDocument/2006/relationships/image" Target="../media/image1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220.png"/><Relationship Id="rId3" Type="http://schemas.openxmlformats.org/officeDocument/2006/relationships/image" Target="../media/image12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15" Type="http://schemas.openxmlformats.org/officeDocument/2006/relationships/image" Target="../media/image240.png"/><Relationship Id="rId10" Type="http://schemas.openxmlformats.org/officeDocument/2006/relationships/image" Target="../media/image32.png"/><Relationship Id="rId4" Type="http://schemas.openxmlformats.org/officeDocument/2006/relationships/image" Target="../media/image130.png"/><Relationship Id="rId9" Type="http://schemas.openxmlformats.org/officeDocument/2006/relationships/image" Target="../media/image31.png"/><Relationship Id="rId14" Type="http://schemas.openxmlformats.org/officeDocument/2006/relationships/image" Target="../media/image23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0.png"/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15" Type="http://schemas.openxmlformats.org/officeDocument/2006/relationships/image" Target="../media/image240.png"/><Relationship Id="rId4" Type="http://schemas.openxmlformats.org/officeDocument/2006/relationships/image" Target="../media/image130.png"/><Relationship Id="rId14" Type="http://schemas.openxmlformats.org/officeDocument/2006/relationships/image" Target="../media/image2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8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43.png"/><Relationship Id="rId4" Type="http://schemas.openxmlformats.org/officeDocument/2006/relationships/image" Target="../media/image27.png"/><Relationship Id="rId9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3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0.png"/><Relationship Id="rId5" Type="http://schemas.openxmlformats.org/officeDocument/2006/relationships/image" Target="../media/image850.png"/><Relationship Id="rId4" Type="http://schemas.openxmlformats.org/officeDocument/2006/relationships/image" Target="../media/image8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3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5.png"/><Relationship Id="rId5" Type="http://schemas.openxmlformats.org/officeDocument/2006/relationships/image" Target="../media/image88.png"/><Relationship Id="rId10" Type="http://schemas.openxmlformats.org/officeDocument/2006/relationships/image" Target="../media/image94.png"/><Relationship Id="rId4" Type="http://schemas.openxmlformats.org/officeDocument/2006/relationships/image" Target="../media/image87.png"/><Relationship Id="rId9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7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8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C255-7EA1-3FCB-AD73-8EF9270B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8A05D1D1-FC36-E154-503F-D312E24E3AFB}"/>
              </a:ext>
            </a:extLst>
          </p:cNvPr>
          <p:cNvSpPr txBox="1"/>
          <p:nvPr/>
        </p:nvSpPr>
        <p:spPr>
          <a:xfrm>
            <a:off x="715404" y="2009273"/>
            <a:ext cx="7064885" cy="115960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just"/>
            <a:r>
              <a:rPr lang="zh-CN" altLang="en-US" sz="7200" b="1" dirty="0">
                <a:solidFill>
                  <a:schemeClr val="bg1"/>
                </a:solidFill>
                <a:latin typeface="+mj-ea"/>
              </a:rPr>
              <a:t>密码学原理</a:t>
            </a:r>
            <a:endParaRPr lang="zh-CN" altLang="zh-CN" sz="7200" b="1" dirty="0">
              <a:solidFill>
                <a:schemeClr val="bg1"/>
              </a:solidFill>
              <a:latin typeface="+mj-ea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4A076ED-B5A0-0B6D-5155-C5BD4B6439E4}"/>
              </a:ext>
            </a:extLst>
          </p:cNvPr>
          <p:cNvGrpSpPr/>
          <p:nvPr/>
        </p:nvGrpSpPr>
        <p:grpSpPr>
          <a:xfrm rot="637793">
            <a:off x="6717963" y="-2695151"/>
            <a:ext cx="8786687" cy="13156983"/>
            <a:chOff x="14552960" y="-177472"/>
            <a:chExt cx="7029080" cy="10525183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3404FA92-C8B0-FDAA-6AD9-192C0379D0BA}"/>
                </a:ext>
              </a:extLst>
            </p:cNvPr>
            <p:cNvGrpSpPr/>
            <p:nvPr/>
          </p:nvGrpSpPr>
          <p:grpSpPr>
            <a:xfrm rot="1495231">
              <a:off x="15166450" y="-177472"/>
              <a:ext cx="4878842" cy="4879972"/>
              <a:chOff x="18351500" y="3723568"/>
              <a:chExt cx="4878842" cy="4879972"/>
            </a:xfrm>
          </p:grpSpPr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0D40C975-AF6C-1A30-DCA6-127C8B9029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7">
                <a:extLst>
                  <a:ext uri="{FF2B5EF4-FFF2-40B4-BE49-F238E27FC236}">
                    <a16:creationId xmlns:a16="http://schemas.microsoft.com/office/drawing/2014/main" id="{B2BE7C3A-1814-947F-1A09-066A1EE715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73E1E18-065C-349B-ECEA-1205F77A383A}"/>
                </a:ext>
              </a:extLst>
            </p:cNvPr>
            <p:cNvGrpSpPr/>
            <p:nvPr/>
          </p:nvGrpSpPr>
          <p:grpSpPr>
            <a:xfrm rot="12295231">
              <a:off x="14552960" y="3317003"/>
              <a:ext cx="7029080" cy="7030708"/>
              <a:chOff x="18351500" y="3723568"/>
              <a:chExt cx="4878842" cy="4879972"/>
            </a:xfrm>
          </p:grpSpPr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8CC3EC3C-5C56-F304-2F57-4D733B6EAD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74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/>
              </a:p>
            </p:txBody>
          </p:sp>
          <p:sp>
            <p:nvSpPr>
              <p:cNvPr id="59" name="Freeform 7">
                <a:extLst>
                  <a:ext uri="{FF2B5EF4-FFF2-40B4-BE49-F238E27FC236}">
                    <a16:creationId xmlns:a16="http://schemas.microsoft.com/office/drawing/2014/main" id="{13764C36-7064-D34C-7F39-DB42AA175D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BFE3AB5-262C-842B-D867-F1C9CA5E20BD}"/>
              </a:ext>
            </a:extLst>
          </p:cNvPr>
          <p:cNvSpPr txBox="1"/>
          <p:nvPr/>
        </p:nvSpPr>
        <p:spPr>
          <a:xfrm>
            <a:off x="884238" y="5105840"/>
            <a:ext cx="1991309" cy="74896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刘广睿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哈尔滨工业大学 计算学部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5B60EE-56B9-C0F1-BB28-51194A8D3571}"/>
              </a:ext>
            </a:extLst>
          </p:cNvPr>
          <p:cNvSpPr txBox="1"/>
          <p:nvPr/>
        </p:nvSpPr>
        <p:spPr>
          <a:xfrm>
            <a:off x="884238" y="6098001"/>
            <a:ext cx="1510029" cy="2308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2025</a:t>
            </a:r>
            <a:r>
              <a:rPr lang="zh-CN" altLang="en-US" sz="2400" dirty="0">
                <a:solidFill>
                  <a:schemeClr val="bg1"/>
                </a:solidFill>
              </a:rPr>
              <a:t>秋</a:t>
            </a:r>
          </a:p>
        </p:txBody>
      </p:sp>
      <p:sp>
        <p:nvSpPr>
          <p:cNvPr id="4" name="五边形 3">
            <a:extLst>
              <a:ext uri="{FF2B5EF4-FFF2-40B4-BE49-F238E27FC236}">
                <a16:creationId xmlns:a16="http://schemas.microsoft.com/office/drawing/2014/main" id="{31CA5973-2787-F5F4-8BFB-CB49EED2B0DD}"/>
              </a:ext>
            </a:extLst>
          </p:cNvPr>
          <p:cNvSpPr/>
          <p:nvPr/>
        </p:nvSpPr>
        <p:spPr>
          <a:xfrm>
            <a:off x="0" y="3870815"/>
            <a:ext cx="8100646" cy="730010"/>
          </a:xfrm>
          <a:prstGeom prst="homePlate">
            <a:avLst/>
          </a:prstGeom>
          <a:solidFill>
            <a:srgbClr val="D0D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just"/>
            <a:r>
              <a:rPr lang="zh-CN" altLang="en-US" sz="2800" dirty="0">
                <a:solidFill>
                  <a:schemeClr val="accent1"/>
                </a:solidFill>
              </a:rPr>
              <a:t>第</a:t>
            </a:r>
            <a:r>
              <a:rPr lang="en-US" altLang="zh-CN" sz="2800" dirty="0">
                <a:solidFill>
                  <a:schemeClr val="accent1"/>
                </a:solidFill>
              </a:rPr>
              <a:t>10</a:t>
            </a:r>
            <a:r>
              <a:rPr lang="zh-CN" altLang="en-US" sz="2800" dirty="0">
                <a:solidFill>
                  <a:schemeClr val="accent1"/>
                </a:solidFill>
              </a:rPr>
              <a:t>讲：</a:t>
            </a:r>
            <a:r>
              <a:rPr lang="en-US" altLang="zh-CN" sz="2800" dirty="0">
                <a:solidFill>
                  <a:schemeClr val="accent1"/>
                </a:solidFill>
              </a:rPr>
              <a:t>RSA</a:t>
            </a:r>
            <a:r>
              <a:rPr lang="zh-CN" altLang="en-US" sz="2800">
                <a:solidFill>
                  <a:schemeClr val="accent1"/>
                </a:solidFill>
              </a:rPr>
              <a:t>加解密</a:t>
            </a:r>
            <a:r>
              <a:rPr lang="zh-CN" altLang="en-US" sz="2800" dirty="0">
                <a:solidFill>
                  <a:schemeClr val="accent1"/>
                </a:solidFill>
              </a:rPr>
              <a:t>机制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1A942C-FE03-50A9-EF21-668A9A0AE111}"/>
              </a:ext>
            </a:extLst>
          </p:cNvPr>
          <p:cNvSpPr txBox="1"/>
          <p:nvPr/>
        </p:nvSpPr>
        <p:spPr>
          <a:xfrm>
            <a:off x="715404" y="3151011"/>
            <a:ext cx="762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" altLang="zh-CN" sz="3200" b="1" dirty="0">
                <a:solidFill>
                  <a:schemeClr val="bg1"/>
                </a:solidFill>
                <a:latin typeface="+mj-lt"/>
              </a:rPr>
              <a:t>Cryptography Principles </a:t>
            </a:r>
            <a:endParaRPr lang="en-US" altLang="zh-CN" sz="32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1AE2507-45A8-7FC2-8DED-0BCBD5629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830" y="5575904"/>
            <a:ext cx="4707689" cy="12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5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07C2-2917-A5E9-001F-CF32F959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DBE734-9972-B6DF-7830-3EC6E582DEFE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上节回顾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2CC0CB8-77A2-6EA5-3FC8-17B136FE1242}"/>
              </a:ext>
            </a:extLst>
          </p:cNvPr>
          <p:cNvGrpSpPr/>
          <p:nvPr/>
        </p:nvGrpSpPr>
        <p:grpSpPr>
          <a:xfrm>
            <a:off x="2037741" y="111047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180AA5C4-1F8B-E35B-7C63-40B766C3A2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78DCF2A5-820E-6CF8-E82C-868D2F5F65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CCAED7F8-8F81-C809-5883-4C36213477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7C22398-4EA2-53C7-6E7B-BE0B75F15F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D23F7A04-5A23-1C0B-EE43-B2C1E0856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CBAFE3F8-F304-028E-9E71-D225A1AEE3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8B0D145-9F89-8AA7-0F6F-353BC912A88B}"/>
              </a:ext>
            </a:extLst>
          </p:cNvPr>
          <p:cNvGrpSpPr/>
          <p:nvPr/>
        </p:nvGrpSpPr>
        <p:grpSpPr>
          <a:xfrm>
            <a:off x="3334299" y="1364545"/>
            <a:ext cx="3989097" cy="538609"/>
            <a:chOff x="3667674" y="1375533"/>
            <a:chExt cx="3989097" cy="538609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DF2B499-6353-E94F-1C3D-1DA8F6AEF226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DH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密钥交换协议缺陷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ED329ED-7585-E59B-A78D-20C1C0882524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82CD27-E259-46D3-EDBA-CD400F033B24}"/>
              </a:ext>
            </a:extLst>
          </p:cNvPr>
          <p:cNvGrpSpPr/>
          <p:nvPr/>
        </p:nvGrpSpPr>
        <p:grpSpPr>
          <a:xfrm>
            <a:off x="3333687" y="2132134"/>
            <a:ext cx="3604376" cy="538609"/>
            <a:chOff x="3667674" y="2504618"/>
            <a:chExt cx="3604376" cy="538609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2F63BFC-FA4B-0BB6-D28F-19B32DA146E0}"/>
                </a:ext>
              </a:extLst>
            </p:cNvPr>
            <p:cNvSpPr txBox="1"/>
            <p:nvPr/>
          </p:nvSpPr>
          <p:spPr>
            <a:xfrm>
              <a:off x="4579005" y="2534411"/>
              <a:ext cx="2693045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非对称加密基本概念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E93CA66-0B03-5A2B-1FAB-B0DB66A3937C}"/>
                </a:ext>
              </a:extLst>
            </p:cNvPr>
            <p:cNvSpPr txBox="1"/>
            <p:nvPr/>
          </p:nvSpPr>
          <p:spPr>
            <a:xfrm>
              <a:off x="3667674" y="2504618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ACCDADD5-9493-B0D2-61B5-1A43EA3F6C0E}"/>
              </a:ext>
            </a:extLst>
          </p:cNvPr>
          <p:cNvSpPr txBox="1"/>
          <p:nvPr/>
        </p:nvSpPr>
        <p:spPr>
          <a:xfrm>
            <a:off x="652513" y="1677787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5000" b="1" dirty="0">
                <a:solidFill>
                  <a:schemeClr val="bg2">
                    <a:lumMod val="25000"/>
                  </a:schemeClr>
                </a:solidFill>
              </a:rPr>
              <a:t>回顾</a:t>
            </a:r>
            <a:endParaRPr lang="en-US" altLang="zh-CN" sz="5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FF038-7B96-4739-F662-8EDAE440D73F}"/>
              </a:ext>
            </a:extLst>
          </p:cNvPr>
          <p:cNvSpPr txBox="1"/>
          <p:nvPr/>
        </p:nvSpPr>
        <p:spPr>
          <a:xfrm>
            <a:off x="735264" y="1378338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CONTENTES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24" name="直接连接符 2">
            <a:extLst>
              <a:ext uri="{FF2B5EF4-FFF2-40B4-BE49-F238E27FC236}">
                <a16:creationId xmlns:a16="http://schemas.microsoft.com/office/drawing/2014/main" id="{1FADC073-070E-BDD0-7C44-F27A98D12D32}"/>
              </a:ext>
            </a:extLst>
          </p:cNvPr>
          <p:cNvCxnSpPr>
            <a:cxnSpLocks/>
          </p:cNvCxnSpPr>
          <p:nvPr/>
        </p:nvCxnSpPr>
        <p:spPr>
          <a:xfrm>
            <a:off x="2857189" y="1378338"/>
            <a:ext cx="0" cy="204263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D11FBE4-A2B1-6CE5-6535-DAB636BF7FD6}"/>
              </a:ext>
            </a:extLst>
          </p:cNvPr>
          <p:cNvGrpSpPr/>
          <p:nvPr/>
        </p:nvGrpSpPr>
        <p:grpSpPr>
          <a:xfrm>
            <a:off x="3353989" y="2890391"/>
            <a:ext cx="3604376" cy="538609"/>
            <a:chOff x="3667674" y="2504618"/>
            <a:chExt cx="3604376" cy="538609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EFE684-EF02-D508-1832-EB7249FD0942}"/>
                </a:ext>
              </a:extLst>
            </p:cNvPr>
            <p:cNvSpPr txBox="1"/>
            <p:nvPr/>
          </p:nvSpPr>
          <p:spPr>
            <a:xfrm>
              <a:off x="4579005" y="2534411"/>
              <a:ext cx="2693045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非对称加密数论基础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393E676-07FA-1E17-3BDF-606F661572F8}"/>
                </a:ext>
              </a:extLst>
            </p:cNvPr>
            <p:cNvSpPr txBox="1"/>
            <p:nvPr/>
          </p:nvSpPr>
          <p:spPr>
            <a:xfrm>
              <a:off x="3667674" y="2504618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880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12E07-F5AB-D25C-B7F2-45424C69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1EC8903F-ADA0-0057-5BB9-CBD76E6A7BFD}"/>
              </a:ext>
            </a:extLst>
          </p:cNvPr>
          <p:cNvGrpSpPr/>
          <p:nvPr/>
        </p:nvGrpSpPr>
        <p:grpSpPr>
          <a:xfrm>
            <a:off x="3190122" y="1506471"/>
            <a:ext cx="5753047" cy="430887"/>
            <a:chOff x="1666121" y="2235594"/>
            <a:chExt cx="5753047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A4F9814-DBC3-20D9-D651-73ADF0D6F491}"/>
                    </a:ext>
                  </a:extLst>
                </p:cNvPr>
                <p:cNvSpPr txBox="1"/>
                <p:nvPr/>
              </p:nvSpPr>
              <p:spPr>
                <a:xfrm>
                  <a:off x="1666121" y="2235594"/>
                  <a:ext cx="279589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" altLang="zh-CN" sz="28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A4F9814-DBC3-20D9-D651-73ADF0D6F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6121" y="2235594"/>
                  <a:ext cx="2795894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4072" t="-8571" r="-4525" b="-3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792EC5B-A8AF-300C-5DA4-E76C9D870EE9}"/>
                    </a:ext>
                  </a:extLst>
                </p:cNvPr>
                <p:cNvSpPr txBox="1"/>
                <p:nvPr/>
              </p:nvSpPr>
              <p:spPr>
                <a:xfrm>
                  <a:off x="5592129" y="2235594"/>
                  <a:ext cx="182703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792EC5B-A8AF-300C-5DA4-E76C9D870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129" y="2235594"/>
                  <a:ext cx="1827039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4138" r="-690" b="-2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BFC9FEC-E39D-B45D-8744-8E0533B1F832}"/>
                </a:ext>
              </a:extLst>
            </p:cNvPr>
            <p:cNvSpPr txBox="1"/>
            <p:nvPr/>
          </p:nvSpPr>
          <p:spPr>
            <a:xfrm>
              <a:off x="4897418" y="2318799"/>
              <a:ext cx="798393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其中</a:t>
              </a:r>
              <a:r>
                <a:rPr kumimoji="1"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,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83A3933-0F8C-346F-C78E-EAC3E5E9E27C}"/>
              </a:ext>
            </a:extLst>
          </p:cNvPr>
          <p:cNvGrpSpPr/>
          <p:nvPr/>
        </p:nvGrpSpPr>
        <p:grpSpPr>
          <a:xfrm>
            <a:off x="4321076" y="1010928"/>
            <a:ext cx="3959967" cy="495543"/>
            <a:chOff x="2797075" y="1740051"/>
            <a:chExt cx="3959967" cy="495543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8829DD9-5C01-AB0F-D3E4-862EE1845617}"/>
                </a:ext>
              </a:extLst>
            </p:cNvPr>
            <p:cNvSpPr txBox="1"/>
            <p:nvPr/>
          </p:nvSpPr>
          <p:spPr>
            <a:xfrm>
              <a:off x="3420160" y="174610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有限域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34644D4-A2A4-351B-F56E-5F2E5F8A6AA8}"/>
                </a:ext>
              </a:extLst>
            </p:cNvPr>
            <p:cNvSpPr txBox="1"/>
            <p:nvPr/>
          </p:nvSpPr>
          <p:spPr>
            <a:xfrm>
              <a:off x="2797075" y="174610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指数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F0D1ECA-123B-C453-166F-592EC11D62D4}"/>
                </a:ext>
              </a:extLst>
            </p:cNvPr>
            <p:cNvSpPr txBox="1"/>
            <p:nvPr/>
          </p:nvSpPr>
          <p:spPr>
            <a:xfrm>
              <a:off x="5958649" y="174005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离散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线箭头连接符 37">
              <a:extLst>
                <a:ext uri="{FF2B5EF4-FFF2-40B4-BE49-F238E27FC236}">
                  <a16:creationId xmlns:a16="http://schemas.microsoft.com/office/drawing/2014/main" id="{A72F7698-C516-EE9A-6DE8-6EE0916A0324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3196272" y="2060033"/>
              <a:ext cx="0" cy="1695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箭头连接符 42">
              <a:extLst>
                <a:ext uri="{FF2B5EF4-FFF2-40B4-BE49-F238E27FC236}">
                  <a16:creationId xmlns:a16="http://schemas.microsoft.com/office/drawing/2014/main" id="{2A37CFF1-48F1-1741-826F-877D8A2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3822635" y="2060033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9F5D62CA-1E57-209D-681C-700FF5A51F21}"/>
                </a:ext>
              </a:extLst>
            </p:cNvPr>
            <p:cNvCxnSpPr>
              <a:cxnSpLocks/>
            </p:cNvCxnSpPr>
            <p:nvPr/>
          </p:nvCxnSpPr>
          <p:spPr>
            <a:xfrm>
              <a:off x="6354813" y="2044336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90550BD-9889-7214-A8E8-4ECAEDE89B1B}"/>
              </a:ext>
            </a:extLst>
          </p:cNvPr>
          <p:cNvGrpSpPr/>
          <p:nvPr/>
        </p:nvGrpSpPr>
        <p:grpSpPr>
          <a:xfrm>
            <a:off x="4069442" y="1975634"/>
            <a:ext cx="1984722" cy="567410"/>
            <a:chOff x="2545442" y="2704758"/>
            <a:chExt cx="1984722" cy="567410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4D56328-4719-1056-8B02-F880D9ADBDE7}"/>
                </a:ext>
              </a:extLst>
            </p:cNvPr>
            <p:cNvSpPr txBox="1"/>
            <p:nvPr/>
          </p:nvSpPr>
          <p:spPr>
            <a:xfrm>
              <a:off x="3731771" y="2958236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大素数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6577A76-24E7-A2FE-F873-3A14AF87FF3B}"/>
                </a:ext>
              </a:extLst>
            </p:cNvPr>
            <p:cNvSpPr txBox="1"/>
            <p:nvPr/>
          </p:nvSpPr>
          <p:spPr>
            <a:xfrm>
              <a:off x="2545442" y="2958236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底数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9F1490D7-7091-C12F-ABA9-B0431A13C2B1}"/>
                </a:ext>
              </a:extLst>
            </p:cNvPr>
            <p:cNvCxnSpPr>
              <a:cxnSpLocks/>
            </p:cNvCxnSpPr>
            <p:nvPr/>
          </p:nvCxnSpPr>
          <p:spPr>
            <a:xfrm>
              <a:off x="2957718" y="2708477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A926C098-4125-2D0B-4FE1-A770A11D4838}"/>
                </a:ext>
              </a:extLst>
            </p:cNvPr>
            <p:cNvCxnSpPr>
              <a:cxnSpLocks/>
            </p:cNvCxnSpPr>
            <p:nvPr/>
          </p:nvCxnSpPr>
          <p:spPr>
            <a:xfrm>
              <a:off x="4218553" y="2704758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DC874FB-6CEB-1496-3DC5-43F2FF4E5201}"/>
              </a:ext>
            </a:extLst>
          </p:cNvPr>
          <p:cNvGrpSpPr/>
          <p:nvPr/>
        </p:nvGrpSpPr>
        <p:grpSpPr>
          <a:xfrm>
            <a:off x="2098330" y="3540299"/>
            <a:ext cx="8569671" cy="2862322"/>
            <a:chOff x="574329" y="3540299"/>
            <a:chExt cx="8569671" cy="2862322"/>
          </a:xfrm>
        </p:grpSpPr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DD7E3D5D-AA28-E644-A011-15F14C035873}"/>
                </a:ext>
              </a:extLst>
            </p:cNvPr>
            <p:cNvSpPr txBox="1"/>
            <p:nvPr/>
          </p:nvSpPr>
          <p:spPr>
            <a:xfrm>
              <a:off x="574329" y="3540299"/>
              <a:ext cx="8569671" cy="286232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E84706FE-CBAF-A9D9-D04D-323AA6ED2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7271" y="3666223"/>
              <a:ext cx="7772400" cy="2542373"/>
            </a:xfrm>
            <a:prstGeom prst="rect">
              <a:avLst/>
            </a:prstGeom>
          </p:spPr>
        </p:pic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813F552E-9D9B-1C50-33FA-9043EE1A5B96}"/>
              </a:ext>
            </a:extLst>
          </p:cNvPr>
          <p:cNvSpPr txBox="1"/>
          <p:nvPr/>
        </p:nvSpPr>
        <p:spPr>
          <a:xfrm>
            <a:off x="1524001" y="3540299"/>
            <a:ext cx="574328" cy="2862322"/>
          </a:xfrm>
          <a:prstGeom prst="rect">
            <a:avLst/>
          </a:prstGeom>
          <a:solidFill>
            <a:srgbClr val="DBE4F4"/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向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性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A1FD94B-F87E-15D8-941B-BFDDC50C4FEF}"/>
              </a:ext>
            </a:extLst>
          </p:cNvPr>
          <p:cNvSpPr txBox="1"/>
          <p:nvPr/>
        </p:nvSpPr>
        <p:spPr>
          <a:xfrm>
            <a:off x="1524001" y="2557009"/>
            <a:ext cx="574328" cy="923330"/>
          </a:xfrm>
          <a:prstGeom prst="rect">
            <a:avLst/>
          </a:prstGeom>
          <a:solidFill>
            <a:srgbClr val="DBE4F4"/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交换律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05F09FE-EF5F-2080-6FEF-4EC0A7959F62}"/>
              </a:ext>
            </a:extLst>
          </p:cNvPr>
          <p:cNvGrpSpPr/>
          <p:nvPr/>
        </p:nvGrpSpPr>
        <p:grpSpPr>
          <a:xfrm>
            <a:off x="2098329" y="2557009"/>
            <a:ext cx="8569671" cy="923330"/>
            <a:chOff x="574328" y="2557009"/>
            <a:chExt cx="8569671" cy="923330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54B0557D-A4FB-88BE-3249-E86927D831C4}"/>
                </a:ext>
              </a:extLst>
            </p:cNvPr>
            <p:cNvSpPr txBox="1"/>
            <p:nvPr/>
          </p:nvSpPr>
          <p:spPr>
            <a:xfrm>
              <a:off x="574328" y="2557009"/>
              <a:ext cx="8569671" cy="92333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E8079212-7297-63DB-A217-47C25D82F218}"/>
                </a:ext>
              </a:extLst>
            </p:cNvPr>
            <p:cNvGrpSpPr/>
            <p:nvPr/>
          </p:nvGrpSpPr>
          <p:grpSpPr>
            <a:xfrm>
              <a:off x="2482630" y="2614927"/>
              <a:ext cx="4591321" cy="741352"/>
              <a:chOff x="2482630" y="2650783"/>
              <a:chExt cx="4591321" cy="74135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332BAE31-B2E4-8DA0-C8A3-86189C89302E}"/>
                      </a:ext>
                    </a:extLst>
                  </p:cNvPr>
                  <p:cNvSpPr txBox="1"/>
                  <p:nvPr/>
                </p:nvSpPr>
                <p:spPr>
                  <a:xfrm>
                    <a:off x="2482630" y="3078844"/>
                    <a:ext cx="4591321" cy="31329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kumimoji="1" lang="en" altLang="zh-CN" sz="2000" dirty="0"/>
                              <m:t>(</m:t>
                            </m:r>
                            <m:sSup>
                              <m:sSupPr>
                                <m:ctrlPr>
                                  <a:rPr kumimoji="1" lang="e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0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kumimoji="1" lang="en-US" altLang="zh-CN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)</m:t>
                            </m:r>
                          </m:e>
                          <m: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kumimoji="1" lang="en-US" altLang="zh-CN" sz="2000" dirty="0"/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kumimoji="1" lang="en" altLang="zh-CN" sz="2000" dirty="0"/>
                              <m:t>(</m:t>
                            </m:r>
                            <m:sSup>
                              <m:sSupPr>
                                <m:ctrlPr>
                                  <a:rPr kumimoji="1" lang="e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0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kumimoji="1" lang="en-US" altLang="zh-CN" sz="20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)</m:t>
                            </m:r>
                          </m:e>
                          <m: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kumimoji="1" lang="en-US" altLang="zh-CN" sz="2000" i="1" dirty="0"/>
                      <a:t> </a:t>
                    </a:r>
                    <a:endParaRPr kumimoji="1" lang="zh-CN" altLang="en-US" sz="2000" i="1" dirty="0"/>
                  </a:p>
                </p:txBody>
              </p:sp>
            </mc:Choice>
            <mc:Fallback xmlns="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332BAE31-B2E4-8DA0-C8A3-86189C8930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630" y="3078844"/>
                    <a:ext cx="4591321" cy="31329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486" t="-7692" b="-3461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文本框 78">
                    <a:extLst>
                      <a:ext uri="{FF2B5EF4-FFF2-40B4-BE49-F238E27FC236}">
                        <a16:creationId xmlns:a16="http://schemas.microsoft.com/office/drawing/2014/main" id="{134AF741-567B-01B8-9C82-C9973640CB55}"/>
                      </a:ext>
                    </a:extLst>
                  </p:cNvPr>
                  <p:cNvSpPr txBox="1"/>
                  <p:nvPr/>
                </p:nvSpPr>
                <p:spPr>
                  <a:xfrm>
                    <a:off x="3311544" y="2650783"/>
                    <a:ext cx="2933495" cy="31329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kumimoji="1" lang="en-US" altLang="zh-CN" sz="2000" dirty="0"/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kumimoji="1" lang="en-US" altLang="zh-CN" sz="2000" i="1" dirty="0"/>
                      <a:t> </a:t>
                    </a:r>
                    <a:endParaRPr kumimoji="1" lang="zh-CN" altLang="en-US" sz="2000" i="1" dirty="0"/>
                  </a:p>
                </p:txBody>
              </p:sp>
            </mc:Choice>
            <mc:Fallback xmlns="">
              <p:sp>
                <p:nvSpPr>
                  <p:cNvPr id="79" name="文本框 78">
                    <a:extLst>
                      <a:ext uri="{FF2B5EF4-FFF2-40B4-BE49-F238E27FC236}">
                        <a16:creationId xmlns:a16="http://schemas.microsoft.com/office/drawing/2014/main" id="{134AF741-567B-01B8-9C82-C9973640CB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1544" y="2650783"/>
                    <a:ext cx="2933495" cy="31329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017" t="-3846" b="-3461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E78C8609-9B2A-6ECC-8212-613836929ACE}"/>
              </a:ext>
            </a:extLst>
          </p:cNvPr>
          <p:cNvSpPr txBox="1"/>
          <p:nvPr/>
        </p:nvSpPr>
        <p:spPr>
          <a:xfrm>
            <a:off x="2098328" y="6462582"/>
            <a:ext cx="5780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参考教材“第十一章，第三节”学习更多细节问题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34E5F4D-3ACE-188E-9616-068C326EB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</a:t>
            </a:fld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E153D5-720C-C639-9C2F-B5A95F4D1AD6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有限域与离散对数</a:t>
            </a:r>
            <a:r>
              <a:rPr lang="en-US" altLang="zh-CN" sz="3600" b="1" dirty="0">
                <a:solidFill>
                  <a:srgbClr val="2A50A1"/>
                </a:solidFill>
              </a:rPr>
              <a:t>/</a:t>
            </a:r>
            <a:r>
              <a:rPr lang="zh-CN" altLang="en-US" sz="3600" b="1" dirty="0">
                <a:solidFill>
                  <a:srgbClr val="2A50A1"/>
                </a:solidFill>
              </a:rPr>
              <a:t>指数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85B8E1B-77F0-087A-CF87-5552D7761287}"/>
              </a:ext>
            </a:extLst>
          </p:cNvPr>
          <p:cNvGrpSpPr/>
          <p:nvPr/>
        </p:nvGrpSpPr>
        <p:grpSpPr>
          <a:xfrm>
            <a:off x="5001337" y="97795"/>
            <a:ext cx="425713" cy="442041"/>
            <a:chOff x="5823870" y="1767426"/>
            <a:chExt cx="425713" cy="442041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0F5226E4-E689-7EEA-BAAD-368A937E4E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4A36B0F3-685B-7C48-8D58-C030C4A6C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2">
                <a:extLst>
                  <a:ext uri="{FF2B5EF4-FFF2-40B4-BE49-F238E27FC236}">
                    <a16:creationId xmlns:a16="http://schemas.microsoft.com/office/drawing/2014/main" id="{D4F26F3E-44E1-BB6D-1A39-6FC1A279FD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685FDFA6-D4DE-E678-0E9B-2F41A6D173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D50DE573-B58E-A03F-0A5F-D8843DE8C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B7E1E342-D6C8-6C1B-40FA-FBA4275F7E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464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6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7B865-66BA-16DB-1D52-9B80D8446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95C8360-85E0-80D3-6D7A-EF05B0D0760D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7ADF39-7C8E-7975-EA89-A40DC104E371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D2E2E7E1-B845-8661-6740-845515CA8143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DFA844F7-8EBD-94ED-5FB7-03ED510FCCCC}"/>
              </a:ext>
            </a:extLst>
          </p:cNvPr>
          <p:cNvSpPr txBox="1"/>
          <p:nvPr/>
        </p:nvSpPr>
        <p:spPr>
          <a:xfrm>
            <a:off x="1567652" y="1675454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2C70E79E-5889-CE32-BBA7-D8648B0DC143}"/>
              </a:ext>
            </a:extLst>
          </p:cNvPr>
          <p:cNvSpPr txBox="1"/>
          <p:nvPr/>
        </p:nvSpPr>
        <p:spPr>
          <a:xfrm>
            <a:off x="2973028" y="1675454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595C6451-5407-7BA5-FB8B-B5582BE79169}"/>
              </a:ext>
            </a:extLst>
          </p:cNvPr>
          <p:cNvSpPr txBox="1"/>
          <p:nvPr/>
        </p:nvSpPr>
        <p:spPr>
          <a:xfrm>
            <a:off x="7808547" y="1669833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F822E0A5-7E42-F683-9528-55249D91EF1C}"/>
              </a:ext>
            </a:extLst>
          </p:cNvPr>
          <p:cNvSpPr txBox="1"/>
          <p:nvPr/>
        </p:nvSpPr>
        <p:spPr>
          <a:xfrm>
            <a:off x="9213923" y="1669833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18AD27CB-BB0E-A176-9B38-52A3FAF5339D}"/>
              </a:ext>
            </a:extLst>
          </p:cNvPr>
          <p:cNvGrpSpPr/>
          <p:nvPr/>
        </p:nvGrpSpPr>
        <p:grpSpPr>
          <a:xfrm>
            <a:off x="1917232" y="2105993"/>
            <a:ext cx="698273" cy="677142"/>
            <a:chOff x="4327470" y="3372072"/>
            <a:chExt cx="698273" cy="677142"/>
          </a:xfrm>
        </p:grpSpPr>
        <p:sp>
          <p:nvSpPr>
            <p:cNvPr id="154" name="磁盘 153">
              <a:extLst>
                <a:ext uri="{FF2B5EF4-FFF2-40B4-BE49-F238E27FC236}">
                  <a16:creationId xmlns:a16="http://schemas.microsoft.com/office/drawing/2014/main" id="{75001BEB-C118-FBC1-580F-E9899C8FDD4B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5" name="磁盘 154">
              <a:extLst>
                <a:ext uri="{FF2B5EF4-FFF2-40B4-BE49-F238E27FC236}">
                  <a16:creationId xmlns:a16="http://schemas.microsoft.com/office/drawing/2014/main" id="{CED9EF17-9C13-473F-40C1-F0BC48881AAE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6" name="磁盘 155">
              <a:extLst>
                <a:ext uri="{FF2B5EF4-FFF2-40B4-BE49-F238E27FC236}">
                  <a16:creationId xmlns:a16="http://schemas.microsoft.com/office/drawing/2014/main" id="{3C91C376-667C-5A57-EEC0-B11759DE6073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DAF8600B-42A8-30B2-AB0A-9931769CD457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2F139714-59D1-EF7C-BABF-F6BE1F48515D}"/>
              </a:ext>
            </a:extLst>
          </p:cNvPr>
          <p:cNvGrpSpPr/>
          <p:nvPr/>
        </p:nvGrpSpPr>
        <p:grpSpPr>
          <a:xfrm>
            <a:off x="9572830" y="2101303"/>
            <a:ext cx="698273" cy="677142"/>
            <a:chOff x="4327470" y="3372072"/>
            <a:chExt cx="698273" cy="677142"/>
          </a:xfrm>
        </p:grpSpPr>
        <p:sp>
          <p:nvSpPr>
            <p:cNvPr id="212" name="磁盘 211">
              <a:extLst>
                <a:ext uri="{FF2B5EF4-FFF2-40B4-BE49-F238E27FC236}">
                  <a16:creationId xmlns:a16="http://schemas.microsoft.com/office/drawing/2014/main" id="{5D0196BF-CE49-61E0-0D9F-D40A63D7C558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42DAE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3" name="磁盘 212">
              <a:extLst>
                <a:ext uri="{FF2B5EF4-FFF2-40B4-BE49-F238E27FC236}">
                  <a16:creationId xmlns:a16="http://schemas.microsoft.com/office/drawing/2014/main" id="{B1BFF88E-DCCF-C681-748A-AB385F612944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4" name="磁盘 213">
              <a:extLst>
                <a:ext uri="{FF2B5EF4-FFF2-40B4-BE49-F238E27FC236}">
                  <a16:creationId xmlns:a16="http://schemas.microsoft.com/office/drawing/2014/main" id="{AC3B9165-AE82-4E38-0443-563C919D5D4E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E4FB7B4D-CF67-B2A2-8920-027E0B4FDB18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AEA10724-F8AF-52B2-0542-95387C951969}"/>
              </a:ext>
            </a:extLst>
          </p:cNvPr>
          <p:cNvCxnSpPr>
            <a:cxnSpLocks/>
            <a:stCxn id="154" idx="3"/>
            <a:endCxn id="226" idx="0"/>
          </p:cNvCxnSpPr>
          <p:nvPr/>
        </p:nvCxnSpPr>
        <p:spPr>
          <a:xfrm>
            <a:off x="2266371" y="2783135"/>
            <a:ext cx="1412129" cy="1874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箭头连接符 218">
            <a:extLst>
              <a:ext uri="{FF2B5EF4-FFF2-40B4-BE49-F238E27FC236}">
                <a16:creationId xmlns:a16="http://schemas.microsoft.com/office/drawing/2014/main" id="{59919D3B-710C-3C06-F848-09E0D7D76254}"/>
              </a:ext>
            </a:extLst>
          </p:cNvPr>
          <p:cNvCxnSpPr>
            <a:cxnSpLocks/>
            <a:stCxn id="171" idx="3"/>
            <a:endCxn id="226" idx="0"/>
          </p:cNvCxnSpPr>
          <p:nvPr/>
        </p:nvCxnSpPr>
        <p:spPr>
          <a:xfrm>
            <a:off x="3676343" y="2780957"/>
            <a:ext cx="2157" cy="1896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3CE24E93-71DC-ABA3-7697-1F6667011392}"/>
              </a:ext>
            </a:extLst>
          </p:cNvPr>
          <p:cNvGrpSpPr/>
          <p:nvPr/>
        </p:nvGrpSpPr>
        <p:grpSpPr>
          <a:xfrm>
            <a:off x="3332890" y="3391396"/>
            <a:ext cx="698273" cy="677142"/>
            <a:chOff x="4327470" y="3372072"/>
            <a:chExt cx="698273" cy="677142"/>
          </a:xfrm>
        </p:grpSpPr>
        <p:sp>
          <p:nvSpPr>
            <p:cNvPr id="159" name="磁盘 158">
              <a:extLst>
                <a:ext uri="{FF2B5EF4-FFF2-40B4-BE49-F238E27FC236}">
                  <a16:creationId xmlns:a16="http://schemas.microsoft.com/office/drawing/2014/main" id="{6C7D0D33-E80F-5992-3250-178AFF7E1848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0" name="磁盘 159">
              <a:extLst>
                <a:ext uri="{FF2B5EF4-FFF2-40B4-BE49-F238E27FC236}">
                  <a16:creationId xmlns:a16="http://schemas.microsoft.com/office/drawing/2014/main" id="{DA7B6B66-808C-F265-F32E-3CB7B0BD2DA7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1" name="磁盘 160">
              <a:extLst>
                <a:ext uri="{FF2B5EF4-FFF2-40B4-BE49-F238E27FC236}">
                  <a16:creationId xmlns:a16="http://schemas.microsoft.com/office/drawing/2014/main" id="{252CA923-62FA-04F7-1793-17D65226F24D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D85AFBB8-35C1-0A1B-9226-F32CFDD89D3B}"/>
                </a:ext>
              </a:extLst>
            </p:cNvPr>
            <p:cNvSpPr/>
            <p:nvPr/>
          </p:nvSpPr>
          <p:spPr>
            <a:xfrm>
              <a:off x="4349903" y="3728896"/>
              <a:ext cx="653401" cy="166599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EDA4330A-197D-F27B-09F9-36B24ED83B7C}"/>
              </a:ext>
            </a:extLst>
          </p:cNvPr>
          <p:cNvGrpSpPr/>
          <p:nvPr/>
        </p:nvGrpSpPr>
        <p:grpSpPr>
          <a:xfrm>
            <a:off x="3327204" y="2103814"/>
            <a:ext cx="698273" cy="677142"/>
            <a:chOff x="4327470" y="3372072"/>
            <a:chExt cx="698273" cy="677142"/>
          </a:xfrm>
        </p:grpSpPr>
        <p:sp>
          <p:nvSpPr>
            <p:cNvPr id="171" name="磁盘 170">
              <a:extLst>
                <a:ext uri="{FF2B5EF4-FFF2-40B4-BE49-F238E27FC236}">
                  <a16:creationId xmlns:a16="http://schemas.microsoft.com/office/drawing/2014/main" id="{F84AC637-CBEE-19A5-D23A-72F19B68C09C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2" name="磁盘 171">
              <a:extLst>
                <a:ext uri="{FF2B5EF4-FFF2-40B4-BE49-F238E27FC236}">
                  <a16:creationId xmlns:a16="http://schemas.microsoft.com/office/drawing/2014/main" id="{03203CC3-F710-5E8C-B9E8-34F8134D3A74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3" name="磁盘 172">
              <a:extLst>
                <a:ext uri="{FF2B5EF4-FFF2-40B4-BE49-F238E27FC236}">
                  <a16:creationId xmlns:a16="http://schemas.microsoft.com/office/drawing/2014/main" id="{3D863E8B-676F-AB54-977C-F17CC2B02659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E2BEA280-1E70-BA58-1DEF-4476DED2B734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rgbClr val="F4CED0"/>
            </a:solidFill>
            <a:ln w="35560">
              <a:solidFill>
                <a:srgbClr val="F4CE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C88768DC-9C26-D96A-E077-4CC9E7708CC6}"/>
              </a:ext>
            </a:extLst>
          </p:cNvPr>
          <p:cNvGrpSpPr/>
          <p:nvPr/>
        </p:nvGrpSpPr>
        <p:grpSpPr>
          <a:xfrm>
            <a:off x="3325819" y="4336114"/>
            <a:ext cx="698273" cy="677142"/>
            <a:chOff x="4327470" y="3372072"/>
            <a:chExt cx="698273" cy="677142"/>
          </a:xfrm>
        </p:grpSpPr>
        <p:sp>
          <p:nvSpPr>
            <p:cNvPr id="176" name="磁盘 175">
              <a:extLst>
                <a:ext uri="{FF2B5EF4-FFF2-40B4-BE49-F238E27FC236}">
                  <a16:creationId xmlns:a16="http://schemas.microsoft.com/office/drawing/2014/main" id="{014E7996-19BF-F709-2CFD-40F0332C7F3D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7" name="磁盘 176">
              <a:extLst>
                <a:ext uri="{FF2B5EF4-FFF2-40B4-BE49-F238E27FC236}">
                  <a16:creationId xmlns:a16="http://schemas.microsoft.com/office/drawing/2014/main" id="{5806AA4E-6A66-8E17-060C-F8F28B87FD2A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8" name="磁盘 177">
              <a:extLst>
                <a:ext uri="{FF2B5EF4-FFF2-40B4-BE49-F238E27FC236}">
                  <a16:creationId xmlns:a16="http://schemas.microsoft.com/office/drawing/2014/main" id="{70692D8D-E214-7061-7999-092E34C60EFB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5C1ED8F6-2D1B-4C32-C96E-CC72A70425E8}"/>
                </a:ext>
              </a:extLst>
            </p:cNvPr>
            <p:cNvSpPr/>
            <p:nvPr/>
          </p:nvSpPr>
          <p:spPr>
            <a:xfrm>
              <a:off x="4349903" y="3728896"/>
              <a:ext cx="653401" cy="16659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22D8EAF2-4E7C-B258-A017-B0C91D1B13AF}"/>
              </a:ext>
            </a:extLst>
          </p:cNvPr>
          <p:cNvGrpSpPr/>
          <p:nvPr/>
        </p:nvGrpSpPr>
        <p:grpSpPr>
          <a:xfrm>
            <a:off x="1915911" y="5616871"/>
            <a:ext cx="698273" cy="677142"/>
            <a:chOff x="3858537" y="4611731"/>
            <a:chExt cx="698273" cy="677142"/>
          </a:xfrm>
          <a:solidFill>
            <a:schemeClr val="accent4">
              <a:lumMod val="50000"/>
            </a:schemeClr>
          </a:solidFill>
        </p:grpSpPr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A81EE4E3-E6C2-6C6D-4147-989A8B269060}"/>
                </a:ext>
              </a:extLst>
            </p:cNvPr>
            <p:cNvGrpSpPr/>
            <p:nvPr/>
          </p:nvGrpSpPr>
          <p:grpSpPr>
            <a:xfrm>
              <a:off x="3858537" y="4611731"/>
              <a:ext cx="698273" cy="677142"/>
              <a:chOff x="4327470" y="3372072"/>
              <a:chExt cx="698273" cy="677142"/>
            </a:xfrm>
            <a:grpFill/>
          </p:grpSpPr>
          <p:sp>
            <p:nvSpPr>
              <p:cNvPr id="183" name="磁盘 182">
                <a:extLst>
                  <a:ext uri="{FF2B5EF4-FFF2-40B4-BE49-F238E27FC236}">
                    <a16:creationId xmlns:a16="http://schemas.microsoft.com/office/drawing/2014/main" id="{8B846E4A-2CD4-640A-3033-1196A5588744}"/>
                  </a:ext>
                </a:extLst>
              </p:cNvPr>
              <p:cNvSpPr/>
              <p:nvPr/>
            </p:nvSpPr>
            <p:spPr>
              <a:xfrm>
                <a:off x="4327474" y="3758268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4" name="磁盘 183">
                <a:extLst>
                  <a:ext uri="{FF2B5EF4-FFF2-40B4-BE49-F238E27FC236}">
                    <a16:creationId xmlns:a16="http://schemas.microsoft.com/office/drawing/2014/main" id="{220B631A-D175-566D-0B7A-52ED715D615B}"/>
                  </a:ext>
                </a:extLst>
              </p:cNvPr>
              <p:cNvSpPr/>
              <p:nvPr/>
            </p:nvSpPr>
            <p:spPr>
              <a:xfrm>
                <a:off x="4327472" y="3564593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5" name="磁盘 184">
                <a:extLst>
                  <a:ext uri="{FF2B5EF4-FFF2-40B4-BE49-F238E27FC236}">
                    <a16:creationId xmlns:a16="http://schemas.microsoft.com/office/drawing/2014/main" id="{5CD9C702-6C6D-6922-7AB2-488B35F12DEC}"/>
                  </a:ext>
                </a:extLst>
              </p:cNvPr>
              <p:cNvSpPr/>
              <p:nvPr/>
            </p:nvSpPr>
            <p:spPr>
              <a:xfrm>
                <a:off x="4327470" y="3372072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6" name="矩形 185">
                <a:extLst>
                  <a:ext uri="{FF2B5EF4-FFF2-40B4-BE49-F238E27FC236}">
                    <a16:creationId xmlns:a16="http://schemas.microsoft.com/office/drawing/2014/main" id="{7F4929A2-F8F3-C069-BDC0-170F35BEDA53}"/>
                  </a:ext>
                </a:extLst>
              </p:cNvPr>
              <p:cNvSpPr/>
              <p:nvPr/>
            </p:nvSpPr>
            <p:spPr>
              <a:xfrm>
                <a:off x="4349903" y="3530673"/>
                <a:ext cx="653401" cy="166599"/>
              </a:xfrm>
              <a:prstGeom prst="rect">
                <a:avLst/>
              </a:prstGeom>
              <a:grpFill/>
              <a:ln w="3810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3A3A8DD3-CFE0-B9DA-5E4A-1F41A28CAA1C}"/>
                </a:ext>
              </a:extLst>
            </p:cNvPr>
            <p:cNvSpPr/>
            <p:nvPr/>
          </p:nvSpPr>
          <p:spPr>
            <a:xfrm>
              <a:off x="3880970" y="4953393"/>
              <a:ext cx="653401" cy="166599"/>
            </a:xfrm>
            <a:prstGeom prst="rect">
              <a:avLst/>
            </a:prstGeom>
            <a:grpFill/>
            <a:ln w="381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6" name="文本框 225">
            <a:extLst>
              <a:ext uri="{FF2B5EF4-FFF2-40B4-BE49-F238E27FC236}">
                <a16:creationId xmlns:a16="http://schemas.microsoft.com/office/drawing/2014/main" id="{799952C2-9AF8-2418-762E-7B011149ECB6}"/>
              </a:ext>
            </a:extLst>
          </p:cNvPr>
          <p:cNvSpPr txBox="1"/>
          <p:nvPr/>
        </p:nvSpPr>
        <p:spPr>
          <a:xfrm>
            <a:off x="3446753" y="2970568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混合</a:t>
            </a: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BB9D4383-FF7D-3BA4-8468-BF547AD9ABF1}"/>
              </a:ext>
            </a:extLst>
          </p:cNvPr>
          <p:cNvSpPr txBox="1"/>
          <p:nvPr/>
        </p:nvSpPr>
        <p:spPr>
          <a:xfrm>
            <a:off x="2033297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混合</a:t>
            </a:r>
          </a:p>
        </p:txBody>
      </p: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35CE2C38-0574-D33B-56A6-6AAFDEE8937B}"/>
              </a:ext>
            </a:extLst>
          </p:cNvPr>
          <p:cNvGrpSpPr/>
          <p:nvPr/>
        </p:nvGrpSpPr>
        <p:grpSpPr>
          <a:xfrm>
            <a:off x="8211547" y="3391396"/>
            <a:ext cx="698273" cy="677142"/>
            <a:chOff x="4327470" y="3372072"/>
            <a:chExt cx="698273" cy="677142"/>
          </a:xfrm>
        </p:grpSpPr>
        <p:sp>
          <p:nvSpPr>
            <p:cNvPr id="258" name="磁盘 257">
              <a:extLst>
                <a:ext uri="{FF2B5EF4-FFF2-40B4-BE49-F238E27FC236}">
                  <a16:creationId xmlns:a16="http://schemas.microsoft.com/office/drawing/2014/main" id="{267138C1-363A-F5F2-A6C4-B0686C3CF3E2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9" name="磁盘 258">
              <a:extLst>
                <a:ext uri="{FF2B5EF4-FFF2-40B4-BE49-F238E27FC236}">
                  <a16:creationId xmlns:a16="http://schemas.microsoft.com/office/drawing/2014/main" id="{3240A081-2BBF-A25C-F876-7AC48B002E11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0" name="磁盘 259">
              <a:extLst>
                <a:ext uri="{FF2B5EF4-FFF2-40B4-BE49-F238E27FC236}">
                  <a16:creationId xmlns:a16="http://schemas.microsoft.com/office/drawing/2014/main" id="{7E6F5CE3-3C59-B49D-9C16-09019AC61110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4DD60615-E7F1-864C-7532-1C81FB1F6335}"/>
                </a:ext>
              </a:extLst>
            </p:cNvPr>
            <p:cNvSpPr/>
            <p:nvPr/>
          </p:nvSpPr>
          <p:spPr>
            <a:xfrm>
              <a:off x="4349903" y="3728896"/>
              <a:ext cx="653401" cy="16659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6015D974-336A-5356-460A-0852E824778F}"/>
              </a:ext>
            </a:extLst>
          </p:cNvPr>
          <p:cNvGrpSpPr/>
          <p:nvPr/>
        </p:nvGrpSpPr>
        <p:grpSpPr>
          <a:xfrm>
            <a:off x="8208045" y="2105993"/>
            <a:ext cx="698273" cy="677142"/>
            <a:chOff x="4327470" y="3372072"/>
            <a:chExt cx="698273" cy="677142"/>
          </a:xfrm>
        </p:grpSpPr>
        <p:sp>
          <p:nvSpPr>
            <p:cNvPr id="254" name="磁盘 253">
              <a:extLst>
                <a:ext uri="{FF2B5EF4-FFF2-40B4-BE49-F238E27FC236}">
                  <a16:creationId xmlns:a16="http://schemas.microsoft.com/office/drawing/2014/main" id="{06337B01-CEF0-D37A-DB5F-EE61E33B33DA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5" name="磁盘 254">
              <a:extLst>
                <a:ext uri="{FF2B5EF4-FFF2-40B4-BE49-F238E27FC236}">
                  <a16:creationId xmlns:a16="http://schemas.microsoft.com/office/drawing/2014/main" id="{DDCD54B4-8062-07B6-C62E-0F67A6398765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6" name="磁盘 255">
              <a:extLst>
                <a:ext uri="{FF2B5EF4-FFF2-40B4-BE49-F238E27FC236}">
                  <a16:creationId xmlns:a16="http://schemas.microsoft.com/office/drawing/2014/main" id="{9F8D7513-1992-2701-F15C-B65A02AFA7B2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53C8DCE0-7323-662E-692E-12B53301A3E2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rgbClr val="F4CED0"/>
            </a:solidFill>
            <a:ln w="38100">
              <a:solidFill>
                <a:srgbClr val="F4CE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3CEEDD45-5FE9-7EAF-4D97-BEE017019A07}"/>
              </a:ext>
            </a:extLst>
          </p:cNvPr>
          <p:cNvGrpSpPr/>
          <p:nvPr/>
        </p:nvGrpSpPr>
        <p:grpSpPr>
          <a:xfrm>
            <a:off x="8200820" y="4336114"/>
            <a:ext cx="698273" cy="677142"/>
            <a:chOff x="4327470" y="3372072"/>
            <a:chExt cx="698273" cy="677142"/>
          </a:xfrm>
        </p:grpSpPr>
        <p:sp>
          <p:nvSpPr>
            <p:cNvPr id="250" name="磁盘 249">
              <a:extLst>
                <a:ext uri="{FF2B5EF4-FFF2-40B4-BE49-F238E27FC236}">
                  <a16:creationId xmlns:a16="http://schemas.microsoft.com/office/drawing/2014/main" id="{3D7F4885-DFA2-8AF7-572F-D0AF1415BCAB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1" name="磁盘 250">
              <a:extLst>
                <a:ext uri="{FF2B5EF4-FFF2-40B4-BE49-F238E27FC236}">
                  <a16:creationId xmlns:a16="http://schemas.microsoft.com/office/drawing/2014/main" id="{DA98853A-13E1-965A-0DE9-1229F8F31298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2" name="磁盘 251">
              <a:extLst>
                <a:ext uri="{FF2B5EF4-FFF2-40B4-BE49-F238E27FC236}">
                  <a16:creationId xmlns:a16="http://schemas.microsoft.com/office/drawing/2014/main" id="{60DAA022-5878-CAB3-EAAE-389C3BCD4082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C75A64B1-6BF7-5511-BE6D-CCA1223CB47C}"/>
                </a:ext>
              </a:extLst>
            </p:cNvPr>
            <p:cNvSpPr/>
            <p:nvPr/>
          </p:nvSpPr>
          <p:spPr>
            <a:xfrm>
              <a:off x="4349903" y="3728896"/>
              <a:ext cx="653401" cy="166599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7399A1E1-8C43-73D4-1690-73E10A85D908}"/>
              </a:ext>
            </a:extLst>
          </p:cNvPr>
          <p:cNvGrpSpPr/>
          <p:nvPr/>
        </p:nvGrpSpPr>
        <p:grpSpPr>
          <a:xfrm>
            <a:off x="9575602" y="5616871"/>
            <a:ext cx="698273" cy="677142"/>
            <a:chOff x="3858537" y="4611731"/>
            <a:chExt cx="698273" cy="677142"/>
          </a:xfrm>
          <a:solidFill>
            <a:schemeClr val="accent4">
              <a:lumMod val="50000"/>
            </a:schemeClr>
          </a:solidFill>
        </p:grpSpPr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7BCA9AF9-D269-C9FC-9424-E4BD97CA680F}"/>
                </a:ext>
              </a:extLst>
            </p:cNvPr>
            <p:cNvGrpSpPr/>
            <p:nvPr/>
          </p:nvGrpSpPr>
          <p:grpSpPr>
            <a:xfrm>
              <a:off x="3858537" y="4611731"/>
              <a:ext cx="698273" cy="677142"/>
              <a:chOff x="4327470" y="3372072"/>
              <a:chExt cx="698273" cy="677142"/>
            </a:xfrm>
            <a:grpFill/>
          </p:grpSpPr>
          <p:sp>
            <p:nvSpPr>
              <p:cNvPr id="246" name="磁盘 245">
                <a:extLst>
                  <a:ext uri="{FF2B5EF4-FFF2-40B4-BE49-F238E27FC236}">
                    <a16:creationId xmlns:a16="http://schemas.microsoft.com/office/drawing/2014/main" id="{FF7B77B6-CDD3-CCB4-2B21-6C1B7F677FB5}"/>
                  </a:ext>
                </a:extLst>
              </p:cNvPr>
              <p:cNvSpPr/>
              <p:nvPr/>
            </p:nvSpPr>
            <p:spPr>
              <a:xfrm>
                <a:off x="4327474" y="3758268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7" name="磁盘 246">
                <a:extLst>
                  <a:ext uri="{FF2B5EF4-FFF2-40B4-BE49-F238E27FC236}">
                    <a16:creationId xmlns:a16="http://schemas.microsoft.com/office/drawing/2014/main" id="{2FC4E7EF-DBCC-F9E2-1819-6F2DB6E0FE86}"/>
                  </a:ext>
                </a:extLst>
              </p:cNvPr>
              <p:cNvSpPr/>
              <p:nvPr/>
            </p:nvSpPr>
            <p:spPr>
              <a:xfrm>
                <a:off x="4327472" y="3564593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8" name="磁盘 247">
                <a:extLst>
                  <a:ext uri="{FF2B5EF4-FFF2-40B4-BE49-F238E27FC236}">
                    <a16:creationId xmlns:a16="http://schemas.microsoft.com/office/drawing/2014/main" id="{FFEDBB52-1D9B-F4A5-1230-1750D5AD5822}"/>
                  </a:ext>
                </a:extLst>
              </p:cNvPr>
              <p:cNvSpPr/>
              <p:nvPr/>
            </p:nvSpPr>
            <p:spPr>
              <a:xfrm>
                <a:off x="4327470" y="3372072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9" name="矩形 248">
                <a:extLst>
                  <a:ext uri="{FF2B5EF4-FFF2-40B4-BE49-F238E27FC236}">
                    <a16:creationId xmlns:a16="http://schemas.microsoft.com/office/drawing/2014/main" id="{EABD627D-8F8B-E4AC-1B4A-86067F78C8E0}"/>
                  </a:ext>
                </a:extLst>
              </p:cNvPr>
              <p:cNvSpPr/>
              <p:nvPr/>
            </p:nvSpPr>
            <p:spPr>
              <a:xfrm>
                <a:off x="4349903" y="3530673"/>
                <a:ext cx="653401" cy="166599"/>
              </a:xfrm>
              <a:prstGeom prst="rect">
                <a:avLst/>
              </a:prstGeom>
              <a:grpFill/>
              <a:ln w="3810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C7481F83-3395-006F-C9FA-1135D48F13AD}"/>
                </a:ext>
              </a:extLst>
            </p:cNvPr>
            <p:cNvSpPr/>
            <p:nvPr/>
          </p:nvSpPr>
          <p:spPr>
            <a:xfrm>
              <a:off x="3880970" y="4953393"/>
              <a:ext cx="653401" cy="166599"/>
            </a:xfrm>
            <a:prstGeom prst="rect">
              <a:avLst/>
            </a:prstGeom>
            <a:grpFill/>
            <a:ln w="381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2" name="文本框 241">
            <a:extLst>
              <a:ext uri="{FF2B5EF4-FFF2-40B4-BE49-F238E27FC236}">
                <a16:creationId xmlns:a16="http://schemas.microsoft.com/office/drawing/2014/main" id="{6E5C8A48-B05A-71CB-B0D9-B4FE7FC5CE2A}"/>
              </a:ext>
            </a:extLst>
          </p:cNvPr>
          <p:cNvSpPr txBox="1"/>
          <p:nvPr/>
        </p:nvSpPr>
        <p:spPr>
          <a:xfrm>
            <a:off x="8325410" y="2966479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混合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3C8A1C64-1063-857D-ABAE-6B44BEADBC31}"/>
              </a:ext>
            </a:extLst>
          </p:cNvPr>
          <p:cNvSpPr txBox="1"/>
          <p:nvPr/>
        </p:nvSpPr>
        <p:spPr>
          <a:xfrm>
            <a:off x="9692988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混合</a:t>
            </a:r>
          </a:p>
        </p:txBody>
      </p: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1D4AE9BE-0E20-A3DB-E9A9-ECACB387B9C4}"/>
              </a:ext>
            </a:extLst>
          </p:cNvPr>
          <p:cNvGrpSpPr/>
          <p:nvPr/>
        </p:nvGrpSpPr>
        <p:grpSpPr>
          <a:xfrm>
            <a:off x="1914489" y="4324890"/>
            <a:ext cx="698273" cy="677142"/>
            <a:chOff x="4327470" y="3372072"/>
            <a:chExt cx="698273" cy="677142"/>
          </a:xfrm>
        </p:grpSpPr>
        <p:sp>
          <p:nvSpPr>
            <p:cNvPr id="280" name="磁盘 279">
              <a:extLst>
                <a:ext uri="{FF2B5EF4-FFF2-40B4-BE49-F238E27FC236}">
                  <a16:creationId xmlns:a16="http://schemas.microsoft.com/office/drawing/2014/main" id="{311D1EAC-C2FE-70A9-87EB-3C002DF81DDB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1" name="磁盘 280">
              <a:extLst>
                <a:ext uri="{FF2B5EF4-FFF2-40B4-BE49-F238E27FC236}">
                  <a16:creationId xmlns:a16="http://schemas.microsoft.com/office/drawing/2014/main" id="{18745C48-67BA-C866-BFBD-AD6A2EDEB659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2" name="磁盘 281">
              <a:extLst>
                <a:ext uri="{FF2B5EF4-FFF2-40B4-BE49-F238E27FC236}">
                  <a16:creationId xmlns:a16="http://schemas.microsoft.com/office/drawing/2014/main" id="{06CD5C3D-1008-4E36-619C-CC5332EEBFC7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E30E118A-1A8D-0D6E-5A7B-5F6DC1435C1E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B3FFF92A-9D8B-36B3-7D1F-513BC6423DEA}"/>
              </a:ext>
            </a:extLst>
          </p:cNvPr>
          <p:cNvGrpSpPr/>
          <p:nvPr/>
        </p:nvGrpSpPr>
        <p:grpSpPr>
          <a:xfrm>
            <a:off x="9572830" y="4336114"/>
            <a:ext cx="698273" cy="677142"/>
            <a:chOff x="4327470" y="3372072"/>
            <a:chExt cx="698273" cy="677142"/>
          </a:xfrm>
        </p:grpSpPr>
        <p:sp>
          <p:nvSpPr>
            <p:cNvPr id="285" name="磁盘 284">
              <a:extLst>
                <a:ext uri="{FF2B5EF4-FFF2-40B4-BE49-F238E27FC236}">
                  <a16:creationId xmlns:a16="http://schemas.microsoft.com/office/drawing/2014/main" id="{8B06ED14-86F0-A415-94C6-2886479EFD01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42DAE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6" name="磁盘 285">
              <a:extLst>
                <a:ext uri="{FF2B5EF4-FFF2-40B4-BE49-F238E27FC236}">
                  <a16:creationId xmlns:a16="http://schemas.microsoft.com/office/drawing/2014/main" id="{D2C928F4-A21D-F33C-7E8D-BC9C2625825E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7" name="磁盘 286">
              <a:extLst>
                <a:ext uri="{FF2B5EF4-FFF2-40B4-BE49-F238E27FC236}">
                  <a16:creationId xmlns:a16="http://schemas.microsoft.com/office/drawing/2014/main" id="{69765B7E-C623-8AB4-6ADD-4F87058F7692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8" name="矩形 287">
              <a:extLst>
                <a:ext uri="{FF2B5EF4-FFF2-40B4-BE49-F238E27FC236}">
                  <a16:creationId xmlns:a16="http://schemas.microsoft.com/office/drawing/2014/main" id="{C7448551-DEF3-6DD8-2272-5C825C80419C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89" name="直线箭头连接符 288">
            <a:extLst>
              <a:ext uri="{FF2B5EF4-FFF2-40B4-BE49-F238E27FC236}">
                <a16:creationId xmlns:a16="http://schemas.microsoft.com/office/drawing/2014/main" id="{FD3FDA12-7E8A-E6CD-921B-40B0FCF3262C}"/>
              </a:ext>
            </a:extLst>
          </p:cNvPr>
          <p:cNvCxnSpPr>
            <a:cxnSpLocks/>
            <a:stCxn id="280" idx="3"/>
            <a:endCxn id="235" idx="0"/>
          </p:cNvCxnSpPr>
          <p:nvPr/>
        </p:nvCxnSpPr>
        <p:spPr>
          <a:xfrm>
            <a:off x="2263627" y="5002033"/>
            <a:ext cx="1416" cy="18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BC1D67FB-F496-BBCE-5474-1301E1A02AA2}"/>
              </a:ext>
            </a:extLst>
          </p:cNvPr>
          <p:cNvCxnSpPr>
            <a:cxnSpLocks/>
            <a:stCxn id="176" idx="3"/>
            <a:endCxn id="235" idx="0"/>
          </p:cNvCxnSpPr>
          <p:nvPr/>
        </p:nvCxnSpPr>
        <p:spPr>
          <a:xfrm flipH="1">
            <a:off x="2265043" y="5013257"/>
            <a:ext cx="1409914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线箭头连接符 296">
            <a:extLst>
              <a:ext uri="{FF2B5EF4-FFF2-40B4-BE49-F238E27FC236}">
                <a16:creationId xmlns:a16="http://schemas.microsoft.com/office/drawing/2014/main" id="{39D951E7-E792-2C9F-93AD-79A192052183}"/>
              </a:ext>
            </a:extLst>
          </p:cNvPr>
          <p:cNvCxnSpPr>
            <a:cxnSpLocks/>
            <a:stCxn id="226" idx="2"/>
            <a:endCxn id="161" idx="1"/>
          </p:cNvCxnSpPr>
          <p:nvPr/>
        </p:nvCxnSpPr>
        <p:spPr>
          <a:xfrm>
            <a:off x="3678500" y="3216788"/>
            <a:ext cx="3525" cy="1746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线箭头连接符 299">
            <a:extLst>
              <a:ext uri="{FF2B5EF4-FFF2-40B4-BE49-F238E27FC236}">
                <a16:creationId xmlns:a16="http://schemas.microsoft.com/office/drawing/2014/main" id="{978CF760-E6B1-867E-CC27-46774935628D}"/>
              </a:ext>
            </a:extLst>
          </p:cNvPr>
          <p:cNvCxnSpPr>
            <a:cxnSpLocks/>
            <a:stCxn id="235" idx="2"/>
            <a:endCxn id="185" idx="1"/>
          </p:cNvCxnSpPr>
          <p:nvPr/>
        </p:nvCxnSpPr>
        <p:spPr>
          <a:xfrm>
            <a:off x="2265043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线箭头连接符 302">
            <a:extLst>
              <a:ext uri="{FF2B5EF4-FFF2-40B4-BE49-F238E27FC236}">
                <a16:creationId xmlns:a16="http://schemas.microsoft.com/office/drawing/2014/main" id="{D5A46B91-4260-79AE-AF7F-60EAF879DFDA}"/>
              </a:ext>
            </a:extLst>
          </p:cNvPr>
          <p:cNvCxnSpPr>
            <a:cxnSpLocks/>
            <a:stCxn id="212" idx="3"/>
            <a:endCxn id="242" idx="0"/>
          </p:cNvCxnSpPr>
          <p:nvPr/>
        </p:nvCxnSpPr>
        <p:spPr>
          <a:xfrm flipH="1">
            <a:off x="8557156" y="2778446"/>
            <a:ext cx="1364812" cy="1880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线箭头连接符 305">
            <a:extLst>
              <a:ext uri="{FF2B5EF4-FFF2-40B4-BE49-F238E27FC236}">
                <a16:creationId xmlns:a16="http://schemas.microsoft.com/office/drawing/2014/main" id="{BC98A50F-E243-B83D-4A3C-D36B5CD91BDE}"/>
              </a:ext>
            </a:extLst>
          </p:cNvPr>
          <p:cNvCxnSpPr>
            <a:cxnSpLocks/>
            <a:stCxn id="254" idx="3"/>
            <a:endCxn id="242" idx="0"/>
          </p:cNvCxnSpPr>
          <p:nvPr/>
        </p:nvCxnSpPr>
        <p:spPr>
          <a:xfrm flipH="1">
            <a:off x="8557157" y="2783136"/>
            <a:ext cx="27" cy="1833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线箭头连接符 308">
            <a:extLst>
              <a:ext uri="{FF2B5EF4-FFF2-40B4-BE49-F238E27FC236}">
                <a16:creationId xmlns:a16="http://schemas.microsoft.com/office/drawing/2014/main" id="{837B86ED-3055-66E1-9191-D95ECCD27290}"/>
              </a:ext>
            </a:extLst>
          </p:cNvPr>
          <p:cNvCxnSpPr>
            <a:cxnSpLocks/>
            <a:stCxn id="242" idx="2"/>
            <a:endCxn id="260" idx="1"/>
          </p:cNvCxnSpPr>
          <p:nvPr/>
        </p:nvCxnSpPr>
        <p:spPr>
          <a:xfrm>
            <a:off x="8557157" y="3212700"/>
            <a:ext cx="3525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线箭头连接符 311">
            <a:extLst>
              <a:ext uri="{FF2B5EF4-FFF2-40B4-BE49-F238E27FC236}">
                <a16:creationId xmlns:a16="http://schemas.microsoft.com/office/drawing/2014/main" id="{8A4B1B80-5FE9-137C-D0D7-3AD7BD10AA01}"/>
              </a:ext>
            </a:extLst>
          </p:cNvPr>
          <p:cNvCxnSpPr>
            <a:cxnSpLocks/>
            <a:stCxn id="285" idx="3"/>
            <a:endCxn id="243" idx="0"/>
          </p:cNvCxnSpPr>
          <p:nvPr/>
        </p:nvCxnSpPr>
        <p:spPr>
          <a:xfrm>
            <a:off x="9921968" y="5013257"/>
            <a:ext cx="276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线箭头连接符 314">
            <a:extLst>
              <a:ext uri="{FF2B5EF4-FFF2-40B4-BE49-F238E27FC236}">
                <a16:creationId xmlns:a16="http://schemas.microsoft.com/office/drawing/2014/main" id="{B0452E47-0C26-EA32-883E-58CA64383957}"/>
              </a:ext>
            </a:extLst>
          </p:cNvPr>
          <p:cNvCxnSpPr>
            <a:cxnSpLocks/>
            <a:stCxn id="250" idx="3"/>
            <a:endCxn id="243" idx="0"/>
          </p:cNvCxnSpPr>
          <p:nvPr/>
        </p:nvCxnSpPr>
        <p:spPr>
          <a:xfrm>
            <a:off x="8549958" y="5013257"/>
            <a:ext cx="137477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EE4FCB8B-068C-99CB-B7B7-11AA15723D5E}"/>
              </a:ext>
            </a:extLst>
          </p:cNvPr>
          <p:cNvCxnSpPr>
            <a:cxnSpLocks/>
            <a:stCxn id="243" idx="2"/>
            <a:endCxn id="248" idx="1"/>
          </p:cNvCxnSpPr>
          <p:nvPr/>
        </p:nvCxnSpPr>
        <p:spPr>
          <a:xfrm>
            <a:off x="9924734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29D0409B-6061-EBEF-5769-98DDA7343B5E}"/>
              </a:ext>
            </a:extLst>
          </p:cNvPr>
          <p:cNvSpPr txBox="1"/>
          <p:nvPr/>
        </p:nvSpPr>
        <p:spPr>
          <a:xfrm>
            <a:off x="1508638" y="225463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76D85564-3142-359A-2AE3-27EB7D1F2E2D}"/>
              </a:ext>
            </a:extLst>
          </p:cNvPr>
          <p:cNvSpPr txBox="1"/>
          <p:nvPr/>
        </p:nvSpPr>
        <p:spPr>
          <a:xfrm>
            <a:off x="1508637" y="345071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80699D93-47E6-47B7-BADC-617B94D3500D}"/>
              </a:ext>
            </a:extLst>
          </p:cNvPr>
          <p:cNvSpPr txBox="1"/>
          <p:nvPr/>
        </p:nvSpPr>
        <p:spPr>
          <a:xfrm>
            <a:off x="1508637" y="451741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E2014EBE-F13A-60C5-52E9-84D66CFA7042}"/>
              </a:ext>
            </a:extLst>
          </p:cNvPr>
          <p:cNvSpPr txBox="1"/>
          <p:nvPr/>
        </p:nvSpPr>
        <p:spPr>
          <a:xfrm>
            <a:off x="10248356" y="223567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B543DE72-377C-628A-A111-2521FF869323}"/>
              </a:ext>
            </a:extLst>
          </p:cNvPr>
          <p:cNvSpPr txBox="1"/>
          <p:nvPr/>
        </p:nvSpPr>
        <p:spPr>
          <a:xfrm>
            <a:off x="10248355" y="343175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7FB9EA65-BDAD-B1AB-5A1D-A3AF45D1F919}"/>
              </a:ext>
            </a:extLst>
          </p:cNvPr>
          <p:cNvSpPr txBox="1"/>
          <p:nvPr/>
        </p:nvSpPr>
        <p:spPr>
          <a:xfrm>
            <a:off x="10248355" y="449845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9" name="右箭头 338">
            <a:extLst>
              <a:ext uri="{FF2B5EF4-FFF2-40B4-BE49-F238E27FC236}">
                <a16:creationId xmlns:a16="http://schemas.microsoft.com/office/drawing/2014/main" id="{BB51A1D6-B96A-F370-9F40-0269AF545E80}"/>
              </a:ext>
            </a:extLst>
          </p:cNvPr>
          <p:cNvSpPr/>
          <p:nvPr/>
        </p:nvSpPr>
        <p:spPr>
          <a:xfrm>
            <a:off x="4031160" y="2410307"/>
            <a:ext cx="4169652" cy="152973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1" name="右箭头 340">
            <a:extLst>
              <a:ext uri="{FF2B5EF4-FFF2-40B4-BE49-F238E27FC236}">
                <a16:creationId xmlns:a16="http://schemas.microsoft.com/office/drawing/2014/main" id="{49E0FDF5-43A9-587B-29DB-3B66112821F8}"/>
              </a:ext>
            </a:extLst>
          </p:cNvPr>
          <p:cNvSpPr/>
          <p:nvPr/>
        </p:nvSpPr>
        <p:spPr>
          <a:xfrm rot="10079758">
            <a:off x="3992528" y="4251057"/>
            <a:ext cx="4246916" cy="15297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0" name="右箭头 339">
            <a:extLst>
              <a:ext uri="{FF2B5EF4-FFF2-40B4-BE49-F238E27FC236}">
                <a16:creationId xmlns:a16="http://schemas.microsoft.com/office/drawing/2014/main" id="{D9629C96-3B40-4B85-F8E9-CB9BA8B5A725}"/>
              </a:ext>
            </a:extLst>
          </p:cNvPr>
          <p:cNvSpPr/>
          <p:nvPr/>
        </p:nvSpPr>
        <p:spPr>
          <a:xfrm rot="723826">
            <a:off x="4000250" y="4214558"/>
            <a:ext cx="4246916" cy="15297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0B2D9B71-3FF1-E0FD-4499-CA6DC749C08F}"/>
              </a:ext>
            </a:extLst>
          </p:cNvPr>
          <p:cNvSpPr/>
          <p:nvPr/>
        </p:nvSpPr>
        <p:spPr>
          <a:xfrm>
            <a:off x="5434895" y="5720556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grpSp>
        <p:nvGrpSpPr>
          <p:cNvPr id="346" name="组合 345">
            <a:extLst>
              <a:ext uri="{FF2B5EF4-FFF2-40B4-BE49-F238E27FC236}">
                <a16:creationId xmlns:a16="http://schemas.microsoft.com/office/drawing/2014/main" id="{524D5CF4-7B69-14E9-196F-4A1E88871158}"/>
              </a:ext>
            </a:extLst>
          </p:cNvPr>
          <p:cNvGrpSpPr/>
          <p:nvPr/>
        </p:nvGrpSpPr>
        <p:grpSpPr>
          <a:xfrm>
            <a:off x="2042521" y="5664018"/>
            <a:ext cx="439420" cy="626749"/>
            <a:chOff x="4662826" y="1410273"/>
            <a:chExt cx="439420" cy="626749"/>
          </a:xfrm>
        </p:grpSpPr>
        <p:pic>
          <p:nvPicPr>
            <p:cNvPr id="347" name="图形 346">
              <a:extLst>
                <a:ext uri="{FF2B5EF4-FFF2-40B4-BE49-F238E27FC236}">
                  <a16:creationId xmlns:a16="http://schemas.microsoft.com/office/drawing/2014/main" id="{161B8FB8-341C-4A29-8C80-7C38881D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3383291">
              <a:off x="4662826" y="1410273"/>
              <a:ext cx="439420" cy="439420"/>
            </a:xfrm>
            <a:prstGeom prst="rect">
              <a:avLst/>
            </a:prstGeom>
          </p:spPr>
        </p:pic>
        <p:sp>
          <p:nvSpPr>
            <p:cNvPr id="348" name="文本框 347">
              <a:extLst>
                <a:ext uri="{FF2B5EF4-FFF2-40B4-BE49-F238E27FC236}">
                  <a16:creationId xmlns:a16="http://schemas.microsoft.com/office/drawing/2014/main" id="{8D78B6D9-37C7-4F88-5CB0-4D0725739A0F}"/>
                </a:ext>
              </a:extLst>
            </p:cNvPr>
            <p:cNvSpPr txBox="1"/>
            <p:nvPr/>
          </p:nvSpPr>
          <p:spPr>
            <a:xfrm>
              <a:off x="4739363" y="1667690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kumimoji="1"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9" name="组合 348">
            <a:extLst>
              <a:ext uri="{FF2B5EF4-FFF2-40B4-BE49-F238E27FC236}">
                <a16:creationId xmlns:a16="http://schemas.microsoft.com/office/drawing/2014/main" id="{C2CCFDA1-0857-B624-D638-12E134C0E56B}"/>
              </a:ext>
            </a:extLst>
          </p:cNvPr>
          <p:cNvGrpSpPr/>
          <p:nvPr/>
        </p:nvGrpSpPr>
        <p:grpSpPr>
          <a:xfrm>
            <a:off x="9724999" y="5673239"/>
            <a:ext cx="439420" cy="626749"/>
            <a:chOff x="4662826" y="1410273"/>
            <a:chExt cx="439420" cy="626749"/>
          </a:xfrm>
        </p:grpSpPr>
        <p:pic>
          <p:nvPicPr>
            <p:cNvPr id="350" name="图形 349">
              <a:extLst>
                <a:ext uri="{FF2B5EF4-FFF2-40B4-BE49-F238E27FC236}">
                  <a16:creationId xmlns:a16="http://schemas.microsoft.com/office/drawing/2014/main" id="{8EB875AD-9665-3812-7EEB-F95A24FD5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3383291">
              <a:off x="4662826" y="1410273"/>
              <a:ext cx="439420" cy="439420"/>
            </a:xfrm>
            <a:prstGeom prst="rect">
              <a:avLst/>
            </a:prstGeom>
          </p:spPr>
        </p:pic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38AA02F8-DEC1-10D6-9119-6B7C58037FD8}"/>
                </a:ext>
              </a:extLst>
            </p:cNvPr>
            <p:cNvSpPr txBox="1"/>
            <p:nvPr/>
          </p:nvSpPr>
          <p:spPr>
            <a:xfrm>
              <a:off x="4739363" y="1667690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kumimoji="1"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" name="组合 367">
            <a:extLst>
              <a:ext uri="{FF2B5EF4-FFF2-40B4-BE49-F238E27FC236}">
                <a16:creationId xmlns:a16="http://schemas.microsoft.com/office/drawing/2014/main" id="{7D151F25-9BFD-D503-806E-E4520717C1F2}"/>
              </a:ext>
            </a:extLst>
          </p:cNvPr>
          <p:cNvGrpSpPr/>
          <p:nvPr/>
        </p:nvGrpSpPr>
        <p:grpSpPr>
          <a:xfrm>
            <a:off x="5572700" y="6410500"/>
            <a:ext cx="1035896" cy="328897"/>
            <a:chOff x="4048700" y="6487114"/>
            <a:chExt cx="1035896" cy="328897"/>
          </a:xfrm>
        </p:grpSpPr>
        <p:sp>
          <p:nvSpPr>
            <p:cNvPr id="362" name="磁盘 361">
              <a:extLst>
                <a:ext uri="{FF2B5EF4-FFF2-40B4-BE49-F238E27FC236}">
                  <a16:creationId xmlns:a16="http://schemas.microsoft.com/office/drawing/2014/main" id="{42AC5CBC-0F53-02B4-5B0C-2B1EE03796AE}"/>
                </a:ext>
              </a:extLst>
            </p:cNvPr>
            <p:cNvSpPr/>
            <p:nvPr/>
          </p:nvSpPr>
          <p:spPr>
            <a:xfrm>
              <a:off x="4447662" y="6487114"/>
              <a:ext cx="240367" cy="189062"/>
            </a:xfrm>
            <a:prstGeom prst="flowChartMagneticDisk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3" name="磁盘 362">
              <a:extLst>
                <a:ext uri="{FF2B5EF4-FFF2-40B4-BE49-F238E27FC236}">
                  <a16:creationId xmlns:a16="http://schemas.microsoft.com/office/drawing/2014/main" id="{5740F6E3-6CAB-4648-836F-F90A9DDE0EBF}"/>
                </a:ext>
              </a:extLst>
            </p:cNvPr>
            <p:cNvSpPr/>
            <p:nvPr/>
          </p:nvSpPr>
          <p:spPr>
            <a:xfrm>
              <a:off x="4844229" y="6487114"/>
              <a:ext cx="240367" cy="189062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65" name="磁盘 364">
              <a:extLst>
                <a:ext uri="{FF2B5EF4-FFF2-40B4-BE49-F238E27FC236}">
                  <a16:creationId xmlns:a16="http://schemas.microsoft.com/office/drawing/2014/main" id="{62235FA1-8B61-E064-6260-10ECA4557B43}"/>
                </a:ext>
              </a:extLst>
            </p:cNvPr>
            <p:cNvSpPr/>
            <p:nvPr/>
          </p:nvSpPr>
          <p:spPr>
            <a:xfrm>
              <a:off x="4048700" y="6626949"/>
              <a:ext cx="240367" cy="189062"/>
            </a:xfrm>
            <a:prstGeom prst="flowChartMagneticDisk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6" name="磁盘 365">
              <a:extLst>
                <a:ext uri="{FF2B5EF4-FFF2-40B4-BE49-F238E27FC236}">
                  <a16:creationId xmlns:a16="http://schemas.microsoft.com/office/drawing/2014/main" id="{DD353C3F-3DE7-0A01-5075-C09BBFA8EFC0}"/>
                </a:ext>
              </a:extLst>
            </p:cNvPr>
            <p:cNvSpPr/>
            <p:nvPr/>
          </p:nvSpPr>
          <p:spPr>
            <a:xfrm>
              <a:off x="4447662" y="6626949"/>
              <a:ext cx="240367" cy="189062"/>
            </a:xfrm>
            <a:prstGeom prst="flowChartMagneticDisk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C000"/>
                </a:solidFill>
              </a:endParaRPr>
            </a:p>
          </p:txBody>
        </p:sp>
        <p:sp>
          <p:nvSpPr>
            <p:cNvPr id="367" name="磁盘 366">
              <a:extLst>
                <a:ext uri="{FF2B5EF4-FFF2-40B4-BE49-F238E27FC236}">
                  <a16:creationId xmlns:a16="http://schemas.microsoft.com/office/drawing/2014/main" id="{F7C0D170-AF0B-50E7-813F-5FEE712AEC2D}"/>
                </a:ext>
              </a:extLst>
            </p:cNvPr>
            <p:cNvSpPr/>
            <p:nvPr/>
          </p:nvSpPr>
          <p:spPr>
            <a:xfrm>
              <a:off x="4844229" y="6626949"/>
              <a:ext cx="240367" cy="189062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58194DD5-D1BB-5BD9-AF44-4A1575FB6632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FA0EFE4-EE2C-5ABC-CBC0-9CB890E1EF55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D1D42CEF-23FC-7A9C-C54B-20E0B89760E1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E32BD50-F49E-3964-EACB-F1FEC96DF049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2A66861F-E66D-2950-2D7E-6F3E7F9B09AE}"/>
              </a:ext>
            </a:extLst>
          </p:cNvPr>
          <p:cNvGrpSpPr/>
          <p:nvPr/>
        </p:nvGrpSpPr>
        <p:grpSpPr>
          <a:xfrm>
            <a:off x="2098751" y="6367578"/>
            <a:ext cx="1035896" cy="246222"/>
            <a:chOff x="509297" y="6367578"/>
            <a:chExt cx="1035896" cy="246222"/>
          </a:xfrm>
        </p:grpSpPr>
        <p:grpSp>
          <p:nvGrpSpPr>
            <p:cNvPr id="355" name="组合 354">
              <a:extLst>
                <a:ext uri="{FF2B5EF4-FFF2-40B4-BE49-F238E27FC236}">
                  <a16:creationId xmlns:a16="http://schemas.microsoft.com/office/drawing/2014/main" id="{C8C3EDE8-5E34-838E-B157-BA55BAABBBEF}"/>
                </a:ext>
              </a:extLst>
            </p:cNvPr>
            <p:cNvGrpSpPr/>
            <p:nvPr/>
          </p:nvGrpSpPr>
          <p:grpSpPr>
            <a:xfrm>
              <a:off x="509297" y="6410499"/>
              <a:ext cx="1035896" cy="189062"/>
              <a:chOff x="221897" y="6444386"/>
              <a:chExt cx="1035896" cy="189062"/>
            </a:xfrm>
          </p:grpSpPr>
          <p:sp>
            <p:nvSpPr>
              <p:cNvPr id="352" name="磁盘 351">
                <a:extLst>
                  <a:ext uri="{FF2B5EF4-FFF2-40B4-BE49-F238E27FC236}">
                    <a16:creationId xmlns:a16="http://schemas.microsoft.com/office/drawing/2014/main" id="{AB7A78E5-4872-C0B1-B059-4AB198C0D7CF}"/>
                  </a:ext>
                </a:extLst>
              </p:cNvPr>
              <p:cNvSpPr/>
              <p:nvPr/>
            </p:nvSpPr>
            <p:spPr>
              <a:xfrm>
                <a:off x="221897" y="6444386"/>
                <a:ext cx="240367" cy="189062"/>
              </a:xfrm>
              <a:prstGeom prst="flowChartMagneticDisk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3" name="磁盘 352">
                <a:extLst>
                  <a:ext uri="{FF2B5EF4-FFF2-40B4-BE49-F238E27FC236}">
                    <a16:creationId xmlns:a16="http://schemas.microsoft.com/office/drawing/2014/main" id="{35D22784-F890-7706-4BEA-F16EEAF52F12}"/>
                  </a:ext>
                </a:extLst>
              </p:cNvPr>
              <p:cNvSpPr/>
              <p:nvPr/>
            </p:nvSpPr>
            <p:spPr>
              <a:xfrm>
                <a:off x="620859" y="6444386"/>
                <a:ext cx="240367" cy="189062"/>
              </a:xfrm>
              <a:prstGeom prst="flowChartMagneticDisk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4" name="磁盘 353">
                <a:extLst>
                  <a:ext uri="{FF2B5EF4-FFF2-40B4-BE49-F238E27FC236}">
                    <a16:creationId xmlns:a16="http://schemas.microsoft.com/office/drawing/2014/main" id="{47EB09E1-2950-39BA-5FC9-9E29652E114D}"/>
                  </a:ext>
                </a:extLst>
              </p:cNvPr>
              <p:cNvSpPr/>
              <p:nvPr/>
            </p:nvSpPr>
            <p:spPr>
              <a:xfrm>
                <a:off x="1017426" y="6444386"/>
                <a:ext cx="240367" cy="189062"/>
              </a:xfrm>
              <a:prstGeom prst="flowChartMagneticDisk">
                <a:avLst/>
              </a:prstGeom>
              <a:solidFill>
                <a:srgbClr val="42DAE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3593CDB-828F-45C9-3175-7FB761A4CEB5}"/>
                </a:ext>
              </a:extLst>
            </p:cNvPr>
            <p:cNvSpPr txBox="1"/>
            <p:nvPr/>
          </p:nvSpPr>
          <p:spPr>
            <a:xfrm>
              <a:off x="724019" y="6367579"/>
              <a:ext cx="248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+</a:t>
              </a:r>
              <a:endParaRPr kumimoji="1" lang="zh-CN" altLang="en-US" sz="10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40F21D3-514A-5794-5368-2FEDE8C7201A}"/>
                </a:ext>
              </a:extLst>
            </p:cNvPr>
            <p:cNvSpPr txBox="1"/>
            <p:nvPr/>
          </p:nvSpPr>
          <p:spPr>
            <a:xfrm>
              <a:off x="1098295" y="6367578"/>
              <a:ext cx="248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+</a:t>
              </a:r>
              <a:endParaRPr kumimoji="1" lang="zh-CN" altLang="en-US" sz="10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9D74CEE-96C0-53B2-D242-0B965A5C72AD}"/>
              </a:ext>
            </a:extLst>
          </p:cNvPr>
          <p:cNvGrpSpPr/>
          <p:nvPr/>
        </p:nvGrpSpPr>
        <p:grpSpPr>
          <a:xfrm>
            <a:off x="9061382" y="6372050"/>
            <a:ext cx="1035896" cy="246222"/>
            <a:chOff x="509297" y="6367578"/>
            <a:chExt cx="1035896" cy="24622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E41ADDB-4F6E-BFB7-EF4F-43A2CA94161F}"/>
                </a:ext>
              </a:extLst>
            </p:cNvPr>
            <p:cNvGrpSpPr/>
            <p:nvPr/>
          </p:nvGrpSpPr>
          <p:grpSpPr>
            <a:xfrm>
              <a:off x="509297" y="6410499"/>
              <a:ext cx="1035896" cy="189062"/>
              <a:chOff x="221897" y="6444386"/>
              <a:chExt cx="1035896" cy="189062"/>
            </a:xfrm>
          </p:grpSpPr>
          <p:sp>
            <p:nvSpPr>
              <p:cNvPr id="12" name="磁盘 11">
                <a:extLst>
                  <a:ext uri="{FF2B5EF4-FFF2-40B4-BE49-F238E27FC236}">
                    <a16:creationId xmlns:a16="http://schemas.microsoft.com/office/drawing/2014/main" id="{CC7E21F3-908A-E3F3-98F9-C65818306707}"/>
                  </a:ext>
                </a:extLst>
              </p:cNvPr>
              <p:cNvSpPr/>
              <p:nvPr/>
            </p:nvSpPr>
            <p:spPr>
              <a:xfrm>
                <a:off x="221897" y="6444386"/>
                <a:ext cx="240367" cy="189062"/>
              </a:xfrm>
              <a:prstGeom prst="flowChartMagneticDisk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磁盘 12">
                <a:extLst>
                  <a:ext uri="{FF2B5EF4-FFF2-40B4-BE49-F238E27FC236}">
                    <a16:creationId xmlns:a16="http://schemas.microsoft.com/office/drawing/2014/main" id="{C2B173DA-605E-CB8A-E100-C33718EAB432}"/>
                  </a:ext>
                </a:extLst>
              </p:cNvPr>
              <p:cNvSpPr/>
              <p:nvPr/>
            </p:nvSpPr>
            <p:spPr>
              <a:xfrm>
                <a:off x="620859" y="6444386"/>
                <a:ext cx="240367" cy="189062"/>
              </a:xfrm>
              <a:prstGeom prst="flowChartMagneticDisk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磁盘 13">
                <a:extLst>
                  <a:ext uri="{FF2B5EF4-FFF2-40B4-BE49-F238E27FC236}">
                    <a16:creationId xmlns:a16="http://schemas.microsoft.com/office/drawing/2014/main" id="{415828FE-8DC7-019B-973E-C2291802401E}"/>
                  </a:ext>
                </a:extLst>
              </p:cNvPr>
              <p:cNvSpPr/>
              <p:nvPr/>
            </p:nvSpPr>
            <p:spPr>
              <a:xfrm>
                <a:off x="1017426" y="6444386"/>
                <a:ext cx="240367" cy="189062"/>
              </a:xfrm>
              <a:prstGeom prst="flowChartMagneticDisk">
                <a:avLst/>
              </a:prstGeom>
              <a:solidFill>
                <a:srgbClr val="42DAE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BC3CBCA-8032-6E80-7156-2ACD0C2B3D1D}"/>
                </a:ext>
              </a:extLst>
            </p:cNvPr>
            <p:cNvSpPr txBox="1"/>
            <p:nvPr/>
          </p:nvSpPr>
          <p:spPr>
            <a:xfrm>
              <a:off x="724019" y="6367579"/>
              <a:ext cx="248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+</a:t>
              </a:r>
              <a:endParaRPr kumimoji="1" lang="zh-CN" altLang="en-US" sz="10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B06A3E9-C048-A8C6-4679-DAFD8B5F3266}"/>
                </a:ext>
              </a:extLst>
            </p:cNvPr>
            <p:cNvSpPr txBox="1"/>
            <p:nvPr/>
          </p:nvSpPr>
          <p:spPr>
            <a:xfrm>
              <a:off x="1098295" y="6367578"/>
              <a:ext cx="248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+</a:t>
              </a:r>
              <a:endParaRPr kumimoji="1" lang="zh-CN" altLang="en-US" sz="1000" dirty="0"/>
            </a:p>
          </p:txBody>
        </p:sp>
      </p:grp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FA9C1F79-38BC-F11E-41E4-9E31BC47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4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9A2CD5-3AF6-DD47-6B54-7007026A32C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调色板密钥交换协议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8C560E2-D280-8FB7-7479-BD33D44C2842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AE9B0D1-E2B2-D4B7-C278-E6A60F3A98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8769FB7F-0C00-E45C-64C8-E0F5AD18B1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2">
                <a:extLst>
                  <a:ext uri="{FF2B5EF4-FFF2-40B4-BE49-F238E27FC236}">
                    <a16:creationId xmlns:a16="http://schemas.microsoft.com/office/drawing/2014/main" id="{43E1DAAF-F81A-93CD-1ABD-8751990BD77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" name="Group 10">
              <a:extLst>
                <a:ext uri="{FF2B5EF4-FFF2-40B4-BE49-F238E27FC236}">
                  <a16:creationId xmlns:a16="http://schemas.microsoft.com/office/drawing/2014/main" id="{A2350926-998B-66BC-6EF7-398F0811C3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20" name="Freeform 11">
                <a:extLst>
                  <a:ext uri="{FF2B5EF4-FFF2-40B4-BE49-F238E27FC236}">
                    <a16:creationId xmlns:a16="http://schemas.microsoft.com/office/drawing/2014/main" id="{3E7C9D52-788C-26CE-D741-501AF5DC1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BAC4FC6F-6688-1A6C-782E-6498FF3718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0006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DE95D-FB6E-6A00-447C-8DAF5C01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BCBCFD44-FB27-AC79-B359-D73BD78DC5B2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F0048D-3AB5-B4AB-2464-E173D0A9B693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3EEC1B3E-A625-C7F9-9C35-A35E9B036735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32D0F029-F215-44C3-2E17-512A7F0CD9D2}"/>
              </a:ext>
            </a:extLst>
          </p:cNvPr>
          <p:cNvSpPr txBox="1"/>
          <p:nvPr/>
        </p:nvSpPr>
        <p:spPr>
          <a:xfrm>
            <a:off x="1567652" y="1675454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6C5A8CA4-FD43-A7D3-D80C-A5BE1B623309}"/>
              </a:ext>
            </a:extLst>
          </p:cNvPr>
          <p:cNvSpPr txBox="1"/>
          <p:nvPr/>
        </p:nvSpPr>
        <p:spPr>
          <a:xfrm>
            <a:off x="2973028" y="1675454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DACBDC33-C410-B221-3059-FBD1D3822C64}"/>
              </a:ext>
            </a:extLst>
          </p:cNvPr>
          <p:cNvSpPr txBox="1"/>
          <p:nvPr/>
        </p:nvSpPr>
        <p:spPr>
          <a:xfrm>
            <a:off x="7808547" y="1669833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715EA7DC-211A-15F4-91AC-534FA6E031BC}"/>
              </a:ext>
            </a:extLst>
          </p:cNvPr>
          <p:cNvSpPr txBox="1"/>
          <p:nvPr/>
        </p:nvSpPr>
        <p:spPr>
          <a:xfrm>
            <a:off x="9213923" y="1669833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917D16CA-E51A-D09C-384F-72A0430C52F5}"/>
              </a:ext>
            </a:extLst>
          </p:cNvPr>
          <p:cNvCxnSpPr>
            <a:cxnSpLocks/>
            <a:stCxn id="15" idx="2"/>
            <a:endCxn id="226" idx="0"/>
          </p:cNvCxnSpPr>
          <p:nvPr/>
        </p:nvCxnSpPr>
        <p:spPr>
          <a:xfrm>
            <a:off x="2262231" y="2666559"/>
            <a:ext cx="1416268" cy="30400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箭头连接符 218">
            <a:extLst>
              <a:ext uri="{FF2B5EF4-FFF2-40B4-BE49-F238E27FC236}">
                <a16:creationId xmlns:a16="http://schemas.microsoft.com/office/drawing/2014/main" id="{0C8D938C-5D6F-AA3B-46D4-FFF261BA0B58}"/>
              </a:ext>
            </a:extLst>
          </p:cNvPr>
          <p:cNvCxnSpPr>
            <a:cxnSpLocks/>
            <a:stCxn id="28" idx="2"/>
            <a:endCxn id="226" idx="0"/>
          </p:cNvCxnSpPr>
          <p:nvPr/>
        </p:nvCxnSpPr>
        <p:spPr>
          <a:xfrm>
            <a:off x="3423517" y="2669665"/>
            <a:ext cx="254983" cy="30090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9D738C6D-10A6-B01A-F8A2-BF46F570C0B7}"/>
              </a:ext>
            </a:extLst>
          </p:cNvPr>
          <p:cNvSpPr txBox="1"/>
          <p:nvPr/>
        </p:nvSpPr>
        <p:spPr>
          <a:xfrm>
            <a:off x="3446753" y="2970568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FD5DC9A1-62CF-6DBC-9538-392F4C913934}"/>
              </a:ext>
            </a:extLst>
          </p:cNvPr>
          <p:cNvSpPr txBox="1"/>
          <p:nvPr/>
        </p:nvSpPr>
        <p:spPr>
          <a:xfrm>
            <a:off x="2033297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C064A3F9-4383-5E97-AC0D-DEDCD50E2A4D}"/>
              </a:ext>
            </a:extLst>
          </p:cNvPr>
          <p:cNvSpPr txBox="1"/>
          <p:nvPr/>
        </p:nvSpPr>
        <p:spPr>
          <a:xfrm>
            <a:off x="8325410" y="2966479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1351C79A-F669-B64D-39B9-FBE3BDEC2C1C}"/>
              </a:ext>
            </a:extLst>
          </p:cNvPr>
          <p:cNvSpPr txBox="1"/>
          <p:nvPr/>
        </p:nvSpPr>
        <p:spPr>
          <a:xfrm>
            <a:off x="9692988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cxnSp>
        <p:nvCxnSpPr>
          <p:cNvPr id="289" name="直线箭头连接符 288">
            <a:extLst>
              <a:ext uri="{FF2B5EF4-FFF2-40B4-BE49-F238E27FC236}">
                <a16:creationId xmlns:a16="http://schemas.microsoft.com/office/drawing/2014/main" id="{EEFCC297-2E7F-84FA-FB4E-C1FFCE681C00}"/>
              </a:ext>
            </a:extLst>
          </p:cNvPr>
          <p:cNvCxnSpPr>
            <a:cxnSpLocks/>
            <a:endCxn id="235" idx="0"/>
          </p:cNvCxnSpPr>
          <p:nvPr/>
        </p:nvCxnSpPr>
        <p:spPr>
          <a:xfrm>
            <a:off x="2263627" y="5002033"/>
            <a:ext cx="1416" cy="18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5C9F3762-2FC6-7223-66AB-F75C134AA8CD}"/>
              </a:ext>
            </a:extLst>
          </p:cNvPr>
          <p:cNvCxnSpPr>
            <a:cxnSpLocks/>
            <a:endCxn id="235" idx="0"/>
          </p:cNvCxnSpPr>
          <p:nvPr/>
        </p:nvCxnSpPr>
        <p:spPr>
          <a:xfrm flipH="1">
            <a:off x="2265043" y="5013257"/>
            <a:ext cx="1409914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线箭头连接符 296">
            <a:extLst>
              <a:ext uri="{FF2B5EF4-FFF2-40B4-BE49-F238E27FC236}">
                <a16:creationId xmlns:a16="http://schemas.microsoft.com/office/drawing/2014/main" id="{5112EA57-C05E-8790-D25C-EFB69C761089}"/>
              </a:ext>
            </a:extLst>
          </p:cNvPr>
          <p:cNvCxnSpPr>
            <a:cxnSpLocks/>
            <a:stCxn id="226" idx="2"/>
            <a:endCxn id="35" idx="0"/>
          </p:cNvCxnSpPr>
          <p:nvPr/>
        </p:nvCxnSpPr>
        <p:spPr>
          <a:xfrm flipH="1">
            <a:off x="3674951" y="3216789"/>
            <a:ext cx="3548" cy="24590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线箭头连接符 299">
            <a:extLst>
              <a:ext uri="{FF2B5EF4-FFF2-40B4-BE49-F238E27FC236}">
                <a16:creationId xmlns:a16="http://schemas.microsoft.com/office/drawing/2014/main" id="{1FF61938-99FB-37B2-59BE-FF7D789F5830}"/>
              </a:ext>
            </a:extLst>
          </p:cNvPr>
          <p:cNvCxnSpPr>
            <a:cxnSpLocks/>
            <a:stCxn id="235" idx="2"/>
          </p:cNvCxnSpPr>
          <p:nvPr/>
        </p:nvCxnSpPr>
        <p:spPr>
          <a:xfrm>
            <a:off x="2265043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线箭头连接符 302">
            <a:extLst>
              <a:ext uri="{FF2B5EF4-FFF2-40B4-BE49-F238E27FC236}">
                <a16:creationId xmlns:a16="http://schemas.microsoft.com/office/drawing/2014/main" id="{9CDBCCFC-C3AD-C2D1-086E-0EBDCA9F968E}"/>
              </a:ext>
            </a:extLst>
          </p:cNvPr>
          <p:cNvCxnSpPr>
            <a:cxnSpLocks/>
            <a:stCxn id="16" idx="2"/>
            <a:endCxn id="242" idx="0"/>
          </p:cNvCxnSpPr>
          <p:nvPr/>
        </p:nvCxnSpPr>
        <p:spPr>
          <a:xfrm flipH="1">
            <a:off x="8557156" y="2666558"/>
            <a:ext cx="1401196" cy="29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线箭头连接符 305">
            <a:extLst>
              <a:ext uri="{FF2B5EF4-FFF2-40B4-BE49-F238E27FC236}">
                <a16:creationId xmlns:a16="http://schemas.microsoft.com/office/drawing/2014/main" id="{954C76B3-E33A-2EC5-DD0B-C6D715DD5033}"/>
              </a:ext>
            </a:extLst>
          </p:cNvPr>
          <p:cNvCxnSpPr>
            <a:cxnSpLocks/>
            <a:stCxn id="32" idx="2"/>
            <a:endCxn id="242" idx="0"/>
          </p:cNvCxnSpPr>
          <p:nvPr/>
        </p:nvCxnSpPr>
        <p:spPr>
          <a:xfrm>
            <a:off x="8356860" y="2670800"/>
            <a:ext cx="200296" cy="2956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线箭头连接符 308">
            <a:extLst>
              <a:ext uri="{FF2B5EF4-FFF2-40B4-BE49-F238E27FC236}">
                <a16:creationId xmlns:a16="http://schemas.microsoft.com/office/drawing/2014/main" id="{676DF704-C339-93AB-E3D9-4FC6591F6413}"/>
              </a:ext>
            </a:extLst>
          </p:cNvPr>
          <p:cNvCxnSpPr>
            <a:cxnSpLocks/>
            <a:stCxn id="242" idx="2"/>
            <a:endCxn id="36" idx="0"/>
          </p:cNvCxnSpPr>
          <p:nvPr/>
        </p:nvCxnSpPr>
        <p:spPr>
          <a:xfrm flipH="1">
            <a:off x="8554944" y="3212700"/>
            <a:ext cx="2212" cy="24254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线箭头连接符 311">
            <a:extLst>
              <a:ext uri="{FF2B5EF4-FFF2-40B4-BE49-F238E27FC236}">
                <a16:creationId xmlns:a16="http://schemas.microsoft.com/office/drawing/2014/main" id="{BCF3FD0D-1B45-09A2-E9B5-796E72268993}"/>
              </a:ext>
            </a:extLst>
          </p:cNvPr>
          <p:cNvCxnSpPr>
            <a:cxnSpLocks/>
            <a:endCxn id="243" idx="0"/>
          </p:cNvCxnSpPr>
          <p:nvPr/>
        </p:nvCxnSpPr>
        <p:spPr>
          <a:xfrm>
            <a:off x="9921968" y="5013257"/>
            <a:ext cx="276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线箭头连接符 314">
            <a:extLst>
              <a:ext uri="{FF2B5EF4-FFF2-40B4-BE49-F238E27FC236}">
                <a16:creationId xmlns:a16="http://schemas.microsoft.com/office/drawing/2014/main" id="{B75BF8DC-BA6F-B4CD-1A80-05A9DE4CF591}"/>
              </a:ext>
            </a:extLst>
          </p:cNvPr>
          <p:cNvCxnSpPr>
            <a:cxnSpLocks/>
            <a:endCxn id="243" idx="0"/>
          </p:cNvCxnSpPr>
          <p:nvPr/>
        </p:nvCxnSpPr>
        <p:spPr>
          <a:xfrm>
            <a:off x="8549958" y="5013257"/>
            <a:ext cx="137477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937AF652-5D5C-325F-BAA0-F3A77F92A097}"/>
              </a:ext>
            </a:extLst>
          </p:cNvPr>
          <p:cNvCxnSpPr>
            <a:cxnSpLocks/>
            <a:stCxn id="243" idx="2"/>
          </p:cNvCxnSpPr>
          <p:nvPr/>
        </p:nvCxnSpPr>
        <p:spPr>
          <a:xfrm>
            <a:off x="9924734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78CF45D0-E315-FEE9-2091-70E4AD279B38}"/>
              </a:ext>
            </a:extLst>
          </p:cNvPr>
          <p:cNvSpPr txBox="1"/>
          <p:nvPr/>
        </p:nvSpPr>
        <p:spPr>
          <a:xfrm>
            <a:off x="1508638" y="225463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9DE147FF-FF6D-7189-70A8-CA401605599A}"/>
              </a:ext>
            </a:extLst>
          </p:cNvPr>
          <p:cNvSpPr txBox="1"/>
          <p:nvPr/>
        </p:nvSpPr>
        <p:spPr>
          <a:xfrm>
            <a:off x="1508637" y="345071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ADB038C5-BFD4-0E3E-3E7E-D00D98A55E7B}"/>
              </a:ext>
            </a:extLst>
          </p:cNvPr>
          <p:cNvSpPr txBox="1"/>
          <p:nvPr/>
        </p:nvSpPr>
        <p:spPr>
          <a:xfrm>
            <a:off x="1508637" y="451741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F33F3AE0-5F84-78AF-BA92-A80C179FBD58}"/>
              </a:ext>
            </a:extLst>
          </p:cNvPr>
          <p:cNvSpPr txBox="1"/>
          <p:nvPr/>
        </p:nvSpPr>
        <p:spPr>
          <a:xfrm>
            <a:off x="10248356" y="223567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5CA0109F-9886-60E4-DCA4-F808FB8A1D3C}"/>
              </a:ext>
            </a:extLst>
          </p:cNvPr>
          <p:cNvSpPr txBox="1"/>
          <p:nvPr/>
        </p:nvSpPr>
        <p:spPr>
          <a:xfrm>
            <a:off x="10248355" y="343175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47F7C42D-D40A-D0C6-FA92-73C330063EC2}"/>
              </a:ext>
            </a:extLst>
          </p:cNvPr>
          <p:cNvSpPr txBox="1"/>
          <p:nvPr/>
        </p:nvSpPr>
        <p:spPr>
          <a:xfrm>
            <a:off x="10248355" y="449845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9" name="右箭头 338">
            <a:extLst>
              <a:ext uri="{FF2B5EF4-FFF2-40B4-BE49-F238E27FC236}">
                <a16:creationId xmlns:a16="http://schemas.microsoft.com/office/drawing/2014/main" id="{E5A61FB5-2329-AEC7-D2EA-B65784B07F7D}"/>
              </a:ext>
            </a:extLst>
          </p:cNvPr>
          <p:cNvSpPr/>
          <p:nvPr/>
        </p:nvSpPr>
        <p:spPr>
          <a:xfrm>
            <a:off x="4031160" y="2410307"/>
            <a:ext cx="4169652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1" name="右箭头 340">
            <a:extLst>
              <a:ext uri="{FF2B5EF4-FFF2-40B4-BE49-F238E27FC236}">
                <a16:creationId xmlns:a16="http://schemas.microsoft.com/office/drawing/2014/main" id="{306E8BA8-3361-69CA-7D02-B5587AA8A8B3}"/>
              </a:ext>
            </a:extLst>
          </p:cNvPr>
          <p:cNvSpPr/>
          <p:nvPr/>
        </p:nvSpPr>
        <p:spPr>
          <a:xfrm rot="10079758">
            <a:off x="3992528" y="4251057"/>
            <a:ext cx="4246916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0" name="右箭头 339">
            <a:extLst>
              <a:ext uri="{FF2B5EF4-FFF2-40B4-BE49-F238E27FC236}">
                <a16:creationId xmlns:a16="http://schemas.microsoft.com/office/drawing/2014/main" id="{5FE1F38A-86EA-8D94-5475-F40DFA6AB7DB}"/>
              </a:ext>
            </a:extLst>
          </p:cNvPr>
          <p:cNvSpPr/>
          <p:nvPr/>
        </p:nvSpPr>
        <p:spPr>
          <a:xfrm rot="723826">
            <a:off x="4000250" y="4214558"/>
            <a:ext cx="4246916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592AB614-E2AC-D322-A07D-F76D14F03888}"/>
              </a:ext>
            </a:extLst>
          </p:cNvPr>
          <p:cNvSpPr/>
          <p:nvPr/>
        </p:nvSpPr>
        <p:spPr>
          <a:xfrm>
            <a:off x="5434895" y="5720556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BE180A0A-8860-14C2-5278-B463B9312A1B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D0882FC5-0285-9868-01F7-DA4EADFC2C4A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D59AB7A-2F57-BAB5-ECA6-7B46D501D9F6}"/>
              </a:ext>
            </a:extLst>
          </p:cNvPr>
          <p:cNvSpPr txBox="1"/>
          <p:nvPr/>
        </p:nvSpPr>
        <p:spPr>
          <a:xfrm>
            <a:off x="2082695" y="2174116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FBB1C8-FF48-DF4B-2CA8-4643E8F63182}"/>
              </a:ext>
            </a:extLst>
          </p:cNvPr>
          <p:cNvSpPr txBox="1"/>
          <p:nvPr/>
        </p:nvSpPr>
        <p:spPr>
          <a:xfrm>
            <a:off x="9778816" y="2174115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E7F1C07-9F40-2B9A-D887-690B30BB1FEA}"/>
              </a:ext>
            </a:extLst>
          </p:cNvPr>
          <p:cNvGrpSpPr/>
          <p:nvPr/>
        </p:nvGrpSpPr>
        <p:grpSpPr>
          <a:xfrm>
            <a:off x="3218527" y="2174114"/>
            <a:ext cx="805933" cy="495550"/>
            <a:chOff x="1694526" y="2174114"/>
            <a:chExt cx="805933" cy="49555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6A79834-DDA2-F218-D584-799683EC5734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A32BFE7-A41C-57F8-6415-41FD32D19EF4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底数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A121C5E-AE72-76BB-1DD5-80206486906B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3991C30-8AF8-32C9-8D6F-8F979849B836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3991C30-8AF8-32C9-8D6F-8F979849B8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3529" r="-23529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597E7F-CEE1-BDB3-2E2B-C1A7E32494E3}"/>
              </a:ext>
            </a:extLst>
          </p:cNvPr>
          <p:cNvGrpSpPr/>
          <p:nvPr/>
        </p:nvGrpSpPr>
        <p:grpSpPr>
          <a:xfrm>
            <a:off x="8151871" y="2175249"/>
            <a:ext cx="805933" cy="495550"/>
            <a:chOff x="1694526" y="2174114"/>
            <a:chExt cx="805933" cy="495550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98717749-3D13-9D92-E9E8-AA0EF0B99F3C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32B6C46-B9A7-F174-3B12-27AD1B9FB984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底数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3959F3D-87D9-7CAF-9829-46CED6DCE753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19AF0BE6-D39D-CC15-DC5B-033C2318435F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19AF0BE6-D39D-CC15-DC5B-033C23184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1250" r="-31250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03F6F2A-2043-A1FF-4B40-AECCF319D8DE}"/>
                  </a:ext>
                </a:extLst>
              </p:cNvPr>
              <p:cNvSpPr txBox="1"/>
              <p:nvPr/>
            </p:nvSpPr>
            <p:spPr>
              <a:xfrm>
                <a:off x="3152565" y="3462696"/>
                <a:ext cx="1044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03F6F2A-2043-A1FF-4B40-AECCF319D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565" y="3462696"/>
                <a:ext cx="1044773" cy="276999"/>
              </a:xfrm>
              <a:prstGeom prst="rect">
                <a:avLst/>
              </a:prstGeom>
              <a:blipFill>
                <a:blip r:embed="rId5"/>
                <a:stretch>
                  <a:fillRect l="-6024" t="-4348" r="-8434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0522B6C-A67B-D333-4CC3-5069C2475D84}"/>
                  </a:ext>
                </a:extLst>
              </p:cNvPr>
              <p:cNvSpPr txBox="1"/>
              <p:nvPr/>
            </p:nvSpPr>
            <p:spPr>
              <a:xfrm>
                <a:off x="8034770" y="3455247"/>
                <a:ext cx="1040349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0522B6C-A67B-D333-4CC3-5069C2475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4770" y="3455247"/>
                <a:ext cx="1040349" cy="281937"/>
              </a:xfrm>
              <a:prstGeom prst="rect">
                <a:avLst/>
              </a:prstGeom>
              <a:blipFill>
                <a:blip r:embed="rId6"/>
                <a:stretch>
                  <a:fillRect l="-4819" t="-4348" r="-8434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2CDDE975-E05E-2268-9AB9-31A1A5015B2E}"/>
              </a:ext>
            </a:extLst>
          </p:cNvPr>
          <p:cNvCxnSpPr>
            <a:cxnSpLocks/>
            <a:stCxn id="19" idx="2"/>
            <a:endCxn id="226" idx="0"/>
          </p:cNvCxnSpPr>
          <p:nvPr/>
        </p:nvCxnSpPr>
        <p:spPr>
          <a:xfrm flipH="1">
            <a:off x="3678499" y="2666557"/>
            <a:ext cx="166424" cy="3040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3EBA1589-3484-B75E-F5E2-873CC2A58C06}"/>
              </a:ext>
            </a:extLst>
          </p:cNvPr>
          <p:cNvCxnSpPr>
            <a:cxnSpLocks/>
            <a:stCxn id="34" idx="2"/>
            <a:endCxn id="242" idx="0"/>
          </p:cNvCxnSpPr>
          <p:nvPr/>
        </p:nvCxnSpPr>
        <p:spPr>
          <a:xfrm flipH="1">
            <a:off x="8557157" y="2667692"/>
            <a:ext cx="221111" cy="29878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18208B88-90AE-916C-0A07-2E6C9DD08087}"/>
              </a:ext>
            </a:extLst>
          </p:cNvPr>
          <p:cNvSpPr txBox="1"/>
          <p:nvPr/>
        </p:nvSpPr>
        <p:spPr>
          <a:xfrm>
            <a:off x="2200857" y="4502264"/>
            <a:ext cx="11541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2B22567-5FD8-F668-78C7-99C95FA63862}"/>
                  </a:ext>
                </a:extLst>
              </p:cNvPr>
              <p:cNvSpPr txBox="1"/>
              <p:nvPr/>
            </p:nvSpPr>
            <p:spPr>
              <a:xfrm>
                <a:off x="3113481" y="4712770"/>
                <a:ext cx="1040349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2B22567-5FD8-F668-78C7-99C95FA63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481" y="4712770"/>
                <a:ext cx="1040349" cy="281937"/>
              </a:xfrm>
              <a:prstGeom prst="rect">
                <a:avLst/>
              </a:prstGeom>
              <a:blipFill>
                <a:blip r:embed="rId7"/>
                <a:stretch>
                  <a:fillRect l="-6098" t="-4348" r="-8537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F2D8ACE-D326-1D46-CCEC-3D99715B628E}"/>
                  </a:ext>
                </a:extLst>
              </p:cNvPr>
              <p:cNvSpPr txBox="1"/>
              <p:nvPr/>
            </p:nvSpPr>
            <p:spPr>
              <a:xfrm>
                <a:off x="8008591" y="4736257"/>
                <a:ext cx="1044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F2D8ACE-D326-1D46-CCEC-3D99715B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591" y="4736257"/>
                <a:ext cx="1044773" cy="276999"/>
              </a:xfrm>
              <a:prstGeom prst="rect">
                <a:avLst/>
              </a:prstGeom>
              <a:blipFill>
                <a:blip r:embed="rId8"/>
                <a:stretch>
                  <a:fillRect l="-4819" r="-8434" b="-43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67F42D01-769D-AB6D-D291-B50FEA319EAA}"/>
              </a:ext>
            </a:extLst>
          </p:cNvPr>
          <p:cNvSpPr txBox="1"/>
          <p:nvPr/>
        </p:nvSpPr>
        <p:spPr>
          <a:xfrm>
            <a:off x="9865642" y="4511449"/>
            <a:ext cx="11541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F76DB2D-C908-1B38-C89C-8F38877CDA35}"/>
                  </a:ext>
                </a:extLst>
              </p:cNvPr>
              <p:cNvSpPr txBox="1"/>
              <p:nvPr/>
            </p:nvSpPr>
            <p:spPr>
              <a:xfrm>
                <a:off x="1675748" y="5692076"/>
                <a:ext cx="1167884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kumimoji="1"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en-US" altLang="zh-CN" i="1" dirty="0"/>
                  <a:t> </a:t>
                </a:r>
                <a:endParaRPr kumimoji="1" lang="zh-CN" altLang="en-US" i="1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F76DB2D-C908-1B38-C89C-8F38877CD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748" y="5692076"/>
                <a:ext cx="1167884" cy="281937"/>
              </a:xfrm>
              <a:prstGeom prst="rect">
                <a:avLst/>
              </a:prstGeom>
              <a:blipFill>
                <a:blip r:embed="rId9"/>
                <a:stretch>
                  <a:fillRect l="-7609" t="-4348" r="-2174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C4E3B5C-938A-6F0E-5B43-CFA729C8834A}"/>
                  </a:ext>
                </a:extLst>
              </p:cNvPr>
              <p:cNvSpPr txBox="1"/>
              <p:nvPr/>
            </p:nvSpPr>
            <p:spPr>
              <a:xfrm>
                <a:off x="9307761" y="5692075"/>
                <a:ext cx="1219180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kumimoji="1" lang="zh-CN" altLang="en-US" i="1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C4E3B5C-938A-6F0E-5B43-CFA729C88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761" y="5692075"/>
                <a:ext cx="1219180" cy="281937"/>
              </a:xfrm>
              <a:prstGeom prst="rect">
                <a:avLst/>
              </a:prstGeom>
              <a:blipFill>
                <a:blip r:embed="rId10"/>
                <a:stretch>
                  <a:fillRect l="-6186" t="-4348" r="-4124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4E485561-378A-3115-0826-800AC652E2F2}"/>
              </a:ext>
            </a:extLst>
          </p:cNvPr>
          <p:cNvGrpSpPr/>
          <p:nvPr/>
        </p:nvGrpSpPr>
        <p:grpSpPr>
          <a:xfrm>
            <a:off x="5530901" y="6273362"/>
            <a:ext cx="1227599" cy="369332"/>
            <a:chOff x="4006900" y="6273362"/>
            <a:chExt cx="1227599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16C776E-6B22-D5DD-2655-2EAE41FB68FE}"/>
                    </a:ext>
                  </a:extLst>
                </p:cNvPr>
                <p:cNvSpPr txBox="1"/>
                <p:nvPr/>
              </p:nvSpPr>
              <p:spPr>
                <a:xfrm>
                  <a:off x="4584809" y="6317060"/>
                  <a:ext cx="312970" cy="2819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16C776E-6B22-D5DD-2655-2EAE41FB6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4809" y="6317060"/>
                  <a:ext cx="312970" cy="281937"/>
                </a:xfrm>
                <a:prstGeom prst="rect">
                  <a:avLst/>
                </a:prstGeom>
                <a:blipFill>
                  <a:blip r:embed="rId13"/>
                  <a:stretch>
                    <a:fillRect l="-15385" t="-4348" r="-3846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5BBB822-66A5-FC69-E773-85BDE5D1D336}"/>
                    </a:ext>
                  </a:extLst>
                </p:cNvPr>
                <p:cNvSpPr txBox="1"/>
                <p:nvPr/>
              </p:nvSpPr>
              <p:spPr>
                <a:xfrm>
                  <a:off x="4917104" y="6326813"/>
                  <a:ext cx="3173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5BBB822-66A5-FC69-E773-85BDE5D1D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104" y="6326813"/>
                  <a:ext cx="31739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9231" b="-3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C62A98-1266-E6E4-4966-62A3295049D3}"/>
                    </a:ext>
                  </a:extLst>
                </p:cNvPr>
                <p:cNvSpPr txBox="1"/>
                <p:nvPr/>
              </p:nvSpPr>
              <p:spPr>
                <a:xfrm>
                  <a:off x="4006900" y="6321998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C62A98-1266-E6E4-4966-62A329504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6900" y="6321998"/>
                  <a:ext cx="19793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3529" r="-23529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44D8C5C6-D4AA-DD33-256E-9781EF737FF8}"/>
                </a:ext>
              </a:extLst>
            </p:cNvPr>
            <p:cNvSpPr txBox="1"/>
            <p:nvPr/>
          </p:nvSpPr>
          <p:spPr>
            <a:xfrm>
              <a:off x="4243987" y="6273362"/>
              <a:ext cx="2733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圆角矩形 5">
            <a:extLst>
              <a:ext uri="{FF2B5EF4-FFF2-40B4-BE49-F238E27FC236}">
                <a16:creationId xmlns:a16="http://schemas.microsoft.com/office/drawing/2014/main" id="{571AE00B-DE5F-9E40-29B3-27232A5957A0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1F70B75E-C5EE-E772-1F85-E54784D3DA22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A9912AC-1512-3600-D2D6-62192C3D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5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33628-F3B0-B1E1-14C0-6486443B9EE0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DH</a:t>
            </a:r>
            <a:r>
              <a:rPr lang="zh-CN" altLang="en-US" sz="3600" b="1" dirty="0">
                <a:solidFill>
                  <a:srgbClr val="2A50A1"/>
                </a:solidFill>
              </a:rPr>
              <a:t>密钥交换协议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31BBF33-BC87-A116-C5A9-E04BD9D94B38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15F9DC9F-7A1F-9B17-836F-0D08CA2A7D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6605CCC6-366B-97EB-01BE-CD01410C8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2A893D57-F4C8-6178-EB0E-72DFF949D6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DFEC3B82-389B-867F-DBC6-338DD6659A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2D302C17-2BB0-0FD6-F84F-205FE2372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233C6378-AA65-C1D7-5333-BA9EDB6CA5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2996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35" grpId="0" animBg="1"/>
      <p:bldP spid="242" grpId="0" animBg="1"/>
      <p:bldP spid="243" grpId="0" animBg="1"/>
      <p:bldP spid="329" grpId="0"/>
      <p:bldP spid="331" grpId="0"/>
      <p:bldP spid="333" grpId="0"/>
      <p:bldP spid="336" grpId="0"/>
      <p:bldP spid="337" grpId="0"/>
      <p:bldP spid="338" grpId="0"/>
      <p:bldP spid="339" grpId="0" animBg="1"/>
      <p:bldP spid="341" grpId="0" animBg="1"/>
      <p:bldP spid="340" grpId="0" animBg="1"/>
      <p:bldP spid="15" grpId="0"/>
      <p:bldP spid="16" grpId="0"/>
      <p:bldP spid="35" grpId="0"/>
      <p:bldP spid="36" grpId="0"/>
      <p:bldP spid="51" grpId="0"/>
      <p:bldP spid="52" grpId="0"/>
      <p:bldP spid="53" grpId="0"/>
      <p:bldP spid="54" grpId="0"/>
      <p:bldP spid="60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87345-227D-3871-4E27-52B3BD32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B49D8F64-8BFB-6C2B-B596-B636220FDF55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A8F46B-4976-A9E3-9CCD-663E7FA8FE2B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5F9F584-E3A2-023D-4202-C64A967D5CEC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AF8279DE-50A0-78DF-115D-7DB7E1229672}"/>
              </a:ext>
            </a:extLst>
          </p:cNvPr>
          <p:cNvSpPr txBox="1"/>
          <p:nvPr/>
        </p:nvSpPr>
        <p:spPr>
          <a:xfrm>
            <a:off x="1567652" y="1675454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DD1E1374-AB7A-A367-A9D0-34057E46D39C}"/>
              </a:ext>
            </a:extLst>
          </p:cNvPr>
          <p:cNvSpPr txBox="1"/>
          <p:nvPr/>
        </p:nvSpPr>
        <p:spPr>
          <a:xfrm>
            <a:off x="2973028" y="1675454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59F46C80-3B76-620A-312D-22B4D3850D15}"/>
              </a:ext>
            </a:extLst>
          </p:cNvPr>
          <p:cNvSpPr txBox="1"/>
          <p:nvPr/>
        </p:nvSpPr>
        <p:spPr>
          <a:xfrm>
            <a:off x="7808547" y="1669833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EAEF5937-3899-B43E-0326-D9B9DF35DD74}"/>
              </a:ext>
            </a:extLst>
          </p:cNvPr>
          <p:cNvSpPr txBox="1"/>
          <p:nvPr/>
        </p:nvSpPr>
        <p:spPr>
          <a:xfrm>
            <a:off x="9213923" y="1669833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EA967B29-0C4E-0DC2-FF6E-493E47FD367F}"/>
              </a:ext>
            </a:extLst>
          </p:cNvPr>
          <p:cNvSpPr txBox="1"/>
          <p:nvPr/>
        </p:nvSpPr>
        <p:spPr>
          <a:xfrm>
            <a:off x="1508638" y="225463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C6837F1F-925D-0776-2E51-945D57CC5726}"/>
              </a:ext>
            </a:extLst>
          </p:cNvPr>
          <p:cNvSpPr txBox="1"/>
          <p:nvPr/>
        </p:nvSpPr>
        <p:spPr>
          <a:xfrm>
            <a:off x="10248356" y="223567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9" name="右箭头 338">
            <a:extLst>
              <a:ext uri="{FF2B5EF4-FFF2-40B4-BE49-F238E27FC236}">
                <a16:creationId xmlns:a16="http://schemas.microsoft.com/office/drawing/2014/main" id="{C71D4382-0610-1C0E-E259-8754852299B5}"/>
              </a:ext>
            </a:extLst>
          </p:cNvPr>
          <p:cNvSpPr/>
          <p:nvPr/>
        </p:nvSpPr>
        <p:spPr>
          <a:xfrm>
            <a:off x="4031160" y="2410307"/>
            <a:ext cx="4169652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1939DBAD-2A20-F127-20F6-8B27D295EC37}"/>
              </a:ext>
            </a:extLst>
          </p:cNvPr>
          <p:cNvSpPr/>
          <p:nvPr/>
        </p:nvSpPr>
        <p:spPr>
          <a:xfrm>
            <a:off x="5434895" y="965685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45835C8D-4D7B-AFBC-2112-7D94999DD5D2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6C4AB22F-1466-5F76-E71D-4B4B8FEB1EFF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D0A4621-E470-CBFD-2E2B-42C3DB03A8F4}"/>
              </a:ext>
            </a:extLst>
          </p:cNvPr>
          <p:cNvSpPr txBox="1"/>
          <p:nvPr/>
        </p:nvSpPr>
        <p:spPr>
          <a:xfrm>
            <a:off x="2082695" y="2174116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37456B-D35B-C686-DF2C-777F1B268C39}"/>
              </a:ext>
            </a:extLst>
          </p:cNvPr>
          <p:cNvSpPr txBox="1"/>
          <p:nvPr/>
        </p:nvSpPr>
        <p:spPr>
          <a:xfrm>
            <a:off x="9778816" y="2174115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B7A680E-0B60-FFDE-4397-ED9BB2406217}"/>
              </a:ext>
            </a:extLst>
          </p:cNvPr>
          <p:cNvGrpSpPr/>
          <p:nvPr/>
        </p:nvGrpSpPr>
        <p:grpSpPr>
          <a:xfrm>
            <a:off x="3218527" y="2174114"/>
            <a:ext cx="805933" cy="495550"/>
            <a:chOff x="1694526" y="2174114"/>
            <a:chExt cx="805933" cy="49555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78AD295-DBB4-0845-8E01-4A9D74252ED2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3757B73-CA59-6709-6BEC-E228DC3730BA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底数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DDAC0BA-17D5-C09C-635B-0F235B2BCF75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F71DFFF-9C35-CC7F-F27C-2A7D6CB6AA40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3991C30-8AF8-32C9-8D6F-8F979849B8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3529" r="-23529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10BD20C-C1DA-BE5F-742C-E7462FCD8B87}"/>
              </a:ext>
            </a:extLst>
          </p:cNvPr>
          <p:cNvGrpSpPr/>
          <p:nvPr/>
        </p:nvGrpSpPr>
        <p:grpSpPr>
          <a:xfrm>
            <a:off x="8151871" y="2175249"/>
            <a:ext cx="805933" cy="495550"/>
            <a:chOff x="1694526" y="2174114"/>
            <a:chExt cx="805933" cy="495550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3124CEF2-8F8F-45B8-7FB9-00773A80ABA7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E4771F0-1395-05B7-8058-F483D4D1B309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底数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F9E0CC2-7E16-D144-2AD1-4B9FB9767835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EFF8701-ABF7-C0C0-9D03-7F6B79B011E2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19AF0BE6-D39D-CC15-DC5B-033C23184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1250" r="-31250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D9DB62FD-29AA-8CE4-278B-CC2587C9DAD2}"/>
              </a:ext>
            </a:extLst>
          </p:cNvPr>
          <p:cNvGrpSpPr/>
          <p:nvPr/>
        </p:nvGrpSpPr>
        <p:grpSpPr>
          <a:xfrm>
            <a:off x="5530901" y="1518491"/>
            <a:ext cx="1227599" cy="369332"/>
            <a:chOff x="4006900" y="6273362"/>
            <a:chExt cx="1227599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78D2376-B40F-2BD8-1071-8D737C056566}"/>
                    </a:ext>
                  </a:extLst>
                </p:cNvPr>
                <p:cNvSpPr txBox="1"/>
                <p:nvPr/>
              </p:nvSpPr>
              <p:spPr>
                <a:xfrm>
                  <a:off x="4584809" y="6317060"/>
                  <a:ext cx="312970" cy="2819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16C776E-6B22-D5DD-2655-2EAE41FB6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4809" y="6317060"/>
                  <a:ext cx="312970" cy="281937"/>
                </a:xfrm>
                <a:prstGeom prst="rect">
                  <a:avLst/>
                </a:prstGeom>
                <a:blipFill>
                  <a:blip r:embed="rId13"/>
                  <a:stretch>
                    <a:fillRect l="-15385" t="-4348" r="-3846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EA5545C-EF1A-A250-B5FD-78DF202532A4}"/>
                    </a:ext>
                  </a:extLst>
                </p:cNvPr>
                <p:cNvSpPr txBox="1"/>
                <p:nvPr/>
              </p:nvSpPr>
              <p:spPr>
                <a:xfrm>
                  <a:off x="4917104" y="6326813"/>
                  <a:ext cx="3173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5BBB822-66A5-FC69-E773-85BDE5D1D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104" y="6326813"/>
                  <a:ext cx="31739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9231" b="-3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6BB2CD8-A6B3-531A-0B19-49F550AA75EF}"/>
                    </a:ext>
                  </a:extLst>
                </p:cNvPr>
                <p:cNvSpPr txBox="1"/>
                <p:nvPr/>
              </p:nvSpPr>
              <p:spPr>
                <a:xfrm>
                  <a:off x="4006900" y="6321998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C62A98-1266-E6E4-4966-62A329504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6900" y="6321998"/>
                  <a:ext cx="19793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3529" r="-23529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35B603A6-13B7-4C1C-87C3-F014B9D459F0}"/>
                </a:ext>
              </a:extLst>
            </p:cNvPr>
            <p:cNvSpPr txBox="1"/>
            <p:nvPr/>
          </p:nvSpPr>
          <p:spPr>
            <a:xfrm>
              <a:off x="4243987" y="6273362"/>
              <a:ext cx="2733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圆角矩形 5">
            <a:extLst>
              <a:ext uri="{FF2B5EF4-FFF2-40B4-BE49-F238E27FC236}">
                <a16:creationId xmlns:a16="http://schemas.microsoft.com/office/drawing/2014/main" id="{46E8C7BE-538E-5F2D-D3AB-E1513E83A9FC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06FCBB05-69DA-BA1F-8F28-46960D9B4EAB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918E3D5-7220-DA4A-E703-1335174E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6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029ECC-95F7-030F-6669-47EF09586F9C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DH</a:t>
            </a:r>
            <a:r>
              <a:rPr lang="zh-CN" altLang="en-US" sz="3600" b="1" dirty="0">
                <a:solidFill>
                  <a:srgbClr val="2A50A1"/>
                </a:solidFill>
              </a:rPr>
              <a:t>密钥交换协议缺陷</a:t>
            </a:r>
            <a:r>
              <a:rPr lang="en-US" altLang="zh-CN" sz="3600" b="1" dirty="0">
                <a:solidFill>
                  <a:srgbClr val="2A50A1"/>
                </a:solidFill>
              </a:rPr>
              <a:t>——</a:t>
            </a:r>
            <a:r>
              <a:rPr lang="zh-CN" altLang="en-US" sz="3600" b="1" dirty="0">
                <a:solidFill>
                  <a:srgbClr val="2A50A1"/>
                </a:solidFill>
              </a:rPr>
              <a:t>中间人攻击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4DEEC3C-5460-B194-0FD6-7D5DF197E9D0}"/>
              </a:ext>
            </a:extLst>
          </p:cNvPr>
          <p:cNvGrpSpPr/>
          <p:nvPr/>
        </p:nvGrpSpPr>
        <p:grpSpPr>
          <a:xfrm>
            <a:off x="778553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26B3B45A-3682-F0EF-2ABF-B256769F9A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534DD453-06C3-59C8-32AA-3E7BD0C5F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1B770C9B-50C5-D076-625E-AD01413AC0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910AD6FD-B640-83D4-227B-A921EBAC6C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A9340F15-D030-7CBD-2B2A-52AD4E3FC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6DBBD867-2D71-E9D3-D148-CD5D808504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910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0"/>
      <p:bldP spid="336" grpId="0"/>
      <p:bldP spid="339" grpId="0" animBg="1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A8359-35AD-A66A-CFF7-13FF4948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3447B-8F51-806B-CB23-EE5E40EB4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217" y="739282"/>
            <a:ext cx="7911603" cy="560282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53239A-3032-D055-6178-ACE3AD43E53F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非对称加密词法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4BEA2E1-FD66-C39F-80E5-63DA8F4186BA}"/>
              </a:ext>
            </a:extLst>
          </p:cNvPr>
          <p:cNvGrpSpPr/>
          <p:nvPr/>
        </p:nvGrpSpPr>
        <p:grpSpPr>
          <a:xfrm>
            <a:off x="5096133" y="97795"/>
            <a:ext cx="425713" cy="442041"/>
            <a:chOff x="5823870" y="1767426"/>
            <a:chExt cx="425713" cy="442041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4827BB9-A02F-0FFD-F22B-8232C7D83F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42D998CF-3747-6088-A28C-AC88B602E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baseline="30000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1DD56A5A-6D7B-D293-47B0-99F02422D5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baseline="3000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84137E0-7313-9289-AC83-D0EE4A3C1E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E1A9B05-CB5A-2372-AED8-08E882601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baseline="30000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D94EF86-89EC-6F7C-6AC6-97FE732963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baseline="300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693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2CA59-E093-A369-E356-DC00CE40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BE914-CFB5-D7B8-2A91-0CDF2FAD2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660" y="3630468"/>
            <a:ext cx="4940300" cy="29337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E531647-BEF5-C4A2-A9C9-F75FC98548F6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单向陷门函数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56CF6FA-8BD1-F9C0-CDC5-31D1A943C289}"/>
              </a:ext>
            </a:extLst>
          </p:cNvPr>
          <p:cNvGrpSpPr/>
          <p:nvPr/>
        </p:nvGrpSpPr>
        <p:grpSpPr>
          <a:xfrm>
            <a:off x="3412992" y="99174"/>
            <a:ext cx="425713" cy="442041"/>
            <a:chOff x="5823870" y="1767426"/>
            <a:chExt cx="425713" cy="442041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A9E44EE5-BB78-BA46-C797-7C7E55CF86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FE48B7D3-E584-F7D7-5164-AC10860D2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006D2B64-7F52-7B92-1116-64E66A16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518D65D-7F0D-1E72-B71A-2FDD9F9C16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F3B83AC-6F3E-AB2E-DC96-0FC4A3E22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AC743751-1BF4-BB08-F964-AF5374D4FA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0BA8670B-42C0-4A12-1A2D-04DBBEBDD7D3}"/>
              </a:ext>
            </a:extLst>
          </p:cNvPr>
          <p:cNvSpPr/>
          <p:nvPr/>
        </p:nvSpPr>
        <p:spPr>
          <a:xfrm>
            <a:off x="202095" y="947634"/>
            <a:ext cx="11787809" cy="1120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陷门函数（</a:t>
            </a:r>
            <a:r>
              <a:rPr lang="en" altLang="zh-CN" sz="2800" dirty="0">
                <a:solidFill>
                  <a:schemeClr val="tx1"/>
                </a:solidFill>
              </a:rPr>
              <a:t>Trapdoor function</a:t>
            </a:r>
            <a:r>
              <a:rPr lang="zh-CN" altLang="en" sz="2800" dirty="0">
                <a:solidFill>
                  <a:schemeClr val="tx1"/>
                </a:solidFill>
              </a:rPr>
              <a:t>）</a:t>
            </a:r>
            <a:r>
              <a:rPr lang="en" altLang="zh-CN" sz="2800" dirty="0">
                <a:solidFill>
                  <a:schemeClr val="tx1"/>
                </a:solidFill>
              </a:rPr>
              <a:t>: </a:t>
            </a:r>
            <a:r>
              <a:rPr lang="zh-CN" altLang="en" sz="2800" dirty="0">
                <a:solidFill>
                  <a:schemeClr val="tx1"/>
                </a:solidFill>
              </a:rPr>
              <a:t>正向</a:t>
            </a:r>
            <a:r>
              <a:rPr lang="zh-CN" altLang="en-US" sz="2800" dirty="0">
                <a:solidFill>
                  <a:schemeClr val="tx1"/>
                </a:solidFill>
              </a:rPr>
              <a:t>计算容易，逆向计算困难。</a:t>
            </a:r>
            <a:r>
              <a:rPr lang="zh-CN" altLang="en-US" sz="2800" dirty="0">
                <a:solidFill>
                  <a:srgbClr val="FF0000"/>
                </a:solidFill>
              </a:rPr>
              <a:t>但在已知特定信息（陷门）时逆向计算容易</a:t>
            </a:r>
            <a:r>
              <a:rPr lang="zh-CN" altLang="en-US" sz="2800" dirty="0">
                <a:solidFill>
                  <a:schemeClr val="tx1"/>
                </a:solidFill>
              </a:rPr>
              <a:t>，即带有陷门的单向函数。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E47CD5-50D0-B26A-5D1D-A22A1FB2A226}"/>
              </a:ext>
            </a:extLst>
          </p:cNvPr>
          <p:cNvSpPr/>
          <p:nvPr/>
        </p:nvSpPr>
        <p:spPr>
          <a:xfrm>
            <a:off x="202095" y="2272320"/>
            <a:ext cx="11787809" cy="1120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1982</a:t>
            </a:r>
            <a:r>
              <a:rPr lang="zh-CN" altLang="en-US" sz="2800" dirty="0">
                <a:solidFill>
                  <a:schemeClr val="tx1"/>
                </a:solidFill>
              </a:rPr>
              <a:t>年，姚期智在论文</a:t>
            </a:r>
            <a:r>
              <a:rPr lang="en-US" altLang="zh-CN" sz="2800" dirty="0">
                <a:solidFill>
                  <a:schemeClr val="tx1"/>
                </a:solidFill>
              </a:rPr>
              <a:t>《</a:t>
            </a:r>
            <a:r>
              <a:rPr lang="en" altLang="zh-CN" sz="2800" dirty="0">
                <a:solidFill>
                  <a:schemeClr val="tx1"/>
                </a:solidFill>
              </a:rPr>
              <a:t>Theory and Applications of Trapdoor Functions》</a:t>
            </a:r>
            <a:r>
              <a:rPr lang="zh-CN" altLang="en-US" sz="2800" dirty="0">
                <a:solidFill>
                  <a:schemeClr val="tx1"/>
                </a:solidFill>
              </a:rPr>
              <a:t>中提出，</a:t>
            </a:r>
            <a:r>
              <a:rPr lang="zh-CN" altLang="en-US" sz="2800" dirty="0">
                <a:solidFill>
                  <a:srgbClr val="FF0000"/>
                </a:solidFill>
              </a:rPr>
              <a:t>从任意陷门函数中可构造一个公钥加密方案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4255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F214-C108-081F-44E0-9B78E953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99722E-2C0C-6306-7280-7634B224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9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FCB4A1-7A65-690A-667C-67D3658C2A6E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9AB1479-5B54-DD8E-CAB6-5320A79F8ACC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43F3729D-53A4-5D32-3EC4-D9551BD827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60B52D51-20C4-4B15-2D07-53E00C21C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2">
                <a:extLst>
                  <a:ext uri="{FF2B5EF4-FFF2-40B4-BE49-F238E27FC236}">
                    <a16:creationId xmlns:a16="http://schemas.microsoft.com/office/drawing/2014/main" id="{2920410F-C572-438E-15B5-F9DAA7EEB6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" name="Group 10">
              <a:extLst>
                <a:ext uri="{FF2B5EF4-FFF2-40B4-BE49-F238E27FC236}">
                  <a16:creationId xmlns:a16="http://schemas.microsoft.com/office/drawing/2014/main" id="{549DF4B6-E8A5-F55F-BD03-D4B35AD28C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20" name="Freeform 11">
                <a:extLst>
                  <a:ext uri="{FF2B5EF4-FFF2-40B4-BE49-F238E27FC236}">
                    <a16:creationId xmlns:a16="http://schemas.microsoft.com/office/drawing/2014/main" id="{D9E3C43A-11BD-CCCB-77C0-F84891A52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1" name="Freeform 12">
                <a:extLst>
                  <a:ext uri="{FF2B5EF4-FFF2-40B4-BE49-F238E27FC236}">
                    <a16:creationId xmlns:a16="http://schemas.microsoft.com/office/drawing/2014/main" id="{154FA50A-33C2-6278-0B92-6CFEF6A483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BD6BF3C-F9FF-FE39-EED4-33456AC71635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mod</m:t>
                    </m:r>
                  </m:oMath>
                </a14:m>
                <a:r>
                  <a:rPr lang="zh-CN" altLang="en-US" sz="2800" dirty="0"/>
                  <a:t>运算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BD6BF3C-F9FF-FE39-EED4-33456AC71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l="-312" t="-1666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5AAC835-4B2B-EB77-1408-46F26286688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06734"/>
          <a:ext cx="10515600" cy="198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887800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66905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93805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原数 </a:t>
                      </a:r>
                      <a:r>
                        <a:rPr lang="en" sz="20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 err="1"/>
                        <a:t>计算</a:t>
                      </a:r>
                      <a:r>
                        <a:rPr lang="zh-CN" altLang="en-US" sz="2000" dirty="0"/>
                        <a:t> </a:t>
                      </a:r>
                      <a:r>
                        <a:rPr lang="en" sz="2000" dirty="0"/>
                        <a:t>a mod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运算过程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164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14 = 12 + 2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7407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1</a:t>
                      </a:r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25 = 2×12 + 1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53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6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30 = 2×12 + 6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971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41 = 3×12 + 5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3686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FBA6E62-AFB9-31F9-1F01-BC4DB943BFA9}"/>
              </a:ext>
            </a:extLst>
          </p:cNvPr>
          <p:cNvGraphicFramePr>
            <a:graphicFrameLocks noGrp="1"/>
          </p:cNvGraphicFramePr>
          <p:nvPr/>
        </p:nvGraphicFramePr>
        <p:xfrm>
          <a:off x="846518" y="4102510"/>
          <a:ext cx="10515600" cy="198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750518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276124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38139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原数 </a:t>
                      </a:r>
                      <a:r>
                        <a:rPr lang="en" sz="2000" dirty="0"/>
                        <a:t>a</a:t>
                      </a:r>
                      <a:r>
                        <a:rPr lang="zh-CN" altLang="en-US" sz="2000" dirty="0"/>
                        <a:t>（若为负数）</a:t>
                      </a:r>
                      <a:endParaRPr lang="e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 err="1"/>
                        <a:t>计算</a:t>
                      </a:r>
                      <a:r>
                        <a:rPr lang="zh-CN" altLang="en-US" sz="2000" dirty="0"/>
                        <a:t> </a:t>
                      </a:r>
                      <a:r>
                        <a:rPr lang="en" sz="2000" dirty="0"/>
                        <a:t>a mod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运算过程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754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11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-1 + 12 = 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3242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7</a:t>
                      </a:r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-5 + 12 =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553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10</a:t>
                      </a:r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-14 + 24 =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411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11</a:t>
                      </a:r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-25 + 36 = 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922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95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380D-BFCA-A2CE-CFBA-8D6ADE2C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E16A41-8FDA-997D-5681-2158A7C2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A2C75B-C944-D0E2-1CD4-31F663BB96D6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od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加法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A2C75B-C944-D0E2-1CD4-31F663BB9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7F98DD3-C9E6-DEBC-5219-3B9438A5D641}"/>
              </a:ext>
            </a:extLst>
          </p:cNvPr>
          <p:cNvGraphicFramePr>
            <a:graphicFrameLocks noGrp="1"/>
          </p:cNvGraphicFramePr>
          <p:nvPr/>
        </p:nvGraphicFramePr>
        <p:xfrm>
          <a:off x="846518" y="1866692"/>
          <a:ext cx="10515600" cy="158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11796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135684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31253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83867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运算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普通加法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取 </a:t>
                      </a:r>
                      <a:r>
                        <a:rPr lang="en" sz="2000" dirty="0"/>
                        <a:t>mod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最终结果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81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7 + 2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9 mod 12 =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9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25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5 + 3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8 mod 12 =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8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905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4 + 6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10 mod 12 =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10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598399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91B2D4B-BA31-5FA1-DC97-3939359551E5}"/>
              </a:ext>
            </a:extLst>
          </p:cNvPr>
          <p:cNvGraphicFramePr>
            <a:graphicFrameLocks noGrp="1"/>
          </p:cNvGraphicFramePr>
          <p:nvPr/>
        </p:nvGraphicFramePr>
        <p:xfrm>
          <a:off x="846518" y="4118462"/>
          <a:ext cx="10515600" cy="158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887008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296732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44548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15910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运算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普通加法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取 </a:t>
                      </a:r>
                      <a:r>
                        <a:rPr lang="en" sz="2000"/>
                        <a:t>mod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最终结果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679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7 + 6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13 mod 12 = 1</a:t>
                      </a:r>
                      <a:endParaRPr lang="e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1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5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9 + 5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14 mod 12 =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2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5648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100 + 250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350 mod 12 =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2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605792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33DE2981-31A3-6265-14CC-702223D2D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852165"/>
            <a:ext cx="21050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-webkit-standard"/>
              </a:rPr>
              <a:t>350 = 29×12 + 2 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03E5A3-08C7-274E-3246-77D4A11CD578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E1AB1E8-F685-3CBD-EDA4-26EB58D4D9A2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906FED18-243D-8211-25E1-9A85268CEC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5E42728D-93CE-F564-B869-3077DE592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E4DC9A6E-DA1E-C621-446B-3ADF11A199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7F17930F-9BD1-D205-F7CF-8941765E81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F836B404-E44C-B531-70C6-493F7443F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CA16C5AD-8068-ABEB-C75A-E8C08B6E13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117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2B3B-92B9-1E07-EDA6-EF5B6558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C19566-FE7F-143C-E749-E69EBABC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8EC010D-E656-5658-7ABC-6093FF28DFFE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od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减法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8EC010D-E656-5658-7ABC-6093FF28D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B8B8318-9B4F-D6A7-9EF6-3B6D013EC976}"/>
              </a:ext>
            </a:extLst>
          </p:cNvPr>
          <p:cNvGraphicFramePr>
            <a:graphicFrameLocks noGrp="1"/>
          </p:cNvGraphicFramePr>
          <p:nvPr/>
        </p:nvGraphicFramePr>
        <p:xfrm>
          <a:off x="846518" y="1844040"/>
          <a:ext cx="10515600" cy="158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535153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426048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840045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93567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运算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普通减法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取 </a:t>
                      </a:r>
                      <a:r>
                        <a:rPr lang="en" sz="2000" dirty="0"/>
                        <a:t>mod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最终结果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986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9 − 3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6 mod 12 =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6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507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10 − 4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6 mod 12 =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6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643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7 − 2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5 mod 12 =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583468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A27600D-95AD-3B25-03EB-B2E9B66DC456}"/>
              </a:ext>
            </a:extLst>
          </p:cNvPr>
          <p:cNvGraphicFramePr>
            <a:graphicFrameLocks noGrp="1"/>
          </p:cNvGraphicFramePr>
          <p:nvPr/>
        </p:nvGraphicFramePr>
        <p:xfrm>
          <a:off x="846518" y="3933282"/>
          <a:ext cx="10515600" cy="158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087504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778462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6897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8771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运算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普通减法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取 </a:t>
                      </a:r>
                      <a:r>
                        <a:rPr lang="en" altLang="zh-CN" sz="2000" dirty="0"/>
                        <a:t>mod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最终结果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390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3 − 5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-2 + 12 =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10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533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4 − 11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-7 + 12 =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94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500 − 999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-499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-499+12×42 =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04453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8068F34-A015-E455-A645-2AC96B2F4DFA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32D71A-DB48-48FD-BC7F-F4461BEB0D51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0C4A5FCD-1856-968E-940B-AC98900F62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4F83608E-EE38-B660-F1DE-FA69ECD330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38AAF260-C8E6-53D1-C044-F791AD3F45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65A0F603-04A1-5DAF-A323-C58FF6CDCA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16762AF9-6F80-4910-2581-7EFCB0791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50A790C1-0A9C-EC0A-F6BA-5B2ED9ABEB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288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20B33-9ED9-8E90-91C1-3CE18781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4B0A88-BFC4-E1D6-064F-2CB50F87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415E610-E995-4768-F378-D735295B9472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od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乘法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415E610-E995-4768-F378-D735295B9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66C3E16-0405-87B5-660A-6EEE915D6B5E}"/>
              </a:ext>
            </a:extLst>
          </p:cNvPr>
          <p:cNvGraphicFramePr>
            <a:graphicFrameLocks noGrp="1"/>
          </p:cNvGraphicFramePr>
          <p:nvPr/>
        </p:nvGraphicFramePr>
        <p:xfrm>
          <a:off x="846518" y="1771767"/>
          <a:ext cx="10515600" cy="158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3948341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715661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254633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65825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运算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普通乘法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取 </a:t>
                      </a:r>
                      <a:r>
                        <a:rPr lang="en" sz="2000"/>
                        <a:t>mod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最终结果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310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 ×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6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61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4 ×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20 mod 12 =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8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040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3 ×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21 mod 12 =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9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02066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1CBFD2E-2A69-6266-54CD-E62C5522337D}"/>
              </a:ext>
            </a:extLst>
          </p:cNvPr>
          <p:cNvGraphicFramePr>
            <a:graphicFrameLocks noGrp="1"/>
          </p:cNvGraphicFramePr>
          <p:nvPr/>
        </p:nvGraphicFramePr>
        <p:xfrm>
          <a:off x="809006" y="4037468"/>
          <a:ext cx="10515600" cy="158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967076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066538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427137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06956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运算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普通乘法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调整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最终结果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29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(-3) ×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-15 + 24 =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9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42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(-7) ×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-28 + 36 =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/>
                        <a:t>8</a:t>
                      </a:r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881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(-10) × (-3)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30 mod 12 =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/>
                        <a:t>6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50025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714102F-ED6F-8EBD-7BBD-35A4F2219B79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5F8956F-D9DE-AEEC-CB1B-3CD95527ABAA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30AA3FEF-D10B-FFF7-6CDB-4B722BACA7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6937705B-C6FD-F875-954D-13A3A4E6BA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CBEB8A50-9EE6-8F33-A331-D0C6AEF7D3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EB2AB33B-19B0-C694-79AF-64A3A08D96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C2300935-51B7-8AA9-3789-C3A3AACF7F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AADE190B-2619-CC24-8742-64FE3FA15B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734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008D6-7A12-7C66-7C09-2A8F5FD1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E6524-C532-1BC9-0A27-B41E0F49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A1B4D0D-131C-5E9D-B08D-28FBF394463A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od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除法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A1B4D0D-131C-5E9D-B08D-28FBF3944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636F93B8-1470-C257-EFAF-42DB19D2D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276" y="3623539"/>
                <a:ext cx="3663567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zh-CN" altLang="zh-CN" sz="3200" dirty="0">
                          <a:solidFill>
                            <a:srgbClr val="000000"/>
                          </a:solidFill>
                        </a:rPr>
                        <m:t>□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3200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 12=</m:t>
                      </m:r>
                      <m:r>
                        <m:rPr>
                          <m:nor/>
                        </m:rPr>
                        <a:rPr lang="en-US" altLang="zh-CN" sz="3200" b="0" i="0" dirty="0" smtClean="0">
                          <a:solidFill>
                            <a:srgbClr val="000000"/>
                          </a:solidFill>
                        </a:rPr>
                        <m:t>1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636F93B8-1470-C257-EFAF-42DB19D2D3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276" y="3623539"/>
                <a:ext cx="3663567" cy="584775"/>
              </a:xfrm>
              <a:prstGeom prst="rect">
                <a:avLst/>
              </a:prstGeom>
              <a:blipFill>
                <a:blip r:embed="rId4"/>
                <a:stretch>
                  <a:fillRect l="-690" b="-255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306FB5-95CF-4551-A4E6-ABEF4B268B0E}"/>
                  </a:ext>
                </a:extLst>
              </p:cNvPr>
              <p:cNvSpPr txBox="1"/>
              <p:nvPr/>
            </p:nvSpPr>
            <p:spPr>
              <a:xfrm>
                <a:off x="296530" y="2297487"/>
                <a:ext cx="40029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12=</m:t>
                      </m:r>
                      <m:r>
                        <m:rPr>
                          <m:nor/>
                        </m:rPr>
                        <a:rPr lang="zh-CN" altLang="zh-CN" sz="3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m:t>□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306FB5-95CF-4551-A4E6-ABEF4B268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30" y="2297487"/>
                <a:ext cx="4002942" cy="584775"/>
              </a:xfrm>
              <a:prstGeom prst="rect">
                <a:avLst/>
              </a:prstGeom>
              <a:blipFill>
                <a:blip r:embed="rId5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下箭头 9">
            <a:extLst>
              <a:ext uri="{FF2B5EF4-FFF2-40B4-BE49-F238E27FC236}">
                <a16:creationId xmlns:a16="http://schemas.microsoft.com/office/drawing/2014/main" id="{2E383AA9-1552-DED9-0FE1-298A47F17072}"/>
              </a:ext>
            </a:extLst>
          </p:cNvPr>
          <p:cNvSpPr/>
          <p:nvPr/>
        </p:nvSpPr>
        <p:spPr>
          <a:xfrm>
            <a:off x="2004507" y="2957568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4BC8E62-49A3-F21F-A21A-477E414EF985}"/>
              </a:ext>
            </a:extLst>
          </p:cNvPr>
          <p:cNvGraphicFramePr>
            <a:graphicFrameLocks noGrp="1"/>
          </p:cNvGraphicFramePr>
          <p:nvPr/>
        </p:nvGraphicFramePr>
        <p:xfrm>
          <a:off x="4795269" y="1533694"/>
          <a:ext cx="6385779" cy="505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8593">
                  <a:extLst>
                    <a:ext uri="{9D8B030D-6E8A-4147-A177-3AD203B41FA5}">
                      <a16:colId xmlns:a16="http://schemas.microsoft.com/office/drawing/2014/main" val="1854499459"/>
                    </a:ext>
                  </a:extLst>
                </a:gridCol>
                <a:gridCol w="2128593">
                  <a:extLst>
                    <a:ext uri="{9D8B030D-6E8A-4147-A177-3AD203B41FA5}">
                      <a16:colId xmlns:a16="http://schemas.microsoft.com/office/drawing/2014/main" val="2587529391"/>
                    </a:ext>
                  </a:extLst>
                </a:gridCol>
                <a:gridCol w="2128593">
                  <a:extLst>
                    <a:ext uri="{9D8B030D-6E8A-4147-A177-3AD203B41FA5}">
                      <a16:colId xmlns:a16="http://schemas.microsoft.com/office/drawing/2014/main" val="1678001631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n </a:t>
                      </a:r>
                      <a:r>
                        <a:rPr lang="zh-CN" altLang="en-US" sz="2000"/>
                        <a:t>的值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7 × n </a:t>
                      </a:r>
                      <a:r>
                        <a:rPr lang="zh-CN" altLang="en-US" sz="2000" dirty="0"/>
                        <a:t>的值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(7 × n) mod 12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7127022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7128290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7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9225313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73044512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9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41036279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570918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35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03516639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42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3063335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</a:rPr>
                        <a:t>49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4245264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56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1285878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3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2572648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70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6988024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77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94549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154EF697-AB7C-2FE8-A72C-87311781D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276" y="4988040"/>
                <a:ext cx="3480825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CN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3200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 12=</m:t>
                      </m:r>
                      <m:r>
                        <m:rPr>
                          <m:nor/>
                        </m:rPr>
                        <a:rPr lang="en-US" altLang="zh-CN" sz="3200" b="0" i="0" dirty="0" smtClean="0">
                          <a:solidFill>
                            <a:srgbClr val="000000"/>
                          </a:solidFill>
                        </a:rPr>
                        <m:t>1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154EF697-AB7C-2FE8-A72C-87311781DD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276" y="4988040"/>
                <a:ext cx="3480825" cy="584775"/>
              </a:xfrm>
              <a:prstGeom prst="rect">
                <a:avLst/>
              </a:prstGeom>
              <a:blipFill>
                <a:blip r:embed="rId6"/>
                <a:stretch>
                  <a:fillRect l="-727" b="-255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下箭头 13">
            <a:extLst>
              <a:ext uri="{FF2B5EF4-FFF2-40B4-BE49-F238E27FC236}">
                <a16:creationId xmlns:a16="http://schemas.microsoft.com/office/drawing/2014/main" id="{EC29D0E7-750C-BBC6-5897-A8A6BB72AB39}"/>
              </a:ext>
            </a:extLst>
          </p:cNvPr>
          <p:cNvSpPr/>
          <p:nvPr/>
        </p:nvSpPr>
        <p:spPr>
          <a:xfrm>
            <a:off x="2004507" y="4322069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97854D-3B45-4B82-C6D1-DD28C01EABC6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BCD1400-1693-AC42-EF0B-063883BDC6F4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ECCB74B7-93AE-B896-09FA-4CD4AF23B9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752F669F-2E99-66F8-DBA1-C05EEE169F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12">
                <a:extLst>
                  <a:ext uri="{FF2B5EF4-FFF2-40B4-BE49-F238E27FC236}">
                    <a16:creationId xmlns:a16="http://schemas.microsoft.com/office/drawing/2014/main" id="{80E76FF3-FD68-AEE2-BBBE-3A22355CCE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3F57DACE-633A-E401-FC11-61DBEFC570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2E068264-4425-E85A-CFF0-37D7340AB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7" name="Freeform 12">
                <a:extLst>
                  <a:ext uri="{FF2B5EF4-FFF2-40B4-BE49-F238E27FC236}">
                    <a16:creationId xmlns:a16="http://schemas.microsoft.com/office/drawing/2014/main" id="{2EEFC070-21ED-7BDD-6B5C-B31D147D33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572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 animBg="1"/>
      <p:bldP spid="13" grpId="0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2F67-1A7B-F1C6-22CA-E5CD4FF7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749AB7-8E72-C19C-2331-B53C376B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66DBD14-0435-BC8E-DA68-1E837EFDF1BB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od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除法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66DBD14-0435-BC8E-DA68-1E837EFDF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EEA6166D-FE44-B129-8930-A660A8C8E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449" y="1451954"/>
                <a:ext cx="306763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b="0" i="0" dirty="0" smtClean="0">
                          <a:solidFill>
                            <a:srgbClr val="000000"/>
                          </a:solidFill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EEA6166D-FE44-B129-8930-A660A8C8E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449" y="1451954"/>
                <a:ext cx="3067635" cy="523220"/>
              </a:xfrm>
              <a:prstGeom prst="rect">
                <a:avLst/>
              </a:prstGeom>
              <a:blipFill>
                <a:blip r:embed="rId4"/>
                <a:stretch>
                  <a:fillRect l="-412" b="-238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025853A3-94F6-7F9E-EC88-01B89F89A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005" y="2520339"/>
                <a:ext cx="307642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b="0" i="0" dirty="0" smtClean="0">
                          <a:solidFill>
                            <a:srgbClr val="000000"/>
                          </a:solidFill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025853A3-94F6-7F9E-EC88-01B89F89A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005" y="2520339"/>
                <a:ext cx="3076420" cy="523220"/>
              </a:xfrm>
              <a:prstGeom prst="rect">
                <a:avLst/>
              </a:prstGeom>
              <a:blipFill>
                <a:blip r:embed="rId5"/>
                <a:stretch>
                  <a:fillRect l="-412" b="-238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6C2AE71B-F50D-1B03-C9EB-C31DA2A5C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989" y="3727735"/>
                <a:ext cx="255550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与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zh-CN" alt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互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倒数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6C2AE71B-F50D-1B03-C9EB-C31DA2A5C1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4989" y="3727735"/>
                <a:ext cx="2555507" cy="523220"/>
              </a:xfrm>
              <a:prstGeom prst="rect">
                <a:avLst/>
              </a:prstGeom>
              <a:blipFill>
                <a:blip r:embed="rId6"/>
                <a:stretch>
                  <a:fillRect r="-495" b="-238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762249FA-D66C-A700-F6D8-749729931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863" y="4713407"/>
                <a:ext cx="2957669" cy="9017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互为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倒数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762249FA-D66C-A700-F6D8-749729931B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863" y="4713407"/>
                <a:ext cx="2957669" cy="901785"/>
              </a:xfrm>
              <a:prstGeom prst="rect">
                <a:avLst/>
              </a:prstGeom>
              <a:blipFill>
                <a:blip r:embed="rId7"/>
                <a:stretch>
                  <a:fillRect l="-427" b="-6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下箭头 24">
            <a:extLst>
              <a:ext uri="{FF2B5EF4-FFF2-40B4-BE49-F238E27FC236}">
                <a16:creationId xmlns:a16="http://schemas.microsoft.com/office/drawing/2014/main" id="{9985C0D3-CE7E-7CA9-ECD2-6D4F2BE5E167}"/>
              </a:ext>
            </a:extLst>
          </p:cNvPr>
          <p:cNvSpPr/>
          <p:nvPr/>
        </p:nvSpPr>
        <p:spPr>
          <a:xfrm>
            <a:off x="1954307" y="1981409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26" name="下箭头 25">
            <a:extLst>
              <a:ext uri="{FF2B5EF4-FFF2-40B4-BE49-F238E27FC236}">
                <a16:creationId xmlns:a16="http://schemas.microsoft.com/office/drawing/2014/main" id="{91A3AC7E-0863-D965-1EDB-0478D5F45A73}"/>
              </a:ext>
            </a:extLst>
          </p:cNvPr>
          <p:cNvSpPr/>
          <p:nvPr/>
        </p:nvSpPr>
        <p:spPr>
          <a:xfrm>
            <a:off x="1954307" y="3034747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27" name="下箭头 26">
            <a:extLst>
              <a:ext uri="{FF2B5EF4-FFF2-40B4-BE49-F238E27FC236}">
                <a16:creationId xmlns:a16="http://schemas.microsoft.com/office/drawing/2014/main" id="{6CDC13F4-EDE8-C88A-F0D5-6D5667FC6E7F}"/>
              </a:ext>
            </a:extLst>
          </p:cNvPr>
          <p:cNvSpPr/>
          <p:nvPr/>
        </p:nvSpPr>
        <p:spPr>
          <a:xfrm>
            <a:off x="1954306" y="4258031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0619CDDB-2976-FF2F-3EE3-F30146556C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00613" y="1451954"/>
              <a:ext cx="5788073" cy="508248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56045">
                      <a:extLst>
                        <a:ext uri="{9D8B030D-6E8A-4147-A177-3AD203B41FA5}">
                          <a16:colId xmlns:a16="http://schemas.microsoft.com/office/drawing/2014/main" val="3822633427"/>
                        </a:ext>
                      </a:extLst>
                    </a:gridCol>
                    <a:gridCol w="2485646">
                      <a:extLst>
                        <a:ext uri="{9D8B030D-6E8A-4147-A177-3AD203B41FA5}">
                          <a16:colId xmlns:a16="http://schemas.microsoft.com/office/drawing/2014/main" val="3287920731"/>
                        </a:ext>
                      </a:extLst>
                    </a:gridCol>
                    <a:gridCol w="1850316">
                      <a:extLst>
                        <a:ext uri="{9D8B030D-6E8A-4147-A177-3AD203B41FA5}">
                          <a16:colId xmlns:a16="http://schemas.microsoft.com/office/drawing/2014/main" val="2539507273"/>
                        </a:ext>
                      </a:extLst>
                    </a:gridCol>
                    <a:gridCol w="796066">
                      <a:extLst>
                        <a:ext uri="{9D8B030D-6E8A-4147-A177-3AD203B41FA5}">
                          <a16:colId xmlns:a16="http://schemas.microsoft.com/office/drawing/2014/main" val="3442691133"/>
                        </a:ext>
                      </a:extLst>
                    </a:gridCol>
                  </a:tblGrid>
                  <a:tr h="7002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n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 dirty="0"/>
                            <a:t>n ×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zh-CN" altLang="zh-CN" sz="2000" dirty="0" smtClean="0">
                                  <a:solidFill>
                                    <a:srgbClr val="000000"/>
                                  </a:solidFill>
                                  <a:latin typeface="Arial" panose="020B0604020202020204" pitchFamily="34" charset="0"/>
                                </a:rPr>
                                <m:t>□</m:t>
                              </m:r>
                            </m:oMath>
                          </a14:m>
                          <a:r>
                            <a:rPr lang="en" sz="2000" dirty="0"/>
                            <a:t>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是否存在倒数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倒数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944255075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 dirty="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324315474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2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106918909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3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816313597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4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960413794"/>
                      </a:ext>
                    </a:extLst>
                  </a:tr>
                  <a:tr h="4276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5 × 5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575639408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6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507661504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7 × 7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41633065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8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754092047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9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541163549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10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26278891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11 × 11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11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7881348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0619CDDB-2976-FF2F-3EE3-F30146556C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8168930"/>
                  </p:ext>
                </p:extLst>
              </p:nvPr>
            </p:nvGraphicFramePr>
            <p:xfrm>
              <a:off x="5600613" y="1451954"/>
              <a:ext cx="5788073" cy="508248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56045">
                      <a:extLst>
                        <a:ext uri="{9D8B030D-6E8A-4147-A177-3AD203B41FA5}">
                          <a16:colId xmlns:a16="http://schemas.microsoft.com/office/drawing/2014/main" val="3822633427"/>
                        </a:ext>
                      </a:extLst>
                    </a:gridCol>
                    <a:gridCol w="2485646">
                      <a:extLst>
                        <a:ext uri="{9D8B030D-6E8A-4147-A177-3AD203B41FA5}">
                          <a16:colId xmlns:a16="http://schemas.microsoft.com/office/drawing/2014/main" val="3287920731"/>
                        </a:ext>
                      </a:extLst>
                    </a:gridCol>
                    <a:gridCol w="1850316">
                      <a:extLst>
                        <a:ext uri="{9D8B030D-6E8A-4147-A177-3AD203B41FA5}">
                          <a16:colId xmlns:a16="http://schemas.microsoft.com/office/drawing/2014/main" val="2539507273"/>
                        </a:ext>
                      </a:extLst>
                    </a:gridCol>
                    <a:gridCol w="796066">
                      <a:extLst>
                        <a:ext uri="{9D8B030D-6E8A-4147-A177-3AD203B41FA5}">
                          <a16:colId xmlns:a16="http://schemas.microsoft.com/office/drawing/2014/main" val="3442691133"/>
                        </a:ext>
                      </a:extLst>
                    </a:gridCol>
                  </a:tblGrid>
                  <a:tr h="7002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n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0653" marR="90653" marT="45326" marB="45326" anchor="ctr">
                        <a:blipFill>
                          <a:blip r:embed="rId8"/>
                          <a:stretch>
                            <a:fillRect l="-26531" t="-1818" r="-107653" b="-64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是否存在倒数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倒数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944255075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 dirty="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324315474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2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106918909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3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816313597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4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960413794"/>
                      </a:ext>
                    </a:extLst>
                  </a:tr>
                  <a:tr h="4276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5 × 5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575639408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6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507661504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7 × 7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41633065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8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754092047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9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541163549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10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26278891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11 × 11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11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7881348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1181948D-B1A6-DFB3-3CC8-035050123F30}"/>
              </a:ext>
            </a:extLst>
          </p:cNvPr>
          <p:cNvSpPr txBox="1"/>
          <p:nvPr/>
        </p:nvSpPr>
        <p:spPr>
          <a:xfrm>
            <a:off x="0" y="5586043"/>
            <a:ext cx="422775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观察：哪些数有倒数？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47218A-54E4-B39C-5628-52AB7E665CB1}"/>
              </a:ext>
            </a:extLst>
          </p:cNvPr>
          <p:cNvSpPr txBox="1"/>
          <p:nvPr/>
        </p:nvSpPr>
        <p:spPr>
          <a:xfrm>
            <a:off x="0" y="6184887"/>
            <a:ext cx="4787154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与 12 的最大公约数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gcd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为 1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F7E106-2B29-5A74-A410-463952176581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AB53C2C-B031-2253-BC7C-0C3D9F5C99E4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11E41A9-E301-3DB2-7CFD-7B2DB3FD15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9866F63E-6D30-356E-1C00-1F9AEB435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8AFDFD8-E6D3-D908-4ACE-BF7C453005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" name="Group 10">
              <a:extLst>
                <a:ext uri="{FF2B5EF4-FFF2-40B4-BE49-F238E27FC236}">
                  <a16:creationId xmlns:a16="http://schemas.microsoft.com/office/drawing/2014/main" id="{BB52AB3E-AD4C-8016-4208-2F8C0C28B4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61EE739D-DF10-E16E-00D6-249F13B886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E4B0B19E-216C-2DC2-8E9A-122ABE6879A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317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7" grpId="0"/>
      <p:bldP spid="25" grpId="0" animBg="1"/>
      <p:bldP spid="26" grpId="0" animBg="1"/>
      <p:bldP spid="27" grpId="0" animBg="1"/>
      <p:bldP spid="29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F094-0E3B-EA12-919A-1585128E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56DD29-469B-45DF-E2BD-96B2989FD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A21C40F-35BD-4237-4DE0-8ADFAD8F9D10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od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除法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A21C40F-35BD-4237-4DE0-8ADFAD8F9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AE5B0B74-0454-ABCD-1163-BB63EB26D755}"/>
              </a:ext>
            </a:extLst>
          </p:cNvPr>
          <p:cNvGraphicFramePr>
            <a:graphicFrameLocks noGrp="1"/>
          </p:cNvGraphicFramePr>
          <p:nvPr/>
        </p:nvGraphicFramePr>
        <p:xfrm>
          <a:off x="645459" y="1605268"/>
          <a:ext cx="6185647" cy="47454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90603">
                  <a:extLst>
                    <a:ext uri="{9D8B030D-6E8A-4147-A177-3AD203B41FA5}">
                      <a16:colId xmlns:a16="http://schemas.microsoft.com/office/drawing/2014/main" val="2159810531"/>
                    </a:ext>
                  </a:extLst>
                </a:gridCol>
                <a:gridCol w="2147522">
                  <a:extLst>
                    <a:ext uri="{9D8B030D-6E8A-4147-A177-3AD203B41FA5}">
                      <a16:colId xmlns:a16="http://schemas.microsoft.com/office/drawing/2014/main" val="4110128792"/>
                    </a:ext>
                  </a:extLst>
                </a:gridCol>
                <a:gridCol w="2147522">
                  <a:extLst>
                    <a:ext uri="{9D8B030D-6E8A-4147-A177-3AD203B41FA5}">
                      <a16:colId xmlns:a16="http://schemas.microsoft.com/office/drawing/2014/main" val="939667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gcd(n, 12)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是否有倒数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8588634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✔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97673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5985388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99146504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6767179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✔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90844879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6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6639783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✔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79214675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8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24796604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9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1094575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49220888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✔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44226497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A2FB9BA6-2F76-FBB2-2190-0C2D3E2E1787}"/>
              </a:ext>
            </a:extLst>
          </p:cNvPr>
          <p:cNvSpPr txBox="1"/>
          <p:nvPr/>
        </p:nvSpPr>
        <p:spPr>
          <a:xfrm>
            <a:off x="7115028" y="2521513"/>
            <a:ext cx="4787154" cy="3539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在以 12 为模的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情况下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，存在倒数的数字是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1,5,7,11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它们与 12 的最大公约数都是 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，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数学上称为：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与 12 互质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也可以理解为“相对于 12 的质数”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FD9C89-EEB8-443F-B9B7-D323D85DF345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D85257-3AFA-2372-A54D-0A3C91EB20A5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97E52DB0-761C-F96A-7B78-DAB23D0270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247F5EA5-3CF2-A302-156F-4E8570903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71A02B5A-DE4D-8ECC-D6D3-D67600181B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FF2C3D65-9FEA-A460-28D5-EA85A66604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DA8D15B2-F7CA-548D-7D65-65B003AC5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B08302A0-F932-5255-3FA0-0B086B157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142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7927-8B27-8836-B663-7481C9F1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68D663-E31B-03D4-30B2-938F0148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4EB3BD7-9A63-F3B2-8DCD-5E777B084B76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3091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od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指数运算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4EB3BD7-9A63-F3B2-8DCD-5E777B084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30915"/>
              </a:xfrm>
              <a:prstGeom prst="rect">
                <a:avLst/>
              </a:prstGeom>
              <a:blipFill>
                <a:blip r:embed="rId3"/>
                <a:stretch>
                  <a:fillRect b="-23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A76FF6D-61EC-387D-D708-67A7EB271DF7}"/>
                  </a:ext>
                </a:extLst>
              </p:cNvPr>
              <p:cNvSpPr txBox="1"/>
              <p:nvPr/>
            </p:nvSpPr>
            <p:spPr>
              <a:xfrm>
                <a:off x="1151067" y="1796586"/>
                <a:ext cx="8756725" cy="951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i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2401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2401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200 </m:t>
                      </m:r>
                      <m:r>
                        <m:rPr>
                          <m:nor/>
                        </m:rPr>
                        <a:rPr lang="zh-CN" altLang="zh-CN" sz="2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m:t>余</m:t>
                      </m:r>
                      <m:r>
                        <m:rPr>
                          <m:nor/>
                        </m:rPr>
                        <a:rPr lang="en-US" altLang="zh-CN" sz="2800" b="0" i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 b="0" i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m:t>1</m:t>
                      </m:r>
                    </m:oMath>
                  </m:oMathPara>
                </a14:m>
                <a:endParaRPr lang="zh-CN" altLang="zh-CN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A76FF6D-61EC-387D-D708-67A7EB271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067" y="1796586"/>
                <a:ext cx="8756725" cy="951030"/>
              </a:xfrm>
              <a:prstGeom prst="rect">
                <a:avLst/>
              </a:prstGeom>
              <a:blipFill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27EFC94-56F0-5448-7ED8-FF1D136E91AF}"/>
                  </a:ext>
                </a:extLst>
              </p:cNvPr>
              <p:cNvSpPr txBox="1"/>
              <p:nvPr/>
            </p:nvSpPr>
            <p:spPr>
              <a:xfrm>
                <a:off x="1151067" y="4176172"/>
                <a:ext cx="8756725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i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)×(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49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endParaRPr lang="zh-CN" altLang="zh-CN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27EFC94-56F0-5448-7ED8-FF1D136E9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067" y="4176172"/>
                <a:ext cx="8756725" cy="31085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6C11AC4E-A062-E1B1-1614-F9CDB87947C2}"/>
              </a:ext>
            </a:extLst>
          </p:cNvPr>
          <p:cNvSpPr txBox="1"/>
          <p:nvPr/>
        </p:nvSpPr>
        <p:spPr>
          <a:xfrm>
            <a:off x="0" y="3203819"/>
            <a:ext cx="1219200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在中间步骤取 mod，可以避免计算特别大的乘积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4A3C94-3A0F-C7FC-2EB3-E0890173083C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F27D448-2B43-4709-C318-A686DD86A7EF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ED950C52-3999-A278-07F0-EB55D1BF06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E20DC6DC-D0C9-F342-6F5B-7CE300534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244EE358-DAA4-9F51-11C3-D4BEE5107A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04287C80-6244-2379-173D-0B50CE092A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82CAD408-07F5-04AF-2E2D-DF3025CD6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8AF7B363-4CFD-49DA-9E4B-538A3AA1CD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621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98F6-1908-1C84-1895-9147DAA4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55C132-B169-8AC4-9B93-FA5407DC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DF732CC-F187-5C0C-A0AD-AF0914E77D3A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od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指数运算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DF732CC-F187-5C0C-A0AD-AF0914E77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90FCCE1-F0AD-F795-6038-EFD461B57A3C}"/>
                  </a:ext>
                </a:extLst>
              </p:cNvPr>
              <p:cNvSpPr txBox="1"/>
              <p:nvPr/>
            </p:nvSpPr>
            <p:spPr>
              <a:xfrm>
                <a:off x="1380564" y="1998171"/>
                <a:ext cx="342426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e>
                      </m:func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12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90FCCE1-F0AD-F795-6038-EFD461B57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564" y="1998171"/>
                <a:ext cx="3424267" cy="584775"/>
              </a:xfrm>
              <a:prstGeom prst="rect">
                <a:avLst/>
              </a:prstGeom>
              <a:blipFill>
                <a:blip r:embed="rId4"/>
                <a:stretch>
                  <a:fillRect b="-25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86F0387-F5E2-516D-2D40-8ADB8E6C248C}"/>
                  </a:ext>
                </a:extLst>
              </p:cNvPr>
              <p:cNvSpPr txBox="1"/>
              <p:nvPr/>
            </p:nvSpPr>
            <p:spPr>
              <a:xfrm>
                <a:off x="1189786" y="3054125"/>
                <a:ext cx="3772349" cy="841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zh-CN" altLang="zh-CN" sz="3200" dirty="0">
                                  <a:solidFill>
                                    <a:srgbClr val="000000"/>
                                  </a:solidFill>
                                  <a:latin typeface="Arial" panose="020B0604020202020204" pitchFamily="34" charset="0"/>
                                </a:rPr>
                                <m:t>□</m:t>
                              </m:r>
                            </m:sup>
                          </m:sSup>
                        </m:e>
                      </m:d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12=49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86F0387-F5E2-516D-2D40-8ADB8E6C2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786" y="3054125"/>
                <a:ext cx="3772349" cy="841384"/>
              </a:xfrm>
              <a:prstGeom prst="rect">
                <a:avLst/>
              </a:prstGeom>
              <a:blipFill>
                <a:blip r:embed="rId5"/>
                <a:stretch>
                  <a:fillRect r="-336"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4E1FAFF-0186-100C-0244-AA77DA16BB35}"/>
                  </a:ext>
                </a:extLst>
              </p:cNvPr>
              <p:cNvSpPr txBox="1"/>
              <p:nvPr/>
            </p:nvSpPr>
            <p:spPr>
              <a:xfrm>
                <a:off x="1380564" y="4254537"/>
                <a:ext cx="3772349" cy="829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altLang="zh-CN" sz="3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12=49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4E1FAFF-0186-100C-0244-AA77DA16B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564" y="4254537"/>
                <a:ext cx="3772349" cy="82933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下箭头 12">
            <a:extLst>
              <a:ext uri="{FF2B5EF4-FFF2-40B4-BE49-F238E27FC236}">
                <a16:creationId xmlns:a16="http://schemas.microsoft.com/office/drawing/2014/main" id="{1132BE86-3A4E-9347-E4B6-FC8152699991}"/>
              </a:ext>
            </a:extLst>
          </p:cNvPr>
          <p:cNvSpPr/>
          <p:nvPr/>
        </p:nvSpPr>
        <p:spPr>
          <a:xfrm>
            <a:off x="2899185" y="2593491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55C8408F-8451-3179-FBD5-7D0D6DCDC25E}"/>
              </a:ext>
            </a:extLst>
          </p:cNvPr>
          <p:cNvSpPr/>
          <p:nvPr/>
        </p:nvSpPr>
        <p:spPr>
          <a:xfrm>
            <a:off x="2899185" y="3879532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51DB97E-2544-D5FF-43DD-70BBFC0A092D}"/>
                  </a:ext>
                </a:extLst>
              </p:cNvPr>
              <p:cNvSpPr txBox="1"/>
              <p:nvPr/>
            </p:nvSpPr>
            <p:spPr>
              <a:xfrm>
                <a:off x="6699404" y="2290559"/>
                <a:ext cx="411203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func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13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51DB97E-2544-D5FF-43DD-70BBFC0A0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404" y="2290559"/>
                <a:ext cx="4112032" cy="584775"/>
              </a:xfrm>
              <a:prstGeom prst="rect">
                <a:avLst/>
              </a:prstGeom>
              <a:blipFill>
                <a:blip r:embed="rId7"/>
                <a:stretch>
                  <a:fillRect b="-25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AC64970-F092-0E03-51D5-D9E09B393BC8}"/>
                  </a:ext>
                </a:extLst>
              </p:cNvPr>
              <p:cNvSpPr txBox="1"/>
              <p:nvPr/>
            </p:nvSpPr>
            <p:spPr>
              <a:xfrm>
                <a:off x="7127190" y="3468554"/>
                <a:ext cx="3772349" cy="841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zh-CN" altLang="zh-CN" sz="3200" dirty="0">
                                  <a:solidFill>
                                    <a:srgbClr val="000000"/>
                                  </a:solidFill>
                                  <a:latin typeface="Arial" panose="020B0604020202020204" pitchFamily="34" charset="0"/>
                                </a:rPr>
                                <m:t>□</m:t>
                              </m:r>
                            </m:sup>
                          </m:sSup>
                        </m:e>
                      </m:d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13=8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AC64970-F092-0E03-51D5-D9E09B393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190" y="3468554"/>
                <a:ext cx="3772349" cy="841384"/>
              </a:xfrm>
              <a:prstGeom prst="rect">
                <a:avLst/>
              </a:prstGeom>
              <a:blipFill>
                <a:blip r:embed="rId8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下箭头 26">
            <a:extLst>
              <a:ext uri="{FF2B5EF4-FFF2-40B4-BE49-F238E27FC236}">
                <a16:creationId xmlns:a16="http://schemas.microsoft.com/office/drawing/2014/main" id="{9302FE2C-74AB-67C7-F162-A21D0B80E25C}"/>
              </a:ext>
            </a:extLst>
          </p:cNvPr>
          <p:cNvSpPr/>
          <p:nvPr/>
        </p:nvSpPr>
        <p:spPr>
          <a:xfrm>
            <a:off x="8836589" y="3007920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B2D8C4-6781-B007-0A02-EE15C21C40A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30392ED-3702-7482-098A-97461152490F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C0A36CBB-0657-C8EB-75B1-DEC08229C1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7" name="Freeform 11">
                <a:extLst>
                  <a:ext uri="{FF2B5EF4-FFF2-40B4-BE49-F238E27FC236}">
                    <a16:creationId xmlns:a16="http://schemas.microsoft.com/office/drawing/2014/main" id="{10943CE2-245E-B7D5-DAFF-61D2EE081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6AB5E2DE-E291-E3AA-9ED1-335DBCC554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CD09257C-8DDA-F7E8-8DFD-BBE69708DB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BFC845D-84B0-F478-6DF7-7CFFA218C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A2C559B0-ED29-31FB-2978-CDFA52B107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598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3" grpId="0" animBg="1"/>
      <p:bldP spid="15" grpId="0" animBg="1"/>
      <p:bldP spid="25" grpId="0"/>
      <p:bldP spid="26" grpId="0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4619-7A2B-EF2B-9300-0AB670D2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F8E1F-D50D-06D9-6692-62B92345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05ECF1F-6187-8751-8229-E4FE32FB73CD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od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指数运算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05ECF1F-6187-8751-8229-E4FE32FB7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FE696CD-1379-804B-0A6C-AEF827401D29}"/>
                  </a:ext>
                </a:extLst>
              </p:cNvPr>
              <p:cNvSpPr txBox="1"/>
              <p:nvPr/>
            </p:nvSpPr>
            <p:spPr>
              <a:xfrm>
                <a:off x="56451" y="1679126"/>
                <a:ext cx="377234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func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FE696CD-1379-804B-0A6C-AEF827401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1" y="1679126"/>
                <a:ext cx="3772349" cy="584775"/>
              </a:xfrm>
              <a:prstGeom prst="rect">
                <a:avLst/>
              </a:prstGeom>
              <a:blipFill>
                <a:blip r:embed="rId4"/>
                <a:stretch>
                  <a:fillRect b="-25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FCA8A97-EFEC-B0BC-C915-91D95587E144}"/>
                  </a:ext>
                </a:extLst>
              </p:cNvPr>
              <p:cNvSpPr txBox="1"/>
              <p:nvPr/>
            </p:nvSpPr>
            <p:spPr>
              <a:xfrm>
                <a:off x="56452" y="2824047"/>
                <a:ext cx="3772349" cy="841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zh-CN" altLang="zh-CN" sz="3200" dirty="0">
                                  <a:solidFill>
                                    <a:srgbClr val="000000"/>
                                  </a:solidFill>
                                  <a:latin typeface="Arial" panose="020B0604020202020204" pitchFamily="34" charset="0"/>
                                </a:rPr>
                                <m:t>□</m:t>
                              </m:r>
                            </m:sup>
                          </m:sSup>
                        </m:e>
                      </m:d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FCA8A97-EFEC-B0BC-C915-91D95587E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2" y="2824047"/>
                <a:ext cx="3772349" cy="841384"/>
              </a:xfrm>
              <a:prstGeom prst="rect">
                <a:avLst/>
              </a:prstGeom>
              <a:blipFill>
                <a:blip r:embed="rId5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下箭头 26">
            <a:extLst>
              <a:ext uri="{FF2B5EF4-FFF2-40B4-BE49-F238E27FC236}">
                <a16:creationId xmlns:a16="http://schemas.microsoft.com/office/drawing/2014/main" id="{CF9A5E56-AE63-1FEC-E37A-FAD56B5C9D81}"/>
              </a:ext>
            </a:extLst>
          </p:cNvPr>
          <p:cNvSpPr/>
          <p:nvPr/>
        </p:nvSpPr>
        <p:spPr>
          <a:xfrm>
            <a:off x="1765851" y="2363413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1155D77E-3086-CD5D-BBAA-4AD4327DACC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53908" y="1479376"/>
              <a:ext cx="3930102" cy="439959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965051">
                      <a:extLst>
                        <a:ext uri="{9D8B030D-6E8A-4147-A177-3AD203B41FA5}">
                          <a16:colId xmlns:a16="http://schemas.microsoft.com/office/drawing/2014/main" val="3010877693"/>
                        </a:ext>
                      </a:extLst>
                    </a:gridCol>
                    <a:gridCol w="1965051">
                      <a:extLst>
                        <a:ext uri="{9D8B030D-6E8A-4147-A177-3AD203B41FA5}">
                          <a16:colId xmlns:a16="http://schemas.microsoft.com/office/drawing/2014/main" val="2433261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 i="1" dirty="0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smtClean="0"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sz="2000" b="0" i="1" smtClean="0"/>
                                          <m:t>n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altLang="zh-CN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22074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610081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333703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44449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86580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06049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914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38887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3071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164715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142201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1155D77E-3086-CD5D-BBAA-4AD4327DA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7242009"/>
                  </p:ext>
                </p:extLst>
              </p:nvPr>
            </p:nvGraphicFramePr>
            <p:xfrm>
              <a:off x="7653908" y="1479376"/>
              <a:ext cx="3930102" cy="439959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965051">
                      <a:extLst>
                        <a:ext uri="{9D8B030D-6E8A-4147-A177-3AD203B41FA5}">
                          <a16:colId xmlns:a16="http://schemas.microsoft.com/office/drawing/2014/main" val="3010877693"/>
                        </a:ext>
                      </a:extLst>
                    </a:gridCol>
                    <a:gridCol w="1965051">
                      <a:extLst>
                        <a:ext uri="{9D8B030D-6E8A-4147-A177-3AD203B41FA5}">
                          <a16:colId xmlns:a16="http://schemas.microsoft.com/office/drawing/2014/main" val="24332610"/>
                        </a:ext>
                      </a:extLst>
                    </a:gridCol>
                  </a:tblGrid>
                  <a:tr h="43719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 i="1" dirty="0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1290" t="-2941" r="-645" b="-94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074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610081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3337032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44449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865807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060492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9147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38887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3071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1647151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142201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AA0BCBDE-8F86-9F3D-2868-483182A12749}"/>
              </a:ext>
            </a:extLst>
          </p:cNvPr>
          <p:cNvSpPr txBox="1"/>
          <p:nvPr/>
        </p:nvSpPr>
        <p:spPr>
          <a:xfrm>
            <a:off x="0" y="3864455"/>
            <a:ext cx="402336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求解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离散对数的困难性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20DF5B-B0EC-4038-CFA0-34112E161E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71" y="4457063"/>
            <a:ext cx="6952129" cy="227406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B62C7F7-4D63-1648-6F8C-D411F9505990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83743A9-08C1-6F5B-4984-ADFF3C29AB54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7CEF7882-B589-FBCA-5AB4-BBA1B1BD51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EFBFCCC2-178D-29F9-911D-6317217C0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BE834A60-088F-3A02-880D-08892A06C1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E7594E6-0CFD-DFB7-BB41-6B9A8FE061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3F6678EE-1E80-9FAF-50D4-393AEEA5D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4A25E062-D918-DC54-ECE3-076C8C9FDB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555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688B8CC6-B548-40CA-93E4-212D0E04D22F}"/>
              </a:ext>
            </a:extLst>
          </p:cNvPr>
          <p:cNvGrpSpPr/>
          <p:nvPr/>
        </p:nvGrpSpPr>
        <p:grpSpPr>
          <a:xfrm rot="637793">
            <a:off x="6717963" y="-2695151"/>
            <a:ext cx="8786687" cy="13156983"/>
            <a:chOff x="14552960" y="-177472"/>
            <a:chExt cx="7029080" cy="10525183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D57EA9D9-5E3A-4570-A0A1-FE4F71280BCC}"/>
                </a:ext>
              </a:extLst>
            </p:cNvPr>
            <p:cNvGrpSpPr/>
            <p:nvPr/>
          </p:nvGrpSpPr>
          <p:grpSpPr>
            <a:xfrm rot="1495231">
              <a:off x="15166450" y="-177472"/>
              <a:ext cx="4878842" cy="4879972"/>
              <a:chOff x="18351500" y="3723568"/>
              <a:chExt cx="4878842" cy="4879972"/>
            </a:xfrm>
          </p:grpSpPr>
          <p:sp>
            <p:nvSpPr>
              <p:cNvPr id="32" name="Freeform 6">
                <a:extLst>
                  <a:ext uri="{FF2B5EF4-FFF2-40B4-BE49-F238E27FC236}">
                    <a16:creationId xmlns:a16="http://schemas.microsoft.com/office/drawing/2014/main" id="{A1E9E03B-1BC3-4C9A-8A51-7329E00EC1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7">
                <a:extLst>
                  <a:ext uri="{FF2B5EF4-FFF2-40B4-BE49-F238E27FC236}">
                    <a16:creationId xmlns:a16="http://schemas.microsoft.com/office/drawing/2014/main" id="{245CCFFC-F09A-47D8-8B3B-88EF31E890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5AA2E4A-FA11-4014-B207-60C2845236D6}"/>
                </a:ext>
              </a:extLst>
            </p:cNvPr>
            <p:cNvGrpSpPr/>
            <p:nvPr/>
          </p:nvGrpSpPr>
          <p:grpSpPr>
            <a:xfrm rot="12295231">
              <a:off x="14552960" y="3317003"/>
              <a:ext cx="7029080" cy="7030708"/>
              <a:chOff x="18351500" y="3723568"/>
              <a:chExt cx="4878842" cy="4879972"/>
            </a:xfrm>
          </p:grpSpPr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3C6CFD63-5B57-41A7-B662-313039308E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1B6F08D9-7F96-4802-B7C9-CB4EEC2083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EA178E5B-74EB-4472-9261-43D09FBB4F2E}"/>
              </a:ext>
            </a:extLst>
          </p:cNvPr>
          <p:cNvSpPr txBox="1"/>
          <p:nvPr/>
        </p:nvSpPr>
        <p:spPr>
          <a:xfrm>
            <a:off x="652513" y="1677787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5000" b="1" dirty="0">
                <a:solidFill>
                  <a:schemeClr val="bg2">
                    <a:lumMod val="25000"/>
                  </a:schemeClr>
                </a:solidFill>
              </a:rPr>
              <a:t>目录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B7EEC8-D0FE-4CE4-8A07-1E4B690DFD28}"/>
              </a:ext>
            </a:extLst>
          </p:cNvPr>
          <p:cNvSpPr txBox="1"/>
          <p:nvPr/>
        </p:nvSpPr>
        <p:spPr>
          <a:xfrm>
            <a:off x="735264" y="1378338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CONTENTES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7B4CD1D-6AD6-4688-8633-DC339240DC4F}"/>
              </a:ext>
            </a:extLst>
          </p:cNvPr>
          <p:cNvCxnSpPr>
            <a:cxnSpLocks/>
          </p:cNvCxnSpPr>
          <p:nvPr/>
        </p:nvCxnSpPr>
        <p:spPr>
          <a:xfrm>
            <a:off x="2857189" y="1378338"/>
            <a:ext cx="0" cy="289377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7FD82452-0520-F785-312C-5D815ADFBD79}"/>
              </a:ext>
            </a:extLst>
          </p:cNvPr>
          <p:cNvGrpSpPr/>
          <p:nvPr/>
        </p:nvGrpSpPr>
        <p:grpSpPr>
          <a:xfrm>
            <a:off x="3256825" y="1444879"/>
            <a:ext cx="3989097" cy="538609"/>
            <a:chOff x="3667674" y="1375533"/>
            <a:chExt cx="3989097" cy="538609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D9548F1-90DB-E923-2075-A4465319BD30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密钥生成过程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34FD175-468F-7AEC-E313-DDA343DBFB74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8D4E6E0-C5F9-9665-AE62-758B77FD9A0D}"/>
              </a:ext>
            </a:extLst>
          </p:cNvPr>
          <p:cNvGrpSpPr/>
          <p:nvPr/>
        </p:nvGrpSpPr>
        <p:grpSpPr>
          <a:xfrm>
            <a:off x="3256825" y="2258765"/>
            <a:ext cx="3989097" cy="538609"/>
            <a:chOff x="3667674" y="1375533"/>
            <a:chExt cx="3989097" cy="538609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945DE24-7C02-3E19-9939-FEA04F723602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加密解密过程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1A5A80D-536B-7315-0B74-8100282075EF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B5B2A86-46C6-8D87-FF4E-4AB112FCAF49}"/>
              </a:ext>
            </a:extLst>
          </p:cNvPr>
          <p:cNvGrpSpPr/>
          <p:nvPr/>
        </p:nvGrpSpPr>
        <p:grpSpPr>
          <a:xfrm>
            <a:off x="3256825" y="3090009"/>
            <a:ext cx="3989097" cy="538609"/>
            <a:chOff x="3667674" y="1375533"/>
            <a:chExt cx="3989097" cy="538609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E4573D5-4D37-61D1-77C5-525196BF2273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的安全性分析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EB10EFE-9AD8-FD93-BA65-D7BED8058A5C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4136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8C41-EF96-8809-CBFC-A985D87F2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89B17C-2B16-2AD2-1515-94969D6FC652}"/>
              </a:ext>
            </a:extLst>
          </p:cNvPr>
          <p:cNvSpPr txBox="1"/>
          <p:nvPr/>
        </p:nvSpPr>
        <p:spPr>
          <a:xfrm>
            <a:off x="3352513" y="2754066"/>
            <a:ext cx="5482323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RSA</a:t>
            </a:r>
            <a:r>
              <a:rPr lang="zh-CN" altLang="en-US" sz="4000" dirty="0">
                <a:solidFill>
                  <a:schemeClr val="accent1"/>
                </a:solidFill>
              </a:rPr>
              <a:t>密钥生成过程</a:t>
            </a:r>
            <a:endParaRPr lang="en-US" altLang="zh-CN" sz="4000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3BE3C1-99AE-CC1C-EF2D-2A866F95AE12}"/>
              </a:ext>
            </a:extLst>
          </p:cNvPr>
          <p:cNvSpPr txBox="1"/>
          <p:nvPr/>
        </p:nvSpPr>
        <p:spPr>
          <a:xfrm>
            <a:off x="5720898" y="2041451"/>
            <a:ext cx="750205" cy="5386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#01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D1C1BDEF-04BF-63A7-70D4-DFB5136E17D9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3100272" y="1534089"/>
            <a:ext cx="922672" cy="922974"/>
            <a:chOff x="14101" y="4437"/>
            <a:chExt cx="3056" cy="305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F5A9C3A5-0656-117E-A298-6DD1A7A91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5E47A1CC-250D-F6BE-B009-9FA9063E8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71513FE-D90A-97E7-4B77-AAF67917D167}"/>
              </a:ext>
            </a:extLst>
          </p:cNvPr>
          <p:cNvGrpSpPr/>
          <p:nvPr/>
        </p:nvGrpSpPr>
        <p:grpSpPr>
          <a:xfrm rot="18900000">
            <a:off x="7424365" y="-2902432"/>
            <a:ext cx="6098786" cy="6100199"/>
            <a:chOff x="18351500" y="3723568"/>
            <a:chExt cx="4878842" cy="4879972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793131CA-562E-B78F-25D3-A074FC3781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FE24490-6104-D3B6-FD94-435092EA7D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0899DB9-1365-4816-A7F1-4295702FDAD4}"/>
              </a:ext>
            </a:extLst>
          </p:cNvPr>
          <p:cNvGrpSpPr/>
          <p:nvPr/>
        </p:nvGrpSpPr>
        <p:grpSpPr>
          <a:xfrm rot="8100000">
            <a:off x="6722596" y="2086183"/>
            <a:ext cx="8786687" cy="8788722"/>
            <a:chOff x="18351500" y="3723568"/>
            <a:chExt cx="4878842" cy="4879972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D0A9EB2E-96FD-3A2F-9523-36A3B9BE84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7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7C0AA00-295E-BB55-2730-E7FCD34440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613469AD-9A58-08D6-0300-AAF21FC00670}"/>
              </a:ext>
            </a:extLst>
          </p:cNvPr>
          <p:cNvGrpSpPr>
            <a:grpSpLocks noChangeAspect="1"/>
          </p:cNvGrpSpPr>
          <p:nvPr/>
        </p:nvGrpSpPr>
        <p:grpSpPr bwMode="auto">
          <a:xfrm rot="8100000">
            <a:off x="10501205" y="2666453"/>
            <a:ext cx="4851400" cy="4852988"/>
            <a:chOff x="14101" y="4437"/>
            <a:chExt cx="3056" cy="3057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193C255F-349C-8627-314A-D3E8F3606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C115CE08-469C-56DA-C331-619A08E2EF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E50757B-69B9-2816-D7BA-8079C7D9444D}"/>
              </a:ext>
            </a:extLst>
          </p:cNvPr>
          <p:cNvGrpSpPr/>
          <p:nvPr/>
        </p:nvGrpSpPr>
        <p:grpSpPr>
          <a:xfrm rot="18900000">
            <a:off x="-2098325" y="3005269"/>
            <a:ext cx="6098786" cy="6100199"/>
            <a:chOff x="18351500" y="3723568"/>
            <a:chExt cx="4878842" cy="4879972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3404029F-0DE2-386D-BC78-3C721FDF9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2078348E-E25D-EADF-8808-110348861D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E5BBD459-456E-3A1C-9EB2-C7617F3A8413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2714211" y="1610357"/>
            <a:ext cx="1291038" cy="1291460"/>
            <a:chOff x="14101" y="4437"/>
            <a:chExt cx="3056" cy="3057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DACC32E1-59B0-22C9-E7FB-E3EDF9DCF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D082546C-FFF9-EB2B-C063-5FAD1172DD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62027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B808E-B1EE-C654-91B1-0B9CF386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5B79F6-1636-41B1-4802-ADCCA999EBA7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18F5B8C-186A-D3DE-FD2E-09C0CB1F05A1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43DA51E0-55E1-A94D-1C46-21C63F72CED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0AD48BAA-13B2-FAD7-9242-803EFE99D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CB5366DA-D4F7-178C-D191-B0AA9DFE60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B670B1DC-BAAD-468E-9108-336BBD5570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69213C93-45D0-97D6-7E01-7BB8D26CC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1BB2895B-84DC-F882-D78F-3D2A8EAB0D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457AFAC-E544-3102-C492-908849465B29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加密机制</a:t>
                </a:r>
                <a:r>
                  <a:rPr lang="en-US" altLang="zh-CN" sz="2800" dirty="0"/>
                  <a:t>(1977)</a:t>
                </a:r>
                <a:endParaRPr lang="zh-CN" altLang="en-US" sz="2800" dirty="0">
                  <a:latin typeface="+mn-lt"/>
                  <a:ea typeface="+mn-ea"/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457AFAC-E544-3102-C492-908849465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2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ACEF3722-E791-B9C8-906C-73DD852F4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7" r="6134"/>
          <a:stretch>
            <a:fillRect/>
          </a:stretch>
        </p:blipFill>
        <p:spPr bwMode="auto">
          <a:xfrm>
            <a:off x="221262" y="1685198"/>
            <a:ext cx="326136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9912F36A-CAEE-7FE9-6184-AA3BF68C8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833" y="1678756"/>
            <a:ext cx="3344333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A0E9F46E-4D28-1BAE-5FDF-E308EF79D2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9" b="16394"/>
          <a:stretch>
            <a:fillRect/>
          </a:stretch>
        </p:blipFill>
        <p:spPr bwMode="auto">
          <a:xfrm>
            <a:off x="8709377" y="1685198"/>
            <a:ext cx="326136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2E1CB6B-757B-C175-D45D-FE8E4A67434E}"/>
              </a:ext>
            </a:extLst>
          </p:cNvPr>
          <p:cNvSpPr txBox="1"/>
          <p:nvPr/>
        </p:nvSpPr>
        <p:spPr>
          <a:xfrm>
            <a:off x="9064977" y="5665713"/>
            <a:ext cx="2550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伦纳德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·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阿德曼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ctr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Leonard Max Adleman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1B9EEE-76E3-75A4-788B-2237FF0BBA5D}"/>
              </a:ext>
            </a:extLst>
          </p:cNvPr>
          <p:cNvSpPr txBox="1"/>
          <p:nvPr/>
        </p:nvSpPr>
        <p:spPr>
          <a:xfrm>
            <a:off x="5436446" y="5665713"/>
            <a:ext cx="1523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阿迪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·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萨莫尔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ctr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Adi Shamir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4E4B79-D525-9238-B639-369DD4F9E665}"/>
              </a:ext>
            </a:extLst>
          </p:cNvPr>
          <p:cNvSpPr txBox="1"/>
          <p:nvPr/>
        </p:nvSpPr>
        <p:spPr>
          <a:xfrm>
            <a:off x="761154" y="5665713"/>
            <a:ext cx="212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罗纳德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·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李维斯特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ctr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Ronald L. Rivest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0806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A35A0E-C1A4-8689-6378-9D0FD97BB3C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59C880C-B0F8-F687-D984-79B227621B6B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312C2557-28D1-46BE-98C8-63695C2388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B91E4F00-6F4B-E5F6-8D7A-4EB499E89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D5F583B9-1A17-4FF1-E987-2F70DE7650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BA2FE466-1DD3-7DC2-4C0B-E7F662D200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14FA2023-B313-42BD-BA4A-83A8DFB74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11A94971-B3B2-7D0E-1790-9C7BAABE5C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660292-01C4-E5E0-9D7C-34E66296091E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660292-01C4-E5E0-9D7C-34E662960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2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4588B0-638F-C5C1-043C-EA95182F09A5}"/>
                  </a:ext>
                </a:extLst>
              </p:cNvPr>
              <p:cNvSpPr txBox="1"/>
              <p:nvPr/>
            </p:nvSpPr>
            <p:spPr>
              <a:xfrm>
                <a:off x="-321923" y="1906604"/>
                <a:ext cx="4206304" cy="6631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4588B0-638F-C5C1-043C-EA95182F0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923" y="1906604"/>
                <a:ext cx="4206304" cy="6631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D9B6DCC-3C22-E33D-BFB5-8C79E37FA405}"/>
                  </a:ext>
                </a:extLst>
              </p:cNvPr>
              <p:cNvSpPr txBox="1"/>
              <p:nvPr/>
            </p:nvSpPr>
            <p:spPr>
              <a:xfrm>
                <a:off x="3666644" y="1906604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sz="40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D9B6DCC-3C22-E33D-BFB5-8C79E37FA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644" y="1906604"/>
                <a:ext cx="4206304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8A8F96E-980D-5D32-B901-E98953568EDA}"/>
                  </a:ext>
                </a:extLst>
              </p:cNvPr>
              <p:cNvSpPr txBox="1"/>
              <p:nvPr/>
            </p:nvSpPr>
            <p:spPr>
              <a:xfrm>
                <a:off x="7655211" y="1906603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𝑝𝑘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8A8F96E-980D-5D32-B901-E98953568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211" y="1906603"/>
                <a:ext cx="4206304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12C2C7-A487-D321-4EA0-FE5B3D1EFB75}"/>
                  </a:ext>
                </a:extLst>
              </p:cNvPr>
              <p:cNvSpPr txBox="1"/>
              <p:nvPr/>
            </p:nvSpPr>
            <p:spPr>
              <a:xfrm>
                <a:off x="0" y="3238840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ea typeface="+mn-ea"/>
                      </a:rPr>
                      <m:t>解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密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12C2C7-A487-D321-4EA0-FE5B3D1EF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38840"/>
                <a:ext cx="12192000" cy="523220"/>
              </a:xfrm>
              <a:prstGeom prst="rect">
                <a:avLst/>
              </a:prstGeom>
              <a:blipFill>
                <a:blip r:embed="rId6"/>
                <a:stretch>
                  <a:fillRect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37005C6-F936-D0A5-461D-4CF115BD515B}"/>
                  </a:ext>
                </a:extLst>
              </p:cNvPr>
              <p:cNvSpPr txBox="1"/>
              <p:nvPr/>
            </p:nvSpPr>
            <p:spPr>
              <a:xfrm>
                <a:off x="-321923" y="4532106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𝑠𝑘</m:t>
                          </m:r>
                        </m:sub>
                      </m:sSub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37005C6-F936-D0A5-461D-4CF115BD5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923" y="4532106"/>
                <a:ext cx="4206304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EC168BA-EDE2-0355-DC39-5881F9159E67}"/>
                  </a:ext>
                </a:extLst>
              </p:cNvPr>
              <p:cNvSpPr txBox="1"/>
              <p:nvPr/>
            </p:nvSpPr>
            <p:spPr>
              <a:xfrm>
                <a:off x="3666644" y="4532106"/>
                <a:ext cx="4206304" cy="6265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sz="40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EC168BA-EDE2-0355-DC39-5881F9159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644" y="4532106"/>
                <a:ext cx="4206304" cy="6265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8BE052-7300-A662-BCB4-AAB0591B107A}"/>
                  </a:ext>
                </a:extLst>
              </p:cNvPr>
              <p:cNvSpPr txBox="1"/>
              <p:nvPr/>
            </p:nvSpPr>
            <p:spPr>
              <a:xfrm>
                <a:off x="7655211" y="4532105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𝑠𝑘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8BE052-7300-A662-BCB4-AAB0591B1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211" y="4532105"/>
                <a:ext cx="4206304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下箭头 26">
            <a:extLst>
              <a:ext uri="{FF2B5EF4-FFF2-40B4-BE49-F238E27FC236}">
                <a16:creationId xmlns:a16="http://schemas.microsoft.com/office/drawing/2014/main" id="{7CB831E8-845D-5FA1-A064-ACA04AF1089B}"/>
              </a:ext>
            </a:extLst>
          </p:cNvPr>
          <p:cNvSpPr/>
          <p:nvPr/>
        </p:nvSpPr>
        <p:spPr>
          <a:xfrm rot="16200000">
            <a:off x="3317113" y="1965978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9" name="下箭头 26">
            <a:extLst>
              <a:ext uri="{FF2B5EF4-FFF2-40B4-BE49-F238E27FC236}">
                <a16:creationId xmlns:a16="http://schemas.microsoft.com/office/drawing/2014/main" id="{5DE55B76-E4C4-1255-2FC3-9C1C58235696}"/>
              </a:ext>
            </a:extLst>
          </p:cNvPr>
          <p:cNvSpPr/>
          <p:nvPr/>
        </p:nvSpPr>
        <p:spPr>
          <a:xfrm rot="16200000">
            <a:off x="7592202" y="1965978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" name="下箭头 26">
            <a:extLst>
              <a:ext uri="{FF2B5EF4-FFF2-40B4-BE49-F238E27FC236}">
                <a16:creationId xmlns:a16="http://schemas.microsoft.com/office/drawing/2014/main" id="{0E13775E-8962-60AB-61CE-686EF877B296}"/>
              </a:ext>
            </a:extLst>
          </p:cNvPr>
          <p:cNvSpPr/>
          <p:nvPr/>
        </p:nvSpPr>
        <p:spPr>
          <a:xfrm rot="16200000">
            <a:off x="3317113" y="4527466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1" name="下箭头 26">
            <a:extLst>
              <a:ext uri="{FF2B5EF4-FFF2-40B4-BE49-F238E27FC236}">
                <a16:creationId xmlns:a16="http://schemas.microsoft.com/office/drawing/2014/main" id="{3175385A-015E-BBBD-E9F4-AC35598CA2BA}"/>
              </a:ext>
            </a:extLst>
          </p:cNvPr>
          <p:cNvSpPr/>
          <p:nvPr/>
        </p:nvSpPr>
        <p:spPr>
          <a:xfrm rot="16200000">
            <a:off x="7592202" y="4587243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137406-B5B4-5B0A-334F-DE544B7996CD}"/>
              </a:ext>
            </a:extLst>
          </p:cNvPr>
          <p:cNvSpPr txBox="1"/>
          <p:nvPr/>
        </p:nvSpPr>
        <p:spPr>
          <a:xfrm>
            <a:off x="0" y="5780561"/>
            <a:ext cx="577088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RSA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的明文、密文、密钥均为整数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2E28003-C350-1D7E-0703-1C560730D6A5}"/>
                  </a:ext>
                </a:extLst>
              </p:cNvPr>
              <p:cNvSpPr txBox="1"/>
              <p:nvPr/>
            </p:nvSpPr>
            <p:spPr>
              <a:xfrm>
                <a:off x="7647340" y="5710157"/>
                <a:ext cx="4544660" cy="593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𝑒𝑑</m:t>
                          </m:r>
                        </m:sup>
                      </m:sSup>
                      <m:d>
                        <m:dPr>
                          <m:ctrlP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2E28003-C350-1D7E-0703-1C560730D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340" y="5710157"/>
                <a:ext cx="4544660" cy="5936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36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9DD1-9DBC-2673-B075-BA136C784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136AF-C070-B2B7-23D4-AA33ACA1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B25AB-B8EC-BA8C-04E3-13F204024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660" y="3630468"/>
            <a:ext cx="4940300" cy="29337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DE8BFAF-E80D-8B1B-B693-AB2345D7C69D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单向陷门函数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E34FF68-BD9B-7FD5-FD40-9EB63959A824}"/>
              </a:ext>
            </a:extLst>
          </p:cNvPr>
          <p:cNvGrpSpPr/>
          <p:nvPr/>
        </p:nvGrpSpPr>
        <p:grpSpPr>
          <a:xfrm>
            <a:off x="3412992" y="99174"/>
            <a:ext cx="425713" cy="442041"/>
            <a:chOff x="5823870" y="1767426"/>
            <a:chExt cx="425713" cy="442041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EE2B3AD-D6CC-1C87-08D4-96B0026EB3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1ACBF069-9CDD-BD11-EC40-4D57214E4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1390762A-4857-CF79-3914-98A3A611DD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F61F4E-8BC3-84D3-5B29-F8C37F036B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49297594-37C2-970E-892B-D897BECBC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93EE7F8-3A9F-4E70-6146-B192002111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97476E5-43AA-A014-CEBD-08180CADECB9}"/>
              </a:ext>
            </a:extLst>
          </p:cNvPr>
          <p:cNvSpPr/>
          <p:nvPr/>
        </p:nvSpPr>
        <p:spPr>
          <a:xfrm>
            <a:off x="202095" y="947634"/>
            <a:ext cx="11787809" cy="1120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陷门函数（</a:t>
            </a:r>
            <a:r>
              <a:rPr lang="en" altLang="zh-CN" sz="2800" dirty="0">
                <a:solidFill>
                  <a:schemeClr val="tx1"/>
                </a:solidFill>
              </a:rPr>
              <a:t>Trapdoor function</a:t>
            </a:r>
            <a:r>
              <a:rPr lang="zh-CN" altLang="en" sz="2800" dirty="0">
                <a:solidFill>
                  <a:schemeClr val="tx1"/>
                </a:solidFill>
              </a:rPr>
              <a:t>）</a:t>
            </a:r>
            <a:r>
              <a:rPr lang="en" altLang="zh-CN" sz="2800" dirty="0">
                <a:solidFill>
                  <a:schemeClr val="tx1"/>
                </a:solidFill>
              </a:rPr>
              <a:t>: </a:t>
            </a:r>
            <a:r>
              <a:rPr lang="zh-CN" altLang="en" sz="2800" dirty="0">
                <a:solidFill>
                  <a:schemeClr val="tx1"/>
                </a:solidFill>
              </a:rPr>
              <a:t>正向</a:t>
            </a:r>
            <a:r>
              <a:rPr lang="zh-CN" altLang="en-US" sz="2800" dirty="0">
                <a:solidFill>
                  <a:schemeClr val="tx1"/>
                </a:solidFill>
              </a:rPr>
              <a:t>计算容易，逆向计算困难。</a:t>
            </a:r>
            <a:r>
              <a:rPr lang="zh-CN" altLang="en-US" sz="2800" dirty="0">
                <a:solidFill>
                  <a:srgbClr val="FF0000"/>
                </a:solidFill>
              </a:rPr>
              <a:t>但在已知特定信息（陷门）时逆向计算容易</a:t>
            </a:r>
            <a:r>
              <a:rPr lang="zh-CN" altLang="en-US" sz="2800" dirty="0">
                <a:solidFill>
                  <a:schemeClr val="tx1"/>
                </a:solidFill>
              </a:rPr>
              <a:t>，即带有陷门的单向函数。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82BBF5-7C47-6CE3-17FA-455F04E40DAE}"/>
              </a:ext>
            </a:extLst>
          </p:cNvPr>
          <p:cNvSpPr/>
          <p:nvPr/>
        </p:nvSpPr>
        <p:spPr>
          <a:xfrm>
            <a:off x="202095" y="2272320"/>
            <a:ext cx="11787809" cy="1120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1982</a:t>
            </a:r>
            <a:r>
              <a:rPr lang="zh-CN" altLang="en-US" sz="2800" dirty="0">
                <a:solidFill>
                  <a:schemeClr val="tx1"/>
                </a:solidFill>
              </a:rPr>
              <a:t>年，姚期智在论文</a:t>
            </a:r>
            <a:r>
              <a:rPr lang="en-US" altLang="zh-CN" sz="2800" dirty="0">
                <a:solidFill>
                  <a:schemeClr val="tx1"/>
                </a:solidFill>
              </a:rPr>
              <a:t>《</a:t>
            </a:r>
            <a:r>
              <a:rPr lang="en" altLang="zh-CN" sz="2800" dirty="0">
                <a:solidFill>
                  <a:schemeClr val="tx1"/>
                </a:solidFill>
              </a:rPr>
              <a:t>Theory and Applications of Trapdoor Functions》</a:t>
            </a:r>
            <a:r>
              <a:rPr lang="zh-CN" altLang="en-US" sz="2800" dirty="0">
                <a:solidFill>
                  <a:schemeClr val="tx1"/>
                </a:solidFill>
              </a:rPr>
              <a:t>中提出，</a:t>
            </a:r>
            <a:r>
              <a:rPr lang="zh-CN" altLang="en-US" sz="2800" dirty="0">
                <a:solidFill>
                  <a:srgbClr val="FF0000"/>
                </a:solidFill>
              </a:rPr>
              <a:t>从任意陷门函数中可构造一个公钥加密方案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58229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1650841-004A-0604-83F7-BC86FECD2FCA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j-ea"/>
              </a:rPr>
              <a:t>欧拉定理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DF4ED49-90CB-67A8-F6FF-B4406935A1E9}"/>
              </a:ext>
            </a:extLst>
          </p:cNvPr>
          <p:cNvGrpSpPr/>
          <p:nvPr/>
        </p:nvGrpSpPr>
        <p:grpSpPr>
          <a:xfrm>
            <a:off x="1985184" y="119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FC8A7A52-C349-B921-D183-8769913251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EA07DEA-CF92-51D1-769E-00566E32F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64E14F0-41AE-7197-6969-CF6CD5014C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CC0A86FC-B597-D3C5-7262-6E7B006575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7D192335-C541-3FA7-AED0-F17514230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20B69911-B1B5-723F-EFED-9506F2C29C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B46948F-FA19-92FE-E8D4-00E1D9C6E654}"/>
              </a:ext>
            </a:extLst>
          </p:cNvPr>
          <p:cNvGrpSpPr/>
          <p:nvPr/>
        </p:nvGrpSpPr>
        <p:grpSpPr>
          <a:xfrm>
            <a:off x="4757236" y="1341767"/>
            <a:ext cx="7149348" cy="2712073"/>
            <a:chOff x="4939871" y="1583809"/>
            <a:chExt cx="7149348" cy="141384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BA79E0F-7A10-0AFC-413E-44F4ACA3EE83}"/>
                </a:ext>
              </a:extLst>
            </p:cNvPr>
            <p:cNvSpPr/>
            <p:nvPr/>
          </p:nvSpPr>
          <p:spPr>
            <a:xfrm>
              <a:off x="4939871" y="1583809"/>
              <a:ext cx="7149348" cy="14138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1496FEF-E7E2-025B-6BC6-AC17C873D0D6}"/>
                    </a:ext>
                  </a:extLst>
                </p:cNvPr>
                <p:cNvSpPr txBox="1"/>
                <p:nvPr/>
              </p:nvSpPr>
              <p:spPr>
                <a:xfrm>
                  <a:off x="4984039" y="1650809"/>
                  <a:ext cx="7061012" cy="57545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ct val="125000"/>
                    </a:lnSpc>
                  </a:pPr>
                  <a:r>
                    <a:rPr lang="zh-CN" altLang="en-US" sz="3200" dirty="0">
                      <a:latin typeface="+mn-ea"/>
                    </a:rPr>
                    <a:t>对于任意互质的正整数</a:t>
                  </a:r>
                  <a:r>
                    <a:rPr lang="en-US" altLang="zh-CN" sz="3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</a:t>
                  </a:r>
                  <a:r>
                    <a:rPr lang="zh-CN" altLang="en-US" sz="3200" dirty="0">
                      <a:latin typeface="+mn-ea"/>
                    </a:rPr>
                    <a:t>与</a:t>
                  </a:r>
                  <a:r>
                    <a:rPr lang="en-US" altLang="zh-CN" sz="3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en-US" sz="3200" dirty="0">
                      <a:latin typeface="+mn-ea"/>
                    </a:rPr>
                    <a:t>，都有：</a:t>
                  </a:r>
                  <a:endParaRPr lang="en-US" altLang="zh-CN" sz="3200" dirty="0">
                    <a:latin typeface="+mn-ea"/>
                  </a:endParaRPr>
                </a:p>
                <a:p>
                  <a:pPr algn="ctr">
                    <a:lnSpc>
                      <a:spcPct val="125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),</m:t>
                        </m:r>
                      </m:oMath>
                    </m:oMathPara>
                  </a14:m>
                  <a:endParaRPr lang="en-US" altLang="zh-CN" sz="3200" dirty="0">
                    <a:latin typeface="+mn-ea"/>
                  </a:endParaRPr>
                </a:p>
                <a:p>
                  <a:pPr algn="ctr">
                    <a:lnSpc>
                      <a:spcPct val="125000"/>
                    </a:lnSpc>
                  </a:pPr>
                  <a:r>
                    <a:rPr lang="zh-CN" altLang="en-US" sz="3200" dirty="0"/>
                    <a:t>其中 </a:t>
                  </a:r>
                  <a14:m>
                    <m:oMath xmlns:m="http://schemas.openxmlformats.org/officeDocument/2006/math"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ar-AE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zh-CN" altLang="en-US" sz="3200" dirty="0"/>
                    <a:t>是欧拉函数，表示小于</a:t>
                  </a:r>
                  <a:r>
                    <a:rPr lang="en-US" altLang="zh-CN" sz="3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en-US" sz="3200" dirty="0"/>
                    <a:t>且与 </a:t>
                  </a:r>
                  <a:r>
                    <a:rPr lang="en-US" altLang="zh-CN" sz="3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en-US" sz="3200" dirty="0"/>
                    <a:t>互质的数的个数</a:t>
                  </a:r>
                  <a:endParaRPr lang="en-US" altLang="zh-CN" sz="32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1496FEF-E7E2-025B-6BC6-AC17C873D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4039" y="1650809"/>
                  <a:ext cx="7061012" cy="575455"/>
                </a:xfrm>
                <a:prstGeom prst="rect">
                  <a:avLst/>
                </a:prstGeom>
                <a:blipFill>
                  <a:blip r:embed="rId3"/>
                  <a:stretch>
                    <a:fillRect l="-2332" t="-7735" r="-2159" b="-1403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DE4BC1F8-1F14-76F5-21A3-443BA5CA9308}"/>
              </a:ext>
            </a:extLst>
          </p:cNvPr>
          <p:cNvSpPr txBox="1"/>
          <p:nvPr/>
        </p:nvSpPr>
        <p:spPr>
          <a:xfrm>
            <a:off x="113595" y="6174826"/>
            <a:ext cx="4163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莱昂哈德</a:t>
            </a:r>
            <a:r>
              <a:rPr kumimoji="1"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欧拉</a:t>
            </a:r>
            <a:endParaRPr kumimoji="1"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9D0303C-74D3-2770-9F80-1D664BDE8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904240"/>
            <a:ext cx="4202176" cy="525272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E756376-0107-70A2-03DF-F992C621359E}"/>
              </a:ext>
            </a:extLst>
          </p:cNvPr>
          <p:cNvSpPr txBox="1"/>
          <p:nvPr/>
        </p:nvSpPr>
        <p:spPr>
          <a:xfrm>
            <a:off x="5240730" y="718519"/>
            <a:ext cx="61823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</a:rPr>
              <a:t>欧拉定理</a:t>
            </a:r>
            <a:endParaRPr lang="en-US" altLang="zh-CN" sz="3200" b="1" dirty="0">
              <a:solidFill>
                <a:srgbClr val="FF000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55BC750-AAFC-CB55-70D6-0C6693F8F143}"/>
                  </a:ext>
                </a:extLst>
              </p:cNvPr>
              <p:cNvSpPr txBox="1"/>
              <p:nvPr/>
            </p:nvSpPr>
            <p:spPr>
              <a:xfrm>
                <a:off x="4757236" y="4270471"/>
                <a:ext cx="7105180" cy="206210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zh-CN" altLang="en-US" sz="3200" b="1" dirty="0"/>
                  <a:t>直观理解：</a:t>
                </a:r>
                <a:endParaRPr lang="zh-CN" altLang="en-US" sz="3200" dirty="0"/>
              </a:p>
              <a:p>
                <a:pPr algn="just"/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ar-AE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表示</m:t>
                    </m:r>
                    <m:r>
                      <m:rPr>
                        <m:sty m:val="p"/>
                      </m:rP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/>
                  <a:t>下乘法的</a:t>
                </a:r>
                <a:r>
                  <a:rPr lang="zh-CN" altLang="en-US" sz="3200" dirty="0">
                    <a:solidFill>
                      <a:srgbClr val="FF0000"/>
                    </a:solidFill>
                  </a:rPr>
                  <a:t>循环上限</a:t>
                </a:r>
                <a:r>
                  <a:rPr lang="zh-CN" altLang="en-US" sz="3200" dirty="0"/>
                  <a:t>，即任何与</a:t>
                </a:r>
                <a:r>
                  <a:rPr lang="en-US" altLang="zh-CN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200" dirty="0"/>
                  <a:t>互质的数</a:t>
                </a:r>
                <a:r>
                  <a:rPr lang="en-US" altLang="zh-CN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3200" dirty="0"/>
                  <a:t>，重复乘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ar-AE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次 ， 一定回到 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（起点）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55BC750-AAFC-CB55-70D6-0C6693F8F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36" y="4270471"/>
                <a:ext cx="7105180" cy="2062103"/>
              </a:xfrm>
              <a:prstGeom prst="rect">
                <a:avLst/>
              </a:prstGeom>
              <a:blipFill>
                <a:blip r:embed="rId5"/>
                <a:stretch>
                  <a:fillRect l="-2144" t="-4734" r="-2144" b="-9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23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A3E4-805B-0353-2A79-3CB01D58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957F90-CE1C-1981-E291-C67A68B8F8EE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欧拉定理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ED4A1D-BE2D-953F-9EFC-7B23EDD79A0D}"/>
              </a:ext>
            </a:extLst>
          </p:cNvPr>
          <p:cNvGrpSpPr/>
          <p:nvPr/>
        </p:nvGrpSpPr>
        <p:grpSpPr>
          <a:xfrm>
            <a:off x="221307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323B0C02-4E66-1A0D-5AE2-6CDE01EAB7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22604A7A-DD29-A011-3CEA-CDC5FCAE7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DD290022-D361-45C5-35DD-F9B3321904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915ABF61-A934-53AB-8959-07809E42D0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48BE810D-18CC-A6B7-1AF3-4E63B1B76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D600785B-E4A0-5D70-5482-42C40CDDAF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D8E2CF8-E350-441D-39A8-62D9327EDBE9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41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若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质数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则</m:t>
                      </m:r>
                      <m:r>
                        <a:rPr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D8E2CF8-E350-441D-39A8-62D9327ED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41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2B8A837-85AB-9642-1BFC-F4FD49ED1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378631"/>
              </p:ext>
            </p:extLst>
          </p:nvPr>
        </p:nvGraphicFramePr>
        <p:xfrm>
          <a:off x="502104" y="1358544"/>
          <a:ext cx="11303817" cy="539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67939">
                  <a:extLst>
                    <a:ext uri="{9D8B030D-6E8A-4147-A177-3AD203B41FA5}">
                      <a16:colId xmlns:a16="http://schemas.microsoft.com/office/drawing/2014/main" val="3000940724"/>
                    </a:ext>
                  </a:extLst>
                </a:gridCol>
                <a:gridCol w="3767939">
                  <a:extLst>
                    <a:ext uri="{9D8B030D-6E8A-4147-A177-3AD203B41FA5}">
                      <a16:colId xmlns:a16="http://schemas.microsoft.com/office/drawing/2014/main" val="3311670176"/>
                    </a:ext>
                  </a:extLst>
                </a:gridCol>
                <a:gridCol w="3767939">
                  <a:extLst>
                    <a:ext uri="{9D8B030D-6E8A-4147-A177-3AD203B41FA5}">
                      <a16:colId xmlns:a16="http://schemas.microsoft.com/office/drawing/2014/main" val="1582538074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小于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zh-CN" altLang="en-US" sz="2400" dirty="0"/>
                        <a:t>且与 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zh-CN" altLang="en-US" sz="2400" dirty="0"/>
                        <a:t>互质的数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338751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9326002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1,2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65647397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03850049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1,2,3,4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0222568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4405405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1,2,3,4,5,6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4445948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1,3,5,7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40743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1,2,4,5,7,8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67553576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1,3,7,9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80129853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1,2,3,4,5,6,7,8,9,10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0415085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1,5,7,11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5779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20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97568-77BD-B3C4-B9CB-04BF4B03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840E8F9-125E-9A82-636D-996276611F0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欧拉定理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A59A62D-6880-E403-2AB9-35278933FDEA}"/>
              </a:ext>
            </a:extLst>
          </p:cNvPr>
          <p:cNvGrpSpPr/>
          <p:nvPr/>
        </p:nvGrpSpPr>
        <p:grpSpPr>
          <a:xfrm>
            <a:off x="221307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B78C46A0-E7E0-C34D-6CB6-C0E0CC24D7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37A854CB-6715-E01A-6C5A-C7AA71A18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D2059A67-E1F2-19C1-FC9D-A3526607BC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D2B69E5D-40C3-BF56-C8E3-9ECBD85E71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00915B1E-9925-3879-AFD4-8304881ED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A44E6CC1-91F4-A4CD-3C9B-B8B2F96D12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1590F09-8499-95DA-A683-F58F13CA4C60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41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欧拉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定理：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1590F09-8499-95DA-A683-F58F13CA4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41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C2FA1DF-8190-45E8-9DFC-2B1A9C26D757}"/>
                  </a:ext>
                </a:extLst>
              </p:cNvPr>
              <p:cNvSpPr txBox="1"/>
              <p:nvPr/>
            </p:nvSpPr>
            <p:spPr>
              <a:xfrm>
                <a:off x="2905760" y="1387057"/>
                <a:ext cx="6197600" cy="560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C2FA1DF-8190-45E8-9DFC-2B1A9C26D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1387057"/>
                <a:ext cx="6197600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1D53D9-0D0B-3F1A-5B4F-B55C0D6C9205}"/>
                  </a:ext>
                </a:extLst>
              </p:cNvPr>
              <p:cNvSpPr txBox="1"/>
              <p:nvPr/>
            </p:nvSpPr>
            <p:spPr>
              <a:xfrm>
                <a:off x="2905760" y="2052781"/>
                <a:ext cx="6197600" cy="54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1D53D9-0D0B-3F1A-5B4F-B55C0D6C9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2052781"/>
                <a:ext cx="6197600" cy="541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BD9CA5F-FE43-5E29-4773-BCDC43173C0F}"/>
                  </a:ext>
                </a:extLst>
              </p:cNvPr>
              <p:cNvSpPr txBox="1"/>
              <p:nvPr/>
            </p:nvSpPr>
            <p:spPr>
              <a:xfrm>
                <a:off x="2905760" y="2718505"/>
                <a:ext cx="6197600" cy="54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BD9CA5F-FE43-5E29-4773-BCDC43173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2718505"/>
                <a:ext cx="6197600" cy="541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F9300A1-1E6D-5D7A-0573-171F1777B888}"/>
                  </a:ext>
                </a:extLst>
              </p:cNvPr>
              <p:cNvSpPr txBox="1"/>
              <p:nvPr/>
            </p:nvSpPr>
            <p:spPr>
              <a:xfrm>
                <a:off x="2905760" y="3384229"/>
                <a:ext cx="6197600" cy="552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F9300A1-1E6D-5D7A-0573-171F1777B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3384229"/>
                <a:ext cx="6197600" cy="5522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0CFC9A1-7C08-A147-0953-DC71E4BF81D8}"/>
                  </a:ext>
                </a:extLst>
              </p:cNvPr>
              <p:cNvSpPr txBox="1"/>
              <p:nvPr/>
            </p:nvSpPr>
            <p:spPr>
              <a:xfrm>
                <a:off x="0" y="4110639"/>
                <a:ext cx="12192000" cy="53091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RSA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加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解密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sSup>
                        <m:sSup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𝑒𝑑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0CFC9A1-7C08-A147-0953-DC71E4BF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10639"/>
                <a:ext cx="12192000" cy="530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6D3BEEB-2216-5E26-69A5-58DA13D9ABC8}"/>
                  </a:ext>
                </a:extLst>
              </p:cNvPr>
              <p:cNvSpPr txBox="1"/>
              <p:nvPr/>
            </p:nvSpPr>
            <p:spPr>
              <a:xfrm>
                <a:off x="2905760" y="4930024"/>
                <a:ext cx="61976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6D3BEEB-2216-5E26-69A5-58DA13D9A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4930024"/>
                <a:ext cx="619760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159A1EC-F3C3-59AF-CF06-89439D0810AE}"/>
                  </a:ext>
                </a:extLst>
              </p:cNvPr>
              <p:cNvSpPr txBox="1"/>
              <p:nvPr/>
            </p:nvSpPr>
            <p:spPr>
              <a:xfrm>
                <a:off x="2905760" y="5635082"/>
                <a:ext cx="6197600" cy="936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solidFill>
                                <a:schemeClr val="accent3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accent3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accent3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159A1EC-F3C3-59AF-CF06-89439D081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5635082"/>
                <a:ext cx="6197600" cy="9361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F9C7BF9-1816-F7CB-3704-2E34B711738E}"/>
                  </a:ext>
                </a:extLst>
              </p:cNvPr>
              <p:cNvSpPr txBox="1"/>
              <p:nvPr/>
            </p:nvSpPr>
            <p:spPr>
              <a:xfrm>
                <a:off x="8280400" y="5204195"/>
                <a:ext cx="3911600" cy="95410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2800" i="1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kumimoji="1"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对</a:t>
                </a:r>
                <a:r>
                  <a:rPr kumimoji="1" lang="en-US" altLang="zh-CN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kumimoji="1"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的质因数分解是极为困难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F9C7BF9-1816-F7CB-3704-2E34B7117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400" y="5204195"/>
                <a:ext cx="3911600" cy="954107"/>
              </a:xfrm>
              <a:prstGeom prst="rect">
                <a:avLst/>
              </a:prstGeom>
              <a:blipFill>
                <a:blip r:embed="rId10"/>
                <a:stretch>
                  <a:fillRect l="-935" t="-8974" r="-935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4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 animBg="1"/>
      <p:bldP spid="22" grpId="0"/>
      <p:bldP spid="23" grpId="0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029D-BD2B-85D3-7BED-6D15FA81A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6B0248-02BF-1149-47BE-6B37798B2D8F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欧拉定理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F9615-AD6C-AEC7-1BC7-F4669A7A0D18}"/>
              </a:ext>
            </a:extLst>
          </p:cNvPr>
          <p:cNvGrpSpPr/>
          <p:nvPr/>
        </p:nvGrpSpPr>
        <p:grpSpPr>
          <a:xfrm>
            <a:off x="221307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1EAA9AB4-ECBF-23C8-EEC4-7ADA0339ED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9D887F07-6187-61F8-13BE-29C356094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EB601A1B-B46E-4239-DEA8-7DA1755937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53757F36-7637-3AD0-4DEF-227EB187E4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72013909-509A-2861-11AE-55DB18D0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002DE63E-D84C-21F8-7301-27F9BAFB2F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338FB2-BF07-9066-CF78-88BB06A0CAD9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93871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 algn="ctr"/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欧拉函数的乘法性质：</a:t>
                </a:r>
                <a:endPara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sz="2700" i="1" smtClean="0">
                        <a:latin typeface="Cambria Math" panose="02040503050406030204" pitchFamily="18" charset="0"/>
                      </a:rPr>
                      <m:t>若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互质</m:t>
                    </m:r>
                    <m:r>
                      <a:rPr lang="zh-CN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7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−1)×(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endParaRPr lang="zh-CN" altLang="en-US" sz="27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338FB2-BF07-9066-CF78-88BB06A0C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938719"/>
              </a:xfrm>
              <a:prstGeom prst="rect">
                <a:avLst/>
              </a:prstGeom>
              <a:blipFill>
                <a:blip r:embed="rId3"/>
                <a:stretch>
                  <a:fillRect t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5E4642A-CDCB-EAA3-AC34-873055C06354}"/>
                  </a:ext>
                </a:extLst>
              </p:cNvPr>
              <p:cNvSpPr txBox="1"/>
              <p:nvPr/>
            </p:nvSpPr>
            <p:spPr>
              <a:xfrm>
                <a:off x="701040" y="1679205"/>
                <a:ext cx="10078720" cy="501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200" i="0">
                        <a:latin typeface="Cambria Math" panose="02040503050406030204" pitchFamily="18" charset="0"/>
                      </a:rPr>
                      <m:t>=5,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200" i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sz="3200" dirty="0"/>
                  <a:t>→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0">
                        <a:latin typeface="Cambria Math" panose="02040503050406030204" pitchFamily="18" charset="0"/>
                      </a:rPr>
                      <m:t>=5×7=35</m:t>
                    </m:r>
                  </m:oMath>
                </a14:m>
                <a:endParaRPr lang="en-US" altLang="zh-CN" sz="3200" dirty="0"/>
              </a:p>
              <a:p>
                <a:pPr algn="ctr"/>
                <a:br>
                  <a:rPr lang="zh-CN" altLang="en-US" sz="3200" dirty="0"/>
                </a:b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=5−1=4</m:t>
                    </m:r>
                  </m:oMath>
                </a14:m>
                <a:r>
                  <a:rPr lang="en-US" altLang="zh-CN" sz="3200" dirty="0"/>
                  <a:t> → {1,2,3,4}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=7−1=6</m:t>
                    </m:r>
                  </m:oMath>
                </a14:m>
                <a:r>
                  <a:rPr lang="en-US" altLang="zh-CN" sz="3200" dirty="0"/>
                  <a:t> → {1,2,3,4,5,6}</a:t>
                </a:r>
              </a:p>
              <a:p>
                <a:pPr algn="ctr"/>
                <a:endParaRPr lang="en-US" altLang="zh-CN" sz="3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35</m:t>
                          </m:r>
                        </m:e>
                      </m:d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=4×6=24</m:t>
                      </m:r>
                    </m:oMath>
                  </m:oMathPara>
                </a14:m>
                <a:br>
                  <a:rPr lang="zh-CN" altLang="en-US" sz="3200" dirty="0"/>
                </a:br>
                <a:endParaRPr lang="zh-CN" altLang="en-US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小于 </a:t>
                </a:r>
                <a:r>
                  <a:rPr lang="en-US" altLang="zh-CN" sz="3200" dirty="0"/>
                  <a:t>35 </a:t>
                </a:r>
                <a:r>
                  <a:rPr lang="zh-CN" altLang="en-US" sz="3200" dirty="0"/>
                  <a:t>且与 </a:t>
                </a:r>
                <a:r>
                  <a:rPr lang="en-US" altLang="zh-CN" sz="3200" dirty="0"/>
                  <a:t>35 </a:t>
                </a:r>
                <a:r>
                  <a:rPr lang="zh-CN" altLang="en-US" sz="3200" dirty="0"/>
                  <a:t>互质的数：</a:t>
                </a:r>
                <a:br>
                  <a:rPr lang="zh-CN" altLang="en-US" sz="3200" dirty="0"/>
                </a:br>
                <a:r>
                  <a:rPr lang="en-US" altLang="zh-CN" sz="3200" dirty="0"/>
                  <a:t>1,2,3,4,6,8,9,11,12,13,16,17,18,19,22,23,24,26,27,29,31,32,33,34</a:t>
                </a:r>
                <a:r>
                  <a:rPr lang="zh-CN" altLang="en-US" sz="3200" dirty="0"/>
                  <a:t>，数量共 </a:t>
                </a:r>
                <a:r>
                  <a:rPr lang="en-US" altLang="zh-CN" sz="3200" dirty="0"/>
                  <a:t>24 </a:t>
                </a:r>
                <a:r>
                  <a:rPr lang="zh-CN" altLang="en-US" sz="3200" dirty="0"/>
                  <a:t>个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5E4642A-CDCB-EAA3-AC34-873055C06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1679205"/>
                <a:ext cx="10078720" cy="5016758"/>
              </a:xfrm>
              <a:prstGeom prst="rect">
                <a:avLst/>
              </a:prstGeom>
              <a:blipFill>
                <a:blip r:embed="rId4"/>
                <a:stretch>
                  <a:fillRect l="-1512" t="-1580" r="-1512" b="-3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52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0B7290-6AB7-618C-2325-38C17D61F405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DCE166-CB72-FD01-D08A-39A11FE21620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A6CF1055-838C-55FF-924B-C04EB235F3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56064F67-97F1-E378-0ED6-856E81ECF4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7F099DB1-4881-D68C-C887-0F2329D1F4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ED6064E-7656-09CB-3ACD-1899066C45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EAB190DF-7028-2A35-2188-BA24456E5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B0185540-5FD9-EDBC-4946-F3F5DAAAA4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9B64BB9-D9CB-07DF-8F25-483AB47C79D1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9B64BB9-D9CB-07DF-8F25-483AB47C7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2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6DD5B58-DE6E-7EFB-E8A3-0621BCE8C2A8}"/>
                  </a:ext>
                </a:extLst>
              </p:cNvPr>
              <p:cNvSpPr txBox="1"/>
              <p:nvPr/>
            </p:nvSpPr>
            <p:spPr>
              <a:xfrm>
                <a:off x="665131" y="1742295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𝑝𝑘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6DD5B58-DE6E-7EFB-E8A3-0621BCE8C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31" y="1742295"/>
                <a:ext cx="4206304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941301-49E1-9F17-258E-3C1EAAA524EC}"/>
                  </a:ext>
                </a:extLst>
              </p:cNvPr>
              <p:cNvSpPr txBox="1"/>
              <p:nvPr/>
            </p:nvSpPr>
            <p:spPr>
              <a:xfrm>
                <a:off x="6385211" y="1742295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𝑠𝑘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941301-49E1-9F17-258E-3C1EAAA52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211" y="1742295"/>
                <a:ext cx="4206304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E7010A3-9DA3-2429-F91C-1E587613D437}"/>
                  </a:ext>
                </a:extLst>
              </p:cNvPr>
              <p:cNvSpPr txBox="1"/>
              <p:nvPr/>
            </p:nvSpPr>
            <p:spPr>
              <a:xfrm>
                <a:off x="846518" y="3553791"/>
                <a:ext cx="148328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4000" b="0" i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E7010A3-9DA3-2429-F91C-1E587613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18" y="3553791"/>
                <a:ext cx="1483286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ECBA38D-1F09-4A3F-CF42-01D03FD9B7A1}"/>
                  </a:ext>
                </a:extLst>
              </p:cNvPr>
              <p:cNvSpPr txBox="1"/>
              <p:nvPr/>
            </p:nvSpPr>
            <p:spPr>
              <a:xfrm>
                <a:off x="6196273" y="3553792"/>
                <a:ext cx="188516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altLang="zh-CN" sz="4000" b="0" i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ECBA38D-1F09-4A3F-CF42-01D03FD9B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273" y="3553792"/>
                <a:ext cx="1885166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2BEECD7-A702-16B9-0646-9E1FDD61CD44}"/>
                  </a:ext>
                </a:extLst>
              </p:cNvPr>
              <p:cNvSpPr txBox="1"/>
              <p:nvPr/>
            </p:nvSpPr>
            <p:spPr>
              <a:xfrm>
                <a:off x="9791935" y="3570136"/>
                <a:ext cx="181864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altLang="zh-CN" sz="4000" b="0" i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2BEECD7-A702-16B9-0646-9E1FDD61C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1935" y="3570136"/>
                <a:ext cx="1818640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C41E955-EC68-43AF-A175-257C823DEAD6}"/>
                  </a:ext>
                </a:extLst>
              </p:cNvPr>
              <p:cNvSpPr txBox="1"/>
              <p:nvPr/>
            </p:nvSpPr>
            <p:spPr>
              <a:xfrm>
                <a:off x="3130980" y="3570136"/>
                <a:ext cx="181864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altLang="zh-CN" sz="4000" b="0" i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C41E955-EC68-43AF-A175-257C823DE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980" y="3570136"/>
                <a:ext cx="1818640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下箭头 26">
            <a:extLst>
              <a:ext uri="{FF2B5EF4-FFF2-40B4-BE49-F238E27FC236}">
                <a16:creationId xmlns:a16="http://schemas.microsoft.com/office/drawing/2014/main" id="{B21D57D9-F59A-9A96-CA2D-176191C80A02}"/>
              </a:ext>
            </a:extLst>
          </p:cNvPr>
          <p:cNvSpPr/>
          <p:nvPr/>
        </p:nvSpPr>
        <p:spPr>
          <a:xfrm rot="16200000">
            <a:off x="2451012" y="3608929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8" name="下箭头 26">
            <a:extLst>
              <a:ext uri="{FF2B5EF4-FFF2-40B4-BE49-F238E27FC236}">
                <a16:creationId xmlns:a16="http://schemas.microsoft.com/office/drawing/2014/main" id="{F9ADD808-F3DF-811A-ED31-B37BBCDBCABB}"/>
              </a:ext>
            </a:extLst>
          </p:cNvPr>
          <p:cNvSpPr/>
          <p:nvPr/>
        </p:nvSpPr>
        <p:spPr>
          <a:xfrm rot="16200000">
            <a:off x="5469075" y="3608929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9" name="下箭头 26">
            <a:extLst>
              <a:ext uri="{FF2B5EF4-FFF2-40B4-BE49-F238E27FC236}">
                <a16:creationId xmlns:a16="http://schemas.microsoft.com/office/drawing/2014/main" id="{D77DEB87-231F-5412-C4C8-C8EBC1B64B23}"/>
              </a:ext>
            </a:extLst>
          </p:cNvPr>
          <p:cNvSpPr/>
          <p:nvPr/>
        </p:nvSpPr>
        <p:spPr>
          <a:xfrm rot="16200000">
            <a:off x="8781235" y="3565497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7695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BAC0-178D-CDD3-5648-2C2D35BD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4BD7EF-D44A-4C91-799A-EFE3918CDDBF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E7F518A-CDC5-C7A6-2957-05C45788B254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C21EAF25-BA1D-275E-AB8A-BAC09579B9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573E2888-25F2-5591-F058-CD8354E3E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2315B0A6-808D-F8D1-B74E-E97CD48F08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A0B9A323-C0B7-9259-4B75-6010315512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986A13EC-659A-17A9-F463-0AE841DEAA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51492F1F-E9C0-CDD9-E8FA-FAC0CB35C8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EA078E2-4ECF-C335-77B7-AD3B8FFE4D44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求</a:t>
                </a:r>
                <a:r>
                  <a:rPr lang="en-US" altLang="zh-CN" sz="2800" i="1" dirty="0">
                    <a:ea typeface="+mn-ea"/>
                  </a:rPr>
                  <a:t>n </a:t>
                </a:r>
                <a:r>
                  <a:rPr lang="en-US" altLang="zh-CN" sz="2800" dirty="0">
                    <a:ea typeface="+mn-ea"/>
                  </a:rPr>
                  <a:t>(</a:t>
                </a:r>
                <a:r>
                  <a:rPr lang="zh-CN" altLang="en-US" sz="2800" dirty="0">
                    <a:ea typeface="+mn-ea"/>
                  </a:rPr>
                  <a:t>设计陷门</a:t>
                </a:r>
                <a:r>
                  <a:rPr lang="en-US" altLang="zh-CN" sz="2800" dirty="0">
                    <a:ea typeface="+mn-ea"/>
                  </a:rPr>
                  <a:t>)</a:t>
                </a:r>
                <a:endParaRPr lang="zh-CN" altLang="en-US" sz="2800" dirty="0">
                  <a:ea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EA078E2-4ECF-C335-77B7-AD3B8FFE4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3DC58BA-BCD3-ADBD-98E6-0249493DEC0B}"/>
                  </a:ext>
                </a:extLst>
              </p:cNvPr>
              <p:cNvSpPr/>
              <p:nvPr/>
            </p:nvSpPr>
            <p:spPr>
              <a:xfrm>
                <a:off x="404191" y="1428854"/>
                <a:ext cx="11279809" cy="11205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en-US" altLang="zh-CN" sz="2800" dirty="0">
                    <a:solidFill>
                      <a:schemeClr val="tx1"/>
                    </a:solidFill>
                  </a:rPr>
                  <a:t>Step1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：随机选择两个足够大的大质数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3DC58BA-BCD3-ADBD-98E6-0249493DE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91" y="1428854"/>
                <a:ext cx="11279809" cy="1120514"/>
              </a:xfrm>
              <a:prstGeom prst="rect">
                <a:avLst/>
              </a:prstGeom>
              <a:blipFill>
                <a:blip r:embed="rId4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1261FBF-A1E5-CBF0-0076-2B5E24BC97A3}"/>
                  </a:ext>
                </a:extLst>
              </p:cNvPr>
              <p:cNvSpPr/>
              <p:nvPr/>
            </p:nvSpPr>
            <p:spPr>
              <a:xfrm>
                <a:off x="404190" y="2688694"/>
                <a:ext cx="11279809" cy="11205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en-US" altLang="zh-CN" sz="2800" dirty="0">
                    <a:solidFill>
                      <a:schemeClr val="tx1"/>
                    </a:solidFill>
                  </a:rPr>
                  <a:t>Step2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：计算它们的乘积，得到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RSA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的模数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1261FBF-A1E5-CBF0-0076-2B5E24BC9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90" y="2688694"/>
                <a:ext cx="11279809" cy="1120514"/>
              </a:xfrm>
              <a:prstGeom prst="rect">
                <a:avLst/>
              </a:prstGeom>
              <a:blipFill>
                <a:blip r:embed="rId5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CF7D169-9B56-14B5-357A-F3EED40DE6A2}"/>
                  </a:ext>
                </a:extLst>
              </p:cNvPr>
              <p:cNvSpPr txBox="1"/>
              <p:nvPr/>
            </p:nvSpPr>
            <p:spPr>
              <a:xfrm>
                <a:off x="0" y="3989744"/>
                <a:ext cx="5770880" cy="5232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如何判断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800" dirty="0">
                    <a:latin typeface="Arial" panose="020B0604020202020204" pitchFamily="34" charset="0"/>
                  </a:rPr>
                  <a:t>质数？</a:t>
                </a:r>
                <a:endParaRPr lang="zh-CN" altLang="zh-CN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CF7D169-9B56-14B5-357A-F3EED40DE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89744"/>
                <a:ext cx="5770880" cy="523220"/>
              </a:xfrm>
              <a:prstGeom prst="rect">
                <a:avLst/>
              </a:prstGeom>
              <a:blipFill>
                <a:blip r:embed="rId6"/>
                <a:stretch>
                  <a:fillRect l="-2112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BD9234CF-BE7B-0E03-00B1-BBDCC8AB2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934272"/>
              </p:ext>
            </p:extLst>
          </p:nvPr>
        </p:nvGraphicFramePr>
        <p:xfrm>
          <a:off x="786294" y="4693500"/>
          <a:ext cx="10515600" cy="198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0120">
                  <a:extLst>
                    <a:ext uri="{9D8B030D-6E8A-4147-A177-3AD203B41FA5}">
                      <a16:colId xmlns:a16="http://schemas.microsoft.com/office/drawing/2014/main" val="663224229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60682830"/>
                    </a:ext>
                  </a:extLst>
                </a:gridCol>
                <a:gridCol w="2738120">
                  <a:extLst>
                    <a:ext uri="{9D8B030D-6E8A-4147-A177-3AD203B41FA5}">
                      <a16:colId xmlns:a16="http://schemas.microsoft.com/office/drawing/2014/main" val="13993016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335567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91722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方法名称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判断性质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/>
                        <a:t>优点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/>
                        <a:t>缺点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是否常用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924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/>
                        <a:t>试除法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确定性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原理简单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速度极慢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983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费马测试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概率性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实现简单、速度快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存在误判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54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米勒</a:t>
                      </a:r>
                      <a:r>
                        <a:rPr lang="en-US" altLang="zh-CN" sz="2000" b="1" dirty="0"/>
                        <a:t>·</a:t>
                      </a:r>
                      <a:r>
                        <a:rPr lang="zh-CN" altLang="en-US" sz="2000" b="1" dirty="0"/>
                        <a:t>拉宾测试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概率性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速度极快、业界标准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有极小误判概率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501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AKS </a:t>
                      </a:r>
                      <a:r>
                        <a:rPr lang="zh-CN" altLang="en-US" sz="2000" b="1" dirty="0"/>
                        <a:t>质数判定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确定性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数学可证明，绝对正确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速度慢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747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60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183FF-C60C-35D5-FC83-619B9416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A95DD1-EC31-16F1-6090-E1D1D80AB3A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F87C097-D99C-6746-33ED-EC2019D97C4D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482A10D5-6F5D-4D21-8154-8122C9E536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502D3FF5-D386-08E4-CFE1-529B41059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57CECE39-1380-BFA2-5E26-2D2AB2CF4E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E80E9DB6-6A72-5624-1D2F-D9CD2BEE49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ACD2DDD8-090F-2DBD-BCA8-5A4DD4B37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AF216622-45DF-1449-01BC-F3E26F7227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2DD34DA-C9F5-F64E-ABB9-68A650E56D18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求</a:t>
                </a:r>
                <a:r>
                  <a:rPr lang="en-US" altLang="zh-CN" sz="2800" i="1" dirty="0">
                    <a:ea typeface="+mn-ea"/>
                  </a:rPr>
                  <a:t>l</a:t>
                </a:r>
                <a:r>
                  <a:rPr lang="en-US" altLang="zh-CN" sz="2800" dirty="0"/>
                  <a:t> (</a:t>
                </a:r>
                <a:r>
                  <a:rPr lang="zh-CN" altLang="en-US" sz="2800" dirty="0"/>
                  <a:t>计算周期</a:t>
                </a:r>
                <a:r>
                  <a:rPr lang="en-US" altLang="zh-CN" sz="2800" dirty="0"/>
                  <a:t>)</a:t>
                </a:r>
                <a:endParaRPr lang="zh-CN" altLang="en-US" sz="2800" i="1" dirty="0">
                  <a:ea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2DD34DA-C9F5-F64E-ABB9-68A650E56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46DBD47-7066-970E-0EA3-BB3E0F03EC38}"/>
                  </a:ext>
                </a:extLst>
              </p:cNvPr>
              <p:cNvSpPr/>
              <p:nvPr/>
            </p:nvSpPr>
            <p:spPr>
              <a:xfrm>
                <a:off x="404189" y="1726734"/>
                <a:ext cx="11279809" cy="17078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宽松限制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——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循环上界</a:t>
                </a:r>
                <a:endPara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计算</a:t>
                </a:r>
                <a:r>
                  <a:rPr lang="en-US" altLang="zh-CN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的欧拉函数：</a:t>
                </a:r>
                <a:endParaRPr lang="en-US" altLang="zh-CN" sz="2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−1)×(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46DBD47-7066-970E-0EA3-BB3E0F03E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" y="1726734"/>
                <a:ext cx="11279809" cy="1707844"/>
              </a:xfrm>
              <a:prstGeom prst="rect">
                <a:avLst/>
              </a:prstGeom>
              <a:blipFill>
                <a:blip r:embed="rId4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DAD5819-B933-79D8-F4BE-EAC76E6E936D}"/>
                  </a:ext>
                </a:extLst>
              </p:cNvPr>
              <p:cNvSpPr/>
              <p:nvPr/>
            </p:nvSpPr>
            <p:spPr>
              <a:xfrm>
                <a:off x="404188" y="4050134"/>
                <a:ext cx="11279809" cy="17078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严格限制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——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循环下界</a:t>
                </a:r>
                <a:endParaRPr lang="en-US" altLang="zh-CN" sz="2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计算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与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的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最小公倍数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(least common multiple, lcm)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：</a:t>
                </a:r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lcm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DAD5819-B933-79D8-F4BE-EAC76E6E93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8" y="4050134"/>
                <a:ext cx="11279809" cy="1707844"/>
              </a:xfrm>
              <a:prstGeom prst="rect">
                <a:avLst/>
              </a:prstGeom>
              <a:blipFill>
                <a:blip r:embed="rId5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2">
            <a:extLst>
              <a:ext uri="{FF2B5EF4-FFF2-40B4-BE49-F238E27FC236}">
                <a16:creationId xmlns:a16="http://schemas.microsoft.com/office/drawing/2014/main" id="{13FB284D-E0F7-3813-C48B-8618A92BFF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6626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11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D976-6CAA-DE7C-AA3E-D5B31000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86775C-5BDF-70A6-6B9E-9C494898784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2DA1FB-6FD9-2997-45EB-117BCE2B6AE9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B7CF241D-1DBE-3FAD-BDDC-09E918689A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F04FA337-017D-8216-39E5-C3DBFCC1B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EECD4E93-57B9-7D0F-A82F-00A6F4007F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4F77CFDD-1E5C-F14A-803D-CE705FEAB7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9FD2DB13-627C-E404-A30F-4008D5364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E5AE5488-F672-326B-0340-DD6462D744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8BF604-1FC9-1626-E04A-661560A28D4C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求</a:t>
                </a:r>
                <a:r>
                  <a:rPr lang="en-US" altLang="zh-CN" sz="2800" i="1" dirty="0">
                    <a:ea typeface="+mn-ea"/>
                  </a:rPr>
                  <a:t>e</a:t>
                </a:r>
                <a:r>
                  <a:rPr lang="en-US" altLang="zh-CN" sz="2800" dirty="0"/>
                  <a:t> (</a:t>
                </a:r>
                <a:r>
                  <a:rPr lang="zh-CN" altLang="en-US" sz="2800" dirty="0"/>
                  <a:t>计算公钥</a:t>
                </a:r>
                <a:r>
                  <a:rPr lang="en-US" altLang="zh-CN" sz="2800" dirty="0"/>
                  <a:t>)</a:t>
                </a:r>
                <a:endParaRPr lang="zh-CN" altLang="en-US" sz="2800" i="1" dirty="0">
                  <a:ea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8BF604-1FC9-1626-E04A-661560A28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BE958E3C-2E8E-84F2-D58E-4C96120500B8}"/>
              </a:ext>
            </a:extLst>
          </p:cNvPr>
          <p:cNvSpPr/>
          <p:nvPr/>
        </p:nvSpPr>
        <p:spPr>
          <a:xfrm>
            <a:off x="404189" y="1726734"/>
            <a:ext cx="11279809" cy="20527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公钥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{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e,n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的要求：</a:t>
            </a:r>
            <a:endParaRPr lang="en-US" altLang="zh-CN" sz="280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大，比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（先随机生成）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与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互质，即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与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的</a:t>
            </a:r>
            <a:r>
              <a:rPr lang="zh-CN" altLang="en-US" sz="2800" dirty="0">
                <a:solidFill>
                  <a:schemeClr val="tx1"/>
                </a:solidFill>
              </a:rPr>
              <a:t>最大公约数</a:t>
            </a:r>
            <a:r>
              <a:rPr lang="en-US" altLang="zh-CN" sz="2800" dirty="0">
                <a:solidFill>
                  <a:schemeClr val="tx1"/>
                </a:solidFill>
              </a:rPr>
              <a:t>(greatest common divisor, </a:t>
            </a:r>
            <a:r>
              <a:rPr lang="en-US" altLang="zh-CN" sz="2800" dirty="0" err="1">
                <a:solidFill>
                  <a:schemeClr val="tx1"/>
                </a:solidFill>
              </a:rPr>
              <a:t>gcd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为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（后验证</a:t>
            </a:r>
            <a:r>
              <a:rPr lang="en-US" altLang="zh-CN" sz="2800" dirty="0" err="1">
                <a:solidFill>
                  <a:schemeClr val="tx1"/>
                </a:solidFill>
                <a:latin typeface="Cambria Math" panose="02040503050406030204" pitchFamily="18" charset="0"/>
              </a:rPr>
              <a:t>gcd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）</a:t>
            </a:r>
            <a:endParaRPr lang="en-US" altLang="zh-CN" sz="28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B8D8216-00AC-8CC3-7D1B-C58C2D230436}"/>
                  </a:ext>
                </a:extLst>
              </p:cNvPr>
              <p:cNvSpPr/>
              <p:nvPr/>
            </p:nvSpPr>
            <p:spPr>
              <a:xfrm>
                <a:off x="404188" y="4050134"/>
                <a:ext cx="11279809" cy="17078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altLang="zh-CN" sz="2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gdc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B8D8216-00AC-8CC3-7D1B-C58C2D2304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8" y="4050134"/>
                <a:ext cx="11279809" cy="1707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2">
            <a:extLst>
              <a:ext uri="{FF2B5EF4-FFF2-40B4-BE49-F238E27FC236}">
                <a16:creationId xmlns:a16="http://schemas.microsoft.com/office/drawing/2014/main" id="{F5A7D1F1-67F6-F8AB-47AB-9991501333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6626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93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36AEF-5102-0DE6-6B2D-D8B8AAC9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E5F579-F8B6-2829-95D2-08BC16BAED4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0FF948F-23F0-24E1-FE08-A28EA766FFF9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8A82B995-1997-B541-5B26-D4BAF60CA7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5706A0AD-F31D-186C-1911-F16C1A2E8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A3C192F9-6161-023A-B78C-9BC5C5BDD1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DA5C120-4F6F-76F1-5D7C-3BDD5C4E5C5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581932C2-F677-3E02-32C6-F908BDAB2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A14E9A41-A280-D0B8-DE2F-3943637FF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5256622-3CBF-9048-C7A7-A34BBC876D96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0" smtClean="0">
                        <a:latin typeface="Cambria Math" panose="02040503050406030204" pitchFamily="18" charset="0"/>
                        <a:ea typeface="+mn-ea"/>
                      </a:rPr>
                      <m:t>如何</m:t>
                    </m:r>
                  </m:oMath>
                </a14:m>
                <a:r>
                  <a:rPr lang="zh-CN" altLang="en-US" sz="2800" dirty="0">
                    <a:ea typeface="+mn-ea"/>
                  </a:rPr>
                  <a:t>求最大公约数</a:t>
                </a:r>
                <a:r>
                  <a:rPr lang="en-US" altLang="zh-CN" sz="2800" dirty="0">
                    <a:ea typeface="+mn-ea"/>
                  </a:rPr>
                  <a:t>(</a:t>
                </a:r>
                <a:r>
                  <a:rPr lang="en-US" altLang="zh-CN" sz="2800" dirty="0" err="1">
                    <a:ea typeface="+mn-ea"/>
                  </a:rPr>
                  <a:t>gcd</a:t>
                </a:r>
                <a:r>
                  <a:rPr lang="en-US" altLang="zh-CN" sz="2800" dirty="0">
                    <a:ea typeface="+mn-ea"/>
                  </a:rPr>
                  <a:t>)——</a:t>
                </a:r>
                <a:r>
                  <a:rPr lang="zh-CN" altLang="en-US" sz="2800" dirty="0">
                    <a:ea typeface="+mn-ea"/>
                  </a:rPr>
                  <a:t>辗转相除法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8AFAC0F-8B53-C32A-C034-EA039BFCE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AB0C8E9-217B-2829-6116-AF04660BF8F3}"/>
                  </a:ext>
                </a:extLst>
              </p:cNvPr>
              <p:cNvSpPr txBox="1"/>
              <p:nvPr/>
            </p:nvSpPr>
            <p:spPr>
              <a:xfrm>
                <a:off x="485358" y="1692416"/>
                <a:ext cx="27443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⁡(703,1591)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E9ADC32-7548-602F-7897-654F2499E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58" y="1692416"/>
                <a:ext cx="274434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8E0DCC2-920F-8666-0A06-AB04737D33A8}"/>
                  </a:ext>
                </a:extLst>
              </p:cNvPr>
              <p:cNvSpPr txBox="1"/>
              <p:nvPr/>
            </p:nvSpPr>
            <p:spPr>
              <a:xfrm>
                <a:off x="457136" y="2492938"/>
                <a:ext cx="41283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1591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÷703=2⋯185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ED20B29-70D3-F813-4490-E8EF9AFB0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36" y="2492938"/>
                <a:ext cx="412831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B7B68A8-147C-E414-440D-C43989E79AE4}"/>
                  </a:ext>
                </a:extLst>
              </p:cNvPr>
              <p:cNvSpPr txBox="1"/>
              <p:nvPr/>
            </p:nvSpPr>
            <p:spPr>
              <a:xfrm>
                <a:off x="485358" y="3260038"/>
                <a:ext cx="38322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703÷185=3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148</m:t>
                    </m:r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B737F25-1C31-4A65-9E19-9F505206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58" y="3260038"/>
                <a:ext cx="3832268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E8DDF34-0B97-EFF7-6428-CB16DBA13349}"/>
                  </a:ext>
                </a:extLst>
              </p:cNvPr>
              <p:cNvSpPr txBox="1"/>
              <p:nvPr/>
            </p:nvSpPr>
            <p:spPr>
              <a:xfrm>
                <a:off x="485358" y="4060560"/>
                <a:ext cx="36046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185÷148=1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37</m:t>
                    </m:r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F23AEBB-DA7F-A2F9-FEFC-F8D0D3491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58" y="4060560"/>
                <a:ext cx="360464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4760D56-0984-69A5-1797-26A8A3D90660}"/>
                  </a:ext>
                </a:extLst>
              </p:cNvPr>
              <p:cNvSpPr txBox="1"/>
              <p:nvPr/>
            </p:nvSpPr>
            <p:spPr>
              <a:xfrm>
                <a:off x="457136" y="4827660"/>
                <a:ext cx="321780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48÷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44122B6-7B6B-AD86-406D-71FC52882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36" y="4827660"/>
                <a:ext cx="321780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41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809B-EB38-55FC-0B31-A69372E0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3283B0-9BE4-3BE2-6FE7-62AAE77B59B6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9BBDD9A-DA00-13C7-3FA8-586BEA6A69E2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3809C825-10E8-6504-153D-5A36C36F87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4F93E0F8-9C46-D89D-E9E8-7E661E137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8047FCCC-FE43-6CCB-8AD0-DED94FA377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DA834DDB-8EBB-9FF3-6037-9AAA8FBFAC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DA57EDAD-937D-DCD8-66C9-8332DCBB8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2AAE317F-4318-ABC7-A7BC-DAB9EFB713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BC3B9B1-05B9-F82A-3E69-13C8757C2BAC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0" smtClean="0">
                        <a:latin typeface="Cambria Math" panose="02040503050406030204" pitchFamily="18" charset="0"/>
                        <a:ea typeface="+mn-ea"/>
                      </a:rPr>
                      <m:t>如何</m:t>
                    </m:r>
                  </m:oMath>
                </a14:m>
                <a:r>
                  <a:rPr lang="zh-CN" altLang="en-US" sz="2800" dirty="0">
                    <a:ea typeface="+mn-ea"/>
                  </a:rPr>
                  <a:t>求最大公约数</a:t>
                </a:r>
                <a:r>
                  <a:rPr lang="en-US" altLang="zh-CN" sz="2800" dirty="0">
                    <a:ea typeface="+mn-ea"/>
                  </a:rPr>
                  <a:t>(</a:t>
                </a:r>
                <a:r>
                  <a:rPr lang="en-US" altLang="zh-CN" sz="2800" dirty="0" err="1">
                    <a:ea typeface="+mn-ea"/>
                  </a:rPr>
                  <a:t>gcd</a:t>
                </a:r>
                <a:r>
                  <a:rPr lang="en-US" altLang="zh-CN" sz="2800" dirty="0">
                    <a:ea typeface="+mn-ea"/>
                  </a:rPr>
                  <a:t>)——</a:t>
                </a:r>
                <a:r>
                  <a:rPr lang="zh-CN" altLang="en-US" sz="2800" dirty="0">
                    <a:ea typeface="+mn-ea"/>
                  </a:rPr>
                  <a:t>辗转相除法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BC3B9B1-05B9-F82A-3E69-13C8757C2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41E12E-2197-3164-17A5-CA18B46D60D9}"/>
                  </a:ext>
                </a:extLst>
              </p:cNvPr>
              <p:cNvSpPr txBox="1"/>
              <p:nvPr/>
            </p:nvSpPr>
            <p:spPr>
              <a:xfrm>
                <a:off x="7630096" y="725098"/>
                <a:ext cx="27443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703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1591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41E12E-2197-3164-17A5-CA18B46D6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096" y="725098"/>
                <a:ext cx="274434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45F872FD-BFC7-4220-8250-174562DACDB9}"/>
              </a:ext>
            </a:extLst>
          </p:cNvPr>
          <p:cNvSpPr/>
          <p:nvPr/>
        </p:nvSpPr>
        <p:spPr>
          <a:xfrm>
            <a:off x="11551984" y="5310204"/>
            <a:ext cx="264160" cy="26416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B404B0-AC8A-839C-6546-4017473E9E83}"/>
              </a:ext>
            </a:extLst>
          </p:cNvPr>
          <p:cNvSpPr/>
          <p:nvPr/>
        </p:nvSpPr>
        <p:spPr>
          <a:xfrm>
            <a:off x="11551984" y="5574364"/>
            <a:ext cx="264160" cy="26416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FA7011-B6D9-7470-0560-F67EA4AD732A}"/>
              </a:ext>
            </a:extLst>
          </p:cNvPr>
          <p:cNvSpPr/>
          <p:nvPr/>
        </p:nvSpPr>
        <p:spPr>
          <a:xfrm>
            <a:off x="11551984" y="5838524"/>
            <a:ext cx="264160" cy="26416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C33709-E4C0-3AE6-0ECB-AA7D31B32466}"/>
              </a:ext>
            </a:extLst>
          </p:cNvPr>
          <p:cNvSpPr/>
          <p:nvPr/>
        </p:nvSpPr>
        <p:spPr>
          <a:xfrm>
            <a:off x="11551984" y="6102684"/>
            <a:ext cx="264160" cy="26416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4450C5-AFFA-6729-EA62-A602E45B574F}"/>
              </a:ext>
            </a:extLst>
          </p:cNvPr>
          <p:cNvSpPr/>
          <p:nvPr/>
        </p:nvSpPr>
        <p:spPr>
          <a:xfrm>
            <a:off x="10495344" y="5310204"/>
            <a:ext cx="1056640" cy="1056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2A5C5E-DB20-61B9-8E74-81BD35EEF9F0}"/>
              </a:ext>
            </a:extLst>
          </p:cNvPr>
          <p:cNvSpPr/>
          <p:nvPr/>
        </p:nvSpPr>
        <p:spPr>
          <a:xfrm>
            <a:off x="10495344" y="3989404"/>
            <a:ext cx="1320800" cy="1320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284A35B-BD17-BCD3-EAD2-BDBA3A835E4B}"/>
              </a:ext>
            </a:extLst>
          </p:cNvPr>
          <p:cNvSpPr/>
          <p:nvPr/>
        </p:nvSpPr>
        <p:spPr>
          <a:xfrm>
            <a:off x="10495344" y="2668604"/>
            <a:ext cx="1320800" cy="1320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95D7BC-D0C9-C950-6A9C-0C8AE506FB7A}"/>
              </a:ext>
            </a:extLst>
          </p:cNvPr>
          <p:cNvSpPr/>
          <p:nvPr/>
        </p:nvSpPr>
        <p:spPr>
          <a:xfrm>
            <a:off x="10495344" y="1347804"/>
            <a:ext cx="1320800" cy="1320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E03E70A-C29B-3131-2931-5E0D745B91B9}"/>
              </a:ext>
            </a:extLst>
          </p:cNvPr>
          <p:cNvSpPr/>
          <p:nvPr/>
        </p:nvSpPr>
        <p:spPr>
          <a:xfrm>
            <a:off x="5476304" y="1347804"/>
            <a:ext cx="5019040" cy="50190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D20FA3D-B269-4A44-A15E-6150AE9E098B}"/>
              </a:ext>
            </a:extLst>
          </p:cNvPr>
          <p:cNvSpPr/>
          <p:nvPr/>
        </p:nvSpPr>
        <p:spPr>
          <a:xfrm>
            <a:off x="457264" y="1347804"/>
            <a:ext cx="5019040" cy="50190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172D02-32F3-EA66-A5E6-7B9276102CE1}"/>
              </a:ext>
            </a:extLst>
          </p:cNvPr>
          <p:cNvSpPr txBox="1"/>
          <p:nvPr/>
        </p:nvSpPr>
        <p:spPr>
          <a:xfrm rot="16200000">
            <a:off x="-286202" y="3404475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703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E379D9C-2B48-7296-233B-67509F0E268D}"/>
              </a:ext>
            </a:extLst>
          </p:cNvPr>
          <p:cNvSpPr txBox="1"/>
          <p:nvPr/>
        </p:nvSpPr>
        <p:spPr>
          <a:xfrm>
            <a:off x="5123901" y="6466330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1591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494806C-8266-1043-86E8-9B914E0DE4BE}"/>
              </a:ext>
            </a:extLst>
          </p:cNvPr>
          <p:cNvSpPr txBox="1"/>
          <p:nvPr/>
        </p:nvSpPr>
        <p:spPr>
          <a:xfrm>
            <a:off x="10884749" y="1355242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185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FA167EB-3F51-F04C-DD26-882B6A4BC026}"/>
              </a:ext>
            </a:extLst>
          </p:cNvPr>
          <p:cNvSpPr txBox="1"/>
          <p:nvPr/>
        </p:nvSpPr>
        <p:spPr>
          <a:xfrm rot="16200000">
            <a:off x="9699292" y="5355742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148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B27CD93-4578-B62A-E7EB-E16FE3A7FAAD}"/>
              </a:ext>
            </a:extLst>
          </p:cNvPr>
          <p:cNvSpPr txBox="1"/>
          <p:nvPr/>
        </p:nvSpPr>
        <p:spPr>
          <a:xfrm>
            <a:off x="11443549" y="4901125"/>
            <a:ext cx="49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37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18D154A-5592-C3C0-21A7-34E65FD254A4}"/>
                  </a:ext>
                </a:extLst>
              </p:cNvPr>
              <p:cNvSpPr txBox="1"/>
              <p:nvPr/>
            </p:nvSpPr>
            <p:spPr>
              <a:xfrm>
                <a:off x="6607780" y="1496796"/>
                <a:ext cx="40247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703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18D154A-5592-C3C0-21A7-34E65FD25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780" y="1496796"/>
                <a:ext cx="40247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237C3BD-AF7D-7C50-64D4-735AF112EC8A}"/>
                  </a:ext>
                </a:extLst>
              </p:cNvPr>
              <p:cNvSpPr txBox="1"/>
              <p:nvPr/>
            </p:nvSpPr>
            <p:spPr>
              <a:xfrm>
                <a:off x="6618004" y="1958461"/>
                <a:ext cx="40247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1591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</m:t>
                      </m:r>
                    </m:oMath>
                  </m:oMathPara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237C3BD-AF7D-7C50-64D4-735AF112E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004" y="1958461"/>
                <a:ext cx="402477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6D4ABF4E-4577-8D57-B57F-61D1C0B48311}"/>
              </a:ext>
            </a:extLst>
          </p:cNvPr>
          <p:cNvSpPr/>
          <p:nvPr/>
        </p:nvSpPr>
        <p:spPr>
          <a:xfrm>
            <a:off x="457264" y="1347804"/>
            <a:ext cx="11358880" cy="5019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11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/>
      <p:bldP spid="31" grpId="0"/>
      <p:bldP spid="32" grpId="0"/>
      <p:bldP spid="34" grpId="0"/>
      <p:bldP spid="35" grpId="0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AA99F-3ABB-FC06-74D8-F5D41790E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94491B-59F7-E217-1C05-4FB47CD05BC5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66CF9CF-4E54-C5FD-EE73-95E536D7B851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1FD6EDF0-D31E-8977-182B-3465B64C6C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1FB39333-6373-3C5B-7E52-A822245BC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2DB1A380-79E2-86E6-618B-B523C0F291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D0823077-6857-4BE1-DBBC-8F8B6AB43B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00489747-5265-ADA1-6D3E-EFDED8A01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D9D404C7-4B95-6D53-721F-753A6C8797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859BDCC-1E41-8270-038E-8D0AB290464A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0" smtClean="0">
                        <a:latin typeface="Cambria Math" panose="02040503050406030204" pitchFamily="18" charset="0"/>
                        <a:ea typeface="+mn-ea"/>
                      </a:rPr>
                      <m:t>如何</m:t>
                    </m:r>
                  </m:oMath>
                </a14:m>
                <a:r>
                  <a:rPr lang="zh-CN" altLang="en-US" sz="2800" dirty="0">
                    <a:ea typeface="+mn-ea"/>
                  </a:rPr>
                  <a:t>求最大公约数</a:t>
                </a:r>
                <a:r>
                  <a:rPr lang="en-US" altLang="zh-CN" sz="2800" dirty="0">
                    <a:ea typeface="+mn-ea"/>
                  </a:rPr>
                  <a:t>(</a:t>
                </a:r>
                <a:r>
                  <a:rPr lang="en-US" altLang="zh-CN" sz="2800" dirty="0" err="1">
                    <a:ea typeface="+mn-ea"/>
                  </a:rPr>
                  <a:t>gcd</a:t>
                </a:r>
                <a:r>
                  <a:rPr lang="en-US" altLang="zh-CN" sz="2800" dirty="0">
                    <a:ea typeface="+mn-ea"/>
                  </a:rPr>
                  <a:t>)——</a:t>
                </a:r>
                <a:r>
                  <a:rPr lang="zh-CN" altLang="en-US" sz="2800" dirty="0">
                    <a:ea typeface="+mn-ea"/>
                  </a:rPr>
                  <a:t>辗转相除法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BC3B9B1-05B9-F82A-3E69-13C8757C2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8875D40-D219-8763-4932-C0863ECA622B}"/>
                  </a:ext>
                </a:extLst>
              </p:cNvPr>
              <p:cNvSpPr txBox="1"/>
              <p:nvPr/>
            </p:nvSpPr>
            <p:spPr>
              <a:xfrm>
                <a:off x="7630096" y="725098"/>
                <a:ext cx="27443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⁡(703,1591)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041E12E-2197-3164-17A5-CA18B46D6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096" y="725098"/>
                <a:ext cx="274434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D0F242AD-672D-393A-AD54-ED6E0A99ED39}"/>
              </a:ext>
            </a:extLst>
          </p:cNvPr>
          <p:cNvSpPr/>
          <p:nvPr/>
        </p:nvSpPr>
        <p:spPr>
          <a:xfrm>
            <a:off x="11551984" y="5310204"/>
            <a:ext cx="264160" cy="264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DC09F4-2C88-DE40-E16D-A53458AB4333}"/>
              </a:ext>
            </a:extLst>
          </p:cNvPr>
          <p:cNvSpPr/>
          <p:nvPr/>
        </p:nvSpPr>
        <p:spPr>
          <a:xfrm>
            <a:off x="11551984" y="5574364"/>
            <a:ext cx="264160" cy="264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30FAFE-D913-5E22-C932-174868B944B8}"/>
              </a:ext>
            </a:extLst>
          </p:cNvPr>
          <p:cNvSpPr/>
          <p:nvPr/>
        </p:nvSpPr>
        <p:spPr>
          <a:xfrm>
            <a:off x="11551984" y="5838524"/>
            <a:ext cx="264160" cy="264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282461-219B-2C1F-ED3F-62FBEB35091D}"/>
              </a:ext>
            </a:extLst>
          </p:cNvPr>
          <p:cNvSpPr/>
          <p:nvPr/>
        </p:nvSpPr>
        <p:spPr>
          <a:xfrm>
            <a:off x="11551984" y="6102684"/>
            <a:ext cx="264160" cy="264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AD5662-11BF-7FEF-1A85-6B7913C7C979}"/>
              </a:ext>
            </a:extLst>
          </p:cNvPr>
          <p:cNvSpPr/>
          <p:nvPr/>
        </p:nvSpPr>
        <p:spPr>
          <a:xfrm>
            <a:off x="10495344" y="5310204"/>
            <a:ext cx="1056640" cy="1056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DC0F51-77F0-27E0-D369-A9784D87A0E6}"/>
              </a:ext>
            </a:extLst>
          </p:cNvPr>
          <p:cNvSpPr/>
          <p:nvPr/>
        </p:nvSpPr>
        <p:spPr>
          <a:xfrm>
            <a:off x="10495344" y="3989404"/>
            <a:ext cx="1320800" cy="1320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6FA1099-62FB-AD8F-9A6F-B7DAD0686DB8}"/>
              </a:ext>
            </a:extLst>
          </p:cNvPr>
          <p:cNvSpPr/>
          <p:nvPr/>
        </p:nvSpPr>
        <p:spPr>
          <a:xfrm>
            <a:off x="10495344" y="2668604"/>
            <a:ext cx="1320800" cy="1320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21A155-D1D6-D803-BEF7-65D65D07629C}"/>
              </a:ext>
            </a:extLst>
          </p:cNvPr>
          <p:cNvSpPr/>
          <p:nvPr/>
        </p:nvSpPr>
        <p:spPr>
          <a:xfrm>
            <a:off x="10495344" y="1347804"/>
            <a:ext cx="1320800" cy="1320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21D098-20B2-83D5-BEB6-7F7321C93A6C}"/>
              </a:ext>
            </a:extLst>
          </p:cNvPr>
          <p:cNvSpPr/>
          <p:nvPr/>
        </p:nvSpPr>
        <p:spPr>
          <a:xfrm>
            <a:off x="5476304" y="1347804"/>
            <a:ext cx="5019040" cy="5019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355115-0768-43CC-3301-78FA098315FB}"/>
              </a:ext>
            </a:extLst>
          </p:cNvPr>
          <p:cNvSpPr/>
          <p:nvPr/>
        </p:nvSpPr>
        <p:spPr>
          <a:xfrm>
            <a:off x="457264" y="1347804"/>
            <a:ext cx="5019040" cy="5019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B2FFB3B-672A-AA83-76E4-DF263750A05E}"/>
              </a:ext>
            </a:extLst>
          </p:cNvPr>
          <p:cNvSpPr txBox="1"/>
          <p:nvPr/>
        </p:nvSpPr>
        <p:spPr>
          <a:xfrm rot="16200000">
            <a:off x="-286202" y="3404475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703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DB45D5-C804-C998-0AF8-FCA0EAB23B73}"/>
              </a:ext>
            </a:extLst>
          </p:cNvPr>
          <p:cNvSpPr txBox="1"/>
          <p:nvPr/>
        </p:nvSpPr>
        <p:spPr>
          <a:xfrm>
            <a:off x="5123901" y="6466330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1591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DE946B-D29D-96CB-D645-696AC4CD2962}"/>
              </a:ext>
            </a:extLst>
          </p:cNvPr>
          <p:cNvSpPr txBox="1"/>
          <p:nvPr/>
        </p:nvSpPr>
        <p:spPr>
          <a:xfrm>
            <a:off x="10884749" y="1340654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185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405715-76E9-04C4-EF6A-D416748A2742}"/>
              </a:ext>
            </a:extLst>
          </p:cNvPr>
          <p:cNvSpPr txBox="1"/>
          <p:nvPr/>
        </p:nvSpPr>
        <p:spPr>
          <a:xfrm rot="16200000">
            <a:off x="9699292" y="5355742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148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9E8B658-8B4F-3EE2-8DB9-B5FC8730B0B9}"/>
              </a:ext>
            </a:extLst>
          </p:cNvPr>
          <p:cNvSpPr txBox="1"/>
          <p:nvPr/>
        </p:nvSpPr>
        <p:spPr>
          <a:xfrm>
            <a:off x="11443549" y="4901125"/>
            <a:ext cx="49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37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CE74ECD-24B8-79B0-2822-1EC5325931FF}"/>
                  </a:ext>
                </a:extLst>
              </p:cNvPr>
              <p:cNvSpPr txBox="1"/>
              <p:nvPr/>
            </p:nvSpPr>
            <p:spPr>
              <a:xfrm>
                <a:off x="5608320" y="1512478"/>
                <a:ext cx="61976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703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÷37=19</m:t>
                      </m:r>
                    </m:oMath>
                  </m:oMathPara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18D154A-5592-C3C0-21A7-34E65FD25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320" y="1512478"/>
                <a:ext cx="61976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BD0C36E-CB70-A176-9CCD-6DEBC8A2CDD0}"/>
                  </a:ext>
                </a:extLst>
              </p:cNvPr>
              <p:cNvSpPr txBox="1"/>
              <p:nvPr/>
            </p:nvSpPr>
            <p:spPr>
              <a:xfrm>
                <a:off x="5618544" y="1974143"/>
                <a:ext cx="61976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1591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÷37=43</m:t>
                      </m:r>
                    </m:oMath>
                  </m:oMathPara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237C3BD-AF7D-7C50-64D4-735AF112E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544" y="1974143"/>
                <a:ext cx="61976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814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871D4-ABBA-E6CE-61FB-AB5FDA69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42A3B7-BBCC-92AC-7918-6A5C2CF26C15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B63978B-CBD9-1B15-DBE2-84DF478FFBC7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A001C656-615D-5D4B-0F60-289EBFF29BC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1CA41484-E5D1-11FF-6FAB-8280F873C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CB0C5F04-7D8F-803A-E8D5-F844AE5043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DAC443DB-CE6E-7A3B-F3FC-7CB2194A1F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F44A63FD-48A2-4A50-4B67-8C33381DE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6F3EFC54-B00D-6804-A720-7E228DD7A8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8AFAC0F-8B53-C32A-C034-EA039BFCE851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0" smtClean="0">
                        <a:latin typeface="Cambria Math" panose="02040503050406030204" pitchFamily="18" charset="0"/>
                        <a:ea typeface="+mn-ea"/>
                      </a:rPr>
                      <m:t>如何</m:t>
                    </m:r>
                  </m:oMath>
                </a14:m>
                <a:r>
                  <a:rPr lang="zh-CN" altLang="en-US" sz="2800" dirty="0">
                    <a:ea typeface="+mn-ea"/>
                  </a:rPr>
                  <a:t>求最大公约数</a:t>
                </a:r>
                <a:r>
                  <a:rPr lang="en-US" altLang="zh-CN" sz="2800" dirty="0">
                    <a:ea typeface="+mn-ea"/>
                  </a:rPr>
                  <a:t>(</a:t>
                </a:r>
                <a:r>
                  <a:rPr lang="en-US" altLang="zh-CN" sz="2800" dirty="0" err="1">
                    <a:ea typeface="+mn-ea"/>
                  </a:rPr>
                  <a:t>gcd</a:t>
                </a:r>
                <a:r>
                  <a:rPr lang="en-US" altLang="zh-CN" sz="2800" dirty="0">
                    <a:ea typeface="+mn-ea"/>
                  </a:rPr>
                  <a:t>)——</a:t>
                </a:r>
                <a:r>
                  <a:rPr lang="zh-CN" altLang="en-US" sz="2800" dirty="0">
                    <a:ea typeface="+mn-ea"/>
                  </a:rPr>
                  <a:t>辗转相除法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8AFAC0F-8B53-C32A-C034-EA039BFCE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E9ADC32-7548-602F-7897-654F2499E7EA}"/>
                  </a:ext>
                </a:extLst>
              </p:cNvPr>
              <p:cNvSpPr txBox="1"/>
              <p:nvPr/>
            </p:nvSpPr>
            <p:spPr>
              <a:xfrm>
                <a:off x="485358" y="1692416"/>
                <a:ext cx="27443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⁡(703,1591)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E9ADC32-7548-602F-7897-654F2499E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58" y="1692416"/>
                <a:ext cx="274434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ED20B29-70D3-F813-4490-E8EF9AFB0F54}"/>
                  </a:ext>
                </a:extLst>
              </p:cNvPr>
              <p:cNvSpPr txBox="1"/>
              <p:nvPr/>
            </p:nvSpPr>
            <p:spPr>
              <a:xfrm>
                <a:off x="457136" y="2492938"/>
                <a:ext cx="41283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1591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÷703=2⋯185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ED20B29-70D3-F813-4490-E8EF9AFB0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36" y="2492938"/>
                <a:ext cx="412831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B737F25-1C31-4A65-9E19-9F505206A58A}"/>
                  </a:ext>
                </a:extLst>
              </p:cNvPr>
              <p:cNvSpPr txBox="1"/>
              <p:nvPr/>
            </p:nvSpPr>
            <p:spPr>
              <a:xfrm>
                <a:off x="485358" y="3260038"/>
                <a:ext cx="38322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703÷185=3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148</m:t>
                    </m:r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B737F25-1C31-4A65-9E19-9F505206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58" y="3260038"/>
                <a:ext cx="3832268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F23AEBB-DA7F-A2F9-FEFC-F8D0D3491385}"/>
                  </a:ext>
                </a:extLst>
              </p:cNvPr>
              <p:cNvSpPr txBox="1"/>
              <p:nvPr/>
            </p:nvSpPr>
            <p:spPr>
              <a:xfrm>
                <a:off x="485358" y="4060560"/>
                <a:ext cx="36046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185÷148=1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37</m:t>
                    </m:r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F23AEBB-DA7F-A2F9-FEFC-F8D0D3491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58" y="4060560"/>
                <a:ext cx="360464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44122B6-7B6B-AD86-406D-71FC5288220D}"/>
                  </a:ext>
                </a:extLst>
              </p:cNvPr>
              <p:cNvSpPr txBox="1"/>
              <p:nvPr/>
            </p:nvSpPr>
            <p:spPr>
              <a:xfrm>
                <a:off x="457136" y="4827660"/>
                <a:ext cx="321780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48÷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44122B6-7B6B-AD86-406D-71FC52882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36" y="4827660"/>
                <a:ext cx="321780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07DC477-899B-6A11-7388-CE9A9E0FD800}"/>
                  </a:ext>
                </a:extLst>
              </p:cNvPr>
              <p:cNvSpPr txBox="1"/>
              <p:nvPr/>
            </p:nvSpPr>
            <p:spPr>
              <a:xfrm>
                <a:off x="6703278" y="1640422"/>
                <a:ext cx="20614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⁡(12,45)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07DC477-899B-6A11-7388-CE9A9E0FD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278" y="1640422"/>
                <a:ext cx="2061462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7C2E38-1F5E-5642-676A-C1888257FB6F}"/>
                  </a:ext>
                </a:extLst>
              </p:cNvPr>
              <p:cNvSpPr txBox="1"/>
              <p:nvPr/>
            </p:nvSpPr>
            <p:spPr>
              <a:xfrm>
                <a:off x="6624256" y="2492938"/>
                <a:ext cx="29901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45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÷12=3⋯9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7C2E38-1F5E-5642-676A-C1888257F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56" y="2492938"/>
                <a:ext cx="2990178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1411DB1-648E-6FA4-0846-0DB4C52E7CBC}"/>
                  </a:ext>
                </a:extLst>
              </p:cNvPr>
              <p:cNvSpPr txBox="1"/>
              <p:nvPr/>
            </p:nvSpPr>
            <p:spPr>
              <a:xfrm>
                <a:off x="6624256" y="3260037"/>
                <a:ext cx="27625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÷9=1⋯3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1411DB1-648E-6FA4-0846-0DB4C52E7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56" y="3260037"/>
                <a:ext cx="2762551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4153A23-55EF-E838-C6C1-D62C6E2C856F}"/>
                  </a:ext>
                </a:extLst>
              </p:cNvPr>
              <p:cNvSpPr txBox="1"/>
              <p:nvPr/>
            </p:nvSpPr>
            <p:spPr>
              <a:xfrm>
                <a:off x="6624255" y="4061883"/>
                <a:ext cx="25349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=3⋯0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4153A23-55EF-E838-C6C1-D62C6E2C8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55" y="4061883"/>
                <a:ext cx="2534925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149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12" grpId="0"/>
      <p:bldP spid="14" grpId="0"/>
      <p:bldP spid="16" grpId="0"/>
      <p:bldP spid="21" grpId="0"/>
      <p:bldP spid="33" grpId="0"/>
      <p:bldP spid="36" grpId="0"/>
      <p:bldP spid="3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382F9-8292-257F-A632-0AE029D3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42406B-5295-3CA1-2CFB-BA08C7366111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30D91C9-40D2-4712-CE92-F76F575000AB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961617CA-52A7-E1DD-9E01-FF3E7C9778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8D9D7E18-0A9D-E3E4-E70B-E4DE904DF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F695916A-35D8-68CC-0166-CBBA06C7F9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F7520A4-D0BF-ED09-6FC2-7E9CD02EF8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0E554D96-9E07-D548-FD47-EC32E0A77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A8BFBE1B-8DE5-AA6C-7749-2F2CE12FC1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ACEA212-2B40-BFD6-1896-FCEDD86EA2DA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求</a:t>
                </a:r>
                <a:r>
                  <a:rPr lang="en-US" altLang="zh-CN" sz="2800" i="1" dirty="0">
                    <a:ea typeface="+mn-ea"/>
                  </a:rPr>
                  <a:t>d</a:t>
                </a:r>
                <a:r>
                  <a:rPr lang="en-US" altLang="zh-CN" sz="2800" dirty="0"/>
                  <a:t> (</a:t>
                </a:r>
                <a:r>
                  <a:rPr lang="zh-CN" altLang="en-US" sz="2800" dirty="0"/>
                  <a:t>计算私钥</a:t>
                </a:r>
                <a:r>
                  <a:rPr lang="en-US" altLang="zh-CN" sz="2800" dirty="0"/>
                  <a:t>)</a:t>
                </a:r>
                <a:endParaRPr lang="zh-CN" altLang="en-US" sz="2800" i="1" dirty="0">
                  <a:ea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ACEA212-2B40-BFD6-1896-FCEDD86EA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ADEF92C-CBE5-3F0A-8524-BD2392795AF3}"/>
                  </a:ext>
                </a:extLst>
              </p:cNvPr>
              <p:cNvSpPr/>
              <p:nvPr/>
            </p:nvSpPr>
            <p:spPr>
              <a:xfrm>
                <a:off x="404189" y="1726734"/>
                <a:ext cx="11279809" cy="17078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私钥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{</a:t>
                </a:r>
                <a:r>
                  <a:rPr lang="en-US" altLang="zh-CN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d,n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}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的要求：</a:t>
                </a:r>
                <a:endParaRPr lang="en-US" altLang="zh-CN" sz="2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ADEF92C-CBE5-3F0A-8524-BD2392795A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" y="1726734"/>
                <a:ext cx="11279809" cy="1707844"/>
              </a:xfrm>
              <a:prstGeom prst="rect">
                <a:avLst/>
              </a:prstGeom>
              <a:blipFill>
                <a:blip r:embed="rId4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2">
            <a:extLst>
              <a:ext uri="{FF2B5EF4-FFF2-40B4-BE49-F238E27FC236}">
                <a16:creationId xmlns:a16="http://schemas.microsoft.com/office/drawing/2014/main" id="{DBDC9888-87A2-C2EB-A6FD-AE415A8C45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6626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42A3787-6579-E240-9177-F83BF37F7DDA}"/>
                  </a:ext>
                </a:extLst>
              </p:cNvPr>
              <p:cNvSpPr txBox="1"/>
              <p:nvPr/>
            </p:nvSpPr>
            <p:spPr>
              <a:xfrm>
                <a:off x="0" y="3628013"/>
                <a:ext cx="12192000" cy="541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欧拉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定理：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42A3787-6579-E240-9177-F83BF37F7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28013"/>
                <a:ext cx="12192000" cy="541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AB3C948-99B8-495E-5BE2-68D6CA8CCCBA}"/>
                  </a:ext>
                </a:extLst>
              </p:cNvPr>
              <p:cNvSpPr txBox="1"/>
              <p:nvPr/>
            </p:nvSpPr>
            <p:spPr>
              <a:xfrm>
                <a:off x="0" y="4301414"/>
                <a:ext cx="12192000" cy="53091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RSA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加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解密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sSup>
                        <m:sSup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𝑒𝑑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AB3C948-99B8-495E-5BE2-68D6CA8CC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301414"/>
                <a:ext cx="12192000" cy="5309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A08C22D-5AA9-B537-1AEB-60CA5C00F084}"/>
                  </a:ext>
                </a:extLst>
              </p:cNvPr>
              <p:cNvSpPr txBox="1"/>
              <p:nvPr/>
            </p:nvSpPr>
            <p:spPr>
              <a:xfrm>
                <a:off x="2945293" y="5138001"/>
                <a:ext cx="61976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A08C22D-5AA9-B537-1AEB-60CA5C00F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293" y="5138001"/>
                <a:ext cx="61976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4CAE522-FA6A-2D1E-5067-70D4BA89B948}"/>
                  </a:ext>
                </a:extLst>
              </p:cNvPr>
              <p:cNvSpPr txBox="1"/>
              <p:nvPr/>
            </p:nvSpPr>
            <p:spPr>
              <a:xfrm>
                <a:off x="2945293" y="5843059"/>
                <a:ext cx="6197600" cy="936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solidFill>
                                <a:schemeClr val="accent3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accent3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accent3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4CAE522-FA6A-2D1E-5067-70D4BA89B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293" y="5843059"/>
                <a:ext cx="6197600" cy="936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561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6925B-0ADD-44AF-A234-645B470A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B218CE-BCFC-07C9-25F5-4CA9C179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CB6A0C6-E1D3-8787-2E30-5769EE1D4657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od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除法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66DBD14-0435-BC8E-DA68-1E837EFDF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961C463A-8922-CA16-69BA-E55D0DBB4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449" y="1451954"/>
                <a:ext cx="306763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b="0" i="0" dirty="0" smtClean="0">
                          <a:solidFill>
                            <a:srgbClr val="000000"/>
                          </a:solidFill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EEA6166D-FE44-B129-8930-A660A8C8E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449" y="1451954"/>
                <a:ext cx="3067635" cy="523220"/>
              </a:xfrm>
              <a:prstGeom prst="rect">
                <a:avLst/>
              </a:prstGeom>
              <a:blipFill>
                <a:blip r:embed="rId4"/>
                <a:stretch>
                  <a:fillRect l="-412" b="-238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73D4EE95-99CE-766A-2C7E-B8C6AF420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005" y="2520339"/>
                <a:ext cx="307642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b="0" i="0" dirty="0" smtClean="0">
                          <a:solidFill>
                            <a:srgbClr val="000000"/>
                          </a:solidFill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025853A3-94F6-7F9E-EC88-01B89F89A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005" y="2520339"/>
                <a:ext cx="3076420" cy="523220"/>
              </a:xfrm>
              <a:prstGeom prst="rect">
                <a:avLst/>
              </a:prstGeom>
              <a:blipFill>
                <a:blip r:embed="rId5"/>
                <a:stretch>
                  <a:fillRect l="-412" b="-238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EA3B7237-0AB7-817D-8FD3-DA59BFC0AE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989" y="3727735"/>
                <a:ext cx="255550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与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zh-CN" alt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互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倒数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6C2AE71B-F50D-1B03-C9EB-C31DA2A5C1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4989" y="3727735"/>
                <a:ext cx="2555507" cy="523220"/>
              </a:xfrm>
              <a:prstGeom prst="rect">
                <a:avLst/>
              </a:prstGeom>
              <a:blipFill>
                <a:blip r:embed="rId6"/>
                <a:stretch>
                  <a:fillRect r="-495" b="-238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152451F0-38E5-80C0-C1B5-9FB867F53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863" y="4713407"/>
                <a:ext cx="2957669" cy="9017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互为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倒数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762249FA-D66C-A700-F6D8-749729931B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863" y="4713407"/>
                <a:ext cx="2957669" cy="901785"/>
              </a:xfrm>
              <a:prstGeom prst="rect">
                <a:avLst/>
              </a:prstGeom>
              <a:blipFill>
                <a:blip r:embed="rId7"/>
                <a:stretch>
                  <a:fillRect l="-427" b="-6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下箭头 24">
            <a:extLst>
              <a:ext uri="{FF2B5EF4-FFF2-40B4-BE49-F238E27FC236}">
                <a16:creationId xmlns:a16="http://schemas.microsoft.com/office/drawing/2014/main" id="{D38CE904-B3E5-E684-58FC-4078DFEDA0FA}"/>
              </a:ext>
            </a:extLst>
          </p:cNvPr>
          <p:cNvSpPr/>
          <p:nvPr/>
        </p:nvSpPr>
        <p:spPr>
          <a:xfrm>
            <a:off x="1954307" y="1981409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26" name="下箭头 25">
            <a:extLst>
              <a:ext uri="{FF2B5EF4-FFF2-40B4-BE49-F238E27FC236}">
                <a16:creationId xmlns:a16="http://schemas.microsoft.com/office/drawing/2014/main" id="{831A7A2F-FBEC-8AE1-110F-A92FFA02F5A6}"/>
              </a:ext>
            </a:extLst>
          </p:cNvPr>
          <p:cNvSpPr/>
          <p:nvPr/>
        </p:nvSpPr>
        <p:spPr>
          <a:xfrm>
            <a:off x="1954307" y="3034747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27" name="下箭头 26">
            <a:extLst>
              <a:ext uri="{FF2B5EF4-FFF2-40B4-BE49-F238E27FC236}">
                <a16:creationId xmlns:a16="http://schemas.microsoft.com/office/drawing/2014/main" id="{0192952B-AC69-F47F-242E-4D896E711B1A}"/>
              </a:ext>
            </a:extLst>
          </p:cNvPr>
          <p:cNvSpPr/>
          <p:nvPr/>
        </p:nvSpPr>
        <p:spPr>
          <a:xfrm>
            <a:off x="1954306" y="4258031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0500E8A8-62E8-0DB6-75A2-21DA7021D04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00613" y="1451954"/>
              <a:ext cx="5788073" cy="508248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56045">
                      <a:extLst>
                        <a:ext uri="{9D8B030D-6E8A-4147-A177-3AD203B41FA5}">
                          <a16:colId xmlns:a16="http://schemas.microsoft.com/office/drawing/2014/main" val="3822633427"/>
                        </a:ext>
                      </a:extLst>
                    </a:gridCol>
                    <a:gridCol w="2485646">
                      <a:extLst>
                        <a:ext uri="{9D8B030D-6E8A-4147-A177-3AD203B41FA5}">
                          <a16:colId xmlns:a16="http://schemas.microsoft.com/office/drawing/2014/main" val="3287920731"/>
                        </a:ext>
                      </a:extLst>
                    </a:gridCol>
                    <a:gridCol w="1850316">
                      <a:extLst>
                        <a:ext uri="{9D8B030D-6E8A-4147-A177-3AD203B41FA5}">
                          <a16:colId xmlns:a16="http://schemas.microsoft.com/office/drawing/2014/main" val="2539507273"/>
                        </a:ext>
                      </a:extLst>
                    </a:gridCol>
                    <a:gridCol w="796066">
                      <a:extLst>
                        <a:ext uri="{9D8B030D-6E8A-4147-A177-3AD203B41FA5}">
                          <a16:colId xmlns:a16="http://schemas.microsoft.com/office/drawing/2014/main" val="3442691133"/>
                        </a:ext>
                      </a:extLst>
                    </a:gridCol>
                  </a:tblGrid>
                  <a:tr h="7002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n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 dirty="0"/>
                            <a:t>n ×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zh-CN" altLang="zh-CN" sz="2000" dirty="0" smtClean="0">
                                  <a:solidFill>
                                    <a:srgbClr val="000000"/>
                                  </a:solidFill>
                                  <a:latin typeface="Arial" panose="020B0604020202020204" pitchFamily="34" charset="0"/>
                                </a:rPr>
                                <m:t>□</m:t>
                              </m:r>
                            </m:oMath>
                          </a14:m>
                          <a:r>
                            <a:rPr lang="en" sz="2000" dirty="0"/>
                            <a:t>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是否存在倒数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倒数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944255075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 dirty="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324315474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2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106918909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3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816313597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4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960413794"/>
                      </a:ext>
                    </a:extLst>
                  </a:tr>
                  <a:tr h="4276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5 × 5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575639408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6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507661504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7 × 7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41633065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8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754092047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9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541163549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10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26278891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11 × 11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11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7881348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0619CDDB-2976-FF2F-3EE3-F30146556C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8168930"/>
                  </p:ext>
                </p:extLst>
              </p:nvPr>
            </p:nvGraphicFramePr>
            <p:xfrm>
              <a:off x="5600613" y="1451954"/>
              <a:ext cx="5788073" cy="508248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56045">
                      <a:extLst>
                        <a:ext uri="{9D8B030D-6E8A-4147-A177-3AD203B41FA5}">
                          <a16:colId xmlns:a16="http://schemas.microsoft.com/office/drawing/2014/main" val="3822633427"/>
                        </a:ext>
                      </a:extLst>
                    </a:gridCol>
                    <a:gridCol w="2485646">
                      <a:extLst>
                        <a:ext uri="{9D8B030D-6E8A-4147-A177-3AD203B41FA5}">
                          <a16:colId xmlns:a16="http://schemas.microsoft.com/office/drawing/2014/main" val="3287920731"/>
                        </a:ext>
                      </a:extLst>
                    </a:gridCol>
                    <a:gridCol w="1850316">
                      <a:extLst>
                        <a:ext uri="{9D8B030D-6E8A-4147-A177-3AD203B41FA5}">
                          <a16:colId xmlns:a16="http://schemas.microsoft.com/office/drawing/2014/main" val="2539507273"/>
                        </a:ext>
                      </a:extLst>
                    </a:gridCol>
                    <a:gridCol w="796066">
                      <a:extLst>
                        <a:ext uri="{9D8B030D-6E8A-4147-A177-3AD203B41FA5}">
                          <a16:colId xmlns:a16="http://schemas.microsoft.com/office/drawing/2014/main" val="3442691133"/>
                        </a:ext>
                      </a:extLst>
                    </a:gridCol>
                  </a:tblGrid>
                  <a:tr h="7002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n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0653" marR="90653" marT="45326" marB="45326" anchor="ctr">
                        <a:blipFill>
                          <a:blip r:embed="rId8"/>
                          <a:stretch>
                            <a:fillRect l="-26531" t="-1818" r="-107653" b="-64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是否存在倒数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倒数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944255075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 dirty="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324315474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2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2106918909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3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816313597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4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960413794"/>
                      </a:ext>
                    </a:extLst>
                  </a:tr>
                  <a:tr h="4276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5 × 5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575639408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6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507661504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7 × 7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7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41633065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8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1754092047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9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541163549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10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不存在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✘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—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26278891"/>
                      </a:ext>
                    </a:extLst>
                  </a:tr>
                  <a:tr h="3954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11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2000"/>
                            <a:t>11 × 11 mod 12 = 1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✔</a:t>
                          </a:r>
                        </a:p>
                      </a:txBody>
                      <a:tcPr marL="90653" marR="90653" marT="45326" marB="45326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000" dirty="0"/>
                            <a:t>11</a:t>
                          </a:r>
                        </a:p>
                      </a:txBody>
                      <a:tcPr marL="90653" marR="90653" marT="45326" marB="45326" anchor="ctr"/>
                    </a:tc>
                    <a:extLst>
                      <a:ext uri="{0D108BD9-81ED-4DB2-BD59-A6C34878D82A}">
                        <a16:rowId xmlns:a16="http://schemas.microsoft.com/office/drawing/2014/main" val="37881348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B0AE0389-A875-4D48-4AE3-5A148BD9B48F}"/>
              </a:ext>
            </a:extLst>
          </p:cNvPr>
          <p:cNvSpPr txBox="1"/>
          <p:nvPr/>
        </p:nvSpPr>
        <p:spPr>
          <a:xfrm>
            <a:off x="0" y="5586043"/>
            <a:ext cx="422775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观察：哪些数有倒数？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245B0D-F17B-09D2-2C6E-8FD61D2F6D6A}"/>
              </a:ext>
            </a:extLst>
          </p:cNvPr>
          <p:cNvSpPr txBox="1"/>
          <p:nvPr/>
        </p:nvSpPr>
        <p:spPr>
          <a:xfrm>
            <a:off x="0" y="6184887"/>
            <a:ext cx="4787154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与 12 的最大公约数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gcd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为 1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35999D-1E85-2BC9-2521-CD40B352E2C2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C7550E2-B973-2396-2286-B9ABF97C3248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3204BAC0-1379-E898-301B-25F69DD2CA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D89C7716-B05C-CFDB-9B2A-7704C741E6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C08FB8E8-AA51-7DE6-5566-FEFA3E9B35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" name="Group 10">
              <a:extLst>
                <a:ext uri="{FF2B5EF4-FFF2-40B4-BE49-F238E27FC236}">
                  <a16:creationId xmlns:a16="http://schemas.microsoft.com/office/drawing/2014/main" id="{0DDE49A3-39A9-E193-F368-80AD16E426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1D13A165-2467-33A5-8690-448007CE6C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8A53634F-E799-21D6-234E-0CDCDE5FE1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773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7" grpId="0"/>
      <p:bldP spid="25" grpId="0" animBg="1"/>
      <p:bldP spid="26" grpId="0" animBg="1"/>
      <p:bldP spid="27" grpId="0" animBg="1"/>
      <p:bldP spid="29" grpId="0" animBg="1"/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35190-D12E-4B90-4368-CAC1B599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0A2B87-5DD5-E0F1-B778-9994BB7C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C4E1D97-C878-894E-5148-657206F84D47}"/>
                  </a:ext>
                </a:extLst>
              </p:cNvPr>
              <p:cNvSpPr txBox="1"/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od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除法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A21C40F-35BD-4237-4DE0-8ADFAD8F9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653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8E967187-6036-F48C-1F58-B0ED375E51FD}"/>
              </a:ext>
            </a:extLst>
          </p:cNvPr>
          <p:cNvGraphicFramePr>
            <a:graphicFrameLocks noGrp="1"/>
          </p:cNvGraphicFramePr>
          <p:nvPr/>
        </p:nvGraphicFramePr>
        <p:xfrm>
          <a:off x="645459" y="1605268"/>
          <a:ext cx="6185647" cy="47454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90603">
                  <a:extLst>
                    <a:ext uri="{9D8B030D-6E8A-4147-A177-3AD203B41FA5}">
                      <a16:colId xmlns:a16="http://schemas.microsoft.com/office/drawing/2014/main" val="2159810531"/>
                    </a:ext>
                  </a:extLst>
                </a:gridCol>
                <a:gridCol w="2147522">
                  <a:extLst>
                    <a:ext uri="{9D8B030D-6E8A-4147-A177-3AD203B41FA5}">
                      <a16:colId xmlns:a16="http://schemas.microsoft.com/office/drawing/2014/main" val="4110128792"/>
                    </a:ext>
                  </a:extLst>
                </a:gridCol>
                <a:gridCol w="2147522">
                  <a:extLst>
                    <a:ext uri="{9D8B030D-6E8A-4147-A177-3AD203B41FA5}">
                      <a16:colId xmlns:a16="http://schemas.microsoft.com/office/drawing/2014/main" val="939667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gcd(n, 12)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是否有倒数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8588634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✔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97673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5985388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99146504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6767179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✔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90844879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6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6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6639783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✔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79214675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8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24796604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9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1094575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49220888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/>
                        <a:t>11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✔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44226497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1F88B4F4-6704-E927-D54A-D7F7CCEE6BDC}"/>
              </a:ext>
            </a:extLst>
          </p:cNvPr>
          <p:cNvSpPr txBox="1"/>
          <p:nvPr/>
        </p:nvSpPr>
        <p:spPr>
          <a:xfrm>
            <a:off x="7115028" y="2521513"/>
            <a:ext cx="4787154" cy="3539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在以 12 为模的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情况下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，存在倒数的数字是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1,5,7,11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它们与 12 的最大公约数都是 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，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数学上称为：</a:t>
            </a:r>
            <a:r>
              <a:rPr lang="zh-CN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与 12 互质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也可以理解为“相对于 12 的质数”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2D27C8-D1BB-BF7D-F553-AB54ED27FF92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非对称加密数论基础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ADFF3E8-6D4D-88AA-E798-F8107BDBA6F1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2089A499-C150-7F26-ABE9-6B206DCB41F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0BE9FBFE-5C31-0F9F-5F05-F55EF1D8A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9EDA8058-EF4C-C943-21AE-5123C6F1BD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5B555598-EB8E-8C63-326B-D2A8DFE457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3E017F90-353B-DC63-0367-7EB1F7EC24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2D583F6D-2F2D-8DF6-AEBC-0DA9AA5BC4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731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04530-9004-C450-1A72-5EECD103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446261-2B95-AEEF-6B26-9193725206FC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55DF9D4-D4C4-84C2-B6CE-B18809675F1C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9B53BDD2-F76C-AC9E-2C80-D6AF98CC38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A4F7BD54-F9B5-495C-E616-E82F9F30A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99FDA610-EFDD-777A-A745-D8665364EF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40B0BF01-2348-6147-A9FD-5CA4A74E00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9ABBF583-51F6-D9EE-D58B-B0824C461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134E3F39-CB62-4AA0-0B46-0A1FE5E634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3C01FD7-ABE7-4B96-4889-EB0805BAC29B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0" smtClean="0">
                        <a:latin typeface="Cambria Math" panose="02040503050406030204" pitchFamily="18" charset="0"/>
                        <a:ea typeface="+mn-ea"/>
                      </a:rPr>
                      <m:t>如何</m:t>
                    </m:r>
                  </m:oMath>
                </a14:m>
                <a:r>
                  <a:rPr lang="zh-CN" altLang="en-US" sz="2800" dirty="0">
                    <a:ea typeface="+mn-ea"/>
                  </a:rPr>
                  <a:t>求模反元素（</a:t>
                </a:r>
                <a:r>
                  <a:rPr lang="en-US" altLang="zh-CN" sz="2800" dirty="0">
                    <a:ea typeface="+mn-ea"/>
                  </a:rPr>
                  <a:t>mod</a:t>
                </a:r>
                <a:r>
                  <a:rPr lang="zh-CN" altLang="en-US" sz="2800" dirty="0">
                    <a:ea typeface="+mn-ea"/>
                  </a:rPr>
                  <a:t>倒数）</a:t>
                </a:r>
                <a:r>
                  <a:rPr lang="en-US" altLang="zh-CN" sz="2800" dirty="0">
                    <a:ea typeface="+mn-ea"/>
                  </a:rPr>
                  <a:t>——</a:t>
                </a:r>
                <a:r>
                  <a:rPr lang="zh-CN" altLang="en-US" sz="2800" dirty="0">
                    <a:ea typeface="+mn-ea"/>
                  </a:rPr>
                  <a:t>扩展辗转相除法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3C01FD7-ABE7-4B96-4889-EB0805BAC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D1E8CA0-9728-9E2A-EAB4-6850B2FBBB05}"/>
                  </a:ext>
                </a:extLst>
              </p:cNvPr>
              <p:cNvSpPr txBox="1"/>
              <p:nvPr/>
            </p:nvSpPr>
            <p:spPr>
              <a:xfrm>
                <a:off x="406400" y="1422388"/>
                <a:ext cx="11165840" cy="495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sz="28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ar-AE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ar-AE" altLang="zh-CN" sz="2400" dirty="0"/>
              </a:p>
              <a:p>
                <a:pPr>
                  <a:buNone/>
                </a:pPr>
                <a:endParaRPr lang="ar-AE" altLang="zh-CN" sz="2400" dirty="0"/>
              </a:p>
              <a:p>
                <a:pPr>
                  <a:buNone/>
                </a:pPr>
                <a:r>
                  <a:rPr lang="en-US" altLang="zh-CN" sz="2400" dirty="0"/>
                  <a:t>Step1:</a:t>
                </a:r>
                <a:r>
                  <a:rPr lang="zh-CN" altLang="en-US" sz="2400" dirty="0"/>
                  <a:t>求 </a:t>
                </a:r>
                <a:r>
                  <a:rPr lang="en-US" altLang="zh-CN" sz="2400" dirty="0" err="1"/>
                  <a:t>gcd</a:t>
                </a:r>
                <a:r>
                  <a:rPr lang="en-US" altLang="zh-CN" sz="2400" dirty="0"/>
                  <a:t>(3,20)</a:t>
                </a:r>
                <a:r>
                  <a:rPr lang="zh-CN" altLang="en-US" sz="2400" dirty="0"/>
                  <a:t>：</a:t>
                </a:r>
              </a:p>
              <a:p>
                <a:pPr algn="ctr"/>
                <a:r>
                  <a:rPr lang="en-US" altLang="zh-CN" sz="2400" dirty="0"/>
                  <a:t>20 ÷ 3 = 6 </a:t>
                </a:r>
                <a:r>
                  <a:rPr lang="zh-CN" altLang="en-US" sz="2400" dirty="0"/>
                  <a:t>余 </a:t>
                </a:r>
                <a:r>
                  <a:rPr lang="en-US" altLang="zh-CN" sz="2400" dirty="0"/>
                  <a:t>2 → 20 = 3×6 + 2</a:t>
                </a:r>
              </a:p>
              <a:p>
                <a:pPr algn="ctr"/>
                <a:r>
                  <a:rPr lang="en-US" altLang="zh-CN" sz="2400" dirty="0"/>
                  <a:t>3 ÷ 2 = 1 </a:t>
                </a:r>
                <a:r>
                  <a:rPr lang="zh-CN" altLang="en-US" sz="2400" dirty="0"/>
                  <a:t>余 </a:t>
                </a:r>
                <a:r>
                  <a:rPr lang="en-US" altLang="zh-CN" sz="2400" dirty="0"/>
                  <a:t>1 → 3 = 2×1 + 1</a:t>
                </a:r>
              </a:p>
              <a:p>
                <a:pPr algn="ctr"/>
                <a:r>
                  <a:rPr lang="en-US" altLang="zh-CN" sz="2400" dirty="0"/>
                  <a:t>2 ÷ 1 = 2 </a:t>
                </a:r>
                <a:r>
                  <a:rPr lang="zh-CN" altLang="en-US" sz="2400" dirty="0"/>
                  <a:t>余 </a:t>
                </a:r>
                <a:r>
                  <a:rPr lang="en-US" altLang="zh-CN" sz="2400" dirty="0"/>
                  <a:t>0 → </a:t>
                </a:r>
                <a:r>
                  <a:rPr lang="en-US" altLang="zh-CN" sz="2400" dirty="0" err="1"/>
                  <a:t>gcd</a:t>
                </a:r>
                <a:r>
                  <a:rPr lang="en-US" altLang="zh-CN" sz="2400" dirty="0"/>
                  <a:t> = 1 </a:t>
                </a:r>
                <a:br>
                  <a:rPr lang="en-US" altLang="zh-CN" sz="2400" dirty="0"/>
                </a:br>
                <a:endParaRPr lang="en-US" altLang="zh-CN" sz="2400" dirty="0"/>
              </a:p>
              <a:p>
                <a:r>
                  <a:rPr lang="en-US" altLang="zh-CN" sz="2400" dirty="0"/>
                  <a:t>Step2:</a:t>
                </a:r>
                <a:r>
                  <a:rPr lang="zh-CN" altLang="en-US" sz="2400" dirty="0"/>
                  <a:t>从上面步骤回代求</a:t>
                </a:r>
                <a:r>
                  <a:rPr lang="en-US" altLang="zh-CN" sz="2400" dirty="0"/>
                  <a:t>d</a:t>
                </a:r>
                <a:r>
                  <a:rPr lang="zh-CN" altLang="en-US" sz="2400" dirty="0"/>
                  <a:t>：</a:t>
                </a:r>
              </a:p>
              <a:p>
                <a:pPr algn="ctr"/>
                <a:r>
                  <a:rPr lang="en-US" altLang="zh-CN" sz="2400" dirty="0"/>
                  <a:t>1 = 3 - 2×1</a:t>
                </a:r>
              </a:p>
              <a:p>
                <a:pPr algn="ctr"/>
                <a:r>
                  <a:rPr lang="en-US" altLang="zh-CN" sz="2400" dirty="0"/>
                  <a:t>2 = 20 - 3×6 → 1 = 3 - (20 - 3×6)×1 = 3 - 20×1 + 3×6 = 3×7 - 20×1</a:t>
                </a:r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对比公式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3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⋅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即</m:t>
                    </m:r>
                  </m:oMath>
                </a14:m>
                <a:r>
                  <a:rPr lang="en-US" altLang="zh-CN" sz="2400" dirty="0"/>
                  <a:t>3d + 20k = 1</a:t>
                </a:r>
              </a:p>
              <a:p>
                <a:r>
                  <a:rPr lang="zh-CN" altLang="en-US" sz="2400" dirty="0"/>
                  <a:t>得到 </a:t>
                </a:r>
                <a:r>
                  <a:rPr lang="en-US" altLang="zh-CN" sz="2400" dirty="0"/>
                  <a:t>d = 7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D1E8CA0-9728-9E2A-EAB4-6850B2FB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422388"/>
                <a:ext cx="11165840" cy="4955203"/>
              </a:xfrm>
              <a:prstGeom prst="rect">
                <a:avLst/>
              </a:prstGeom>
              <a:blipFill>
                <a:blip r:embed="rId4"/>
                <a:stretch>
                  <a:fillRect l="-874" b="-1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9141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E2094-F2D1-7D96-0147-4C3001420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264B05-CDED-98FC-54FD-009BE02BA468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2449857-26FE-E3FC-074D-9DB09FFE8E47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A00BDC5B-95B5-F069-5518-B7F0CAFAE7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2074A9B2-961E-4D68-F71E-0A227E3E2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832F6E9C-8EC2-3053-F037-89AA07A4CF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EE9C36EE-133E-C5CD-5A05-2C24134E69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F8B58D77-94BF-F614-AE6D-EA7DF444A0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374BA9D5-A60D-9C49-5944-D739D2D4CB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2C043A6-74C0-56E1-6E83-7043699AD024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ea typeface="+mn-ea"/>
                  </a:rPr>
                  <a:t>密钥对生成过程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2C043A6-74C0-56E1-6E83-7043699AD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027527CD-CE67-06EA-AC96-ADCF69FD6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1422388"/>
            <a:ext cx="11216640" cy="52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07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03ABD-50F5-6B9A-BE4E-C09440B0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9927F97-7F5E-1476-AC66-8A7224354478}"/>
              </a:ext>
            </a:extLst>
          </p:cNvPr>
          <p:cNvSpPr txBox="1"/>
          <p:nvPr/>
        </p:nvSpPr>
        <p:spPr>
          <a:xfrm>
            <a:off x="3352513" y="2754066"/>
            <a:ext cx="5482323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RSA</a:t>
            </a:r>
            <a:r>
              <a:rPr lang="zh-CN" altLang="en-US" sz="4000" dirty="0">
                <a:solidFill>
                  <a:schemeClr val="accent1"/>
                </a:solidFill>
              </a:rPr>
              <a:t>加密解密过程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092D6A-B0D4-32C6-3C45-5DC8125E90E5}"/>
              </a:ext>
            </a:extLst>
          </p:cNvPr>
          <p:cNvSpPr txBox="1"/>
          <p:nvPr/>
        </p:nvSpPr>
        <p:spPr>
          <a:xfrm>
            <a:off x="5720898" y="2041451"/>
            <a:ext cx="750205" cy="5386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#02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41CAB2AC-8B79-51F5-3BB4-4DAC9A21147C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3100272" y="1534089"/>
            <a:ext cx="922672" cy="922974"/>
            <a:chOff x="14101" y="4437"/>
            <a:chExt cx="3056" cy="305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7623FBA-0CB8-A215-FA11-0C0273CF9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9D3F5E34-01D1-CCA8-A2FF-D6A5DEC5F7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D8765DA-BC56-A2A0-ECDB-295BA7819172}"/>
              </a:ext>
            </a:extLst>
          </p:cNvPr>
          <p:cNvGrpSpPr/>
          <p:nvPr/>
        </p:nvGrpSpPr>
        <p:grpSpPr>
          <a:xfrm rot="18900000">
            <a:off x="7424365" y="-2902432"/>
            <a:ext cx="6098786" cy="6100199"/>
            <a:chOff x="18351500" y="3723568"/>
            <a:chExt cx="4878842" cy="4879972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084EFF88-227E-9C61-D45C-99B4990A85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ABE28822-2D6A-447C-7FF9-D6DCB30347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CEFBBBC-63E7-6CA4-9268-53F76B084F38}"/>
              </a:ext>
            </a:extLst>
          </p:cNvPr>
          <p:cNvGrpSpPr/>
          <p:nvPr/>
        </p:nvGrpSpPr>
        <p:grpSpPr>
          <a:xfrm rot="8100000">
            <a:off x="6722596" y="2086183"/>
            <a:ext cx="8786687" cy="8788722"/>
            <a:chOff x="18351500" y="3723568"/>
            <a:chExt cx="4878842" cy="4879972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1D11241D-3A1C-562F-F426-3BA537295A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7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91E45810-03EF-C8D4-E53A-AF3AC3FBAD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A4C992E2-8AEE-42E0-5C19-CD3138765ED1}"/>
              </a:ext>
            </a:extLst>
          </p:cNvPr>
          <p:cNvGrpSpPr>
            <a:grpSpLocks noChangeAspect="1"/>
          </p:cNvGrpSpPr>
          <p:nvPr/>
        </p:nvGrpSpPr>
        <p:grpSpPr bwMode="auto">
          <a:xfrm rot="8100000">
            <a:off x="10501205" y="2666453"/>
            <a:ext cx="4851400" cy="4852988"/>
            <a:chOff x="14101" y="4437"/>
            <a:chExt cx="3056" cy="3057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D7C8553E-DF39-967B-C0CD-193D14AF1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B0E75787-98B2-C0D3-BD7D-C9BD4C128C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42D4C04-4666-2EC2-FA36-347C67322CAD}"/>
              </a:ext>
            </a:extLst>
          </p:cNvPr>
          <p:cNvGrpSpPr/>
          <p:nvPr/>
        </p:nvGrpSpPr>
        <p:grpSpPr>
          <a:xfrm rot="18900000">
            <a:off x="-2098325" y="3005269"/>
            <a:ext cx="6098786" cy="6100199"/>
            <a:chOff x="18351500" y="3723568"/>
            <a:chExt cx="4878842" cy="4879972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2A964BD2-53DA-1485-07D0-CAA7B7394C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9A33A153-F3A2-5A8B-3949-CD618F0A31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09CAB9C8-095D-8D67-5D87-C2C5F0A20E55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2714211" y="1610357"/>
            <a:ext cx="1291038" cy="1291460"/>
            <a:chOff x="14101" y="4437"/>
            <a:chExt cx="3056" cy="3057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8B6B9BAE-1EAA-88AC-A01F-3AB95E088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AD077744-C723-B359-40EF-8DED80E308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45491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8B20-5001-4F8A-B394-C514BA950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22E3E23-3779-5581-1A27-2664ABB38A02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BCA7DA8-C87A-E3AE-DE11-E4ECFF46491B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4CD20272-9549-451B-177C-9F5E0695F9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76A72D09-F266-4FE9-ABDE-B577DA173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897F0AD8-51AC-ACE5-B06F-EC9B0FC8A4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BA22D7B8-FDFD-1CE5-CE88-9509ADF134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C536869D-4E61-6AAB-88AB-35F423671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B586C3D2-79AC-BEF6-AE46-6B029E3B4E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3E786EB-52FF-8E0B-FD25-E23CF515FA8E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加密与解密流程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3E786EB-52FF-8E0B-FD25-E23CF515F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C6E920B1-4A16-C958-0D08-2D3479C7C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609176"/>
              </p:ext>
            </p:extLst>
          </p:nvPr>
        </p:nvGraphicFramePr>
        <p:xfrm>
          <a:off x="261618" y="3934473"/>
          <a:ext cx="11668761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96062">
                  <a:extLst>
                    <a:ext uri="{9D8B030D-6E8A-4147-A177-3AD203B41FA5}">
                      <a16:colId xmlns:a16="http://schemas.microsoft.com/office/drawing/2014/main" val="2908313444"/>
                    </a:ext>
                  </a:extLst>
                </a:gridCol>
                <a:gridCol w="6283112">
                  <a:extLst>
                    <a:ext uri="{9D8B030D-6E8A-4147-A177-3AD203B41FA5}">
                      <a16:colId xmlns:a16="http://schemas.microsoft.com/office/drawing/2014/main" val="2526696859"/>
                    </a:ext>
                  </a:extLst>
                </a:gridCol>
                <a:gridCol w="3889587">
                  <a:extLst>
                    <a:ext uri="{9D8B030D-6E8A-4147-A177-3AD203B41FA5}">
                      <a16:colId xmlns:a16="http://schemas.microsoft.com/office/drawing/2014/main" val="3446144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43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随机选择一对足够大的质数，并计算乘积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459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的欧拉函数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 -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511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选一个与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zh-CN" altLang="en-US" sz="2400" dirty="0"/>
                        <a:t>互质的整数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&lt; e &lt;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83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对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的模反元素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倒数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999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B41E152D-C220-6390-BCDC-0A34D5EF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1535299"/>
                  </p:ext>
                </p:extLst>
              </p:nvPr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dirty="0"/>
                            <a:t>加密：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a-DK" sz="2400" dirty="0"/>
                            <a:t>解密：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B41E152D-C220-6390-BCDC-0A34D5EF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1535299"/>
                  </p:ext>
                </p:extLst>
              </p:nvPr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7059" r="-209" b="-30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5257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104598" r="-20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383294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B7A70-7AA1-3AE5-BAC6-9718F349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B503E0-F22D-4CF8-5DBD-12C10520CBE8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E5580-285B-E601-1970-7234D315E42C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04F136A3-62FA-34EE-3A93-C013007A65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11765888-4CC3-8830-3661-09598677F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869BE556-D8DB-E029-B552-E8B9FCB116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E7EC1A5F-4FDF-C5F7-003F-352AE76E95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17490984-1B40-3B1B-C012-242A2B058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FAC72BD5-738A-DCC5-E3CE-1D6AF8CA64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020CF7-7515-E64A-45E7-246DF7A42AF9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课堂练习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020CF7-7515-E64A-45E7-246DF7A42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5DEE083-5177-99D5-D119-C11E94062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208047"/>
              </p:ext>
            </p:extLst>
          </p:nvPr>
        </p:nvGraphicFramePr>
        <p:xfrm>
          <a:off x="261619" y="1422388"/>
          <a:ext cx="11668762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34381">
                  <a:extLst>
                    <a:ext uri="{9D8B030D-6E8A-4147-A177-3AD203B41FA5}">
                      <a16:colId xmlns:a16="http://schemas.microsoft.com/office/drawing/2014/main" val="3740394943"/>
                    </a:ext>
                  </a:extLst>
                </a:gridCol>
                <a:gridCol w="5834381">
                  <a:extLst>
                    <a:ext uri="{9D8B030D-6E8A-4147-A177-3AD203B41FA5}">
                      <a16:colId xmlns:a16="http://schemas.microsoft.com/office/drawing/2014/main" val="1157866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i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已知</a:t>
                      </a:r>
                      <a:endParaRPr lang="en-US" altLang="zh-CN" sz="2400" i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0" dirty="0"/>
                        <a:t>求解</a:t>
                      </a:r>
                      <a:endParaRPr lang="en-US" altLang="zh-C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569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3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q </a:t>
                      </a:r>
                      <a:r>
                        <a:rPr lang="en-US" altLang="zh-CN" sz="2400" i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n,</a:t>
                      </a:r>
                      <a:r>
                        <a:rPr lang="zh-CN" alt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pt-BR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84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20, 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公钥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695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私钥</a:t>
                      </a:r>
                      <a:r>
                        <a:rPr lang="en-US" altLang="zh-CN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370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密文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75710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F068A62-5BF4-5B8D-BDDE-ABB4EC526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160455"/>
              </p:ext>
            </p:extLst>
          </p:nvPr>
        </p:nvGraphicFramePr>
        <p:xfrm>
          <a:off x="261618" y="3882458"/>
          <a:ext cx="11668762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34381">
                  <a:extLst>
                    <a:ext uri="{9D8B030D-6E8A-4147-A177-3AD203B41FA5}">
                      <a16:colId xmlns:a16="http://schemas.microsoft.com/office/drawing/2014/main" val="1468247889"/>
                    </a:ext>
                  </a:extLst>
                </a:gridCol>
                <a:gridCol w="5834381">
                  <a:extLst>
                    <a:ext uri="{9D8B030D-6E8A-4147-A177-3AD203B41FA5}">
                      <a16:colId xmlns:a16="http://schemas.microsoft.com/office/drawing/2014/main" val="1884529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变量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数值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21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246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φ(</a:t>
                      </a:r>
                      <a:r>
                        <a:rPr lang="en-US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98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048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02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12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0CAEF-AA4F-2E2B-42BE-A51F0C38C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F9E7206-FF52-2633-271B-13F2264C3587}"/>
              </a:ext>
            </a:extLst>
          </p:cNvPr>
          <p:cNvSpPr txBox="1"/>
          <p:nvPr/>
        </p:nvSpPr>
        <p:spPr>
          <a:xfrm>
            <a:off x="3352513" y="2754066"/>
            <a:ext cx="5482323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RSA</a:t>
            </a:r>
            <a:r>
              <a:rPr lang="zh-CN" altLang="en-US" sz="4000" dirty="0">
                <a:solidFill>
                  <a:schemeClr val="accent1"/>
                </a:solidFill>
              </a:rPr>
              <a:t>的安全性分析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F9A0F9-C402-911D-7DE5-D34F1D6E1DB3}"/>
              </a:ext>
            </a:extLst>
          </p:cNvPr>
          <p:cNvSpPr txBox="1"/>
          <p:nvPr/>
        </p:nvSpPr>
        <p:spPr>
          <a:xfrm>
            <a:off x="5720898" y="2041451"/>
            <a:ext cx="750205" cy="5386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#03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048E5F01-A757-ED2D-4601-5781C720C157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3100272" y="1534089"/>
            <a:ext cx="922672" cy="922974"/>
            <a:chOff x="14101" y="4437"/>
            <a:chExt cx="3056" cy="305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F359DEFB-B1BE-5C98-6E3C-7D43AEE62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AA2C583A-48C7-735A-C53F-0C63086CB8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367ECA7-558C-196B-8334-DBD455746624}"/>
              </a:ext>
            </a:extLst>
          </p:cNvPr>
          <p:cNvGrpSpPr/>
          <p:nvPr/>
        </p:nvGrpSpPr>
        <p:grpSpPr>
          <a:xfrm rot="18900000">
            <a:off x="7424365" y="-2902432"/>
            <a:ext cx="6098786" cy="6100199"/>
            <a:chOff x="18351500" y="3723568"/>
            <a:chExt cx="4878842" cy="4879972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6BD9D338-0B8C-55E0-A418-E629314BB4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F1EB82A7-FC4C-4C59-6771-C22C956958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3EB4621-9119-6461-24BF-FB3D343C4460}"/>
              </a:ext>
            </a:extLst>
          </p:cNvPr>
          <p:cNvGrpSpPr/>
          <p:nvPr/>
        </p:nvGrpSpPr>
        <p:grpSpPr>
          <a:xfrm rot="8100000">
            <a:off x="6722596" y="2086183"/>
            <a:ext cx="8786687" cy="8788722"/>
            <a:chOff x="18351500" y="3723568"/>
            <a:chExt cx="4878842" cy="4879972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2EEBD042-FDBF-0F8A-9E14-2A639FB188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7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420EAB1-D549-1E20-4E8F-ED01FC3C0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708367CA-7652-718D-6A0D-9D9E1BFFBD4C}"/>
              </a:ext>
            </a:extLst>
          </p:cNvPr>
          <p:cNvGrpSpPr>
            <a:grpSpLocks noChangeAspect="1"/>
          </p:cNvGrpSpPr>
          <p:nvPr/>
        </p:nvGrpSpPr>
        <p:grpSpPr bwMode="auto">
          <a:xfrm rot="8100000">
            <a:off x="10501205" y="2666453"/>
            <a:ext cx="4851400" cy="4852988"/>
            <a:chOff x="14101" y="4437"/>
            <a:chExt cx="3056" cy="3057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6A46B78-9ECE-4FF0-5FEE-501B52686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94DF28F8-90E3-514D-A06A-9AD98A1113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B08A10B-F738-320A-3517-48543802E835}"/>
              </a:ext>
            </a:extLst>
          </p:cNvPr>
          <p:cNvGrpSpPr/>
          <p:nvPr/>
        </p:nvGrpSpPr>
        <p:grpSpPr>
          <a:xfrm rot="18900000">
            <a:off x="-2098325" y="3005269"/>
            <a:ext cx="6098786" cy="6100199"/>
            <a:chOff x="18351500" y="3723568"/>
            <a:chExt cx="4878842" cy="4879972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348E80BF-3B7F-8863-0B8D-53B9C6947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C99D8282-6720-AB5A-B505-7C07074450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A272EF4B-382D-8A22-57A3-1C3F673244C9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2714211" y="1610357"/>
            <a:ext cx="1291038" cy="1291460"/>
            <a:chOff x="14101" y="4437"/>
            <a:chExt cx="3056" cy="3057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EF7E4743-9378-AF3E-BDF1-D500F0F45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F7B61EAB-DDA1-8D79-44F5-1F3302E48B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48810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35F6-5328-240A-F74F-C12226C4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94D3DF0-C3C4-FFAC-C65E-6FAE26B6EDB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的安全性分析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AF6911E-4F9D-3961-A62D-7343EBF8CB42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C088577D-4208-8CEF-A21E-1360872115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05D901E3-88B6-5893-C6F9-EA8F9E963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1CB65909-AF4D-C78E-2A1A-CE3D785037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E3CF6B39-8D05-A3C3-2CDD-F9E3789BC5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BC66F3D2-EB1D-F3B8-7353-E85946BF7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834EB352-3C73-4659-9C61-FAA22D7E01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56A554-7C30-1680-D32A-1A29D93ED3C3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+mn-ea"/>
                      </a:rPr>
                      <m:t>攻击者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能力分析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56A554-7C30-1680-D32A-1A29D93ED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E250D9B7-FAF0-476B-6D3E-0458843604A8}"/>
              </a:ext>
            </a:extLst>
          </p:cNvPr>
          <p:cNvSpPr/>
          <p:nvPr/>
        </p:nvSpPr>
        <p:spPr>
          <a:xfrm>
            <a:off x="456095" y="2020268"/>
            <a:ext cx="11279809" cy="123444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密文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：可以通过窃听来获取</a:t>
            </a: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公钥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{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e,n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：公钥是公开的信息</a:t>
            </a:r>
            <a:endParaRPr lang="en-US" altLang="zh-CN" sz="28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C8C545-B639-9698-3F6D-0FA3224A0C38}"/>
              </a:ext>
            </a:extLst>
          </p:cNvPr>
          <p:cNvSpPr/>
          <p:nvPr/>
        </p:nvSpPr>
        <p:spPr>
          <a:xfrm>
            <a:off x="404188" y="4500880"/>
            <a:ext cx="11279809" cy="16320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明文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：敌手破译目标</a:t>
            </a: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私钥中的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：私钥中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是不知道的信息</a:t>
            </a: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其他：敌手不知道生成密钥时所使用的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A7A59ECF-7E3C-AB4B-3367-A648DF9C14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6626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4A349D-676D-46CE-85FF-1344F9C5319D}"/>
              </a:ext>
            </a:extLst>
          </p:cNvPr>
          <p:cNvSpPr txBox="1"/>
          <p:nvPr/>
        </p:nvSpPr>
        <p:spPr>
          <a:xfrm>
            <a:off x="2945292" y="1497048"/>
            <a:ext cx="619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</a:rPr>
              <a:t>敌手知道的信息</a:t>
            </a:r>
            <a:endParaRPr lang="en-US" altLang="zh-CN" sz="2800" dirty="0">
              <a:solidFill>
                <a:srgbClr val="FF0000"/>
              </a:solidFill>
              <a:latin typeface="Cambria Math" panose="020405030504060302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D72F83-11B0-071A-2B84-6AF35CDCEAD6}"/>
              </a:ext>
            </a:extLst>
          </p:cNvPr>
          <p:cNvSpPr txBox="1"/>
          <p:nvPr/>
        </p:nvSpPr>
        <p:spPr>
          <a:xfrm>
            <a:off x="2945292" y="3885324"/>
            <a:ext cx="619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敌手不知道的信息</a:t>
            </a:r>
            <a:endParaRPr lang="en-US" altLang="zh-CN" sz="2800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0580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AD479-249F-E83A-5100-52F18229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91D614-5B17-091D-2680-6DB95E510EE7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的安全性分析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A394DCF-5251-E299-4F48-2F3D2A9E4581}"/>
              </a:ext>
            </a:extLst>
          </p:cNvPr>
          <p:cNvGrpSpPr/>
          <p:nvPr/>
        </p:nvGrpSpPr>
        <p:grpSpPr>
          <a:xfrm>
            <a:off x="397075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41053112-54DA-E028-B0C1-BE8F5907EF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B7321BAB-F3F0-C0E2-FE8A-E10607C2B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732B7BE3-9459-1B05-7B74-348BA998FE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A953338-99AE-FCB1-46B7-9C9036977A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AD480FD7-E77F-357B-9350-8927A58E3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63FA0877-C959-6908-B93C-17BAFF310C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CDDC733A-F849-7F2C-AA42-3262FA057286}"/>
              </a:ext>
            </a:extLst>
          </p:cNvPr>
          <p:cNvSpPr txBox="1"/>
          <p:nvPr/>
        </p:nvSpPr>
        <p:spPr>
          <a:xfrm>
            <a:off x="0" y="72509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1.</a:t>
            </a:r>
            <a:r>
              <a:rPr lang="zh-CN" altLang="en-US" sz="2800" dirty="0"/>
              <a:t>通过密文来求得明文</a:t>
            </a:r>
            <a:endParaRPr lang="en-US" altLang="zh-CN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18CAEA-22F5-7795-C757-13C9F507DE76}"/>
              </a:ext>
            </a:extLst>
          </p:cNvPr>
          <p:cNvSpPr txBox="1"/>
          <p:nvPr/>
        </p:nvSpPr>
        <p:spPr>
          <a:xfrm>
            <a:off x="0" y="179189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2.</a:t>
            </a:r>
            <a:r>
              <a:rPr lang="zh-CN" altLang="en-US" sz="2800" dirty="0"/>
              <a:t>通过暴力破解来找出 </a:t>
            </a:r>
            <a:r>
              <a:rPr lang="en-US" altLang="zh-CN" sz="2800" dirty="0"/>
              <a:t>d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9F726A-F1E0-716B-B178-A5F649AEE673}"/>
              </a:ext>
            </a:extLst>
          </p:cNvPr>
          <p:cNvSpPr txBox="1"/>
          <p:nvPr/>
        </p:nvSpPr>
        <p:spPr>
          <a:xfrm>
            <a:off x="0" y="294505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3.</a:t>
            </a:r>
            <a:r>
              <a:rPr lang="zh-CN" altLang="en-US" sz="2800" dirty="0"/>
              <a:t>通过 </a:t>
            </a:r>
            <a:r>
              <a:rPr lang="en-US" altLang="zh-CN" sz="2800" i="1" dirty="0"/>
              <a:t>e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zh-CN" altLang="en-US" sz="2800" dirty="0"/>
              <a:t>来求出 </a:t>
            </a:r>
            <a:r>
              <a:rPr lang="en-US" altLang="zh-CN" sz="2800" i="1" dirty="0"/>
              <a:t>d</a:t>
            </a:r>
            <a:endParaRPr lang="en-US" altLang="zh-CN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351E5A-4B00-369C-E944-9FDF65ABDCF3}"/>
              </a:ext>
            </a:extLst>
          </p:cNvPr>
          <p:cNvSpPr txBox="1"/>
          <p:nvPr/>
        </p:nvSpPr>
        <p:spPr>
          <a:xfrm>
            <a:off x="0" y="409821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4.</a:t>
            </a:r>
            <a:r>
              <a:rPr lang="zh-CN" altLang="en-US" sz="2800" dirty="0"/>
              <a:t>对 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zh-CN" altLang="en-US" sz="2800" dirty="0"/>
              <a:t>进行质因数分解攻击</a:t>
            </a:r>
            <a:endParaRPr lang="en-US" altLang="zh-CN" sz="28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FEE5A7-BC9D-1760-D678-23ADCF017A48}"/>
              </a:ext>
            </a:extLst>
          </p:cNvPr>
          <p:cNvSpPr txBox="1"/>
          <p:nvPr/>
        </p:nvSpPr>
        <p:spPr>
          <a:xfrm>
            <a:off x="0" y="5205211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5.</a:t>
            </a:r>
            <a:r>
              <a:rPr lang="zh-CN" altLang="en-US" sz="2800" dirty="0"/>
              <a:t>通过推测 </a:t>
            </a:r>
            <a:r>
              <a:rPr lang="en-US" altLang="zh-CN" sz="2800" i="1" dirty="0"/>
              <a:t>p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i="1" dirty="0"/>
              <a:t>q</a:t>
            </a:r>
            <a:r>
              <a:rPr lang="en-US" altLang="zh-CN" sz="2800" dirty="0"/>
              <a:t> </a:t>
            </a:r>
            <a:r>
              <a:rPr lang="zh-CN" altLang="en-US" sz="2800" dirty="0"/>
              <a:t>进行攻击</a:t>
            </a:r>
            <a:endParaRPr lang="en-US" altLang="zh-CN" sz="28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7BDA64-0EC4-2860-D4C2-8237206EEA09}"/>
              </a:ext>
            </a:extLst>
          </p:cNvPr>
          <p:cNvSpPr txBox="1"/>
          <p:nvPr/>
        </p:nvSpPr>
        <p:spPr>
          <a:xfrm>
            <a:off x="4898065" y="722270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——</a:t>
            </a:r>
            <a:r>
              <a:rPr lang="zh-CN" altLang="en-US" sz="2800" dirty="0"/>
              <a:t>需要求解有限域上的离散对数问题</a:t>
            </a:r>
            <a:endParaRPr lang="en-US" altLang="zh-CN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F05EFE-F2DD-AC03-05D4-1BD5862A0AED}"/>
              </a:ext>
            </a:extLst>
          </p:cNvPr>
          <p:cNvSpPr txBox="1"/>
          <p:nvPr/>
        </p:nvSpPr>
        <p:spPr>
          <a:xfrm>
            <a:off x="4898065" y="1791898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——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zh-CN" altLang="en-US" sz="2800" dirty="0"/>
              <a:t>的长度为 </a:t>
            </a:r>
            <a:r>
              <a:rPr lang="en-US" altLang="zh-CN" sz="2800" dirty="0"/>
              <a:t>2048 </a:t>
            </a:r>
            <a:r>
              <a:rPr lang="zh-CN" altLang="en-US" sz="2800" dirty="0"/>
              <a:t>位或更长</a:t>
            </a:r>
            <a:endParaRPr lang="en-US" altLang="zh-CN" sz="28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49631C-B2EC-179B-8F29-535AC69436D7}"/>
              </a:ext>
            </a:extLst>
          </p:cNvPr>
          <p:cNvSpPr txBox="1"/>
          <p:nvPr/>
        </p:nvSpPr>
        <p:spPr>
          <a:xfrm>
            <a:off x="4898065" y="2945058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——</a:t>
            </a:r>
            <a:r>
              <a:rPr lang="zh-CN" altLang="en-US" sz="2800" dirty="0"/>
              <a:t>陷门保密：质数 </a:t>
            </a:r>
            <a:r>
              <a:rPr lang="en-US" altLang="zh-CN" sz="2800" i="1" dirty="0"/>
              <a:t>p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i="1" dirty="0"/>
              <a:t>q</a:t>
            </a:r>
            <a:r>
              <a:rPr lang="en-US" altLang="zh-CN" sz="2800" dirty="0"/>
              <a:t> </a:t>
            </a:r>
            <a:r>
              <a:rPr lang="zh-CN" altLang="en-US" sz="2800" dirty="0"/>
              <a:t>敌手不知道</a:t>
            </a:r>
            <a:endParaRPr lang="en-US" altLang="zh-CN" sz="28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38B5B0-05C4-F5FB-795D-6D2AA0F49857}"/>
              </a:ext>
            </a:extLst>
          </p:cNvPr>
          <p:cNvSpPr txBox="1"/>
          <p:nvPr/>
        </p:nvSpPr>
        <p:spPr>
          <a:xfrm>
            <a:off x="4898064" y="4098218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b="1" dirty="0"/>
              <a:t>——</a:t>
            </a:r>
            <a:r>
              <a:rPr lang="zh-CN" altLang="en-US" sz="2800" dirty="0"/>
              <a:t>需要对大整数进行质因数分解</a:t>
            </a:r>
            <a:endParaRPr lang="en-US" altLang="zh-CN" sz="28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AD6FAB-0937-46EB-21E0-2A74CE199813}"/>
              </a:ext>
            </a:extLst>
          </p:cNvPr>
          <p:cNvSpPr txBox="1"/>
          <p:nvPr/>
        </p:nvSpPr>
        <p:spPr>
          <a:xfrm>
            <a:off x="4898065" y="5205211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——</a:t>
            </a:r>
            <a:r>
              <a:rPr lang="zh-CN" altLang="en-US" sz="2800" dirty="0"/>
              <a:t>伪随机数生成器保证 </a:t>
            </a:r>
            <a:r>
              <a:rPr lang="en-US" altLang="zh-CN" sz="2800" i="1" dirty="0"/>
              <a:t>p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i="1" dirty="0"/>
              <a:t>q </a:t>
            </a:r>
            <a:r>
              <a:rPr lang="zh-CN" altLang="en-US" sz="2800" dirty="0"/>
              <a:t>的安全性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75865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16" grpId="0" animBg="1"/>
      <p:bldP spid="11" grpId="0" animBg="1"/>
      <p:bldP spid="12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4F96-5495-4868-35EB-00812E18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7A77C6D4-0538-CDF8-667A-A6B6F31F85D6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C4E159-86C9-96C1-EE5E-53980F303322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4C4F821C-1F03-EC11-C9F9-5E2201F326EB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0BA9458B-2916-9074-4863-A131FB243B66}"/>
              </a:ext>
            </a:extLst>
          </p:cNvPr>
          <p:cNvSpPr/>
          <p:nvPr/>
        </p:nvSpPr>
        <p:spPr>
          <a:xfrm>
            <a:off x="5434895" y="965685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79E0071B-A158-9A15-2877-9182F7DD45CF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74E62C86-AF97-2484-8220-978C8F0DEC76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A83B30D6-3828-DEE3-48B1-2F0E862F5830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6A9BE2CD-6860-0169-EC92-F4348D7B453F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857B7C-7A37-2E2B-A29F-CD4DAAFE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47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908B9F-D9C6-4F1C-23B5-BD7D8CC39497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加密算法缺陷</a:t>
            </a:r>
            <a:r>
              <a:rPr lang="en-US" altLang="zh-CN" sz="3600" b="1" dirty="0">
                <a:solidFill>
                  <a:srgbClr val="2A50A1"/>
                </a:solidFill>
              </a:rPr>
              <a:t>——</a:t>
            </a:r>
            <a:r>
              <a:rPr lang="zh-CN" altLang="en-US" sz="3600" b="1" dirty="0">
                <a:solidFill>
                  <a:srgbClr val="2A50A1"/>
                </a:solidFill>
              </a:rPr>
              <a:t>中间人攻击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86FC68-D9E9-D4C2-3CB6-77A3E32023F4}"/>
              </a:ext>
            </a:extLst>
          </p:cNvPr>
          <p:cNvGrpSpPr/>
          <p:nvPr/>
        </p:nvGrpSpPr>
        <p:grpSpPr>
          <a:xfrm>
            <a:off x="723689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2A6C05E6-B1DB-2014-84CB-F9B26BD254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D5224DEA-7515-E2C5-DD60-6C4CF5587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C06EC46F-4C39-3B21-5D6D-05FD021EB2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3F385BAD-6BA1-B45B-3EC0-8A9C89E6DF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B96E0EA0-8EC8-8156-F78A-422A94419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E87C405B-13A2-1067-66E1-1F5B2193A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53975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463D-FD1F-712A-01F2-1B2A7162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92CF5A2B-ADB0-D484-15D1-1D07414F546A}"/>
              </a:ext>
            </a:extLst>
          </p:cNvPr>
          <p:cNvGrpSpPr/>
          <p:nvPr/>
        </p:nvGrpSpPr>
        <p:grpSpPr>
          <a:xfrm rot="637793">
            <a:off x="6717963" y="-2695151"/>
            <a:ext cx="8786687" cy="13156983"/>
            <a:chOff x="14552960" y="-177472"/>
            <a:chExt cx="7029080" cy="10525183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9DCBD846-D10E-CA12-DABB-76BF359C3CCB}"/>
                </a:ext>
              </a:extLst>
            </p:cNvPr>
            <p:cNvGrpSpPr/>
            <p:nvPr/>
          </p:nvGrpSpPr>
          <p:grpSpPr>
            <a:xfrm rot="1495231">
              <a:off x="15166450" y="-177472"/>
              <a:ext cx="4878842" cy="4879972"/>
              <a:chOff x="18351500" y="3723568"/>
              <a:chExt cx="4878842" cy="4879972"/>
            </a:xfrm>
          </p:grpSpPr>
          <p:sp>
            <p:nvSpPr>
              <p:cNvPr id="32" name="Freeform 6">
                <a:extLst>
                  <a:ext uri="{FF2B5EF4-FFF2-40B4-BE49-F238E27FC236}">
                    <a16:creationId xmlns:a16="http://schemas.microsoft.com/office/drawing/2014/main" id="{17A3DBDD-BA99-BADE-B095-F559C87B0C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7">
                <a:extLst>
                  <a:ext uri="{FF2B5EF4-FFF2-40B4-BE49-F238E27FC236}">
                    <a16:creationId xmlns:a16="http://schemas.microsoft.com/office/drawing/2014/main" id="{FCD0E32D-CAB4-0FC3-69A9-79DCA6ECD8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BFE5E8B-CF18-1BF9-3570-488F05659F11}"/>
                </a:ext>
              </a:extLst>
            </p:cNvPr>
            <p:cNvGrpSpPr/>
            <p:nvPr/>
          </p:nvGrpSpPr>
          <p:grpSpPr>
            <a:xfrm rot="12295231">
              <a:off x="14552960" y="3317003"/>
              <a:ext cx="7029080" cy="7030708"/>
              <a:chOff x="18351500" y="3723568"/>
              <a:chExt cx="4878842" cy="4879972"/>
            </a:xfrm>
          </p:grpSpPr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8D0C7612-9F21-1273-29DC-1D8DD93BD0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BED75DFB-C591-C02B-79FE-389E3E9353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7645A2DD-17A6-D0C7-1F7D-2C6B0784F537}"/>
              </a:ext>
            </a:extLst>
          </p:cNvPr>
          <p:cNvSpPr txBox="1"/>
          <p:nvPr/>
        </p:nvSpPr>
        <p:spPr>
          <a:xfrm>
            <a:off x="652513" y="752752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</a:rPr>
              <a:t>课程小结</a:t>
            </a:r>
            <a:endParaRPr lang="en-US" altLang="zh-CN" sz="4000" b="1" dirty="0">
              <a:solidFill>
                <a:schemeClr val="bg2">
                  <a:lumMod val="25000"/>
                </a:schemeClr>
              </a:solidFill>
            </a:endParaRPr>
          </a:p>
          <a:p>
            <a:endParaRPr lang="zh-CN" altLang="en-US" sz="4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F2DEEF-7BEB-E47E-2909-6903AAC1E669}"/>
              </a:ext>
            </a:extLst>
          </p:cNvPr>
          <p:cNvSpPr txBox="1"/>
          <p:nvPr/>
        </p:nvSpPr>
        <p:spPr>
          <a:xfrm>
            <a:off x="735264" y="453303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SUMMARY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DC8267A-57EB-A5AA-DBE6-14E5063AD447}"/>
              </a:ext>
            </a:extLst>
          </p:cNvPr>
          <p:cNvCxnSpPr>
            <a:cxnSpLocks/>
          </p:cNvCxnSpPr>
          <p:nvPr/>
        </p:nvCxnSpPr>
        <p:spPr>
          <a:xfrm>
            <a:off x="2857189" y="453303"/>
            <a:ext cx="0" cy="289377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C79DB8D2-56C2-223C-BE1B-BFC779779DB9}"/>
              </a:ext>
            </a:extLst>
          </p:cNvPr>
          <p:cNvSpPr txBox="1"/>
          <p:nvPr/>
        </p:nvSpPr>
        <p:spPr>
          <a:xfrm>
            <a:off x="647976" y="3993520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</a:rPr>
              <a:t>下节预告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45BBD0D-1166-B19D-3818-E6FB5E8865A8}"/>
              </a:ext>
            </a:extLst>
          </p:cNvPr>
          <p:cNvSpPr txBox="1"/>
          <p:nvPr/>
        </p:nvSpPr>
        <p:spPr>
          <a:xfrm>
            <a:off x="730727" y="3694071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000" b="1">
                <a:solidFill>
                  <a:schemeClr val="bg2">
                    <a:lumMod val="25000"/>
                  </a:schemeClr>
                </a:solidFill>
              </a:rPr>
              <a:t>PREVIEW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6" name="直接连接符 2">
            <a:extLst>
              <a:ext uri="{FF2B5EF4-FFF2-40B4-BE49-F238E27FC236}">
                <a16:creationId xmlns:a16="http://schemas.microsoft.com/office/drawing/2014/main" id="{29F12E77-47DB-470B-1C73-53D882634A31}"/>
              </a:ext>
            </a:extLst>
          </p:cNvPr>
          <p:cNvCxnSpPr>
            <a:cxnSpLocks/>
          </p:cNvCxnSpPr>
          <p:nvPr/>
        </p:nvCxnSpPr>
        <p:spPr>
          <a:xfrm>
            <a:off x="2852652" y="3694071"/>
            <a:ext cx="0" cy="289377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DDDF648A-C093-0702-4269-5EBD7F6C1B0E}"/>
              </a:ext>
            </a:extLst>
          </p:cNvPr>
          <p:cNvCxnSpPr>
            <a:cxnSpLocks/>
          </p:cNvCxnSpPr>
          <p:nvPr/>
        </p:nvCxnSpPr>
        <p:spPr>
          <a:xfrm>
            <a:off x="7004" y="3493551"/>
            <a:ext cx="7773285" cy="0"/>
          </a:xfrm>
          <a:prstGeom prst="line">
            <a:avLst/>
          </a:prstGeom>
          <a:ln w="76200">
            <a:solidFill>
              <a:srgbClr val="001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5D0853C-0D5C-C43E-560C-BB9A10B0E764}"/>
              </a:ext>
            </a:extLst>
          </p:cNvPr>
          <p:cNvSpPr txBox="1"/>
          <p:nvPr/>
        </p:nvSpPr>
        <p:spPr>
          <a:xfrm>
            <a:off x="0" y="5708061"/>
            <a:ext cx="269152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实验提醒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D6632D5-B896-D835-C21A-2C7743A2D3F1}"/>
              </a:ext>
            </a:extLst>
          </p:cNvPr>
          <p:cNvGrpSpPr/>
          <p:nvPr/>
        </p:nvGrpSpPr>
        <p:grpSpPr>
          <a:xfrm>
            <a:off x="3329762" y="4739189"/>
            <a:ext cx="3989097" cy="538609"/>
            <a:chOff x="3667674" y="1375533"/>
            <a:chExt cx="3989097" cy="538609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D6CAF05-6566-1564-7D92-4FD1363C20CC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数字签名基本概念</a:t>
              </a:r>
              <a:endParaRPr lang="zh-CN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085D25A-34C2-49D3-5063-3C5EEA0DE2AD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A8047A4-E915-EF15-B41F-53C2101CDCC6}"/>
              </a:ext>
            </a:extLst>
          </p:cNvPr>
          <p:cNvGrpSpPr/>
          <p:nvPr/>
        </p:nvGrpSpPr>
        <p:grpSpPr>
          <a:xfrm>
            <a:off x="3329150" y="5546534"/>
            <a:ext cx="3604376" cy="538609"/>
            <a:chOff x="3667674" y="2504618"/>
            <a:chExt cx="3604376" cy="538609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151E2C1-AC09-1DBB-F8A6-79D0A8617BA6}"/>
                </a:ext>
              </a:extLst>
            </p:cNvPr>
            <p:cNvSpPr txBox="1"/>
            <p:nvPr/>
          </p:nvSpPr>
          <p:spPr>
            <a:xfrm>
              <a:off x="4579005" y="2534411"/>
              <a:ext cx="2693045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实现数字签名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97A6513-3A14-B4EA-60A0-BFBAD252B495}"/>
                </a:ext>
              </a:extLst>
            </p:cNvPr>
            <p:cNvSpPr txBox="1"/>
            <p:nvPr/>
          </p:nvSpPr>
          <p:spPr>
            <a:xfrm>
              <a:off x="3667674" y="2504618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C3F865A-FCC5-C8E2-2650-5DEFD9256C3C}"/>
              </a:ext>
            </a:extLst>
          </p:cNvPr>
          <p:cNvGrpSpPr/>
          <p:nvPr/>
        </p:nvGrpSpPr>
        <p:grpSpPr>
          <a:xfrm>
            <a:off x="3296231" y="3949202"/>
            <a:ext cx="3989097" cy="538609"/>
            <a:chOff x="3667674" y="1375533"/>
            <a:chExt cx="3989097" cy="5386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77DBFB8-5521-B761-E028-4BB0DBECBFA3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其它非对称加密算法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2EDA599-AB6D-BFEA-006C-E0D9001C14BA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0191BA4-EB96-A2E2-6705-6892198C67F1}"/>
              </a:ext>
            </a:extLst>
          </p:cNvPr>
          <p:cNvGrpSpPr/>
          <p:nvPr/>
        </p:nvGrpSpPr>
        <p:grpSpPr>
          <a:xfrm>
            <a:off x="3296231" y="659589"/>
            <a:ext cx="3989097" cy="538609"/>
            <a:chOff x="3667674" y="1375533"/>
            <a:chExt cx="3989097" cy="53860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4331399-3D6B-45BE-5AAB-37D3BAB480D7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密钥生成过程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7A2AC60-E7CD-CC89-5003-CC3AC77F7B0B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651D732-DCC3-880D-2DF3-D04032DE515C}"/>
              </a:ext>
            </a:extLst>
          </p:cNvPr>
          <p:cNvGrpSpPr/>
          <p:nvPr/>
        </p:nvGrpSpPr>
        <p:grpSpPr>
          <a:xfrm>
            <a:off x="3296231" y="1473475"/>
            <a:ext cx="3989097" cy="538609"/>
            <a:chOff x="3667674" y="1375533"/>
            <a:chExt cx="3989097" cy="538609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CA8689F-229C-C8C5-37A2-F33DE85A909A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加密解密过程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38D2A05-944F-BD98-7999-483D9F9E5F89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6E96AD9-3E37-F88B-022D-DF9B05D1E092}"/>
              </a:ext>
            </a:extLst>
          </p:cNvPr>
          <p:cNvGrpSpPr/>
          <p:nvPr/>
        </p:nvGrpSpPr>
        <p:grpSpPr>
          <a:xfrm>
            <a:off x="3296231" y="2304719"/>
            <a:ext cx="3989097" cy="538609"/>
            <a:chOff x="3667674" y="1375533"/>
            <a:chExt cx="3989097" cy="538609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25521B8-48FA-8686-6F84-3CB4D06B3A3E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的安全性分析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94CF75D-ACC1-91D9-3600-ECE049E133B5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675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E5EF0D9-74F0-4CBD-8EB3-E06F15247A89}"/>
              </a:ext>
            </a:extLst>
          </p:cNvPr>
          <p:cNvGrpSpPr/>
          <p:nvPr/>
        </p:nvGrpSpPr>
        <p:grpSpPr>
          <a:xfrm>
            <a:off x="731838" y="1656965"/>
            <a:ext cx="3125794" cy="1606508"/>
            <a:chOff x="3834754" y="2495699"/>
            <a:chExt cx="3125794" cy="160650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BDE1650-85C7-4A9B-8F63-E81D3F1E0338}"/>
                </a:ext>
              </a:extLst>
            </p:cNvPr>
            <p:cNvSpPr txBox="1"/>
            <p:nvPr/>
          </p:nvSpPr>
          <p:spPr>
            <a:xfrm>
              <a:off x="3839501" y="2495699"/>
              <a:ext cx="3121047" cy="9233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4400" b="1" dirty="0">
                  <a:solidFill>
                    <a:schemeClr val="bg1"/>
                  </a:solidFill>
                  <a:latin typeface="Courier New" panose="02070309020205020404" pitchFamily="49" charset="0"/>
                </a:rPr>
                <a:t>感谢各位同学！</a:t>
              </a: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73685BA-9C3E-4785-BA25-027DA8C0D4EA}"/>
                </a:ext>
              </a:extLst>
            </p:cNvPr>
            <p:cNvGrpSpPr/>
            <p:nvPr userDrawn="1"/>
          </p:nvGrpSpPr>
          <p:grpSpPr>
            <a:xfrm>
              <a:off x="3834754" y="3397344"/>
              <a:ext cx="1124118" cy="704863"/>
              <a:chOff x="2468044" y="3339787"/>
              <a:chExt cx="1124118" cy="704863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02CDF5C-630B-4176-91E0-EC7A84F82601}"/>
                  </a:ext>
                </a:extLst>
              </p:cNvPr>
              <p:cNvSpPr txBox="1"/>
              <p:nvPr/>
            </p:nvSpPr>
            <p:spPr>
              <a:xfrm>
                <a:off x="2552710" y="3339787"/>
                <a:ext cx="10394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200" dirty="0">
                    <a:solidFill>
                      <a:schemeClr val="bg1"/>
                    </a:solidFill>
                  </a:rPr>
                  <a:t>欢迎交流学习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0F1DBB-3DD4-4747-B5B3-412C2675D383}"/>
                  </a:ext>
                </a:extLst>
              </p:cNvPr>
              <p:cNvSpPr txBox="1"/>
              <p:nvPr/>
            </p:nvSpPr>
            <p:spPr>
              <a:xfrm>
                <a:off x="2468044" y="3736873"/>
                <a:ext cx="10114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endParaRPr lang="zh-CN" altLang="en-US" sz="2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8690384-B2B0-E128-55A6-CB6A9F742EB1}"/>
              </a:ext>
            </a:extLst>
          </p:cNvPr>
          <p:cNvSpPr txBox="1"/>
          <p:nvPr/>
        </p:nvSpPr>
        <p:spPr>
          <a:xfrm>
            <a:off x="884238" y="5105840"/>
            <a:ext cx="1991309" cy="74896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刘广睿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哈尔滨工业大学 计算学部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2331C9-B0B7-14CB-E360-31C2F2AE29DB}"/>
              </a:ext>
            </a:extLst>
          </p:cNvPr>
          <p:cNvSpPr txBox="1"/>
          <p:nvPr/>
        </p:nvSpPr>
        <p:spPr>
          <a:xfrm>
            <a:off x="884238" y="6098001"/>
            <a:ext cx="1510029" cy="2308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2025</a:t>
            </a:r>
            <a:r>
              <a:rPr lang="zh-CN" altLang="en-US" sz="2400" dirty="0">
                <a:solidFill>
                  <a:schemeClr val="bg1"/>
                </a:solidFill>
              </a:rPr>
              <a:t>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1D443F-15AB-F188-107A-3C93554ED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66988"/>
            <a:ext cx="4707689" cy="12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826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55f52171-deb4-4d87-9864-47bd9ea656bf&quot;,&quot;Name&quot;:&quot;2&quot;,&quot;Kind&quot;:&quot;Custom&quot;,&quot;OldGuidesSetting&quot;:{&quot;HeaderHeight&quot;:0.0,&quot;FooterHeight&quot;:0.0,&quot;SideMargin&quot;:6.0,&quot;TopMargin&quot;:4.0,&quot;BottomMargin&quot;:8.0,&quot;IntervalMargin&quot;:0.0}}"/>
</p:tagLst>
</file>

<file path=ppt/theme/theme1.xml><?xml version="1.0" encoding="utf-8"?>
<a:theme xmlns:a="http://schemas.openxmlformats.org/drawingml/2006/main" name="主题1">
  <a:themeElements>
    <a:clrScheme name="蓝紫渐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50A1"/>
      </a:accent1>
      <a:accent2>
        <a:srgbClr val="8891C8"/>
      </a:accent2>
      <a:accent3>
        <a:srgbClr val="B8D6E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1" id="{2B54C7FC-80FA-4268-B1AB-7A4718C2F40B}" vid="{49D17BBD-BC41-4722-83BC-2CAB04E0C72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22214</TotalTime>
  <Words>3100</Words>
  <Application>Microsoft Office PowerPoint</Application>
  <PresentationFormat>宽屏</PresentationFormat>
  <Paragraphs>976</Paragraphs>
  <Slides>49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Helvetica Neue</vt:lpstr>
      <vt:lpstr>等线</vt:lpstr>
      <vt:lpstr>Arial</vt:lpstr>
      <vt:lpstr>Cambria Math</vt:lpstr>
      <vt:lpstr>Courier New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滚筒洗衣机, WeChat:cooljyh</dc:creator>
  <cp:lastModifiedBy>广睿 刘</cp:lastModifiedBy>
  <cp:revision>818</cp:revision>
  <cp:lastPrinted>2025-11-06T12:39:54Z</cp:lastPrinted>
  <dcterms:created xsi:type="dcterms:W3CDTF">2022-03-15T01:56:04Z</dcterms:created>
  <dcterms:modified xsi:type="dcterms:W3CDTF">2025-11-27T17:13:40Z</dcterms:modified>
</cp:coreProperties>
</file>