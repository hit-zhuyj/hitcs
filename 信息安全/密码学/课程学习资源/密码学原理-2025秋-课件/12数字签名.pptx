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518" r:id="rId2"/>
    <p:sldId id="666" r:id="rId3"/>
    <p:sldId id="526" r:id="rId4"/>
    <p:sldId id="733" r:id="rId5"/>
    <p:sldId id="734" r:id="rId6"/>
    <p:sldId id="735" r:id="rId7"/>
    <p:sldId id="736" r:id="rId8"/>
    <p:sldId id="737" r:id="rId9"/>
    <p:sldId id="738" r:id="rId10"/>
    <p:sldId id="741" r:id="rId11"/>
    <p:sldId id="739" r:id="rId12"/>
    <p:sldId id="743" r:id="rId13"/>
    <p:sldId id="516" r:id="rId14"/>
    <p:sldId id="670" r:id="rId15"/>
    <p:sldId id="746" r:id="rId16"/>
    <p:sldId id="747" r:id="rId17"/>
    <p:sldId id="748" r:id="rId18"/>
    <p:sldId id="745" r:id="rId19"/>
    <p:sldId id="749" r:id="rId20"/>
    <p:sldId id="751" r:id="rId21"/>
    <p:sldId id="754" r:id="rId22"/>
    <p:sldId id="756" r:id="rId23"/>
    <p:sldId id="753" r:id="rId24"/>
    <p:sldId id="755" r:id="rId25"/>
    <p:sldId id="752" r:id="rId26"/>
    <p:sldId id="750" r:id="rId27"/>
    <p:sldId id="757" r:id="rId28"/>
    <p:sldId id="758" r:id="rId29"/>
    <p:sldId id="759" r:id="rId30"/>
    <p:sldId id="742" r:id="rId31"/>
    <p:sldId id="760" r:id="rId32"/>
    <p:sldId id="727" r:id="rId33"/>
    <p:sldId id="762" r:id="rId34"/>
    <p:sldId id="761" r:id="rId35"/>
    <p:sldId id="535" r:id="rId36"/>
    <p:sldId id="307" r:id="rId37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3F2"/>
    <a:srgbClr val="EBEBF8"/>
    <a:srgbClr val="FF6161"/>
    <a:srgbClr val="FFA7A7"/>
    <a:srgbClr val="2A50A1"/>
    <a:srgbClr val="152851"/>
    <a:srgbClr val="FFFFFF"/>
    <a:srgbClr val="4E5CAB"/>
    <a:srgbClr val="FF4747"/>
    <a:srgbClr val="F35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 autoAdjust="0"/>
    <p:restoredTop sz="89586" autoAdjust="0"/>
  </p:normalViewPr>
  <p:slideViewPr>
    <p:cSldViewPr snapToGrid="0" showGuides="1">
      <p:cViewPr varScale="1">
        <p:scale>
          <a:sx n="108" d="100"/>
          <a:sy n="108" d="100"/>
        </p:scale>
        <p:origin x="752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13DC21E-85DA-4BB8-8DB9-4A7F665A6D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7C0327-D93C-4C09-B71F-1298A02789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557B5-F843-48B3-A788-12C67245D8C5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155753-1757-421A-89A5-BDE6E23D2C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86167D-2C8B-4E23-AF2D-B21291C380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331E2-87C0-43E7-9F25-B91BB9001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0925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C9AD7-9524-433D-9BE7-788EEE17CFA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B8F8F-C2EC-4CC8-9A1E-190092C81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3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E5CF-4CFF-5801-C4D2-52048B37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A424DE-33D8-4E6D-5C97-7D01F0194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3BC28D-9E92-9263-1C10-FE2568ECE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10:00</a:t>
            </a:r>
            <a:r>
              <a:rPr lang="zh-CN" altLang="en-US" dirty="0"/>
              <a:t>开始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DEB92-1189-960B-C308-629A1639D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81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绘制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公钥密码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消息传输流程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投币保险箱案例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436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el</a:t>
            </a:r>
            <a:r>
              <a:rPr lang="en-US" altLang="zh-CN" dirty="0"/>
              <a:t> ‘</a:t>
            </a:r>
            <a:r>
              <a:rPr lang="en-US" altLang="zh-CN" dirty="0" err="1"/>
              <a:t>gama</a:t>
            </a:r>
            <a:endParaRPr lang="en-US" altLang="zh-CN" dirty="0"/>
          </a:p>
          <a:p>
            <a:r>
              <a:rPr lang="en-US" altLang="zh-CN" dirty="0"/>
              <a:t>rea ‘bin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99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59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469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10:20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574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86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425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F72E-85C8-B2F2-EABA-D835DC94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CDCB53-7481-4AC4-EFA9-42379B1C1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3F699-931A-F6A5-B5DD-483A581A1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DDDD21-4481-8288-4754-8C18C9C4B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307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2B02-1D3D-5C5A-11B3-D27E00BA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49F02E-82D3-0236-9C9D-F2198735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728234-5D07-A577-F38E-ABB14B196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10:25</a:t>
            </a: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043008B6-7BF0-EF18-5C2D-69129608561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18CF0A-F6BC-1ED6-D3EC-A8C7A0A0A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44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A0B1-9854-CE0C-C0B6-460C19479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F76C32-4EC1-B787-C9AC-1E0D1CE53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94BD47-7BFD-FDC6-010F-074F70042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10:30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6B3C62-94CB-921A-6275-C328776A5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697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32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1CD9-243B-9A8E-8E45-A4BF6FF9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5D02F1-D9C6-D38E-1C47-79DFF10B7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B34183-3301-B1F4-6699-927038B1C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695D5533-5837-171A-BD06-D78493287B1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FDBECD-4D85-3AC3-828C-328532113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1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B42B5-D717-CA01-95A5-70EDC37F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97D5B3-6AAE-0C25-22BB-78E38CF88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65418F-F075-9603-F864-2641A61AD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57ED4996-D179-1578-F6A0-5301B401BCF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B45B17-D4D8-4286-168D-62A57A020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56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B2209-0E6F-EA96-4412-774F080E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A122D4-9DD4-6EBB-D402-32D65FE28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FC78B1-F5B6-03D3-2C37-0E91FFABB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10:40</a:t>
            </a: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DF13D08A-20E8-4E56-2ABE-B91D5AA00E5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F05850-32AE-EA63-A617-9CBEFA751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18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F0AD5-92EC-0D7A-C3A6-34AC0E40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BD8F7F-AFF4-9D64-53A8-5BF70FCE4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8E90FB-E499-E66F-6D34-425E219DC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10:50</a:t>
            </a:r>
            <a:r>
              <a:rPr kumimoji="1" lang="zh-CN" altLang="en-US" dirty="0"/>
              <a:t> 课间休息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以</a:t>
            </a:r>
            <a:r>
              <a:rPr kumimoji="1" lang="en-US" altLang="zh-CN" dirty="0"/>
              <a:t>RSA</a:t>
            </a:r>
            <a:r>
              <a:rPr kumimoji="1" lang="zh-CN" altLang="en-US" dirty="0"/>
              <a:t>为例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中间人攻击，需要数字签名和公钥证书解决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F075CD43-E7DC-B768-00B3-8DD25F992C1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358516-613A-BF37-DA8B-A08474A5F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7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10:55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开始上课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为何公钥私钥都叫钥匙，公钥更像一把锁，私钥才是解密的钥匙——公钥也可以用于解密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431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7814-3533-3C8F-C301-F1FDFECDE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FBCEC2-0E54-0670-ECA6-EBB514F47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9C2FBD-E678-B311-B3AD-AE8E7483C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11:00</a:t>
            </a: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72776585-66E0-800E-2A9E-D9C518038C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5D431F-D8DE-4BD2-2B81-90882C6D1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86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2A37-0C4E-9113-A0A1-6110FF63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295136-8702-D5A3-6AC7-47950FEBC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280546-3E8E-ACC1-AAAB-FCBCE8ED4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9659DDDE-D272-8A6F-5D7F-3A3E6849D3F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0758A4-D896-5D1C-ABD6-661DAA0AE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81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BD0A-C9C4-EA40-BA57-B52EBE8D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2152E7-22AF-250A-9823-B1C3EF49E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A78556-1233-20FF-6FD8-AB5A1FDD6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11:10</a:t>
            </a: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2AC22617-656B-A169-2B81-452CDC77A6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C8134D-AEF4-D61D-1893-72B77B907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165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8A3B-6AB4-8132-29E1-054062BF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2B9705-A515-ED8B-E149-36BBB0919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3D0847-EB0A-72D9-4040-5A6C06F34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8028076E-9233-258B-E3AF-93BEBD022C7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BA8072-3194-E022-C21B-3A5F55557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14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4FA6-875D-693D-A850-522F2E05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20BE60-BD81-0897-498D-E06D6E4DA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E4CCD2-FFA8-F846-3BDC-C92280030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CB237B63-0A09-D006-EE93-3141E1AB9C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26E26B-A92E-E9F8-1C42-FAD0199DB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634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2037-129C-2798-71CA-2C267DC7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B72D77-CB20-94E8-CCA8-01AECCE38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D350E3-BEEF-2B6C-15BC-8615FE77D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11:20</a:t>
            </a:r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2B17FF0F-E64D-F853-24B3-7E7E5428B2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2BC3A9-61C3-8787-5E42-5AAF59966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98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902B0-A656-D620-752F-1EC3CF62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62DDFA-29AD-6A37-6D1A-024AF1155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AC3E2D-4505-CEC2-CFB1-D96C75DFF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C578A55E-AF38-74E3-33D1-0DB84C3B2ED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BA8674-4EE4-B5A1-D57C-BE283FE26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D728-1D2F-A23A-7CF9-7C8DFE30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C2E039-4BA9-C9C8-4B73-408E8010E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FFBF00-F7F4-50B2-5EA1-17B7EF7FF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D787ACC8-6184-1D67-2951-2CE0C892E9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F0F174-2AEA-BEF2-2AD6-3435E6088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472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19E4-793C-B1EE-BDF1-CDEFA552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FC789B-220A-6C12-58F8-9C8D9DB1C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0DD520-869E-1E52-628F-D2D0F9402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11:30</a:t>
            </a: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A3A7EC30-900C-1E95-CB20-2E4771B8C58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1D7090-328C-0BBA-E381-D730CACC4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515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1C36-12C0-9883-0801-9F44A2B4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CC4FAE-CA7F-B659-2630-E4CF3A2C8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0BB458-455F-02F8-7453-F459B7C9C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4C178C-1514-F8A4-FE5B-F9F0D6611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972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2D06-FF4F-DDA2-5FC6-7E66CA49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B0520E-8E9D-193A-4908-12E5F8448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CF41F8-CC8D-C1D9-342B-08E41FD46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B18A8-48AC-BA06-AE7B-F7A78C3A0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7371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11:30-11:40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</a:t>
            </a:r>
            <a:r>
              <a:rPr lang="en-US" altLang="zh-CN" dirty="0"/>
              <a:t>RSA</a:t>
            </a:r>
            <a:r>
              <a:rPr lang="zh-CN" altLang="en-US" dirty="0"/>
              <a:t>加密，</a:t>
            </a:r>
            <a:r>
              <a:rPr lang="en-US" altLang="zh-CN" dirty="0"/>
              <a:t>e</a:t>
            </a:r>
            <a:r>
              <a:rPr lang="zh-CN" altLang="en-US" dirty="0"/>
              <a:t>和</a:t>
            </a:r>
            <a:r>
              <a:rPr lang="en-US" altLang="zh-CN" dirty="0"/>
              <a:t>d</a:t>
            </a:r>
            <a:r>
              <a:rPr lang="zh-CN" altLang="en-US" dirty="0"/>
              <a:t>大小相近是极不安全的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9069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11575-D667-BBA3-8985-F4FCBAE0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DDFEEB-CB8C-2F91-7E91-1A0126D63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A528CA-E89E-7F42-91A5-5DB3CC4F3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3563C-C837-61A1-B2B9-EE8C34D50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2059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A88B-8B96-626C-E3A6-2E0FE0C7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59D70E-C0EB-5E84-4E4C-9780CDD5A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0616EF-0561-A905-9AB1-F4045EB31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11:45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中间人攻击，需要数字签名和公钥证书解决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EC5CE544-722B-E282-24B9-706FCA0BBB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A93D3A-7741-FF02-55A2-A3629795E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939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11:45</a:t>
            </a:r>
            <a:r>
              <a:rPr kumimoji="1" lang="zh-CN" altLang="en-US" dirty="0"/>
              <a:t>结束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9473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676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81FE403-EFBE-407B-B1B0-589475D313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79BA6D-EC23-4497-9041-CE1317A49D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D99F5985-A2DB-49D7-0706-93D3C101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001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CDD81EF3-E712-F5C6-BDC9-F704CAEF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25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17CE0AD8-4B8A-4CB3-90A2-2EBD4D419B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883884EC-E0BD-292A-12C5-46119C62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8509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DC7B277-97E2-48C0-9D4D-EB6B0FE9FA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28FEE77D-2CC8-414A-04A7-967603AF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3730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3E7863A-1514-4D60-AE03-86A6CDA04DBD}"/>
              </a:ext>
            </a:extLst>
          </p:cNvPr>
          <p:cNvSpPr/>
          <p:nvPr userDrawn="1"/>
        </p:nvSpPr>
        <p:spPr>
          <a:xfrm>
            <a:off x="0" y="-1"/>
            <a:ext cx="12192000" cy="272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3477F4-59D1-4BC5-B4A9-27AF6AF5FD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9942022" y="151774"/>
            <a:ext cx="2088899" cy="511106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A3F02F0D-D97F-A414-C3BA-2DD34611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3405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BAB4A06-08C2-4C23-89B2-C98B3F8C7F75}"/>
              </a:ext>
            </a:extLst>
          </p:cNvPr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76BB2E33-D1D3-4B64-A8DE-FCB20D58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16587A-6048-4612-8826-36F563D3AC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9942022" y="151774"/>
            <a:ext cx="2088899" cy="5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2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BAB4A06-08C2-4C23-89B2-C98B3F8C7F75}"/>
              </a:ext>
            </a:extLst>
          </p:cNvPr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91384DB8-DD7B-6F63-0A62-DA2C1F99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386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0EC24C7-A0C0-4B33-8A17-49C5A5794F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8274DD1-C79A-4AC5-B392-A4900D81502B}"/>
              </a:ext>
            </a:extLst>
          </p:cNvPr>
          <p:cNvGrpSpPr/>
          <p:nvPr userDrawn="1"/>
        </p:nvGrpSpPr>
        <p:grpSpPr>
          <a:xfrm rot="20394303">
            <a:off x="3221945" y="-1575994"/>
            <a:ext cx="11439261" cy="11910951"/>
            <a:chOff x="3439566" y="1666270"/>
            <a:chExt cx="11439261" cy="11910951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3B3CDDB-B14C-42F2-A1F1-49B0792801F9}"/>
                </a:ext>
              </a:extLst>
            </p:cNvPr>
            <p:cNvGrpSpPr/>
            <p:nvPr/>
          </p:nvGrpSpPr>
          <p:grpSpPr>
            <a:xfrm rot="4029167">
              <a:off x="8779335" y="1665563"/>
              <a:ext cx="6098786" cy="6100199"/>
              <a:chOff x="18351500" y="3723568"/>
              <a:chExt cx="4878842" cy="4879972"/>
            </a:xfrm>
          </p:grpSpPr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26E67D38-75E0-4071-95F6-2AE5FDAF86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5A2EBA7D-F88D-443E-AA35-69B8AB9B65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3386FE9-1899-4359-9BFD-946DEFB6A584}"/>
                </a:ext>
              </a:extLst>
            </p:cNvPr>
            <p:cNvGrpSpPr/>
            <p:nvPr/>
          </p:nvGrpSpPr>
          <p:grpSpPr>
            <a:xfrm rot="14829167">
              <a:off x="3440583" y="4789517"/>
              <a:ext cx="8786687" cy="8788722"/>
              <a:chOff x="18351500" y="3723568"/>
              <a:chExt cx="4878842" cy="4879972"/>
            </a:xfrm>
          </p:grpSpPr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F24A2437-0A2C-45FB-9F89-DF6496635E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491B2948-B0A7-4C57-902F-1D49D22C7E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54E713C6-2984-4AD1-870F-DA1B300B2C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8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F93E90-9242-47EA-9503-C81D319405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C3F978FE-3E48-1401-F5BC-1480EF56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562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DF50A41-D5D0-094F-ACFA-76933026B598}" type="datetime1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951929C-A4A1-CCA1-7D58-1C9B6247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3967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副标题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27C9616-A78E-42B7-B805-E89A55542A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F639B804-1261-E23F-0730-1E314A2F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6292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9B3896-319D-45EF-A996-F06C43596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73E40-2F7A-654D-BA68-80A2D59C5920}" type="datetime1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B380B-4756-4CAD-8741-32E82C5C1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C9323-1CD7-4830-B0EE-DC83BF437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5AE2-E521-4071-B027-062C254CF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1" r:id="rId2"/>
    <p:sldLayoutId id="2147483654" r:id="rId3"/>
    <p:sldLayoutId id="2147483666" r:id="rId4"/>
    <p:sldLayoutId id="2147483667" r:id="rId5"/>
    <p:sldLayoutId id="2147483668" r:id="rId6"/>
    <p:sldLayoutId id="2147483655" r:id="rId7"/>
    <p:sldLayoutId id="214748365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 userDrawn="1">
          <p15:clr>
            <a:srgbClr val="F26B43"/>
          </p15:clr>
        </p15:guide>
        <p15:guide id="2" orient="horz" pos="3968" userDrawn="1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2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8.png"/><Relationship Id="rId7" Type="http://schemas.microsoft.com/office/2007/relationships/hdphoto" Target="../media/hdphoto1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59.png"/><Relationship Id="rId9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C255-7EA1-3FCB-AD73-8EF9270B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8A05D1D1-FC36-E154-503F-D312E24E3AFB}"/>
              </a:ext>
            </a:extLst>
          </p:cNvPr>
          <p:cNvSpPr txBox="1"/>
          <p:nvPr/>
        </p:nvSpPr>
        <p:spPr>
          <a:xfrm>
            <a:off x="715404" y="2009273"/>
            <a:ext cx="7064885" cy="115960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+mj-ea"/>
              </a:rPr>
              <a:t>密码学原理</a:t>
            </a:r>
            <a:endParaRPr lang="zh-CN" altLang="zh-CN" sz="7200" b="1" dirty="0">
              <a:solidFill>
                <a:schemeClr val="bg1"/>
              </a:solidFill>
              <a:latin typeface="+mj-ea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4A076ED-B5A0-0B6D-5155-C5BD4B6439E4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3404FA92-C8B0-FDAA-6AD9-192C0379D0BA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0D40C975-AF6C-1A30-DCA6-127C8B9029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7">
                <a:extLst>
                  <a:ext uri="{FF2B5EF4-FFF2-40B4-BE49-F238E27FC236}">
                    <a16:creationId xmlns:a16="http://schemas.microsoft.com/office/drawing/2014/main" id="{B2BE7C3A-1814-947F-1A09-066A1EE715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73E1E18-065C-349B-ECEA-1205F77A383A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8CC3EC3C-5C56-F304-2F57-4D733B6EAD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13764C36-7064-D34C-7F39-DB42AA175D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BFE3AB5-262C-842B-D867-F1C9CA5E20BD}"/>
              </a:ext>
            </a:extLst>
          </p:cNvPr>
          <p:cNvSpPr txBox="1"/>
          <p:nvPr/>
        </p:nvSpPr>
        <p:spPr>
          <a:xfrm>
            <a:off x="884238" y="5105840"/>
            <a:ext cx="1991309" cy="74896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刘广睿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哈尔滨工业大学 计算学部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5B60EE-56B9-C0F1-BB28-51194A8D3571}"/>
              </a:ext>
            </a:extLst>
          </p:cNvPr>
          <p:cNvSpPr txBox="1"/>
          <p:nvPr/>
        </p:nvSpPr>
        <p:spPr>
          <a:xfrm>
            <a:off x="884238" y="6098001"/>
            <a:ext cx="1510029" cy="2308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</a:rPr>
              <a:t>秋</a:t>
            </a:r>
          </a:p>
        </p:txBody>
      </p:sp>
      <p:sp>
        <p:nvSpPr>
          <p:cNvPr id="4" name="五边形 3">
            <a:extLst>
              <a:ext uri="{FF2B5EF4-FFF2-40B4-BE49-F238E27FC236}">
                <a16:creationId xmlns:a16="http://schemas.microsoft.com/office/drawing/2014/main" id="{31CA5973-2787-F5F4-8BFB-CB49EED2B0DD}"/>
              </a:ext>
            </a:extLst>
          </p:cNvPr>
          <p:cNvSpPr/>
          <p:nvPr/>
        </p:nvSpPr>
        <p:spPr>
          <a:xfrm>
            <a:off x="0" y="3870815"/>
            <a:ext cx="8100646" cy="730010"/>
          </a:xfrm>
          <a:prstGeom prst="homePlate">
            <a:avLst/>
          </a:prstGeom>
          <a:solidFill>
            <a:srgbClr val="D0D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/>
            <a:r>
              <a:rPr lang="zh-CN" altLang="en-US" sz="2800" dirty="0">
                <a:solidFill>
                  <a:schemeClr val="accent1"/>
                </a:solidFill>
              </a:rPr>
              <a:t>第</a:t>
            </a:r>
            <a:r>
              <a:rPr lang="en-US" altLang="zh-CN" sz="2800" dirty="0">
                <a:solidFill>
                  <a:schemeClr val="accent1"/>
                </a:solidFill>
              </a:rPr>
              <a:t>12</a:t>
            </a:r>
            <a:r>
              <a:rPr lang="zh-CN" altLang="en-US" sz="2800" dirty="0">
                <a:solidFill>
                  <a:schemeClr val="accent1"/>
                </a:solidFill>
              </a:rPr>
              <a:t>讲：数字签名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1A942C-FE03-50A9-EF21-668A9A0AE111}"/>
              </a:ext>
            </a:extLst>
          </p:cNvPr>
          <p:cNvSpPr txBox="1"/>
          <p:nvPr/>
        </p:nvSpPr>
        <p:spPr>
          <a:xfrm>
            <a:off x="715404" y="3151011"/>
            <a:ext cx="762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" altLang="zh-CN" sz="3200" b="1" dirty="0">
                <a:solidFill>
                  <a:schemeClr val="bg1"/>
                </a:solidFill>
                <a:latin typeface="+mj-lt"/>
              </a:rPr>
              <a:t>Cryptography Principles </a:t>
            </a:r>
            <a:endParaRPr lang="en-US" altLang="zh-CN" sz="32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1AE2507-45A8-7FC2-8DED-0BCBD562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830" y="5575904"/>
            <a:ext cx="4707689" cy="1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5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07C2-2917-A5E9-001F-CF32F959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DBE734-9972-B6DF-7830-3EC6E582DEFE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上节回顾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2CC0CB8-77A2-6EA5-3FC8-17B136FE1242}"/>
              </a:ext>
            </a:extLst>
          </p:cNvPr>
          <p:cNvGrpSpPr/>
          <p:nvPr/>
        </p:nvGrpSpPr>
        <p:grpSpPr>
          <a:xfrm>
            <a:off x="2037741" y="111047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180AA5C4-1F8B-E35B-7C63-40B766C3A2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78DCF2A5-820E-6CF8-E82C-868D2F5F6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CCAED7F8-8F81-C809-5883-4C36213477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7C22398-4EA2-53C7-6E7B-BE0B75F15F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D23F7A04-5A23-1C0B-EE43-B2C1E0856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CBAFE3F8-F304-028E-9E71-D225A1AEE3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8B0D145-9F89-8AA7-0F6F-353BC912A88B}"/>
              </a:ext>
            </a:extLst>
          </p:cNvPr>
          <p:cNvGrpSpPr/>
          <p:nvPr/>
        </p:nvGrpSpPr>
        <p:grpSpPr>
          <a:xfrm>
            <a:off x="3334299" y="1364545"/>
            <a:ext cx="3989097" cy="538609"/>
            <a:chOff x="3667674" y="1375533"/>
            <a:chExt cx="3989097" cy="538609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DF2B499-6353-E94F-1C3D-1DA8F6AEF226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椭圆曲线数学基础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ED329ED-7585-E59B-A78D-20C1C0882524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82CD27-E259-46D3-EDBA-CD400F033B24}"/>
              </a:ext>
            </a:extLst>
          </p:cNvPr>
          <p:cNvGrpSpPr/>
          <p:nvPr/>
        </p:nvGrpSpPr>
        <p:grpSpPr>
          <a:xfrm>
            <a:off x="3333687" y="2132134"/>
            <a:ext cx="3604376" cy="538609"/>
            <a:chOff x="3667674" y="2504618"/>
            <a:chExt cx="3604376" cy="53860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2F63BFC-FA4B-0BB6-D28F-19B32DA146E0}"/>
                </a:ext>
              </a:extLst>
            </p:cNvPr>
            <p:cNvSpPr txBox="1"/>
            <p:nvPr/>
          </p:nvSpPr>
          <p:spPr>
            <a:xfrm>
              <a:off x="4579005" y="2534411"/>
              <a:ext cx="269304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椭圆曲线实现密钥交换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E93CA66-0B03-5A2B-1FAB-B0DB66A3937C}"/>
                </a:ext>
              </a:extLst>
            </p:cNvPr>
            <p:cNvSpPr txBox="1"/>
            <p:nvPr/>
          </p:nvSpPr>
          <p:spPr>
            <a:xfrm>
              <a:off x="3667674" y="2504618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CCDADD5-9493-B0D2-61B5-1A43EA3F6C0E}"/>
              </a:ext>
            </a:extLst>
          </p:cNvPr>
          <p:cNvSpPr txBox="1"/>
          <p:nvPr/>
        </p:nvSpPr>
        <p:spPr>
          <a:xfrm>
            <a:off x="652513" y="1677787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5000" b="1" dirty="0">
                <a:solidFill>
                  <a:schemeClr val="bg2">
                    <a:lumMod val="25000"/>
                  </a:schemeClr>
                </a:solidFill>
              </a:rPr>
              <a:t>回顾</a:t>
            </a:r>
            <a:endParaRPr lang="en-US" altLang="zh-CN" sz="5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FF038-7B96-4739-F662-8EDAE440D73F}"/>
              </a:ext>
            </a:extLst>
          </p:cNvPr>
          <p:cNvSpPr txBox="1"/>
          <p:nvPr/>
        </p:nvSpPr>
        <p:spPr>
          <a:xfrm>
            <a:off x="735264" y="1378338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CONTENTES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24" name="直接连接符 2">
            <a:extLst>
              <a:ext uri="{FF2B5EF4-FFF2-40B4-BE49-F238E27FC236}">
                <a16:creationId xmlns:a16="http://schemas.microsoft.com/office/drawing/2014/main" id="{1FADC073-070E-BDD0-7C44-F27A98D12D32}"/>
              </a:ext>
            </a:extLst>
          </p:cNvPr>
          <p:cNvCxnSpPr>
            <a:cxnSpLocks/>
          </p:cNvCxnSpPr>
          <p:nvPr/>
        </p:nvCxnSpPr>
        <p:spPr>
          <a:xfrm>
            <a:off x="2857189" y="1378338"/>
            <a:ext cx="0" cy="204263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D11FBE4-A2B1-6CE5-6535-DAB636BF7FD6}"/>
              </a:ext>
            </a:extLst>
          </p:cNvPr>
          <p:cNvGrpSpPr/>
          <p:nvPr/>
        </p:nvGrpSpPr>
        <p:grpSpPr>
          <a:xfrm>
            <a:off x="3353989" y="2890391"/>
            <a:ext cx="3604376" cy="538609"/>
            <a:chOff x="3667674" y="2504618"/>
            <a:chExt cx="3604376" cy="538609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EFE684-EF02-D508-1832-EB7249FD0942}"/>
                </a:ext>
              </a:extLst>
            </p:cNvPr>
            <p:cNvSpPr txBox="1"/>
            <p:nvPr/>
          </p:nvSpPr>
          <p:spPr>
            <a:xfrm>
              <a:off x="4579005" y="2534411"/>
              <a:ext cx="269304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椭圆曲线实现加密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393E676-07FA-1E17-3BDF-606F661572F8}"/>
                </a:ext>
              </a:extLst>
            </p:cNvPr>
            <p:cNvSpPr txBox="1"/>
            <p:nvPr/>
          </p:nvSpPr>
          <p:spPr>
            <a:xfrm>
              <a:off x="3667674" y="2504618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880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C6F1-9E91-B22E-7FA5-00540B812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AE24082-F4D3-86DE-2115-30B7C383607A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55BEF27D-A53F-25BE-C4F8-1F11A154AE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6D31F9A9-0D1B-8BC8-4140-593F8138C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F1DED90-182E-3A63-00E5-6A3F234DF5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8100E9B0-B318-3114-C58A-43DEE1821B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57002769-5B1F-A49B-4A15-B9B1DDF53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9F8410DE-67B9-E4AB-3CBA-FABD7F3178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5A4813C6-3F71-98E4-B982-36F5E342AEA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其他非对称加密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B0E906-0D18-E882-C3B7-03741DED2D12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任意单项陷门函数都可以构造一个公钥加密方案</a:t>
            </a:r>
            <a:r>
              <a:rPr lang="en-US" altLang="zh-CN" sz="3200" dirty="0"/>
              <a:t>——</a:t>
            </a:r>
            <a:r>
              <a:rPr lang="zh-CN" altLang="en-US" sz="3200" dirty="0"/>
              <a:t>姚期智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362146E-3F7B-3BB2-D790-74539A4ECF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2748" y="2057049"/>
              <a:ext cx="11526504" cy="398233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283266">
                      <a:extLst>
                        <a:ext uri="{9D8B030D-6E8A-4147-A177-3AD203B41FA5}">
                          <a16:colId xmlns:a16="http://schemas.microsoft.com/office/drawing/2014/main" val="803040330"/>
                        </a:ext>
                      </a:extLst>
                    </a:gridCol>
                    <a:gridCol w="3381154">
                      <a:extLst>
                        <a:ext uri="{9D8B030D-6E8A-4147-A177-3AD203B41FA5}">
                          <a16:colId xmlns:a16="http://schemas.microsoft.com/office/drawing/2014/main" val="22510803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8599616"/>
                        </a:ext>
                      </a:extLst>
                    </a:gridCol>
                    <a:gridCol w="3118884">
                      <a:extLst>
                        <a:ext uri="{9D8B030D-6E8A-4147-A177-3AD203B41FA5}">
                          <a16:colId xmlns:a16="http://schemas.microsoft.com/office/drawing/2014/main" val="2305154594"/>
                        </a:ext>
                      </a:extLst>
                    </a:gridCol>
                  </a:tblGrid>
                  <a:tr h="25978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非对称密码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基本困难问题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优点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缺点 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4269990782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RSA</a:t>
                          </a:r>
                          <a:r>
                            <a:rPr lang="zh-CN" altLang="en-US" sz="2400" b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大整数分解困难问题</a:t>
                          </a:r>
                          <a:endParaRPr lang="en-US" altLang="zh-CN" sz="2400" b="0" dirty="0"/>
                        </a:p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（对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400" b="0" dirty="0"/>
                            <a:t>分解）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最普及的公钥密码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需要较长密钥才能保持安全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031721810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ElGamal</a:t>
                          </a:r>
                          <a:r>
                            <a:rPr lang="zh-CN" altLang="en-US" sz="2400" b="0"/>
                            <a:t>方式</a:t>
                          </a: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zh-CN" altLang="en-US" sz="2400" b="0" dirty="0"/>
                            <a:t>下离散对数困难问题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天然支持随机化加密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密文长度为明文的两倍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1869829767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 dirty="0"/>
                            <a:t>Rabin</a:t>
                          </a:r>
                          <a:r>
                            <a:rPr lang="zh-CN" altLang="en-US" sz="2400" b="0" dirty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zh-CN" altLang="en-US" sz="2400" b="0" dirty="0"/>
                            <a:t>下求平方根困难问题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破解难度与“大整数分解”严格等价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解密后可能得到 </a:t>
                          </a:r>
                          <a:r>
                            <a:rPr lang="en-US" altLang="zh-CN" sz="2400" b="0" dirty="0"/>
                            <a:t>4 </a:t>
                          </a:r>
                          <a:r>
                            <a:rPr lang="zh-CN" altLang="en-US" sz="2400" b="0" dirty="0"/>
                            <a:t>个可能的明文，需要额外机制消除歧义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985464370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椭圆曲线密码 </a:t>
                          </a:r>
                          <a:r>
                            <a:rPr lang="en-US" altLang="zh-CN" sz="2400" b="0" dirty="0"/>
                            <a:t>ECC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椭圆曲线离散对数困难问题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密钥短、性能高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数学结构复杂</a:t>
                          </a:r>
                        </a:p>
                        <a:p>
                          <a:pPr>
                            <a:buNone/>
                          </a:pP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28736060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362146E-3F7B-3BB2-D790-74539A4ECF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139793"/>
                  </p:ext>
                </p:extLst>
              </p:nvPr>
            </p:nvGraphicFramePr>
            <p:xfrm>
              <a:off x="332748" y="2057049"/>
              <a:ext cx="11526504" cy="398233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283266">
                      <a:extLst>
                        <a:ext uri="{9D8B030D-6E8A-4147-A177-3AD203B41FA5}">
                          <a16:colId xmlns:a16="http://schemas.microsoft.com/office/drawing/2014/main" val="803040330"/>
                        </a:ext>
                      </a:extLst>
                    </a:gridCol>
                    <a:gridCol w="3381154">
                      <a:extLst>
                        <a:ext uri="{9D8B030D-6E8A-4147-A177-3AD203B41FA5}">
                          <a16:colId xmlns:a16="http://schemas.microsoft.com/office/drawing/2014/main" val="22510803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8599616"/>
                        </a:ext>
                      </a:extLst>
                    </a:gridCol>
                    <a:gridCol w="3118884">
                      <a:extLst>
                        <a:ext uri="{9D8B030D-6E8A-4147-A177-3AD203B41FA5}">
                          <a16:colId xmlns:a16="http://schemas.microsoft.com/office/drawing/2014/main" val="2305154594"/>
                        </a:ext>
                      </a:extLst>
                    </a:gridCol>
                  </a:tblGrid>
                  <a:tr h="43070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非对称密码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基本困难问题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优点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缺点 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4269990782"/>
                      </a:ext>
                    </a:extLst>
                  </a:tr>
                  <a:tr h="7964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RSA</a:t>
                          </a:r>
                          <a:r>
                            <a:rPr lang="zh-CN" altLang="en-US" sz="2400" b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945" marR="64945" marT="32473" marB="32473" anchor="ctr">
                        <a:blipFill>
                          <a:blip r:embed="rId3"/>
                          <a:stretch>
                            <a:fillRect l="-67748" t="-64122" r="-173694" b="-364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最普及的公钥密码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需要较长密钥才能保持安全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031721810"/>
                      </a:ext>
                    </a:extLst>
                  </a:tr>
                  <a:tr h="7964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ElGamal</a:t>
                          </a:r>
                          <a:r>
                            <a:rPr lang="zh-CN" altLang="en-US" sz="2400" b="0"/>
                            <a:t>方式</a:t>
                          </a: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945" marR="64945" marT="32473" marB="32473" anchor="ctr">
                        <a:blipFill>
                          <a:blip r:embed="rId3"/>
                          <a:stretch>
                            <a:fillRect l="-67748" t="-165385" r="-173694" b="-26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天然支持随机化加密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密文长度为明文的两倍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1869829767"/>
                      </a:ext>
                    </a:extLst>
                  </a:tr>
                  <a:tr h="11622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 dirty="0"/>
                            <a:t>Rabin</a:t>
                          </a:r>
                          <a:r>
                            <a:rPr lang="zh-CN" altLang="en-US" sz="2400" b="0" dirty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945" marR="64945" marT="32473" marB="32473" anchor="ctr">
                        <a:blipFill>
                          <a:blip r:embed="rId3"/>
                          <a:stretch>
                            <a:fillRect l="-67748" t="-180628" r="-173694" b="-821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破解难度与“大整数分解”严格等价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解密后可能得到 </a:t>
                          </a:r>
                          <a:r>
                            <a:rPr lang="en-US" altLang="zh-CN" sz="2400" b="0" dirty="0"/>
                            <a:t>4 </a:t>
                          </a:r>
                          <a:r>
                            <a:rPr lang="zh-CN" altLang="en-US" sz="2400" b="0" dirty="0"/>
                            <a:t>个可能的明文，需要额外机制消除歧义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985464370"/>
                      </a:ext>
                    </a:extLst>
                  </a:tr>
                  <a:tr h="7964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椭圆曲线密码 </a:t>
                          </a:r>
                          <a:r>
                            <a:rPr lang="en-US" altLang="zh-CN" sz="2400" b="0" dirty="0"/>
                            <a:t>ECC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椭圆曲线离散对数困难问题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密钥短、性能高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数学结构复杂</a:t>
                          </a:r>
                        </a:p>
                        <a:p>
                          <a:pPr>
                            <a:buNone/>
                          </a:pP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28736060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72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294F0-A520-ED40-C63F-32085D6D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2FB584D-4FEA-FBC4-29FB-B312997581EE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6F0EC806-B74B-926E-51AD-C589B734CF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E45B870-B354-121E-66C8-9F1BDBAAE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7F93FA4-EF04-706D-D12C-7864F20A8B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63C81DA7-6440-F3C0-251E-7C4FBF000D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021AF273-879E-5BC7-7A34-0E508F1B2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833B51E9-6A92-158A-7670-BF8F403946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C09CFFC9-2DE0-3BF6-D30D-CD021E8C5F5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E298DE-6F9B-058B-06F0-F4952E1B2BBD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椭圆曲线密码（</a:t>
            </a:r>
            <a:r>
              <a:rPr lang="en-US" altLang="zh-CN" sz="3200" dirty="0"/>
              <a:t>Elliptic Curve Cryptography, ECC )</a:t>
            </a:r>
            <a:endParaRPr lang="zh-CN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5AB1660-5534-1ECE-2845-5D591EF4F631}"/>
              </a:ext>
            </a:extLst>
          </p:cNvPr>
          <p:cNvGrpSpPr/>
          <p:nvPr/>
        </p:nvGrpSpPr>
        <p:grpSpPr>
          <a:xfrm>
            <a:off x="575039" y="1680063"/>
            <a:ext cx="11041922" cy="1964281"/>
            <a:chOff x="4939871" y="1583809"/>
            <a:chExt cx="7149348" cy="28117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FA4E9D6-8AB9-56AF-8585-823212DCC7F8}"/>
                </a:ext>
              </a:extLst>
            </p:cNvPr>
            <p:cNvSpPr/>
            <p:nvPr/>
          </p:nvSpPr>
          <p:spPr>
            <a:xfrm>
              <a:off x="4939871" y="1583809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C6DB435-305E-FE99-539F-3CFE1AF2DA08}"/>
                </a:ext>
              </a:extLst>
            </p:cNvPr>
            <p:cNvSpPr txBox="1"/>
            <p:nvPr/>
          </p:nvSpPr>
          <p:spPr>
            <a:xfrm>
              <a:off x="5176707" y="1598546"/>
              <a:ext cx="6675677" cy="9506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zh-CN" altLang="en-US" sz="2400" dirty="0"/>
                <a:t>椭圆曲线密码是</a:t>
              </a:r>
              <a:r>
                <a:rPr lang="zh-CN" altLang="en-US" sz="2400" dirty="0">
                  <a:solidFill>
                    <a:srgbClr val="FF0000"/>
                  </a:solidFill>
                </a:rPr>
                <a:t>利用椭圆曲线数学结构实现的密码技术的统称</a:t>
              </a:r>
              <a:r>
                <a:rPr lang="zh-CN" altLang="en-US" sz="2400" dirty="0"/>
                <a:t>。其主要涵盖以下三个方面：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基于椭圆曲线的公钥加密 </a:t>
              </a:r>
              <a:r>
                <a:rPr lang="en-US" altLang="zh-CN" sz="2400" dirty="0"/>
                <a:t>(ECC) —— </a:t>
              </a:r>
              <a:r>
                <a:rPr lang="zh-CN" altLang="en-US" sz="2400" dirty="0"/>
                <a:t>应用于手机蓝牙连接等协议</a:t>
              </a:r>
              <a:endParaRPr lang="en-US" altLang="zh-CN" sz="2400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基于椭圆曲线的密钥交换 </a:t>
              </a:r>
              <a:r>
                <a:rPr lang="en-US" altLang="zh-CN" sz="2400" dirty="0"/>
                <a:t>(ECDHE) —— </a:t>
              </a:r>
              <a:r>
                <a:rPr lang="zh-CN" altLang="en-US" sz="2400" dirty="0"/>
                <a:t>应用于</a:t>
              </a:r>
              <a:r>
                <a:rPr lang="en-US" altLang="zh-CN" sz="2400" dirty="0"/>
                <a:t>SSL/TLS(https)</a:t>
              </a:r>
              <a:r>
                <a:rPr lang="zh-CN" altLang="en-US" sz="2400" dirty="0"/>
                <a:t>等协议</a:t>
              </a:r>
              <a:endParaRPr lang="en-US" altLang="zh-CN" sz="2400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基于椭圆曲线的数字签名 </a:t>
              </a:r>
              <a:r>
                <a:rPr lang="en-US" altLang="zh-CN" sz="2400" dirty="0"/>
                <a:t>(ECDSA) ——</a:t>
              </a:r>
              <a:r>
                <a:rPr lang="zh-CN" altLang="en-US" sz="2400" dirty="0"/>
                <a:t>应用于虚拟货币比特币等协议</a:t>
              </a:r>
              <a:endParaRPr lang="en-US" altLang="zh-CN" sz="2400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endParaRPr lang="zh-CN" altLang="en-US" sz="2400" dirty="0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7311C221-E6F7-ABC1-1343-C11492E4E3EB}"/>
              </a:ext>
            </a:extLst>
          </p:cNvPr>
          <p:cNvSpPr/>
          <p:nvPr/>
        </p:nvSpPr>
        <p:spPr>
          <a:xfrm>
            <a:off x="575039" y="4130370"/>
            <a:ext cx="11041922" cy="209513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椭圆曲线密码的重要优势：在提供相同安全强度的前提下，其密钥长度明显短于 </a:t>
            </a:r>
            <a:r>
              <a:rPr lang="en-US" altLang="zh-CN" sz="2400" dirty="0">
                <a:solidFill>
                  <a:schemeClr val="tx1"/>
                </a:solidFill>
              </a:rPr>
              <a:t>RSA</a:t>
            </a:r>
            <a:r>
              <a:rPr lang="zh-CN" altLang="en-US" sz="2400" dirty="0">
                <a:solidFill>
                  <a:schemeClr val="tx1"/>
                </a:solidFill>
              </a:rPr>
              <a:t>。即</a:t>
            </a:r>
            <a:r>
              <a:rPr lang="en-US" altLang="zh-CN" sz="2400" dirty="0">
                <a:solidFill>
                  <a:srgbClr val="FF0000"/>
                </a:solidFill>
              </a:rPr>
              <a:t>ECC </a:t>
            </a:r>
            <a:r>
              <a:rPr lang="zh-CN" altLang="en-US" sz="2400" dirty="0">
                <a:solidFill>
                  <a:srgbClr val="FF0000"/>
                </a:solidFill>
              </a:rPr>
              <a:t>的密钥更短而强度更高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密钥长度为 </a:t>
            </a:r>
            <a:r>
              <a:rPr lang="en-US" altLang="zh-CN" sz="2400" dirty="0">
                <a:solidFill>
                  <a:schemeClr val="tx1"/>
                </a:solidFill>
              </a:rPr>
              <a:t>224</a:t>
            </a:r>
            <a:r>
              <a:rPr lang="zh-CN" altLang="en-US" sz="2400" dirty="0">
                <a:solidFill>
                  <a:schemeClr val="tx1"/>
                </a:solidFill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</a:rPr>
              <a:t>255 </a:t>
            </a:r>
            <a:r>
              <a:rPr lang="zh-CN" altLang="en-US" sz="2400" dirty="0">
                <a:solidFill>
                  <a:schemeClr val="tx1"/>
                </a:solidFill>
              </a:rPr>
              <a:t>比特的椭圆曲线密码，其安全强度与 </a:t>
            </a:r>
            <a:r>
              <a:rPr lang="en-US" altLang="zh-CN" sz="2400" dirty="0">
                <a:solidFill>
                  <a:schemeClr val="tx1"/>
                </a:solidFill>
              </a:rPr>
              <a:t>2048 </a:t>
            </a:r>
            <a:r>
              <a:rPr lang="zh-CN" altLang="en-US" sz="2400" dirty="0">
                <a:solidFill>
                  <a:schemeClr val="tx1"/>
                </a:solidFill>
              </a:rPr>
              <a:t>比特的 </a:t>
            </a:r>
            <a:r>
              <a:rPr lang="en-US" altLang="zh-CN" sz="2400" dirty="0">
                <a:solidFill>
                  <a:schemeClr val="tx1"/>
                </a:solidFill>
              </a:rPr>
              <a:t>RSA </a:t>
            </a:r>
            <a:r>
              <a:rPr lang="zh-CN" altLang="en-US" sz="2400" dirty="0">
                <a:solidFill>
                  <a:schemeClr val="tx1"/>
                </a:solidFill>
              </a:rPr>
              <a:t>密钥几乎相当</a:t>
            </a:r>
          </a:p>
        </p:txBody>
      </p:sp>
    </p:spTree>
    <p:extLst>
      <p:ext uri="{BB962C8B-B14F-4D97-AF65-F5344CB8AC3E}">
        <p14:creationId xmlns:p14="http://schemas.microsoft.com/office/powerpoint/2010/main" val="104951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BDED5-0040-D73D-9846-92B1ED5E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0A455B5-E799-5501-D99A-7AEB032032EA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3FA2C437-B82E-3467-CB84-25976AA633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0A42A16-9587-D087-9FD5-720A7236E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BD8E0EE-D139-A0BD-192D-0DCE906EE8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9FD97FCB-7DAA-E61F-ED1E-5A086324FF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729EB5BB-B75B-4F2F-50B8-0B86E46F3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26C5F97E-840E-88ED-7775-20B06116E0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278B3-4679-F39E-6B6C-7CE7AE5A6B7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1CECAB-D523-38AA-4689-80F9A4D2B01C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椭圆曲线函数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9842B3-A428-C5A4-F953-04A1C1049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336" y="1439607"/>
            <a:ext cx="5273269" cy="4901609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9405ACF0-55BB-6724-785E-BF0FEC0AD4BE}"/>
              </a:ext>
            </a:extLst>
          </p:cNvPr>
          <p:cNvGrpSpPr/>
          <p:nvPr/>
        </p:nvGrpSpPr>
        <p:grpSpPr>
          <a:xfrm>
            <a:off x="560862" y="2143186"/>
            <a:ext cx="5273269" cy="3494449"/>
            <a:chOff x="4939871" y="1583808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40D313C-256C-ED87-1474-1B0A9A4664E1}"/>
                </a:ext>
              </a:extLst>
            </p:cNvPr>
            <p:cNvSpPr/>
            <p:nvPr/>
          </p:nvSpPr>
          <p:spPr>
            <a:xfrm>
              <a:off x="4939871" y="1583808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2B1CB53-1D54-C243-5D27-75AB1599450B}"/>
                    </a:ext>
                  </a:extLst>
                </p:cNvPr>
                <p:cNvSpPr txBox="1"/>
                <p:nvPr/>
              </p:nvSpPr>
              <p:spPr>
                <a:xfrm>
                  <a:off x="5084918" y="1855759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buNone/>
                  </a:pPr>
                  <a:r>
                    <a:rPr lang="zh-CN" altLang="en-US" sz="2400" dirty="0"/>
                    <a:t>椭圆曲线可以用下面的三次方程表示：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  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400" dirty="0"/>
                </a:p>
                <a:p>
                  <a:pPr>
                    <a:buNone/>
                  </a:pPr>
                  <a:r>
                    <a:rPr lang="zh-CN" altLang="en-US" sz="2400" dirty="0"/>
                    <a:t>其中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是适当的常数。</a:t>
                  </a:r>
                  <a:endParaRPr lang="en-US" altLang="zh-CN" sz="2400" dirty="0"/>
                </a:p>
                <a:p>
                  <a:pPr>
                    <a:buNone/>
                  </a:pPr>
                  <a:endParaRPr lang="zh-CN" altLang="en-US" sz="2400" dirty="0"/>
                </a:p>
                <a:p>
                  <a:pPr>
                    <a:buNone/>
                  </a:pPr>
                  <a:r>
                    <a:rPr lang="zh-CN" altLang="en-US" sz="2400" b="1" dirty="0"/>
                    <a:t>示例：</a:t>
                  </a:r>
                  <a:r>
                    <a:rPr lang="zh-CN" altLang="en-US" sz="2400" dirty="0"/>
                    <a:t>令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=−2,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a14:m>
                  <a:r>
                    <a:rPr lang="zh-CN" altLang="en-US" sz="2400" dirty="0"/>
                    <a:t>则对应的椭圆曲线为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  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+4.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2B1CB53-1D54-C243-5D27-75AB15994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4918" y="1855759"/>
                  <a:ext cx="6675677" cy="950635"/>
                </a:xfrm>
                <a:prstGeom prst="rect">
                  <a:avLst/>
                </a:prstGeom>
                <a:blipFill>
                  <a:blip r:embed="rId4"/>
                  <a:stretch>
                    <a:fillRect l="-3841" t="-9278" r="-9046" b="-1257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58053B-340B-17B9-F044-F990BE2C9AED}"/>
                  </a:ext>
                </a:extLst>
              </p:cNvPr>
              <p:cNvSpPr txBox="1"/>
              <p:nvPr/>
            </p:nvSpPr>
            <p:spPr>
              <a:xfrm>
                <a:off x="-1" y="6024979"/>
                <a:ext cx="8059479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由于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800" dirty="0"/>
                  <a:t>中有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/>
                  <a:t>所以函数图像一定是关于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/>
                  <a:t>轴对阵的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58053B-340B-17B9-F044-F990BE2C9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024979"/>
                <a:ext cx="8059479" cy="523220"/>
              </a:xfrm>
              <a:prstGeom prst="rect">
                <a:avLst/>
              </a:prstGeom>
              <a:blipFill>
                <a:blip r:embed="rId5"/>
                <a:stretch>
                  <a:fillRect l="-1513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31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8475-569B-C84C-5A20-687BA23E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9E3512A-C5DD-5C45-29F6-E15E441D30E9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AB01A5F2-4005-EFE5-6565-E34ADD256D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7A0A5F6-FCA5-2A22-DB15-7F3D1C5E4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A3C15571-EE5A-7813-FF93-DAF8FFB8D7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4B953C10-463E-BDAA-A995-D7F758BE70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C18B0B6B-1BFA-54C8-0F07-61B9371FF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6DCDFF11-673B-708F-9C7B-108F0028BC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5A7F67C5-C41A-9B84-A920-9A6E07789D9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7230C7-67D4-216E-B5DB-711AEFB71AC0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椭圆曲线上的加法运算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B58ACF8-6E29-D07C-15C3-62EF376424E5}"/>
              </a:ext>
            </a:extLst>
          </p:cNvPr>
          <p:cNvGrpSpPr/>
          <p:nvPr/>
        </p:nvGrpSpPr>
        <p:grpSpPr>
          <a:xfrm>
            <a:off x="384824" y="2538304"/>
            <a:ext cx="5654863" cy="2863036"/>
            <a:chOff x="4939871" y="1583808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89AA6FB-A120-976E-454A-8E3574A3B729}"/>
                </a:ext>
              </a:extLst>
            </p:cNvPr>
            <p:cNvSpPr/>
            <p:nvPr/>
          </p:nvSpPr>
          <p:spPr>
            <a:xfrm>
              <a:off x="4939871" y="1583808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4BEBD84-9F8D-C092-DAB1-A4A75708B0DA}"/>
                    </a:ext>
                  </a:extLst>
                </p:cNvPr>
                <p:cNvSpPr txBox="1"/>
                <p:nvPr/>
              </p:nvSpPr>
              <p:spPr>
                <a:xfrm>
                  <a:off x="5176705" y="1724578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zh-CN" altLang="en-US" sz="2400" dirty="0"/>
                    <a:t>过椭圆曲线上的两点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与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作一直线，</a:t>
                  </a:r>
                  <a:br>
                    <a:rPr lang="zh-CN" altLang="en-US" sz="2400" dirty="0"/>
                  </a:br>
                  <a:r>
                    <a:rPr lang="zh-CN" altLang="en-US" sz="2400" dirty="0"/>
                    <a:t>由于椭圆曲线是三次曲线，这条直线通常会与曲线有三个交点，其中两个是已知的点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和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，第三个交点记为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400" b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。</a:t>
                  </a:r>
                  <a:endParaRPr lang="en-US" altLang="zh-CN" sz="2400" dirty="0"/>
                </a:p>
                <a:p>
                  <a:endParaRPr lang="zh-CN" altLang="en-US" sz="2400" dirty="0"/>
                </a:p>
                <a:p>
                  <a:r>
                    <a:rPr lang="zh-CN" altLang="en-US" sz="2400" dirty="0"/>
                    <a:t>将该交点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关于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轴取对称点。设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的对称点为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zh-CN" altLang="en-US" sz="2400" dirty="0"/>
                    <a:t>。将此点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zh-CN" altLang="en-US" sz="2400" dirty="0"/>
                    <a:t>定义为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。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4BEBD84-9F8D-C092-DAB1-A4A75708B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705" y="1724578"/>
                  <a:ext cx="6675677" cy="950635"/>
                </a:xfrm>
                <a:prstGeom prst="rect">
                  <a:avLst/>
                </a:prstGeom>
                <a:blipFill>
                  <a:blip r:embed="rId2"/>
                  <a:stretch>
                    <a:fillRect l="-3580" t="-11950" r="-1617" b="-187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FF8D3A2-01AB-784B-F0DD-2314DF9B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198" y="1502734"/>
            <a:ext cx="5400467" cy="48783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C2DDC5E-8223-0314-577C-05ED03D8D59B}"/>
                  </a:ext>
                </a:extLst>
              </p:cNvPr>
              <p:cNvSpPr txBox="1"/>
              <p:nvPr/>
            </p:nvSpPr>
            <p:spPr>
              <a:xfrm>
                <a:off x="313940" y="1732469"/>
                <a:ext cx="61987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椭圆曲线上两点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和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的和</a:t>
                </a:r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C2DDC5E-8223-0314-577C-05ED03D8D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40" y="1732469"/>
                <a:ext cx="6198780" cy="523220"/>
              </a:xfrm>
              <a:prstGeom prst="rect">
                <a:avLst/>
              </a:prstGeom>
              <a:blipFill>
                <a:blip r:embed="rId4"/>
                <a:stretch>
                  <a:fillRect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21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5B24-2622-D2AB-884B-0BBE2CB9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24EE073-7CD8-1F5D-F5AE-965BF385966F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8981D350-8230-C855-F694-4F25E1AB7F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DBBDBB49-3D37-C6AD-83CE-B46DA9F3C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FE72A22-151C-F537-D04E-0F8CECB572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C45886E1-60D1-E415-D5F2-0D8BD9EBB8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88336794-B368-FE45-03D3-C2E820B14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544B813D-B9C0-5B07-6CDE-1CB3766693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6010C420-33B9-3EAB-AD4A-8634197B2C09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AE9000-42EA-4CF5-7B70-6C072F1073E5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椭圆曲线上的倍率运算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3DAB090-075C-DBD0-3C88-FED2ED91E48D}"/>
              </a:ext>
            </a:extLst>
          </p:cNvPr>
          <p:cNvGrpSpPr/>
          <p:nvPr/>
        </p:nvGrpSpPr>
        <p:grpSpPr>
          <a:xfrm>
            <a:off x="430238" y="2102055"/>
            <a:ext cx="5654863" cy="4000258"/>
            <a:chOff x="4939868" y="1472443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DD756D4-76C4-2679-5B02-DB8436774E2D}"/>
                </a:ext>
              </a:extLst>
            </p:cNvPr>
            <p:cNvSpPr/>
            <p:nvPr/>
          </p:nvSpPr>
          <p:spPr>
            <a:xfrm>
              <a:off x="4939868" y="1472443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AAD8FC2-43F3-F8DC-8574-A27F4719B74A}"/>
                    </a:ext>
                  </a:extLst>
                </p:cNvPr>
                <p:cNvSpPr txBox="1"/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zh-CN" altLang="en-US" sz="2400" dirty="0"/>
                    <a:t>当直线为切线时，即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与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两点重合，“过两点作直线”这一操作已经不再适用，因此引入二倍运算。</a:t>
                  </a:r>
                </a:p>
                <a:p>
                  <a:endParaRPr lang="en-US" altLang="zh-CN" sz="2400" dirty="0"/>
                </a:p>
                <a:p>
                  <a:r>
                    <a:rPr lang="zh-CN" altLang="en-US" sz="2400" dirty="0"/>
                    <a:t>在点</a:t>
                  </a:r>
                  <a14:m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处作椭圆曲线的切线。因为椭圆曲线是三次曲线，因此这条切线仍会与曲线再相交一次，设该交点为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。</a:t>
                  </a:r>
                </a:p>
                <a:p>
                  <a:endParaRPr lang="en-US" altLang="zh-CN" sz="2400" dirty="0"/>
                </a:p>
                <a:p>
                  <a:r>
                    <a:rPr lang="zh-CN" altLang="en-US" sz="2400" dirty="0"/>
                    <a:t>将交点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关于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轴取对称点。设该对称点为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zh-CN" altLang="en-US" sz="2400" dirty="0"/>
                    <a:t>。我们将此点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zh-CN" altLang="en-US" sz="2400" dirty="0"/>
                    <a:t>定义为 </a:t>
                  </a:r>
                  <a14:m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。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AAD8FC2-43F3-F8DC-8574-A27F4719B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blipFill>
                  <a:blip r:embed="rId3"/>
                  <a:stretch>
                    <a:fillRect l="-3464" t="-8108" r="-1732" b="-1873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3EB176-78CF-20B0-E500-86AE29F2CEB6}"/>
                  </a:ext>
                </a:extLst>
              </p:cNvPr>
              <p:cNvSpPr txBox="1"/>
              <p:nvPr/>
            </p:nvSpPr>
            <p:spPr>
              <a:xfrm>
                <a:off x="288325" y="1499163"/>
                <a:ext cx="61987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椭圆曲线上二倍运算</a:t>
                </a:r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3EB176-78CF-20B0-E500-86AE29F2C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5" y="1499163"/>
                <a:ext cx="6198780" cy="523220"/>
              </a:xfrm>
              <a:prstGeom prst="rect">
                <a:avLst/>
              </a:prstGeom>
              <a:blipFill>
                <a:blip r:embed="rId4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B135E3D0-2549-4895-9234-84464FC90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14" y="1880931"/>
            <a:ext cx="5676661" cy="43216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F678DB-2D32-C4E4-062E-DF53544A1547}"/>
              </a:ext>
            </a:extLst>
          </p:cNvPr>
          <p:cNvSpPr txBox="1"/>
          <p:nvPr/>
        </p:nvSpPr>
        <p:spPr>
          <a:xfrm>
            <a:off x="0" y="6274709"/>
            <a:ext cx="80594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椭圆曲线上的点运算符合交换律，即</a:t>
            </a:r>
            <a:r>
              <a:rPr lang="en-US" altLang="zh-CN" sz="2800" dirty="0"/>
              <a:t>2(3G)=3(2G)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9902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89D5-CFBD-B63C-16F6-D562CB71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351D971-E698-D175-FE2A-64343C2DCAC3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FCFA889A-8DFE-861E-3FB9-AA9667654A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ED28579-D4E1-738C-3540-2E7F6B9C3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4210380-84B2-BE49-96DD-644E80AFFE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4CB3A239-A432-41EF-CE0A-B7CCB312B9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21FD1548-4B74-24E8-5177-AEDEFC742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7F7CA1EE-ADA8-1FCC-3F66-AA82073C42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005CAD1-D0D3-5AA9-64B5-823C402A99F9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F88C24-8FCB-89BE-5D6F-0D096B94710F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椭圆曲线的单项性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17F5E4D-A4E0-8ABE-7754-BA0DB5BFF22A}"/>
              </a:ext>
            </a:extLst>
          </p:cNvPr>
          <p:cNvGrpSpPr/>
          <p:nvPr/>
        </p:nvGrpSpPr>
        <p:grpSpPr>
          <a:xfrm>
            <a:off x="378127" y="2400542"/>
            <a:ext cx="5654863" cy="3312686"/>
            <a:chOff x="4939868" y="1472443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5E9B68-8E8D-47E0-BEB3-174A2A0370BF}"/>
                </a:ext>
              </a:extLst>
            </p:cNvPr>
            <p:cNvSpPr/>
            <p:nvPr/>
          </p:nvSpPr>
          <p:spPr>
            <a:xfrm>
              <a:off x="4939868" y="1472443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08B229E-C7BD-4C7A-E4E3-633B361D1922}"/>
                    </a:ext>
                  </a:extLst>
                </p:cNvPr>
                <p:cNvSpPr txBox="1"/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zh-CN" altLang="en-US" sz="2400" dirty="0"/>
                    <a:t>基本运算：给定椭圆曲线上的某一点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，即可求出 </a:t>
                  </a:r>
                  <a14:m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,3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等点的坐标。其中，</a:t>
                  </a:r>
                  <a14:m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 相当于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的二倍，而 </a:t>
                  </a:r>
                  <a14:m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则相当于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。</a:t>
                  </a:r>
                  <a:endParaRPr lang="en-US" altLang="zh-CN" sz="2400" dirty="0"/>
                </a:p>
                <a:p>
                  <a:endParaRPr lang="en-US" altLang="zh-CN" sz="2400" dirty="0"/>
                </a:p>
                <a:p>
                  <a:r>
                    <a:rPr lang="zh-CN" altLang="en-US" sz="2400" dirty="0"/>
                    <a:t>单项性：当已知点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时，计算“已知数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求点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𝑥𝐺</m:t>
                      </m:r>
                    </m:oMath>
                  </a14:m>
                  <a:r>
                    <a:rPr lang="zh-CN" altLang="en-US" sz="2400" dirty="0"/>
                    <a:t>”并不困难。但反过来，“已知点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𝑥𝐺</m:t>
                      </m:r>
                    </m:oMath>
                  </a14:m>
                  <a:r>
                    <a:rPr lang="zh-CN" altLang="en-US" sz="2400" dirty="0"/>
                    <a:t>求数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”则非常困难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08B229E-C7BD-4C7A-E4E3-633B361D1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blipFill>
                  <a:blip r:embed="rId3"/>
                  <a:stretch>
                    <a:fillRect l="-3580" t="-10326" r="-9238" b="-1755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60103FD-1B9A-E1F6-A2D1-7066EFD8CA59}"/>
              </a:ext>
            </a:extLst>
          </p:cNvPr>
          <p:cNvSpPr txBox="1"/>
          <p:nvPr/>
        </p:nvSpPr>
        <p:spPr>
          <a:xfrm>
            <a:off x="967020" y="1794942"/>
            <a:ext cx="4201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椭圆曲线逆向求解困难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443AA9-B156-740A-4255-FF9122F40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336" y="1439607"/>
            <a:ext cx="5273269" cy="49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6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5BD69-0261-6D6C-D99C-640E1BA8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AEAFE817-00B5-9272-2B42-6902F1A19BC2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92FE690B-F992-6F38-52CB-2EE2590668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AB2E791-5366-838A-0C79-69D924EEF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F5F2FED-0D83-06C1-050E-49D83A695F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9B3AF897-BB17-C7A4-900E-5AD440B04E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D15F292A-B89D-7C43-8403-62E9957E3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0E2D1C61-3B18-5B1E-259B-4FEFABC56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C52A86A-6DD2-49C5-E83C-2B1140637EE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F8AB2C-D2CF-6E9A-8094-FC1AD9950FF0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单项函数对比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352CD45-172F-DC3F-B942-2A9B396F9C5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965960"/>
              <a:ext cx="10515600" cy="292608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854842">
                      <a:extLst>
                        <a:ext uri="{9D8B030D-6E8A-4147-A177-3AD203B41FA5}">
                          <a16:colId xmlns:a16="http://schemas.microsoft.com/office/drawing/2014/main" val="1649529673"/>
                        </a:ext>
                      </a:extLst>
                    </a:gridCol>
                    <a:gridCol w="3281916">
                      <a:extLst>
                        <a:ext uri="{9D8B030D-6E8A-4147-A177-3AD203B41FA5}">
                          <a16:colId xmlns:a16="http://schemas.microsoft.com/office/drawing/2014/main" val="1663418236"/>
                        </a:ext>
                      </a:extLst>
                    </a:gridCol>
                    <a:gridCol w="4378842">
                      <a:extLst>
                        <a:ext uri="{9D8B030D-6E8A-4147-A177-3AD203B41FA5}">
                          <a16:colId xmlns:a16="http://schemas.microsoft.com/office/drawing/2014/main" val="243389711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密码方式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核心困难问题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问题本质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91876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RSA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大素数分解问题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已知整数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400" dirty="0"/>
                            <a:t>，求其素因子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19335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Diffie-Hellman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有限域离散对数问题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已知有限域上生成元</a:t>
                          </a:r>
                          <a:r>
                            <a:rPr lang="en-US" altLang="zh-CN" sz="2400" dirty="0"/>
                            <a:t>(</a:t>
                          </a:r>
                          <a:r>
                            <a:rPr lang="zh-CN" altLang="en-US" sz="2400" dirty="0"/>
                            <a:t>底数</a:t>
                          </a:r>
                          <a:r>
                            <a:rPr lang="en-US" altLang="zh-CN" sz="2400" dirty="0"/>
                            <a:t>)</a:t>
                          </a:r>
                          <a:r>
                            <a:rPr lang="zh-CN" altLang="en-US" sz="2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:r>
                            <a:rPr lang="zh-CN" altLang="en-US" sz="2400" dirty="0"/>
                            <a:t>与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400" b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，</a:t>
                          </a:r>
                          <a:r>
                            <a:rPr lang="zh-CN" altLang="en-US" sz="2400" dirty="0"/>
                            <a:t>求指数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20187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椭圆曲线密码 </a:t>
                          </a:r>
                          <a:r>
                            <a:rPr lang="en-US" altLang="zh-CN" sz="2400" dirty="0"/>
                            <a:t>(ECC)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椭圆曲线离散对数问题</a:t>
                          </a:r>
                          <a:endParaRPr lang="en-US" altLang="zh-C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已知椭圆曲线上基点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lang="zh-CN" altLang="en-US" sz="2400" dirty="0"/>
                            <a:t>与其倍点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lang="zh-CN" altLang="en-US" sz="2400" dirty="0"/>
                            <a:t>，求倍数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altLang="zh-CN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4856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352CD45-172F-DC3F-B942-2A9B396F9C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934855"/>
                  </p:ext>
                </p:extLst>
              </p:nvPr>
            </p:nvGraphicFramePr>
            <p:xfrm>
              <a:off x="838200" y="1965960"/>
              <a:ext cx="10515600" cy="292608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854842">
                      <a:extLst>
                        <a:ext uri="{9D8B030D-6E8A-4147-A177-3AD203B41FA5}">
                          <a16:colId xmlns:a16="http://schemas.microsoft.com/office/drawing/2014/main" val="1649529673"/>
                        </a:ext>
                      </a:extLst>
                    </a:gridCol>
                    <a:gridCol w="3281916">
                      <a:extLst>
                        <a:ext uri="{9D8B030D-6E8A-4147-A177-3AD203B41FA5}">
                          <a16:colId xmlns:a16="http://schemas.microsoft.com/office/drawing/2014/main" val="1663418236"/>
                        </a:ext>
                      </a:extLst>
                    </a:gridCol>
                    <a:gridCol w="4378842">
                      <a:extLst>
                        <a:ext uri="{9D8B030D-6E8A-4147-A177-3AD203B41FA5}">
                          <a16:colId xmlns:a16="http://schemas.microsoft.com/office/drawing/2014/main" val="243389711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密码方式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核心困难问题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问题本质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918764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RSA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大素数分解问题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195" t="-62963" r="-278" b="-2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193355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Diffie-Hellman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有限域离散对数问题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195" t="-161765" r="-278" b="-113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01871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椭圆曲线密码 </a:t>
                          </a:r>
                          <a:r>
                            <a:rPr lang="en-US" altLang="zh-CN" sz="2400" dirty="0"/>
                            <a:t>(ECC)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椭圆曲线离散对数问题</a:t>
                          </a:r>
                          <a:endParaRPr lang="en-US" altLang="zh-C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195" t="-263704" r="-278" b="-14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48566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1078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FDBC-A270-2936-29F9-94DBF889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174A544B-B834-95A5-74C5-ABCB81B20E4B}"/>
              </a:ext>
            </a:extLst>
          </p:cNvPr>
          <p:cNvGrpSpPr/>
          <p:nvPr/>
        </p:nvGrpSpPr>
        <p:grpSpPr>
          <a:xfrm>
            <a:off x="3190122" y="1506471"/>
            <a:ext cx="5794340" cy="430887"/>
            <a:chOff x="1666121" y="2235594"/>
            <a:chExt cx="5794340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AD84F1E-6D24-6685-C144-C561B5929F6E}"/>
                    </a:ext>
                  </a:extLst>
                </p:cNvPr>
                <p:cNvSpPr txBox="1"/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AD84F1E-6D24-6685-C144-C561B5929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600CCCE-475F-EB90-0CD2-72EBF117996D}"/>
                    </a:ext>
                  </a:extLst>
                </p:cNvPr>
                <p:cNvSpPr txBox="1"/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600CCCE-475F-EB90-0CD2-72EBF1179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CC21D72-F6CD-32F7-5DFA-7F7D4BD2B7EA}"/>
                </a:ext>
              </a:extLst>
            </p:cNvPr>
            <p:cNvSpPr txBox="1"/>
            <p:nvPr/>
          </p:nvSpPr>
          <p:spPr>
            <a:xfrm>
              <a:off x="4897418" y="2318799"/>
              <a:ext cx="79839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其中</a:t>
              </a:r>
              <a:r>
                <a:rPr kumimoji="1"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1DF1ADF-BDD6-4F41-4C83-194B69AC3DA3}"/>
              </a:ext>
            </a:extLst>
          </p:cNvPr>
          <p:cNvGrpSpPr/>
          <p:nvPr/>
        </p:nvGrpSpPr>
        <p:grpSpPr>
          <a:xfrm>
            <a:off x="4321076" y="1010928"/>
            <a:ext cx="3959967" cy="495543"/>
            <a:chOff x="2797075" y="1740051"/>
            <a:chExt cx="3959967" cy="49554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2E06B2C-0BC9-4071-A48C-9AA53564DB44}"/>
                </a:ext>
              </a:extLst>
            </p:cNvPr>
            <p:cNvSpPr txBox="1"/>
            <p:nvPr/>
          </p:nvSpPr>
          <p:spPr>
            <a:xfrm>
              <a:off x="3420160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有限域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2FF9C76-EA2E-CB47-916D-DA627289F2B5}"/>
                </a:ext>
              </a:extLst>
            </p:cNvPr>
            <p:cNvSpPr txBox="1"/>
            <p:nvPr/>
          </p:nvSpPr>
          <p:spPr>
            <a:xfrm>
              <a:off x="2797075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基点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BDD2C72-6FF0-49CB-C434-CDD03611168A}"/>
                </a:ext>
              </a:extLst>
            </p:cNvPr>
            <p:cNvSpPr txBox="1"/>
            <p:nvPr/>
          </p:nvSpPr>
          <p:spPr>
            <a:xfrm>
              <a:off x="5958649" y="174005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离散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771C0987-45EE-05A5-5F28-C6BC9126EA93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3196272" y="2060033"/>
              <a:ext cx="0" cy="1695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2729D663-E497-A1DF-4C75-A5A83B7FA4E9}"/>
                </a:ext>
              </a:extLst>
            </p:cNvPr>
            <p:cNvCxnSpPr>
              <a:cxnSpLocks/>
            </p:cNvCxnSpPr>
            <p:nvPr/>
          </p:nvCxnSpPr>
          <p:spPr>
            <a:xfrm>
              <a:off x="3822635" y="2060033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BF77FBF5-AAB1-9A0B-9432-7D8E5300FC8B}"/>
                </a:ext>
              </a:extLst>
            </p:cNvPr>
            <p:cNvCxnSpPr>
              <a:cxnSpLocks/>
            </p:cNvCxnSpPr>
            <p:nvPr/>
          </p:nvCxnSpPr>
          <p:spPr>
            <a:xfrm>
              <a:off x="6354813" y="2044336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957A880-CEA2-7F65-26C9-F1CB1CC1E166}"/>
              </a:ext>
            </a:extLst>
          </p:cNvPr>
          <p:cNvGrpSpPr/>
          <p:nvPr/>
        </p:nvGrpSpPr>
        <p:grpSpPr>
          <a:xfrm>
            <a:off x="4069442" y="1975634"/>
            <a:ext cx="1984722" cy="567410"/>
            <a:chOff x="2545442" y="2704758"/>
            <a:chExt cx="1984722" cy="567410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1ADD1CF-58E5-363E-A11D-BE3154820246}"/>
                </a:ext>
              </a:extLst>
            </p:cNvPr>
            <p:cNvSpPr txBox="1"/>
            <p:nvPr/>
          </p:nvSpPr>
          <p:spPr>
            <a:xfrm>
              <a:off x="3731771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大素数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F497A56-422B-41AE-E93B-E51CADF1EE2B}"/>
                </a:ext>
              </a:extLst>
            </p:cNvPr>
            <p:cNvSpPr txBox="1"/>
            <p:nvPr/>
          </p:nvSpPr>
          <p:spPr>
            <a:xfrm>
              <a:off x="2545442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倍率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D3B7C5A1-9921-9361-8896-CA8B9EA9F219}"/>
                </a:ext>
              </a:extLst>
            </p:cNvPr>
            <p:cNvCxnSpPr>
              <a:cxnSpLocks/>
            </p:cNvCxnSpPr>
            <p:nvPr/>
          </p:nvCxnSpPr>
          <p:spPr>
            <a:xfrm>
              <a:off x="2957718" y="2708477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043F78DA-C039-B8BA-A5DC-41053EE711A4}"/>
                </a:ext>
              </a:extLst>
            </p:cNvPr>
            <p:cNvCxnSpPr>
              <a:cxnSpLocks/>
            </p:cNvCxnSpPr>
            <p:nvPr/>
          </p:nvCxnSpPr>
          <p:spPr>
            <a:xfrm>
              <a:off x="4218553" y="2704758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68DFCDF1-BED1-A313-BED5-62C9140AFA83}"/>
              </a:ext>
            </a:extLst>
          </p:cNvPr>
          <p:cNvSpPr txBox="1"/>
          <p:nvPr/>
        </p:nvSpPr>
        <p:spPr>
          <a:xfrm>
            <a:off x="2098330" y="3540299"/>
            <a:ext cx="8569671" cy="28623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71E9682-957B-4DDC-8941-C7989440B1C3}"/>
              </a:ext>
            </a:extLst>
          </p:cNvPr>
          <p:cNvSpPr txBox="1"/>
          <p:nvPr/>
        </p:nvSpPr>
        <p:spPr>
          <a:xfrm>
            <a:off x="1524001" y="3540299"/>
            <a:ext cx="574328" cy="2862322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向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性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4B51B94-D57C-DB66-C3A4-8C3D3D488C23}"/>
              </a:ext>
            </a:extLst>
          </p:cNvPr>
          <p:cNvSpPr txBox="1"/>
          <p:nvPr/>
        </p:nvSpPr>
        <p:spPr>
          <a:xfrm>
            <a:off x="1524001" y="2557009"/>
            <a:ext cx="574328" cy="923330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交换律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E7C036B-86B6-420F-DFF7-5863A788BBF9}"/>
              </a:ext>
            </a:extLst>
          </p:cNvPr>
          <p:cNvGrpSpPr/>
          <p:nvPr/>
        </p:nvGrpSpPr>
        <p:grpSpPr>
          <a:xfrm>
            <a:off x="2098329" y="2557009"/>
            <a:ext cx="8569671" cy="923330"/>
            <a:chOff x="574328" y="2557009"/>
            <a:chExt cx="8569671" cy="923330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8B334457-2EE6-4EA2-94A9-80F483A7219D}"/>
                </a:ext>
              </a:extLst>
            </p:cNvPr>
            <p:cNvSpPr txBox="1"/>
            <p:nvPr/>
          </p:nvSpPr>
          <p:spPr>
            <a:xfrm>
              <a:off x="574328" y="2557009"/>
              <a:ext cx="8569671" cy="92333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B04AD9D-5CFA-DEB2-2950-415BD5072663}"/>
                    </a:ext>
                  </a:extLst>
                </p:cNvPr>
                <p:cNvSpPr txBox="1"/>
                <p:nvPr/>
              </p:nvSpPr>
              <p:spPr>
                <a:xfrm>
                  <a:off x="3291170" y="2864785"/>
                  <a:ext cx="313598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𝑎𝐺</m:t>
                      </m:r>
                      <m: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1"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kumimoji="1" lang="en-US" altLang="zh-CN" sz="2000" i="1" dirty="0"/>
                    <a:t> </a:t>
                  </a:r>
                  <a:endParaRPr kumimoji="1" lang="zh-CN" altLang="en-US" sz="2000" i="1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B04AD9D-5CFA-DEB2-2950-415BD5072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170" y="2864785"/>
                  <a:ext cx="3135987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918" b="-4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BD1057-E989-54AA-950A-99801D82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10</a:t>
            </a:fld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C16615-FC96-083F-3DF9-78728DBFDBEC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有限域上的椭圆曲线离散对数问题</a:t>
            </a:r>
          </a:p>
          <a:p>
            <a:endParaRPr lang="zh-CN" altLang="en-US" sz="3600" b="1" dirty="0">
              <a:solidFill>
                <a:srgbClr val="2A50A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26BCF34-3D12-AD47-3374-7430427196EC}"/>
              </a:ext>
            </a:extLst>
          </p:cNvPr>
          <p:cNvGrpSpPr/>
          <p:nvPr/>
        </p:nvGrpSpPr>
        <p:grpSpPr>
          <a:xfrm>
            <a:off x="7007341" y="97795"/>
            <a:ext cx="425713" cy="442041"/>
            <a:chOff x="5823870" y="1767426"/>
            <a:chExt cx="425713" cy="442041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88FF347D-D449-62A8-ABF7-CCF9E8EDE2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6683C779-2C42-4609-78BE-F765CBC7B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2">
                <a:extLst>
                  <a:ext uri="{FF2B5EF4-FFF2-40B4-BE49-F238E27FC236}">
                    <a16:creationId xmlns:a16="http://schemas.microsoft.com/office/drawing/2014/main" id="{18760398-97B6-D865-696D-39E5334290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7AF3162F-8669-6097-D852-CED21B49E6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CFFD8795-BC1E-4808-0CB2-03D11C7CF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E0D8CF55-C073-ABB8-9B00-19A270E24A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DE3AC9B-B0C1-E097-9EE8-36B0C512A172}"/>
              </a:ext>
            </a:extLst>
          </p:cNvPr>
          <p:cNvGrpSpPr/>
          <p:nvPr/>
        </p:nvGrpSpPr>
        <p:grpSpPr>
          <a:xfrm>
            <a:off x="6535964" y="3645826"/>
            <a:ext cx="2685700" cy="2651268"/>
            <a:chOff x="6669927" y="1880372"/>
            <a:chExt cx="4317049" cy="4261702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F16317D-82FB-E4D8-9091-D582DD297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69927" y="1880372"/>
              <a:ext cx="4317049" cy="426170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7F29EFB-0381-F811-5D6F-F0C9E00A8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58820" y="5068185"/>
              <a:ext cx="463468" cy="70447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2B758F67-D9E9-DF55-3407-EFBAF8D85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53657" y="3214576"/>
              <a:ext cx="463468" cy="704471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C43A792E-4532-DAA9-762F-E00CACB988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3703" y="3645827"/>
            <a:ext cx="2852297" cy="265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8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D78A-BA7F-284A-3CFB-784B08B1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D02C757B-E7F4-043A-F36D-A0EEAEEC8156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47A392-8CE9-0D6A-D374-ACEE2ADBBA4C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2E464824-22A4-1D52-2E30-3AF9F3FF825D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4B0624A7-398E-A347-1B6C-6FFA39D675E7}"/>
              </a:ext>
            </a:extLst>
          </p:cNvPr>
          <p:cNvSpPr txBox="1"/>
          <p:nvPr/>
        </p:nvSpPr>
        <p:spPr>
          <a:xfrm>
            <a:off x="1567652" y="1675454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63A70E2E-6B21-BE97-4717-CBD80094F65C}"/>
              </a:ext>
            </a:extLst>
          </p:cNvPr>
          <p:cNvSpPr txBox="1"/>
          <p:nvPr/>
        </p:nvSpPr>
        <p:spPr>
          <a:xfrm>
            <a:off x="2973028" y="1675454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C211D013-5550-C2F9-55CB-D3A6410CC0F6}"/>
              </a:ext>
            </a:extLst>
          </p:cNvPr>
          <p:cNvSpPr txBox="1"/>
          <p:nvPr/>
        </p:nvSpPr>
        <p:spPr>
          <a:xfrm>
            <a:off x="7808547" y="1669833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DBA52239-8D04-8DE8-CE94-9AD79A093FD6}"/>
              </a:ext>
            </a:extLst>
          </p:cNvPr>
          <p:cNvSpPr txBox="1"/>
          <p:nvPr/>
        </p:nvSpPr>
        <p:spPr>
          <a:xfrm>
            <a:off x="9213923" y="1669833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846DA81D-AF2A-94BF-9F9F-2D2A66BEBC7E}"/>
              </a:ext>
            </a:extLst>
          </p:cNvPr>
          <p:cNvCxnSpPr>
            <a:cxnSpLocks/>
            <a:stCxn id="15" idx="2"/>
            <a:endCxn id="226" idx="0"/>
          </p:cNvCxnSpPr>
          <p:nvPr/>
        </p:nvCxnSpPr>
        <p:spPr>
          <a:xfrm>
            <a:off x="2262233" y="2666559"/>
            <a:ext cx="1416266" cy="30400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箭头连接符 218">
            <a:extLst>
              <a:ext uri="{FF2B5EF4-FFF2-40B4-BE49-F238E27FC236}">
                <a16:creationId xmlns:a16="http://schemas.microsoft.com/office/drawing/2014/main" id="{34F406B0-B110-F3DB-6C15-B936B6FB3BA3}"/>
              </a:ext>
            </a:extLst>
          </p:cNvPr>
          <p:cNvCxnSpPr>
            <a:cxnSpLocks/>
            <a:stCxn id="28" idx="2"/>
            <a:endCxn id="226" idx="0"/>
          </p:cNvCxnSpPr>
          <p:nvPr/>
        </p:nvCxnSpPr>
        <p:spPr>
          <a:xfrm>
            <a:off x="3434609" y="2669664"/>
            <a:ext cx="243890" cy="30090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B28274E2-D9CF-E190-F4E5-D0897EDC9434}"/>
              </a:ext>
            </a:extLst>
          </p:cNvPr>
          <p:cNvSpPr txBox="1"/>
          <p:nvPr/>
        </p:nvSpPr>
        <p:spPr>
          <a:xfrm>
            <a:off x="3446753" y="2970568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33E9F669-C74F-7588-4AF3-3C2B8ACB88F6}"/>
              </a:ext>
            </a:extLst>
          </p:cNvPr>
          <p:cNvSpPr txBox="1"/>
          <p:nvPr/>
        </p:nvSpPr>
        <p:spPr>
          <a:xfrm>
            <a:off x="2033297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A8CE6ED0-4DF1-07B0-40C9-ACAA4C812798}"/>
              </a:ext>
            </a:extLst>
          </p:cNvPr>
          <p:cNvSpPr txBox="1"/>
          <p:nvPr/>
        </p:nvSpPr>
        <p:spPr>
          <a:xfrm>
            <a:off x="8325410" y="2966479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F3A4F536-EEDF-9E1C-3D7C-95534CDE8EAF}"/>
              </a:ext>
            </a:extLst>
          </p:cNvPr>
          <p:cNvSpPr txBox="1"/>
          <p:nvPr/>
        </p:nvSpPr>
        <p:spPr>
          <a:xfrm>
            <a:off x="9692988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F63F5F26-308D-B74F-0576-A387E3FEBF48}"/>
              </a:ext>
            </a:extLst>
          </p:cNvPr>
          <p:cNvCxnSpPr>
            <a:cxnSpLocks/>
            <a:endCxn id="235" idx="0"/>
          </p:cNvCxnSpPr>
          <p:nvPr/>
        </p:nvCxnSpPr>
        <p:spPr>
          <a:xfrm>
            <a:off x="2263627" y="5002033"/>
            <a:ext cx="1416" cy="18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0C626F43-4F6B-378B-A7F1-35D1E0498520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2265043" y="5013257"/>
            <a:ext cx="1409914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线箭头连接符 296">
            <a:extLst>
              <a:ext uri="{FF2B5EF4-FFF2-40B4-BE49-F238E27FC236}">
                <a16:creationId xmlns:a16="http://schemas.microsoft.com/office/drawing/2014/main" id="{6CD6C1BC-0D0B-20FC-475A-01BC4697CFC1}"/>
              </a:ext>
            </a:extLst>
          </p:cNvPr>
          <p:cNvCxnSpPr>
            <a:cxnSpLocks/>
            <a:stCxn id="226" idx="2"/>
            <a:endCxn id="35" idx="0"/>
          </p:cNvCxnSpPr>
          <p:nvPr/>
        </p:nvCxnSpPr>
        <p:spPr>
          <a:xfrm>
            <a:off x="3678499" y="3216789"/>
            <a:ext cx="11938" cy="24590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线箭头连接符 299">
            <a:extLst>
              <a:ext uri="{FF2B5EF4-FFF2-40B4-BE49-F238E27FC236}">
                <a16:creationId xmlns:a16="http://schemas.microsoft.com/office/drawing/2014/main" id="{79E6A3BC-CCC2-C773-66EA-921609691B01}"/>
              </a:ext>
            </a:extLst>
          </p:cNvPr>
          <p:cNvCxnSpPr>
            <a:cxnSpLocks/>
            <a:stCxn id="235" idx="2"/>
          </p:cNvCxnSpPr>
          <p:nvPr/>
        </p:nvCxnSpPr>
        <p:spPr>
          <a:xfrm>
            <a:off x="2265043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1917D4EC-0A32-5A73-F399-32FACDA8B000}"/>
              </a:ext>
            </a:extLst>
          </p:cNvPr>
          <p:cNvCxnSpPr>
            <a:cxnSpLocks/>
            <a:stCxn id="16" idx="2"/>
            <a:endCxn id="242" idx="0"/>
          </p:cNvCxnSpPr>
          <p:nvPr/>
        </p:nvCxnSpPr>
        <p:spPr>
          <a:xfrm flipH="1">
            <a:off x="8557156" y="2666558"/>
            <a:ext cx="1401196" cy="29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43F432B8-2EBE-8227-3EC7-7236C4EAF974}"/>
              </a:ext>
            </a:extLst>
          </p:cNvPr>
          <p:cNvCxnSpPr>
            <a:cxnSpLocks/>
            <a:stCxn id="32" idx="2"/>
            <a:endCxn id="242" idx="0"/>
          </p:cNvCxnSpPr>
          <p:nvPr/>
        </p:nvCxnSpPr>
        <p:spPr>
          <a:xfrm>
            <a:off x="8367953" y="2670799"/>
            <a:ext cx="189203" cy="2956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线箭头连接符 308">
            <a:extLst>
              <a:ext uri="{FF2B5EF4-FFF2-40B4-BE49-F238E27FC236}">
                <a16:creationId xmlns:a16="http://schemas.microsoft.com/office/drawing/2014/main" id="{EF97677A-C342-7CD7-C9F6-F6C2D5379886}"/>
              </a:ext>
            </a:extLst>
          </p:cNvPr>
          <p:cNvCxnSpPr>
            <a:cxnSpLocks/>
            <a:stCxn id="242" idx="2"/>
            <a:endCxn id="36" idx="0"/>
          </p:cNvCxnSpPr>
          <p:nvPr/>
        </p:nvCxnSpPr>
        <p:spPr>
          <a:xfrm>
            <a:off x="8557156" y="3212700"/>
            <a:ext cx="13883" cy="24254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0A4A622A-2977-2320-7FE8-ACE892409F2E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9921968" y="5013257"/>
            <a:ext cx="276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A3EB69D8-2C70-8F50-FE5F-504A7B32FA5A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8549958" y="5013257"/>
            <a:ext cx="137477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2D42104F-65E9-9986-E3B8-AFE28E448E16}"/>
              </a:ext>
            </a:extLst>
          </p:cNvPr>
          <p:cNvCxnSpPr>
            <a:cxnSpLocks/>
            <a:stCxn id="243" idx="2"/>
          </p:cNvCxnSpPr>
          <p:nvPr/>
        </p:nvCxnSpPr>
        <p:spPr>
          <a:xfrm>
            <a:off x="9924734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9708447F-85DA-755F-E6FC-E594CB691CF6}"/>
              </a:ext>
            </a:extLst>
          </p:cNvPr>
          <p:cNvSpPr txBox="1"/>
          <p:nvPr/>
        </p:nvSpPr>
        <p:spPr>
          <a:xfrm>
            <a:off x="1508638" y="225463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62A663B1-4EAC-80D4-7298-F60DE0673FF1}"/>
              </a:ext>
            </a:extLst>
          </p:cNvPr>
          <p:cNvSpPr txBox="1"/>
          <p:nvPr/>
        </p:nvSpPr>
        <p:spPr>
          <a:xfrm>
            <a:off x="1508637" y="345071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9CA4FAB7-1921-101A-CFF1-4E48A4DDF6EC}"/>
              </a:ext>
            </a:extLst>
          </p:cNvPr>
          <p:cNvSpPr txBox="1"/>
          <p:nvPr/>
        </p:nvSpPr>
        <p:spPr>
          <a:xfrm>
            <a:off x="1508637" y="451741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168068AF-84DB-AD17-D4D6-2BC7A6EF6457}"/>
              </a:ext>
            </a:extLst>
          </p:cNvPr>
          <p:cNvSpPr txBox="1"/>
          <p:nvPr/>
        </p:nvSpPr>
        <p:spPr>
          <a:xfrm>
            <a:off x="10248356" y="223567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ED324FEC-B8F9-53CA-5AB1-8A2743434D5B}"/>
              </a:ext>
            </a:extLst>
          </p:cNvPr>
          <p:cNvSpPr txBox="1"/>
          <p:nvPr/>
        </p:nvSpPr>
        <p:spPr>
          <a:xfrm>
            <a:off x="10248355" y="343175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398DF76D-3152-A916-B0AE-567F7060A8B1}"/>
              </a:ext>
            </a:extLst>
          </p:cNvPr>
          <p:cNvSpPr txBox="1"/>
          <p:nvPr/>
        </p:nvSpPr>
        <p:spPr>
          <a:xfrm>
            <a:off x="10248355" y="449845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A0F21F3D-0A6B-A6B1-2263-F75D13F3F4B3}"/>
              </a:ext>
            </a:extLst>
          </p:cNvPr>
          <p:cNvSpPr/>
          <p:nvPr/>
        </p:nvSpPr>
        <p:spPr>
          <a:xfrm>
            <a:off x="4031160" y="2410307"/>
            <a:ext cx="4169652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右箭头 340">
            <a:extLst>
              <a:ext uri="{FF2B5EF4-FFF2-40B4-BE49-F238E27FC236}">
                <a16:creationId xmlns:a16="http://schemas.microsoft.com/office/drawing/2014/main" id="{A8A993AA-79D3-9C3B-85B7-61C2E2FE7DA2}"/>
              </a:ext>
            </a:extLst>
          </p:cNvPr>
          <p:cNvSpPr/>
          <p:nvPr/>
        </p:nvSpPr>
        <p:spPr>
          <a:xfrm rot="10079758">
            <a:off x="3992528" y="4251057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右箭头 339">
            <a:extLst>
              <a:ext uri="{FF2B5EF4-FFF2-40B4-BE49-F238E27FC236}">
                <a16:creationId xmlns:a16="http://schemas.microsoft.com/office/drawing/2014/main" id="{95DD11D3-44E9-C6F9-F8C3-07FEEAA5B1DE}"/>
              </a:ext>
            </a:extLst>
          </p:cNvPr>
          <p:cNvSpPr/>
          <p:nvPr/>
        </p:nvSpPr>
        <p:spPr>
          <a:xfrm rot="723826">
            <a:off x="4000250" y="4214558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57D25200-F726-86A6-4B1E-41E3EEDF6735}"/>
              </a:ext>
            </a:extLst>
          </p:cNvPr>
          <p:cNvSpPr/>
          <p:nvPr/>
        </p:nvSpPr>
        <p:spPr>
          <a:xfrm>
            <a:off x="5434895" y="5720556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31FF3477-04EE-FA02-149F-4AA0ADD65335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A3CB88A2-35D1-13CF-A024-7E25B48F7332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4CB33D0-7F1A-13EA-BC41-466631C6A64B}"/>
              </a:ext>
            </a:extLst>
          </p:cNvPr>
          <p:cNvSpPr txBox="1"/>
          <p:nvPr/>
        </p:nvSpPr>
        <p:spPr>
          <a:xfrm>
            <a:off x="2082696" y="2174116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4F18ACB-AC71-88CB-FF40-25620B168B5D}"/>
              </a:ext>
            </a:extLst>
          </p:cNvPr>
          <p:cNvSpPr txBox="1"/>
          <p:nvPr/>
        </p:nvSpPr>
        <p:spPr>
          <a:xfrm>
            <a:off x="9778816" y="2174115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26A3B3-A4D8-719C-613C-48274A2D5A38}"/>
              </a:ext>
            </a:extLst>
          </p:cNvPr>
          <p:cNvGrpSpPr/>
          <p:nvPr/>
        </p:nvGrpSpPr>
        <p:grpSpPr>
          <a:xfrm>
            <a:off x="3218527" y="2174114"/>
            <a:ext cx="805933" cy="495550"/>
            <a:chOff x="1694526" y="2174114"/>
            <a:chExt cx="805933" cy="49555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E92F110-D592-9D4C-CCCE-3F85486B1554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F71D2ED-55BD-D987-736C-A139D89FE939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起点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3BC74A-EE25-AB0E-A939-78335E7F1381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7818793-EDC5-BE37-BF1B-4DB5B72DE9A4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7818793-EDC5-BE37-BF1B-4DB5B72DE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2222" r="-19444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80790EB-D9C9-275C-0674-460B30C694B0}"/>
              </a:ext>
            </a:extLst>
          </p:cNvPr>
          <p:cNvGrpSpPr/>
          <p:nvPr/>
        </p:nvGrpSpPr>
        <p:grpSpPr>
          <a:xfrm>
            <a:off x="8151871" y="2175249"/>
            <a:ext cx="805933" cy="495550"/>
            <a:chOff x="1694526" y="2174114"/>
            <a:chExt cx="805933" cy="49555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C257188-0B2E-65E9-A254-B154433E60B3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D139A36-2AED-F857-EEAC-63C390DF1656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起点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AD2B0AC-5995-D9C1-7D54-643B88F09957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DF7B107-E8B8-17B3-65C9-26FC02E25477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DF7B107-E8B8-17B3-65C9-26FC02E25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000" r="-16667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9EF49D0-1D15-F845-9354-46E1BEA00DAD}"/>
                  </a:ext>
                </a:extLst>
              </p:cNvPr>
              <p:cNvSpPr txBox="1"/>
              <p:nvPr/>
            </p:nvSpPr>
            <p:spPr>
              <a:xfrm>
                <a:off x="3152565" y="3462696"/>
                <a:ext cx="1075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𝑎𝐺</m:t>
                      </m:r>
                      <m: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9EF49D0-1D15-F845-9354-46E1BEA00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565" y="3462696"/>
                <a:ext cx="1075744" cy="276999"/>
              </a:xfrm>
              <a:prstGeom prst="rect">
                <a:avLst/>
              </a:prstGeom>
              <a:blipFill>
                <a:blip r:embed="rId5"/>
                <a:stretch>
                  <a:fillRect l="-3955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A9F4C3-D8C8-46AC-2A30-D093BE41AA04}"/>
                  </a:ext>
                </a:extLst>
              </p:cNvPr>
              <p:cNvSpPr txBox="1"/>
              <p:nvPr/>
            </p:nvSpPr>
            <p:spPr>
              <a:xfrm>
                <a:off x="8034770" y="3455247"/>
                <a:ext cx="10725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A9F4C3-D8C8-46AC-2A30-D093BE41A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770" y="3455247"/>
                <a:ext cx="1072538" cy="276999"/>
              </a:xfrm>
              <a:prstGeom prst="rect">
                <a:avLst/>
              </a:prstGeom>
              <a:blipFill>
                <a:blip r:embed="rId6"/>
                <a:stretch>
                  <a:fillRect l="-4545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0990511C-90EC-C089-A919-B24FF6834C95}"/>
              </a:ext>
            </a:extLst>
          </p:cNvPr>
          <p:cNvCxnSpPr>
            <a:cxnSpLocks/>
            <a:stCxn id="19" idx="2"/>
            <a:endCxn id="226" idx="0"/>
          </p:cNvCxnSpPr>
          <p:nvPr/>
        </p:nvCxnSpPr>
        <p:spPr>
          <a:xfrm flipH="1">
            <a:off x="3678499" y="2666557"/>
            <a:ext cx="166424" cy="3040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B83034AA-389D-6BAE-D88C-37D8F6862E06}"/>
              </a:ext>
            </a:extLst>
          </p:cNvPr>
          <p:cNvCxnSpPr>
            <a:cxnSpLocks/>
            <a:stCxn id="34" idx="2"/>
            <a:endCxn id="242" idx="0"/>
          </p:cNvCxnSpPr>
          <p:nvPr/>
        </p:nvCxnSpPr>
        <p:spPr>
          <a:xfrm flipH="1">
            <a:off x="8557157" y="2667692"/>
            <a:ext cx="221111" cy="2987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6F3A11DA-6A76-D158-64B4-8EBAAED82C49}"/>
              </a:ext>
            </a:extLst>
          </p:cNvPr>
          <p:cNvSpPr txBox="1"/>
          <p:nvPr/>
        </p:nvSpPr>
        <p:spPr>
          <a:xfrm>
            <a:off x="2200857" y="4502264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DC09ABF-40F6-E0A6-F306-C2405EF05B02}"/>
                  </a:ext>
                </a:extLst>
              </p:cNvPr>
              <p:cNvSpPr txBox="1"/>
              <p:nvPr/>
            </p:nvSpPr>
            <p:spPr>
              <a:xfrm>
                <a:off x="3113481" y="4712770"/>
                <a:ext cx="10725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𝑏𝐺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DC09ABF-40F6-E0A6-F306-C2405EF05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481" y="4712770"/>
                <a:ext cx="1072538" cy="276999"/>
              </a:xfrm>
              <a:prstGeom prst="rect">
                <a:avLst/>
              </a:prstGeom>
              <a:blipFill>
                <a:blip r:embed="rId7"/>
                <a:stretch>
                  <a:fillRect l="-4545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BF44231-E0D7-5F34-BF67-6FE966688C86}"/>
                  </a:ext>
                </a:extLst>
              </p:cNvPr>
              <p:cNvSpPr txBox="1"/>
              <p:nvPr/>
            </p:nvSpPr>
            <p:spPr>
              <a:xfrm>
                <a:off x="8008591" y="4736257"/>
                <a:ext cx="1075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𝑎𝐺</m:t>
                      </m:r>
                      <m:r>
                        <a:rPr kumimoji="1"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BF44231-E0D7-5F34-BF67-6FE966688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591" y="4736257"/>
                <a:ext cx="1075744" cy="276999"/>
              </a:xfrm>
              <a:prstGeom prst="rect">
                <a:avLst/>
              </a:prstGeom>
              <a:blipFill>
                <a:blip r:embed="rId8"/>
                <a:stretch>
                  <a:fillRect l="-4545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D3868483-B0C0-9400-F4A2-19C6D1C6288B}"/>
              </a:ext>
            </a:extLst>
          </p:cNvPr>
          <p:cNvSpPr txBox="1"/>
          <p:nvPr/>
        </p:nvSpPr>
        <p:spPr>
          <a:xfrm>
            <a:off x="9865642" y="4511449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7C6C244D-BE65-458D-1319-AA1A67C523DD}"/>
                  </a:ext>
                </a:extLst>
              </p:cNvPr>
              <p:cNvSpPr txBox="1"/>
              <p:nvPr/>
            </p:nvSpPr>
            <p:spPr>
              <a:xfrm>
                <a:off x="1675748" y="5692076"/>
                <a:ext cx="12007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𝑏𝐺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7C6C244D-BE65-458D-1319-AA1A67C52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48" y="5692076"/>
                <a:ext cx="1200778" cy="276999"/>
              </a:xfrm>
              <a:prstGeom prst="rect">
                <a:avLst/>
              </a:prstGeom>
              <a:blipFill>
                <a:blip r:embed="rId9"/>
                <a:stretch>
                  <a:fillRect l="-2030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624D7FE-2E05-495B-6711-59D65EE8F109}"/>
                  </a:ext>
                </a:extLst>
              </p:cNvPr>
              <p:cNvSpPr txBox="1"/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𝑎𝑏𝐺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624D7FE-2E05-495B-6711-59D65EE8F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blipFill>
                <a:blip r:embed="rId10"/>
                <a:stretch>
                  <a:fillRect l="-3000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E302F2BD-AAA4-B58A-511A-C3C05B655989}"/>
              </a:ext>
            </a:extLst>
          </p:cNvPr>
          <p:cNvGrpSpPr/>
          <p:nvPr/>
        </p:nvGrpSpPr>
        <p:grpSpPr>
          <a:xfrm>
            <a:off x="5530901" y="6273362"/>
            <a:ext cx="1255363" cy="369332"/>
            <a:chOff x="4006900" y="6273362"/>
            <a:chExt cx="1255363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A05A3250-F60D-0A0C-CE6C-47234414070D}"/>
                    </a:ext>
                  </a:extLst>
                </p:cNvPr>
                <p:cNvSpPr txBox="1"/>
                <p:nvPr/>
              </p:nvSpPr>
              <p:spPr>
                <a:xfrm>
                  <a:off x="4584809" y="6317060"/>
                  <a:ext cx="3483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A05A3250-F60D-0A0C-CE6C-472344140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4809" y="6317060"/>
                  <a:ext cx="34836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4035" r="-12281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CFBD2C5-3C52-C162-E4C3-8EEC48C2C328}"/>
                    </a:ext>
                  </a:extLst>
                </p:cNvPr>
                <p:cNvSpPr txBox="1"/>
                <p:nvPr/>
              </p:nvSpPr>
              <p:spPr>
                <a:xfrm>
                  <a:off x="4917104" y="6326813"/>
                  <a:ext cx="3451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𝑏𝐺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CFBD2C5-3C52-C162-E4C3-8EEC48C2C3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104" y="6326813"/>
                  <a:ext cx="345159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6071" r="-12500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0D29C5D5-34E8-5432-698C-DF6BD330D6F0}"/>
                    </a:ext>
                  </a:extLst>
                </p:cNvPr>
                <p:cNvSpPr txBox="1"/>
                <p:nvPr/>
              </p:nvSpPr>
              <p:spPr>
                <a:xfrm>
                  <a:off x="4006900" y="6321998"/>
                  <a:ext cx="2201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0D29C5D5-34E8-5432-698C-DF6BD330D6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6900" y="6321998"/>
                  <a:ext cx="220124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2222" r="-19444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2E221810-CFEC-D1AB-4708-166693624BB4}"/>
                </a:ext>
              </a:extLst>
            </p:cNvPr>
            <p:cNvSpPr txBox="1"/>
            <p:nvPr/>
          </p:nvSpPr>
          <p:spPr>
            <a:xfrm>
              <a:off x="4243987" y="6273362"/>
              <a:ext cx="2733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430B32E6-5D59-6E05-1F37-4F1923E7817B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DD8A1EFE-F214-1A89-D27A-C95D4497C965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E026ED-2A86-7E7D-9B03-C43A7356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11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139B74-AD34-C9B8-316B-5BBBB6C1384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椭圆曲线密钥交换协议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4A54468-ABC5-BF16-9518-218601F77087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93FC1F68-CD1D-0220-EE20-98388A0DA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D900D1E-0EA5-903A-FBF8-AEA87F4F4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B35FC062-6FC3-7DF9-F401-350466D462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037C1A6E-2B33-E544-8428-696CDE8927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E5C71EDD-017F-7326-4275-463FE4D52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9316FF28-CEDA-2016-826E-8CB46A9953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105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35" grpId="0" animBg="1"/>
      <p:bldP spid="242" grpId="0" animBg="1"/>
      <p:bldP spid="243" grpId="0" animBg="1"/>
      <p:bldP spid="329" grpId="0"/>
      <p:bldP spid="331" grpId="0"/>
      <p:bldP spid="333" grpId="0"/>
      <p:bldP spid="336" grpId="0"/>
      <p:bldP spid="337" grpId="0"/>
      <p:bldP spid="338" grpId="0"/>
      <p:bldP spid="339" grpId="0" animBg="1"/>
      <p:bldP spid="341" grpId="0" animBg="1"/>
      <p:bldP spid="340" grpId="0" animBg="1"/>
      <p:bldP spid="15" grpId="0"/>
      <p:bldP spid="16" grpId="0"/>
      <p:bldP spid="35" grpId="0"/>
      <p:bldP spid="36" grpId="0"/>
      <p:bldP spid="51" grpId="0"/>
      <p:bldP spid="52" grpId="0"/>
      <p:bldP spid="53" grpId="0"/>
      <p:bldP spid="54" grpId="0"/>
      <p:bldP spid="60" grpId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2828-E622-F6B6-341B-94EE14444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6628DF-488B-4A2C-1C0F-10D9CC4997DD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57EE7C-8BB6-04D1-DFE9-E4FA7B6EC7D0}"/>
              </a:ext>
            </a:extLst>
          </p:cNvPr>
          <p:cNvGrpSpPr/>
          <p:nvPr/>
        </p:nvGrpSpPr>
        <p:grpSpPr>
          <a:xfrm>
            <a:off x="4181518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C8CCCF77-8A19-C2B3-2AD9-EDAE6CF4A3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CCE55EC4-412D-130D-B5B6-0F0DAA664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3E2E85D2-814D-067B-2E15-F6C7AC10D5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96CB1404-4AE6-8DA3-FFF1-573140815E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6A2F7974-A881-2465-35FA-0F031D579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EACB1A28-90FB-65C6-9D3A-201D39946F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C1FC6C8-B521-11FF-3441-9ABCA146C67E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+mn-ea"/>
                      </a:rPr>
                      <m:t>椭圆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曲线加密与解密流程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C1FC6C8-B521-11FF-3441-9ABCA146C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3AB22A7-1FF5-02F3-3A49-083331D49D48}"/>
                  </a:ext>
                </a:extLst>
              </p:cNvPr>
              <p:cNvSpPr txBox="1"/>
              <p:nvPr/>
            </p:nvSpPr>
            <p:spPr>
              <a:xfrm>
                <a:off x="598797" y="2027345"/>
                <a:ext cx="11338022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zh-CN" altLang="en-US" sz="2400" b="1" dirty="0"/>
                  <a:t>选择椭圆曲线</a:t>
                </a:r>
                <a:br>
                  <a:rPr lang="zh-CN" altLang="en-US" sz="2400" dirty="0"/>
                </a:br>
                <a:r>
                  <a:rPr lang="zh-CN" altLang="en-US" sz="2400" dirty="0"/>
                  <a:t>选一条椭圆曲线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sepChr m:val=",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2400" dirty="0"/>
                  <a:t>，并取椭圆曲线上一点作为基点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2400" b="1" dirty="0"/>
                  <a:t>生成密钥</a:t>
                </a:r>
                <a:br>
                  <a:rPr lang="zh-CN" altLang="en-US" sz="2400" dirty="0"/>
                </a:br>
                <a:r>
                  <a:rPr lang="zh-CN" altLang="en-US" sz="2400" dirty="0"/>
                  <a:t>选定一个大数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/>
                  <a:t>作为私钥，并生成公钥：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CN" altLang="en-US" sz="2400" dirty="0"/>
              </a:p>
              <a:p>
                <a:r>
                  <a:rPr lang="en-US" altLang="zh-CN" sz="2400" b="1" dirty="0"/>
                  <a:t>3.</a:t>
                </a:r>
                <a:r>
                  <a:rPr lang="zh-CN" altLang="en-US" sz="2400" b="1" dirty="0"/>
                  <a:t>加密</a:t>
                </a:r>
                <a:br>
                  <a:rPr lang="zh-CN" altLang="en-US" sz="2400" dirty="0"/>
                </a:br>
                <a:r>
                  <a:rPr lang="zh-CN" altLang="en-US" sz="2400" dirty="0"/>
                  <a:t>使用公钥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sz="2400" dirty="0"/>
                  <a:t>加密，即由消息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计算生成密文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。</a:t>
                </a:r>
                <a:br>
                  <a:rPr lang="zh-CN" altLang="en-US" sz="2400" dirty="0"/>
                </a:br>
                <a:r>
                  <a:rPr lang="zh-CN" altLang="en-US" sz="2400" dirty="0"/>
                  <a:t>密文是一个点对，选择随机数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400" dirty="0"/>
                  <a:t>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𝑟𝑃</m:t>
                          </m:r>
                        </m:e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𝑟𝑄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  <a:p>
                <a:r>
                  <a:rPr lang="en-US" altLang="zh-CN" sz="2400" b="1" dirty="0"/>
                  <a:t>4.</a:t>
                </a:r>
                <a:r>
                  <a:rPr lang="zh-CN" altLang="en-US" sz="2400" b="1" dirty="0"/>
                  <a:t>解密</a:t>
                </a:r>
                <a:br>
                  <a:rPr lang="zh-CN" altLang="en-US" sz="2400" dirty="0"/>
                </a:br>
                <a:r>
                  <a:rPr lang="zh-CN" altLang="en-US" sz="2400" dirty="0"/>
                  <a:t>使用私钥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sz="2400" dirty="0"/>
                  <a:t>解密，即由密文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计算生成消息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𝑟𝑄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𝑟𝑃</m:t>
                          </m:r>
                        </m:e>
                      </m:d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𝑟𝑃</m:t>
                          </m:r>
                        </m:e>
                      </m:d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3AB22A7-1FF5-02F3-3A49-083331D49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97" y="2027345"/>
                <a:ext cx="11338022" cy="4524315"/>
              </a:xfrm>
              <a:prstGeom prst="rect">
                <a:avLst/>
              </a:prstGeom>
              <a:blipFill>
                <a:blip r:embed="rId4"/>
                <a:stretch>
                  <a:fillRect l="-806" t="-1482" b="-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F8A8DF-9A02-B68A-03C9-977551187D50}"/>
              </a:ext>
            </a:extLst>
          </p:cNvPr>
          <p:cNvGrpSpPr/>
          <p:nvPr/>
        </p:nvGrpSpPr>
        <p:grpSpPr>
          <a:xfrm>
            <a:off x="3138475" y="1422388"/>
            <a:ext cx="5794340" cy="430887"/>
            <a:chOff x="1666121" y="2235594"/>
            <a:chExt cx="5794340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48302CD-A482-5A49-FA46-2FC9DC99C8D5}"/>
                    </a:ext>
                  </a:extLst>
                </p:cNvPr>
                <p:cNvSpPr txBox="1"/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48302CD-A482-5A49-FA46-2FC9DC99C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CF6FA31-7FAF-765A-6D07-72077F0139B3}"/>
                    </a:ext>
                  </a:extLst>
                </p:cNvPr>
                <p:cNvSpPr txBox="1"/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CF6FA31-7FAF-765A-6D07-72077F013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8AE455D-D192-AF66-4D56-B0CFD8AFF93D}"/>
                </a:ext>
              </a:extLst>
            </p:cNvPr>
            <p:cNvSpPr txBox="1"/>
            <p:nvPr/>
          </p:nvSpPr>
          <p:spPr>
            <a:xfrm>
              <a:off x="4897418" y="2318799"/>
              <a:ext cx="79839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其中</a:t>
              </a:r>
              <a:r>
                <a:rPr kumimoji="1"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,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8601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688B8CC6-B548-40CA-93E4-212D0E04D22F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57EA9D9-5E3A-4570-A0A1-FE4F71280BCC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A1E9E03B-1BC3-4C9A-8A51-7329E00EC1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245CCFFC-F09A-47D8-8B3B-88EF31E890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5AA2E4A-FA11-4014-B207-60C2845236D6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3C6CFD63-5B57-41A7-B662-313039308E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1B6F08D9-7F96-4802-B7C9-CB4EEC2083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EA178E5B-74EB-4472-9261-43D09FBB4F2E}"/>
              </a:ext>
            </a:extLst>
          </p:cNvPr>
          <p:cNvSpPr txBox="1"/>
          <p:nvPr/>
        </p:nvSpPr>
        <p:spPr>
          <a:xfrm>
            <a:off x="652513" y="1677787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5000" b="1" dirty="0">
                <a:solidFill>
                  <a:schemeClr val="bg2">
                    <a:lumMod val="25000"/>
                  </a:schemeClr>
                </a:solidFill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B7EEC8-D0FE-4CE4-8A07-1E4B690DFD28}"/>
              </a:ext>
            </a:extLst>
          </p:cNvPr>
          <p:cNvSpPr txBox="1"/>
          <p:nvPr/>
        </p:nvSpPr>
        <p:spPr>
          <a:xfrm>
            <a:off x="735264" y="1378338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CONTENTES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7B4CD1D-6AD6-4688-8633-DC339240DC4F}"/>
              </a:ext>
            </a:extLst>
          </p:cNvPr>
          <p:cNvCxnSpPr>
            <a:cxnSpLocks/>
          </p:cNvCxnSpPr>
          <p:nvPr/>
        </p:nvCxnSpPr>
        <p:spPr>
          <a:xfrm>
            <a:off x="2857189" y="1378338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7FD82452-0520-F785-312C-5D815ADFBD79}"/>
              </a:ext>
            </a:extLst>
          </p:cNvPr>
          <p:cNvGrpSpPr/>
          <p:nvPr/>
        </p:nvGrpSpPr>
        <p:grpSpPr>
          <a:xfrm>
            <a:off x="3256825" y="1444879"/>
            <a:ext cx="3989097" cy="538609"/>
            <a:chOff x="3667674" y="1375533"/>
            <a:chExt cx="3989097" cy="538609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D9548F1-90DB-E923-2075-A4465319BD30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非对称加密算法缺陷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34FD175-468F-7AEC-E313-DDA343DBFB74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8D4E6E0-C5F9-9665-AE62-758B77FD9A0D}"/>
              </a:ext>
            </a:extLst>
          </p:cNvPr>
          <p:cNvGrpSpPr/>
          <p:nvPr/>
        </p:nvGrpSpPr>
        <p:grpSpPr>
          <a:xfrm>
            <a:off x="3256825" y="2258765"/>
            <a:ext cx="3989097" cy="538609"/>
            <a:chOff x="3667674" y="1375533"/>
            <a:chExt cx="3989097" cy="53860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45DE24-7C02-3E19-9939-FEA04F723602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数字签名的原理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1A5A80D-536B-7315-0B74-8100282075EF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B5B2A86-46C6-8D87-FF4E-4AB112FCAF49}"/>
              </a:ext>
            </a:extLst>
          </p:cNvPr>
          <p:cNvGrpSpPr/>
          <p:nvPr/>
        </p:nvGrpSpPr>
        <p:grpSpPr>
          <a:xfrm>
            <a:off x="3256825" y="3090009"/>
            <a:ext cx="3989097" cy="538609"/>
            <a:chOff x="3667674" y="1375533"/>
            <a:chExt cx="3989097" cy="538609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E4573D5-4D37-61D1-77C5-525196BF2273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数字签名的实现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EB10EFE-9AD8-FD93-BA65-D7BED8058A5C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4136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8C41-EF96-8809-CBFC-A985D87F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89B17C-2B16-2AD2-1515-94969D6FC652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zh-CN" altLang="en-US" sz="4000" dirty="0">
                <a:solidFill>
                  <a:schemeClr val="accent1"/>
                </a:solidFill>
              </a:rPr>
              <a:t>非对称加密算法缺陷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3BE3C1-99AE-CC1C-EF2D-2A866F95AE12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#01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D1C1BDEF-04BF-63A7-70D4-DFB5136E17D9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F5A9C3A5-0656-117E-A298-6DD1A7A91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5E47A1CC-250D-F6BE-B009-9FA9063E8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71513FE-D90A-97E7-4B77-AAF67917D167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793131CA-562E-B78F-25D3-A074FC378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FE24490-6104-D3B6-FD94-435092EA7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0899DB9-1365-4816-A7F1-4295702FDAD4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D0A9EB2E-96FD-3A2F-9523-36A3B9BE8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7C0AA00-295E-BB55-2730-E7FCD34440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613469AD-9A58-08D6-0300-AAF21FC00670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193C255F-349C-8627-314A-D3E8F3606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C115CE08-469C-56DA-C331-619A08E2E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E50757B-69B9-2816-D7BA-8079C7D9444D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3404029F-0DE2-386D-BC78-3C721FDF9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2078348E-E25D-EADF-8808-110348861D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E5BBD459-456E-3A1C-9EB2-C7617F3A8413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DACC32E1-59B0-22C9-E7FB-E3EDF9DCF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D082546C-FFF9-EB2B-C063-5FAD1172DD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62027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4551B-7A78-5DBC-1C94-6D6EBFB9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8A5EE2-68F1-DC97-96E0-E273EB9A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15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924DAF-921F-B5FB-E82A-DF4501613254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非对称加密速度</a:t>
            </a:r>
            <a:r>
              <a:rPr lang="en-US" altLang="zh-CN" sz="3600" b="1" dirty="0">
                <a:solidFill>
                  <a:srgbClr val="2A50A1"/>
                </a:solidFill>
              </a:rPr>
              <a:t>vs</a:t>
            </a:r>
            <a:r>
              <a:rPr lang="zh-CN" altLang="en-US" sz="3600" b="1" dirty="0">
                <a:solidFill>
                  <a:srgbClr val="2A50A1"/>
                </a:solidFill>
              </a:rPr>
              <a:t>对称加密速度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32A113E-4A67-87FB-DD28-2BC0E3DADB62}"/>
              </a:ext>
            </a:extLst>
          </p:cNvPr>
          <p:cNvGrpSpPr/>
          <p:nvPr/>
        </p:nvGrpSpPr>
        <p:grpSpPr>
          <a:xfrm>
            <a:off x="66018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F886EA03-6AEB-1621-D2BE-5BC0B76DAA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E4C9635D-147B-52A6-1A2C-E05847395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AA7566AF-104C-D2CA-41FA-39AFB6A6D9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C004F91E-7632-6218-A06B-C6F29D8A5C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CBD7CA12-62DC-D290-4913-F021B6027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684AF1A1-1043-0180-79AE-D8914F8DD1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7E0E7FF-CC1B-AECE-5B94-90A6B7EBF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967090"/>
              </p:ext>
            </p:extLst>
          </p:nvPr>
        </p:nvGraphicFramePr>
        <p:xfrm>
          <a:off x="355600" y="1969235"/>
          <a:ext cx="11480799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26933">
                  <a:extLst>
                    <a:ext uri="{9D8B030D-6E8A-4147-A177-3AD203B41FA5}">
                      <a16:colId xmlns:a16="http://schemas.microsoft.com/office/drawing/2014/main" val="1550525452"/>
                    </a:ext>
                  </a:extLst>
                </a:gridCol>
                <a:gridCol w="3826933">
                  <a:extLst>
                    <a:ext uri="{9D8B030D-6E8A-4147-A177-3AD203B41FA5}">
                      <a16:colId xmlns:a16="http://schemas.microsoft.com/office/drawing/2014/main" val="2420597207"/>
                    </a:ext>
                  </a:extLst>
                </a:gridCol>
                <a:gridCol w="3826933">
                  <a:extLst>
                    <a:ext uri="{9D8B030D-6E8A-4147-A177-3AD203B41FA5}">
                      <a16:colId xmlns:a16="http://schemas.microsoft.com/office/drawing/2014/main" val="269574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1" dirty="0"/>
                        <a:t>加密算法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1" dirty="0"/>
                        <a:t>加密类型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1" dirty="0"/>
                        <a:t>加密速度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73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0" dirty="0"/>
                        <a:t>对称加密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300 MB/s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03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3DES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0" dirty="0"/>
                        <a:t>对称加密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40 MB/s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99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AES-128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0" dirty="0"/>
                        <a:t>对称加密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1500 MB/s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85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AES-256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0" dirty="0"/>
                        <a:t>对称加密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1000 MB/s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02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RSA-2048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0" dirty="0"/>
                        <a:t>非对称加密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0.03 MB/s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4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RSA-3072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0" dirty="0"/>
                        <a:t>非对称加密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0.01 MB/s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78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ECC（P-256）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b="0" dirty="0"/>
                        <a:t>非对称加密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0.25 MB/s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647189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76BDB82-2C15-4EE8-EC26-B39589A44935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非对称加密算法加密速度远低于对称加密算法</a:t>
            </a:r>
          </a:p>
        </p:txBody>
      </p:sp>
    </p:spTree>
    <p:extLst>
      <p:ext uri="{BB962C8B-B14F-4D97-AF65-F5344CB8AC3E}">
        <p14:creationId xmlns:p14="http://schemas.microsoft.com/office/powerpoint/2010/main" val="672780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06E2-07E5-0081-03A9-D61CFE4E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CF5122-88C9-2EE4-0492-461CFDEE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16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D95976-D142-725E-8FCD-D4D6D89FAC06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混合密码系统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29D5197-A7DC-DDA1-8520-FCF03BE58A6B}"/>
              </a:ext>
            </a:extLst>
          </p:cNvPr>
          <p:cNvGrpSpPr/>
          <p:nvPr/>
        </p:nvGrpSpPr>
        <p:grpSpPr>
          <a:xfrm>
            <a:off x="29696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4D3DCD5A-BDB0-A462-436A-19F364BCD6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D0EB0FF8-2A66-477A-CEA5-7A38C279C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8989AAF7-A3C5-A284-1A8F-3059B88303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DEBB2F4B-4519-A493-EAE7-D16A8FFA1C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D338455A-AB9A-0D49-859E-9AA8B7E2E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A7DED3EE-E662-64ED-9194-D61DED0882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3595109-3139-402B-D18F-CD1863A777A3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同时使用对称加密与非对称加密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B72ECF4-6783-0472-379A-9A2983AB4F20}"/>
              </a:ext>
            </a:extLst>
          </p:cNvPr>
          <p:cNvGrpSpPr/>
          <p:nvPr/>
        </p:nvGrpSpPr>
        <p:grpSpPr>
          <a:xfrm>
            <a:off x="575039" y="1680063"/>
            <a:ext cx="11041922" cy="1964281"/>
            <a:chOff x="4939871" y="1583809"/>
            <a:chExt cx="7149348" cy="28117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72CFCFF-13FE-784A-ED3F-74F4E6AB3D33}"/>
                </a:ext>
              </a:extLst>
            </p:cNvPr>
            <p:cNvSpPr/>
            <p:nvPr/>
          </p:nvSpPr>
          <p:spPr>
            <a:xfrm>
              <a:off x="4939871" y="1583809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DE1CEC4-53A9-0B77-EF92-05694352DB99}"/>
                </a:ext>
              </a:extLst>
            </p:cNvPr>
            <p:cNvSpPr txBox="1"/>
            <p:nvPr/>
          </p:nvSpPr>
          <p:spPr>
            <a:xfrm>
              <a:off x="5176707" y="1842653"/>
              <a:ext cx="6675677" cy="9506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zh-CN" altLang="en-US" sz="3200" dirty="0"/>
                <a:t>利用</a:t>
              </a:r>
              <a:r>
                <a:rPr lang="zh-CN" altLang="en-US" sz="3200" dirty="0">
                  <a:solidFill>
                    <a:srgbClr val="FF0000"/>
                  </a:solidFill>
                </a:rPr>
                <a:t>对称加密</a:t>
              </a:r>
              <a:r>
                <a:rPr lang="zh-CN" altLang="en-US" sz="3200" dirty="0"/>
                <a:t>算法</a:t>
              </a:r>
              <a:r>
                <a:rPr lang="zh-CN" altLang="en-US" sz="3200" dirty="0">
                  <a:solidFill>
                    <a:srgbClr val="FF0000"/>
                  </a:solidFill>
                </a:rPr>
                <a:t>速度快</a:t>
              </a:r>
              <a:r>
                <a:rPr lang="zh-CN" altLang="en-US" sz="3200" dirty="0"/>
                <a:t>的优点：</a:t>
              </a:r>
              <a:endParaRPr lang="en-US" altLang="zh-CN" sz="3200" dirty="0"/>
            </a:p>
            <a:p>
              <a:endParaRPr lang="en-US" altLang="zh-CN" sz="900" dirty="0"/>
            </a:p>
            <a:p>
              <a:r>
                <a:rPr lang="zh-CN" altLang="en-US" sz="3200" dirty="0"/>
                <a:t>对称加密算法加密消息，并定期更新密钥（会话密钥），以保障系统</a:t>
              </a:r>
              <a:r>
                <a:rPr lang="zh-CN" altLang="en-US" sz="3200" dirty="0">
                  <a:solidFill>
                    <a:srgbClr val="FF0000"/>
                  </a:solidFill>
                </a:rPr>
                <a:t>时效性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0E0E12E-64CE-CB40-0393-345AAE4B2FB9}"/>
              </a:ext>
            </a:extLst>
          </p:cNvPr>
          <p:cNvGrpSpPr/>
          <p:nvPr/>
        </p:nvGrpSpPr>
        <p:grpSpPr>
          <a:xfrm>
            <a:off x="575039" y="3982306"/>
            <a:ext cx="11041922" cy="1964281"/>
            <a:chOff x="4939871" y="1583809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EFF5C70-0270-9915-E4D3-96938B9F908B}"/>
                </a:ext>
              </a:extLst>
            </p:cNvPr>
            <p:cNvSpPr/>
            <p:nvPr/>
          </p:nvSpPr>
          <p:spPr>
            <a:xfrm>
              <a:off x="4939871" y="1583809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44A88F6-F1FD-7A41-177B-AC263FA7FA37}"/>
                </a:ext>
              </a:extLst>
            </p:cNvPr>
            <p:cNvSpPr txBox="1"/>
            <p:nvPr/>
          </p:nvSpPr>
          <p:spPr>
            <a:xfrm>
              <a:off x="5176707" y="1798518"/>
              <a:ext cx="6675677" cy="9506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zh-CN" altLang="en-US" sz="3200" dirty="0"/>
                <a:t>利用</a:t>
              </a:r>
              <a:r>
                <a:rPr lang="zh-CN" altLang="en-US" sz="3200" dirty="0">
                  <a:solidFill>
                    <a:srgbClr val="FF0000"/>
                  </a:solidFill>
                </a:rPr>
                <a:t>非对称加密</a:t>
              </a:r>
              <a:r>
                <a:rPr lang="zh-CN" altLang="en-US" sz="3200" dirty="0"/>
                <a:t>算法</a:t>
              </a:r>
              <a:r>
                <a:rPr lang="zh-CN" altLang="en-US" sz="3200" dirty="0">
                  <a:solidFill>
                    <a:srgbClr val="FF0000"/>
                  </a:solidFill>
                </a:rPr>
                <a:t>安全性高</a:t>
              </a:r>
              <a:r>
                <a:rPr lang="zh-CN" altLang="en-US" sz="3200" dirty="0"/>
                <a:t>的优点：</a:t>
              </a:r>
              <a:endParaRPr lang="en-US" altLang="zh-CN" sz="3200" dirty="0"/>
            </a:p>
            <a:p>
              <a:endParaRPr lang="en-US" altLang="zh-CN" sz="900" dirty="0"/>
            </a:p>
            <a:p>
              <a:r>
                <a:rPr lang="zh-CN" altLang="en-US" sz="3200" dirty="0"/>
                <a:t>非对称加密算法加密密钥（对称加密算法的密钥），以保障系统</a:t>
              </a:r>
              <a:r>
                <a:rPr lang="zh-CN" altLang="en-US" sz="3200" dirty="0">
                  <a:solidFill>
                    <a:srgbClr val="FF0000"/>
                  </a:solidFill>
                </a:rPr>
                <a:t>安全性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948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7B1C-D93C-89AF-F700-8E8A1763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B04FD4E-76D8-B234-1108-B38A902E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17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110D8A-E2DA-2B93-AD16-6AF7506EA1B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混合密码系统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1583228-8697-E75D-BD42-92DEE7A63DA3}"/>
              </a:ext>
            </a:extLst>
          </p:cNvPr>
          <p:cNvGrpSpPr/>
          <p:nvPr/>
        </p:nvGrpSpPr>
        <p:grpSpPr>
          <a:xfrm>
            <a:off x="29696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79921EBD-8EA5-ADEE-7D6A-4FEBD0F3F6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A519228F-F145-1F67-F056-B9142400C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E8AAC162-60DF-4E4F-603B-60B07E18E8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BC95A409-4B9A-F525-0951-7D10AC32D1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99162715-C32A-112B-71E1-A31D0E16D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B7A9A0AC-8E26-2C9F-C941-B921C07D06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825A067-99D9-5A92-9112-AA7238C37CF9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同时使用对称加密与非对称加密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6A2035-126F-F0EB-73F6-4BE679A0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81225"/>
            <a:ext cx="4680626" cy="50419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ED33C61-7CD1-7B97-67CE-0D0A07180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05" y="1298658"/>
            <a:ext cx="3751295" cy="513153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36724CD-D339-13D2-68D1-FFE9D87D48CC}"/>
              </a:ext>
            </a:extLst>
          </p:cNvPr>
          <p:cNvSpPr txBox="1"/>
          <p:nvPr/>
        </p:nvSpPr>
        <p:spPr>
          <a:xfrm>
            <a:off x="1747040" y="6430193"/>
            <a:ext cx="227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混合密钥系统的加密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928CF7-67FA-6F16-29B0-71A0F96DA8D6}"/>
              </a:ext>
            </a:extLst>
          </p:cNvPr>
          <p:cNvSpPr txBox="1"/>
          <p:nvPr/>
        </p:nvSpPr>
        <p:spPr>
          <a:xfrm>
            <a:off x="7797800" y="6430193"/>
            <a:ext cx="227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混合密钥系统的解密</a:t>
            </a:r>
          </a:p>
        </p:txBody>
      </p:sp>
      <p:cxnSp>
        <p:nvCxnSpPr>
          <p:cNvPr id="27" name="直接连接符 2">
            <a:extLst>
              <a:ext uri="{FF2B5EF4-FFF2-40B4-BE49-F238E27FC236}">
                <a16:creationId xmlns:a16="http://schemas.microsoft.com/office/drawing/2014/main" id="{5D765636-2B43-3514-DA7D-C796E06EAF78}"/>
              </a:ext>
            </a:extLst>
          </p:cNvPr>
          <p:cNvCxnSpPr>
            <a:cxnSpLocks/>
          </p:cNvCxnSpPr>
          <p:nvPr/>
        </p:nvCxnSpPr>
        <p:spPr>
          <a:xfrm>
            <a:off x="5295589" y="1505338"/>
            <a:ext cx="0" cy="505883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345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4F96-5495-4868-35EB-00812E18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7A77C6D4-0538-CDF8-667A-A6B6F31F85D6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C4E159-86C9-96C1-EE5E-53980F303322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C4F821C-1F03-EC11-C9F9-5E2201F326EB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0BA9458B-2916-9074-4863-A131FB243B66}"/>
              </a:ext>
            </a:extLst>
          </p:cNvPr>
          <p:cNvSpPr/>
          <p:nvPr/>
        </p:nvSpPr>
        <p:spPr>
          <a:xfrm>
            <a:off x="5434895" y="965685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79E0071B-A158-9A15-2877-9182F7DD45CF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74E62C86-AF97-2484-8220-978C8F0DEC76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A83B30D6-3828-DEE3-48B1-2F0E862F5830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6A9BE2CD-6860-0169-EC92-F4348D7B453F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857B7C-7A37-2E2B-A29F-CD4DAAFE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18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908B9F-D9C6-4F1C-23B5-BD7D8CC3949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非对称加密算法安全缺陷</a:t>
            </a:r>
            <a:r>
              <a:rPr lang="en-US" altLang="zh-CN" sz="3600" b="1" dirty="0">
                <a:solidFill>
                  <a:srgbClr val="2A50A1"/>
                </a:solidFill>
              </a:rPr>
              <a:t>——</a:t>
            </a:r>
            <a:r>
              <a:rPr lang="zh-CN" altLang="en-US" sz="3600" b="1" dirty="0">
                <a:solidFill>
                  <a:srgbClr val="2A50A1"/>
                </a:solidFill>
              </a:rPr>
              <a:t>中间人攻击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86FC68-D9E9-D4C2-3CB6-77A3E32023F4}"/>
              </a:ext>
            </a:extLst>
          </p:cNvPr>
          <p:cNvGrpSpPr/>
          <p:nvPr/>
        </p:nvGrpSpPr>
        <p:grpSpPr>
          <a:xfrm>
            <a:off x="84433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2A6C05E6-B1DB-2014-84CB-F9B26BD254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D5224DEA-7515-E2C5-DD60-6C4CF5587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C06EC46F-4C39-3B21-5D6D-05FD021EB2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3F385BAD-6BA1-B45B-3EC0-8A9C89E6DF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B96E0EA0-8EC8-8156-F78A-422A94419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E87C405B-13A2-1067-66E1-1F5B2193A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6039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A5E6-5F91-99C4-F530-D29EFDA9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BA01C6-CB20-F0AB-0835-831EE9CF5CAD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zh-CN" altLang="en-US" sz="4000" dirty="0">
                <a:solidFill>
                  <a:schemeClr val="accent1"/>
                </a:solidFill>
              </a:rPr>
              <a:t>数字签名的原理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74F73C-CDA6-5C0F-6714-0ED06868AF75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#02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A299A385-91DB-FD9B-E3DC-0AF4C1A64ADC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E42F53D-4901-5FA4-69DF-CEFF439AD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166A1BE7-A76A-5B10-8A92-147A2ED6F5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5BECECA-DC54-E541-62AA-DBB1CEA84DE6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F221F2AD-6843-EC0D-1965-0F12035ADD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4AA3903-1C15-811D-0A63-BE79ABD45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94576D9-66B6-6E06-9378-EECD7938D879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60397F73-4595-32A2-7302-330C17F1B8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4BCA6AE-E261-B898-F045-EC7C3B64F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73EF2A2E-7D25-3151-9B2A-E7C8111227C5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7B73ADFB-1AC9-D0B4-8D64-7F1EE26B2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F5AFB293-7F8D-1EDC-56C2-98A0B074F7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2574709-F0FA-31B8-B9AA-C7B7A92B5932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10D4968B-97E3-08C1-763D-221CD164A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8D5D3ECC-0382-21C8-D958-8C7FFC5F36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B686B38E-3165-E673-1EFF-EED49AC1A7F2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34CBD411-5734-AD32-26CC-1FEFC50C8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8B70CC17-F5EB-96E8-81AF-2800A2B3D8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8091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2620-AC3F-16A4-7D45-D6CE8EAB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E2A63FE-7DC5-D693-2FA7-D8F6C9F0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20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0C89DE-8BBF-4C22-0BB6-699121D07592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Alice</a:t>
            </a:r>
            <a:r>
              <a:rPr lang="zh-CN" altLang="en-US" sz="3600" b="1" dirty="0">
                <a:solidFill>
                  <a:srgbClr val="2A50A1"/>
                </a:solidFill>
              </a:rPr>
              <a:t>的借条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9EC8B6D-3D2A-7B58-1FCA-D64301B2F927}"/>
              </a:ext>
            </a:extLst>
          </p:cNvPr>
          <p:cNvGrpSpPr/>
          <p:nvPr/>
        </p:nvGrpSpPr>
        <p:grpSpPr>
          <a:xfrm>
            <a:off x="29696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6AED9071-67E8-FCB6-EF0D-BC622DE8AB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80833958-0025-A54D-D93A-1CFBE5C05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BCF56834-8486-C0C1-1377-C959A15FC3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6CDDBC50-9732-D6A0-9639-3D4A919CF7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35630CB6-DDE4-BBBE-F11A-FF8F5E8C8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663F1EFE-9076-8636-D0A3-415B971C2B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D4BEDBDD-FE3A-1C22-B267-A6E8A9B01AEB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endParaRPr lang="zh-CN" altLang="en-US" sz="32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CD7D2D2-BEC5-115D-0762-9EBC8CD7FF55}"/>
              </a:ext>
            </a:extLst>
          </p:cNvPr>
          <p:cNvGrpSpPr/>
          <p:nvPr/>
        </p:nvGrpSpPr>
        <p:grpSpPr>
          <a:xfrm>
            <a:off x="575039" y="1806694"/>
            <a:ext cx="11041922" cy="1537025"/>
            <a:chOff x="4939871" y="1583809"/>
            <a:chExt cx="7149348" cy="2608171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3A03034-94B0-9530-D0CF-6E6A3BD7DA39}"/>
                </a:ext>
              </a:extLst>
            </p:cNvPr>
            <p:cNvSpPr/>
            <p:nvPr/>
          </p:nvSpPr>
          <p:spPr>
            <a:xfrm>
              <a:off x="4939871" y="1583809"/>
              <a:ext cx="7149348" cy="26081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1EC387A-3BC4-EC23-04F4-E4B2BF78988C}"/>
                </a:ext>
              </a:extLst>
            </p:cNvPr>
            <p:cNvSpPr txBox="1"/>
            <p:nvPr/>
          </p:nvSpPr>
          <p:spPr>
            <a:xfrm>
              <a:off x="5176707" y="1669452"/>
              <a:ext cx="6675677" cy="9506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zh-CN" altLang="en-US" sz="2400" dirty="0"/>
                <a:t>首先，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要写一份借条交给</a:t>
              </a:r>
              <a:r>
                <a:rPr lang="en-US" altLang="zh-CN" sz="2400" dirty="0"/>
                <a:t>Bob</a:t>
              </a:r>
              <a:r>
                <a:rPr lang="zh-CN" altLang="en-US" sz="2400" dirty="0"/>
                <a:t>。</a:t>
              </a:r>
              <a:endParaRPr lang="en-US" altLang="zh-CN" sz="2400" dirty="0"/>
            </a:p>
            <a:p>
              <a:pPr>
                <a:buNone/>
              </a:pPr>
              <a:r>
                <a:rPr lang="zh-CN" altLang="en-US" sz="2400" dirty="0"/>
                <a:t>然后，</a:t>
              </a:r>
              <a:r>
                <a:rPr lang="en-US" altLang="zh-CN" sz="2400" dirty="0"/>
                <a:t>Bob </a:t>
              </a:r>
              <a:r>
                <a:rPr lang="zh-CN" altLang="en-US" sz="2400" dirty="0"/>
                <a:t>可以通过银行汇款将钱给到</a:t>
              </a:r>
              <a:r>
                <a:rPr lang="en-US" altLang="zh-CN" sz="2400" dirty="0"/>
                <a:t>Alice</a:t>
              </a:r>
              <a:r>
                <a:rPr lang="zh-CN" altLang="en-US" sz="2400" dirty="0"/>
                <a:t>。</a:t>
              </a:r>
              <a:endParaRPr lang="en-US" altLang="zh-CN" sz="2400" dirty="0"/>
            </a:p>
            <a:p>
              <a:pPr>
                <a:buNone/>
              </a:pPr>
              <a:r>
                <a:rPr lang="en-US" altLang="zh-CN" sz="2400" dirty="0"/>
                <a:t>Alice </a:t>
              </a:r>
              <a:r>
                <a:rPr lang="zh-CN" altLang="en-US" sz="2400" dirty="0"/>
                <a:t>的借条应该如何传递给 </a:t>
              </a:r>
              <a:r>
                <a:rPr lang="en-US" altLang="zh-CN" sz="2400" dirty="0"/>
                <a:t>Bob </a:t>
              </a:r>
              <a:r>
                <a:rPr lang="zh-CN" altLang="en-US" sz="2400" dirty="0"/>
                <a:t>才安全可靠呢？</a:t>
              </a:r>
              <a:endParaRPr lang="en-US" altLang="zh-CN" sz="2400" dirty="0"/>
            </a:p>
            <a:p>
              <a:pPr>
                <a:buNone/>
              </a:pPr>
              <a:r>
                <a:rPr lang="zh-CN" altLang="en-US" sz="2400" dirty="0"/>
                <a:t>汇款可以通过互联网远程实现，借条是否也可以在网络上实现呢？</a:t>
              </a:r>
              <a:endParaRPr lang="en-US" altLang="zh-CN" sz="24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C96B064-D5A5-C5CE-568B-49798BA4DA2A}"/>
              </a:ext>
            </a:extLst>
          </p:cNvPr>
          <p:cNvGrpSpPr/>
          <p:nvPr/>
        </p:nvGrpSpPr>
        <p:grpSpPr>
          <a:xfrm>
            <a:off x="575039" y="4108020"/>
            <a:ext cx="11041922" cy="2660617"/>
            <a:chOff x="4939871" y="1583809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2FBDC04-B825-DD68-5E24-4344AB750BE4}"/>
                </a:ext>
              </a:extLst>
            </p:cNvPr>
            <p:cNvSpPr/>
            <p:nvPr/>
          </p:nvSpPr>
          <p:spPr>
            <a:xfrm>
              <a:off x="4939871" y="1583809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E5F9CA1-6376-BEDB-5B4A-A3E0E92E44F8}"/>
                </a:ext>
              </a:extLst>
            </p:cNvPr>
            <p:cNvSpPr txBox="1"/>
            <p:nvPr/>
          </p:nvSpPr>
          <p:spPr>
            <a:xfrm>
              <a:off x="5176707" y="1842652"/>
              <a:ext cx="6675677" cy="2475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buFont typeface="+mj-lt"/>
                <a:buAutoNum type="arabicPeriod"/>
              </a:pPr>
              <a:r>
                <a:rPr lang="zh-CN" altLang="en-US" sz="2400" b="1" dirty="0"/>
                <a:t>借条内容是否被篡改</a:t>
              </a:r>
              <a:br>
                <a:rPr lang="zh-CN" altLang="en-US" sz="2400" dirty="0"/>
              </a:br>
              <a:r>
                <a:rPr lang="zh-CN" altLang="en-US" sz="2400" dirty="0"/>
                <a:t>是否有人修改借条，将“</a:t>
              </a:r>
              <a:r>
                <a:rPr lang="en-US" altLang="zh-CN" sz="2400" dirty="0"/>
                <a:t>100 </a:t>
              </a:r>
              <a:r>
                <a:rPr lang="zh-CN" altLang="en-US" sz="2400" dirty="0"/>
                <a:t>万元”篡改为“</a:t>
              </a:r>
              <a:r>
                <a:rPr lang="en-US" altLang="zh-CN" sz="2400" dirty="0"/>
                <a:t>500 </a:t>
              </a:r>
              <a:r>
                <a:rPr lang="zh-CN" altLang="en-US" sz="2400" dirty="0"/>
                <a:t>万元”？     </a:t>
              </a:r>
              <a:r>
                <a:rPr lang="en-US" altLang="zh-CN" sz="2400" dirty="0"/>
                <a:t>——</a:t>
              </a:r>
              <a:r>
                <a:rPr lang="zh-CN" altLang="en-US" sz="2400" dirty="0">
                  <a:solidFill>
                    <a:srgbClr val="FF0000"/>
                  </a:solidFill>
                </a:rPr>
                <a:t>篡改</a:t>
              </a:r>
            </a:p>
            <a:p>
              <a:pPr>
                <a:buFont typeface="+mj-lt"/>
                <a:buAutoNum type="arabicPeriod"/>
              </a:pPr>
              <a:r>
                <a:rPr lang="zh-CN" altLang="en-US" sz="2400" b="1" dirty="0"/>
                <a:t>发件人是否真的 </a:t>
              </a:r>
              <a:r>
                <a:rPr lang="en-US" altLang="zh-CN" sz="2400" b="1" dirty="0"/>
                <a:t>Alice</a:t>
              </a:r>
              <a:br>
                <a:rPr lang="zh-CN" altLang="en-US" sz="2400" dirty="0"/>
              </a:br>
              <a:r>
                <a:rPr lang="zh-CN" altLang="en-US" sz="2400" dirty="0"/>
                <a:t>是否有人伪造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，向</a:t>
              </a:r>
              <a:r>
                <a:rPr lang="en-US" altLang="zh-CN" sz="2400" dirty="0"/>
                <a:t>Bob</a:t>
              </a:r>
              <a:r>
                <a:rPr lang="zh-CN" altLang="en-US" sz="2400" dirty="0"/>
                <a:t>发送借条？                                    </a:t>
              </a:r>
              <a:r>
                <a:rPr lang="en-US" altLang="zh-CN" sz="2400" dirty="0"/>
                <a:t>——</a:t>
              </a:r>
              <a:r>
                <a:rPr lang="zh-CN" altLang="en-US" sz="2400" dirty="0">
                  <a:solidFill>
                    <a:srgbClr val="FF0000"/>
                  </a:solidFill>
                </a:rPr>
                <a:t>伪装</a:t>
              </a:r>
            </a:p>
            <a:p>
              <a:pPr>
                <a:buFont typeface="+mj-lt"/>
                <a:buAutoNum type="arabicPeriod"/>
              </a:pPr>
              <a:r>
                <a:rPr lang="en-US" altLang="zh-CN" sz="2400" b="1" dirty="0"/>
                <a:t>Alice </a:t>
              </a:r>
              <a:r>
                <a:rPr lang="zh-CN" altLang="en-US" sz="2400" b="1" dirty="0"/>
                <a:t>是否事后否认</a:t>
              </a:r>
              <a:br>
                <a:rPr lang="zh-CN" altLang="en-US" sz="2400" dirty="0"/>
              </a:br>
              <a:r>
                <a:rPr lang="en-US" altLang="zh-CN" sz="2400" dirty="0"/>
                <a:t>Alice </a:t>
              </a:r>
              <a:r>
                <a:rPr lang="zh-CN" altLang="en-US" sz="2400" dirty="0"/>
                <a:t>是否会在收到钱后说：“这个欠条不是我写的。”          </a:t>
              </a:r>
              <a:r>
                <a:rPr lang="en-US" altLang="zh-CN" sz="2400" dirty="0"/>
                <a:t>——</a:t>
              </a:r>
              <a:r>
                <a:rPr lang="zh-CN" altLang="en-US" sz="2400" dirty="0">
                  <a:solidFill>
                    <a:srgbClr val="FF0000"/>
                  </a:solidFill>
                </a:rPr>
                <a:t>否认</a:t>
              </a: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FBDFAEF-56E0-F5DA-71FE-71286F2254AF}"/>
              </a:ext>
            </a:extLst>
          </p:cNvPr>
          <p:cNvSpPr txBox="1"/>
          <p:nvPr/>
        </p:nvSpPr>
        <p:spPr>
          <a:xfrm>
            <a:off x="3736975" y="1315724"/>
            <a:ext cx="4718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Alice </a:t>
            </a:r>
            <a:r>
              <a:rPr lang="zh-CN" altLang="en-US" sz="2800" dirty="0">
                <a:solidFill>
                  <a:srgbClr val="FF0000"/>
                </a:solidFill>
              </a:rPr>
              <a:t>要向 </a:t>
            </a:r>
            <a:r>
              <a:rPr lang="en-US" altLang="zh-CN" sz="2800" dirty="0">
                <a:solidFill>
                  <a:srgbClr val="FF0000"/>
                </a:solidFill>
              </a:rPr>
              <a:t>Bob </a:t>
            </a:r>
            <a:r>
              <a:rPr lang="zh-CN" altLang="en-US" sz="2800" dirty="0">
                <a:solidFill>
                  <a:srgbClr val="FF0000"/>
                </a:solidFill>
              </a:rPr>
              <a:t>借 </a:t>
            </a:r>
            <a:r>
              <a:rPr lang="en-US" altLang="zh-CN" sz="2800" dirty="0">
                <a:solidFill>
                  <a:srgbClr val="FF0000"/>
                </a:solidFill>
              </a:rPr>
              <a:t>100 </a:t>
            </a:r>
            <a:r>
              <a:rPr lang="zh-CN" altLang="en-US" sz="2800" dirty="0">
                <a:solidFill>
                  <a:srgbClr val="FF0000"/>
                </a:solidFill>
              </a:rPr>
              <a:t>万元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D8C8911-0CDB-FBFB-B4D0-59B08A83FBC2}"/>
              </a:ext>
            </a:extLst>
          </p:cNvPr>
          <p:cNvSpPr txBox="1"/>
          <p:nvPr/>
        </p:nvSpPr>
        <p:spPr>
          <a:xfrm>
            <a:off x="0" y="3433482"/>
            <a:ext cx="12191999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algn="ctr">
              <a:buNone/>
            </a:pPr>
            <a:r>
              <a:rPr lang="zh-CN" altLang="en-US" sz="3200" dirty="0">
                <a:solidFill>
                  <a:srgbClr val="FF0000"/>
                </a:solidFill>
              </a:rPr>
              <a:t>借条：</a:t>
            </a:r>
            <a:r>
              <a:rPr lang="en-US" altLang="zh-CN" sz="3200" dirty="0">
                <a:solidFill>
                  <a:srgbClr val="FF0000"/>
                </a:solidFill>
              </a:rPr>
              <a:t>Bob</a:t>
            </a:r>
            <a:r>
              <a:rPr lang="zh-CN" altLang="en-US" sz="3200" dirty="0">
                <a:solidFill>
                  <a:srgbClr val="FF0000"/>
                </a:solidFill>
              </a:rPr>
              <a:t>，我向你借款 </a:t>
            </a:r>
            <a:r>
              <a:rPr lang="en-US" altLang="zh-CN" sz="3200" dirty="0">
                <a:solidFill>
                  <a:srgbClr val="FF0000"/>
                </a:solidFill>
              </a:rPr>
              <a:t>100 </a:t>
            </a:r>
            <a:r>
              <a:rPr lang="zh-CN" altLang="en-US" sz="3200" dirty="0">
                <a:solidFill>
                  <a:srgbClr val="FF0000"/>
                </a:solidFill>
              </a:rPr>
              <a:t>万元。</a:t>
            </a:r>
            <a:r>
              <a:rPr lang="en-US" altLang="zh-CN" sz="3200" dirty="0">
                <a:solidFill>
                  <a:srgbClr val="FF0000"/>
                </a:solidFill>
              </a:rPr>
              <a:t>— Alice</a:t>
            </a:r>
          </a:p>
        </p:txBody>
      </p:sp>
    </p:spTree>
    <p:extLst>
      <p:ext uri="{BB962C8B-B14F-4D97-AF65-F5344CB8AC3E}">
        <p14:creationId xmlns:p14="http://schemas.microsoft.com/office/powerpoint/2010/main" val="30540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32F1-1AC0-32A6-0B08-BE6C7CA9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4342F58-9AA5-631F-5C53-B70C8E9E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21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180EC0-044C-0045-AC8F-EB41E9BCCEE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数字签名的原理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F0B3046-1C7B-27FB-C709-CCAB6ECAB1A7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E6FFFBFB-5E02-10ED-F268-DF500BA70D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98046DEF-D12B-DB3B-2CBC-A7566DA75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A04637BC-85BE-23A4-0917-F756F788CA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DF17D34C-881B-4A43-49D4-72D491F491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95A098C4-9A44-1191-9721-719A667C0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950DFB16-45FC-DE96-5977-B6C1607912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DF64D75-74E6-2BCE-BDC6-2C7A370EB03E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“反向”非对称加密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1820F0-361C-443F-7DC3-8ED4A29676B4}"/>
              </a:ext>
            </a:extLst>
          </p:cNvPr>
          <p:cNvSpPr txBox="1"/>
          <p:nvPr/>
        </p:nvSpPr>
        <p:spPr>
          <a:xfrm>
            <a:off x="-2" y="5052243"/>
            <a:ext cx="12191999" cy="1569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数字签名：</a:t>
            </a:r>
            <a:endParaRPr lang="en-US" altLang="zh-CN" sz="3200" dirty="0"/>
          </a:p>
          <a:p>
            <a:r>
              <a:rPr lang="en-US" altLang="zh-CN" sz="3200" dirty="0"/>
              <a:t>1.</a:t>
            </a:r>
            <a:r>
              <a:rPr lang="zh-CN" altLang="en-US" sz="3200" dirty="0"/>
              <a:t>利用私钥只有密钥生成者拥有的性质证明身份</a:t>
            </a:r>
            <a:endParaRPr lang="en-US" altLang="zh-CN" sz="3200" dirty="0"/>
          </a:p>
          <a:p>
            <a:r>
              <a:rPr lang="en-US" altLang="zh-CN" sz="3200" dirty="0"/>
              <a:t>2.</a:t>
            </a:r>
            <a:r>
              <a:rPr lang="zh-CN" altLang="en-US" sz="3200" dirty="0"/>
              <a:t>私钥加密公钥可解密；公钥加密私钥可解密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080F070-E78D-E112-EB87-F6B3A007E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194063"/>
              </p:ext>
            </p:extLst>
          </p:nvPr>
        </p:nvGraphicFramePr>
        <p:xfrm>
          <a:off x="525778" y="2514810"/>
          <a:ext cx="11140440" cy="2072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39364">
                  <a:extLst>
                    <a:ext uri="{9D8B030D-6E8A-4147-A177-3AD203B41FA5}">
                      <a16:colId xmlns:a16="http://schemas.microsoft.com/office/drawing/2014/main" val="665125309"/>
                    </a:ext>
                  </a:extLst>
                </a:gridCol>
                <a:gridCol w="3896463">
                  <a:extLst>
                    <a:ext uri="{9D8B030D-6E8A-4147-A177-3AD203B41FA5}">
                      <a16:colId xmlns:a16="http://schemas.microsoft.com/office/drawing/2014/main" val="996983858"/>
                    </a:ext>
                  </a:extLst>
                </a:gridCol>
                <a:gridCol w="4504613">
                  <a:extLst>
                    <a:ext uri="{9D8B030D-6E8A-4147-A177-3AD203B41FA5}">
                      <a16:colId xmlns:a16="http://schemas.microsoft.com/office/drawing/2014/main" val="4146951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私钥</a:t>
                      </a:r>
                      <a:r>
                        <a:rPr lang="en-US" altLang="zh-CN" sz="28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</a:t>
                      </a:r>
                      <a:endParaRPr lang="zh-CN" altLang="en-US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公钥</a:t>
                      </a:r>
                      <a:r>
                        <a:rPr lang="en-US" altLang="zh-CN" sz="2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692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谁持有密钥？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密钥生成者个人持有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任何人都可以持有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0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公钥密码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接收者解密时使用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发送者加密时使用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442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/>
                        <a:t>数字签名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/>
                        <a:t>签名者生成签名时使用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 dirty="0"/>
                        <a:t>验证者验证签名时使用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22191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E88892EB-148C-3502-D1A6-6C4296B29F5A}"/>
              </a:ext>
            </a:extLst>
          </p:cNvPr>
          <p:cNvSpPr txBox="1"/>
          <p:nvPr/>
        </p:nvSpPr>
        <p:spPr>
          <a:xfrm>
            <a:off x="2778758" y="1707904"/>
            <a:ext cx="6634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公钥密码与数字签名的密钥使用方式对比</a:t>
            </a:r>
          </a:p>
        </p:txBody>
      </p:sp>
    </p:spTree>
    <p:extLst>
      <p:ext uri="{BB962C8B-B14F-4D97-AF65-F5344CB8AC3E}">
        <p14:creationId xmlns:p14="http://schemas.microsoft.com/office/powerpoint/2010/main" val="1131394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48F3-75D6-FD93-5C50-5C7CA913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34AF696-527E-4057-EA14-A31E7C0A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22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02AB9A-9F8E-FD5E-9A25-8E476D99FAF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数字签名的原理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32BFFD7-08A9-C096-84A9-D24339A21406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BC365806-56EF-5FDA-FADA-55265B575A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19BDDF69-789E-B38A-E189-E8D9CAB3B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4ABAA2D-614C-3720-2666-CDB89077F2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DD092D32-CAF8-54D2-E3CC-F7EC10C677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0CD2EB4A-672E-23D5-F143-5BCDFA92A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7493AC19-A64D-32F5-1978-236341B5FD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8AB876F2-EEE4-0059-C626-7041D4A10B29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签名与验证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D3AE50-82D7-9D5B-7B37-50A86B30C5B4}"/>
              </a:ext>
            </a:extLst>
          </p:cNvPr>
          <p:cNvGrpSpPr/>
          <p:nvPr/>
        </p:nvGrpSpPr>
        <p:grpSpPr>
          <a:xfrm>
            <a:off x="575039" y="1806694"/>
            <a:ext cx="11041922" cy="1789946"/>
            <a:chOff x="4939871" y="1583809"/>
            <a:chExt cx="7149348" cy="2608171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C1192FB-97E8-3160-23F1-78E71C1C919F}"/>
                </a:ext>
              </a:extLst>
            </p:cNvPr>
            <p:cNvSpPr/>
            <p:nvPr/>
          </p:nvSpPr>
          <p:spPr>
            <a:xfrm>
              <a:off x="4939871" y="1583809"/>
              <a:ext cx="7149348" cy="26081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246F008-9F11-EE7A-FB45-802805D569C3}"/>
                </a:ext>
              </a:extLst>
            </p:cNvPr>
            <p:cNvSpPr txBox="1"/>
            <p:nvPr/>
          </p:nvSpPr>
          <p:spPr>
            <a:xfrm>
              <a:off x="5176706" y="1758278"/>
              <a:ext cx="6675677" cy="9506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生成消息签名：</a:t>
              </a:r>
              <a:endParaRPr lang="en-US" altLang="zh-CN" sz="2400" b="1" dirty="0">
                <a:solidFill>
                  <a:srgbClr val="FF0000"/>
                </a:solidFill>
              </a:endParaRPr>
            </a:p>
            <a:p>
              <a:r>
                <a:rPr lang="zh-CN" altLang="en-US" sz="2400" dirty="0"/>
                <a:t>由消息的发送者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完成，即</a:t>
              </a:r>
              <a:r>
                <a:rPr lang="en-US" altLang="zh-CN" sz="2400" dirty="0"/>
                <a:t>Alice</a:t>
              </a:r>
              <a:r>
                <a:rPr lang="zh-CN" altLang="en-US" sz="2400" dirty="0"/>
                <a:t>对消息进行签名。</a:t>
              </a:r>
              <a:br>
                <a:rPr lang="zh-CN" altLang="en-US" sz="2400" dirty="0"/>
              </a:br>
              <a:r>
                <a:rPr lang="en-US" altLang="zh-CN" sz="2400" dirty="0"/>
                <a:t>Alice</a:t>
              </a:r>
              <a:r>
                <a:rPr lang="zh-CN" altLang="en-US" sz="2400" dirty="0"/>
                <a:t>根据消息内容计算出一段数字签名值，这一行为等同于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明确表示：</a:t>
              </a:r>
            </a:p>
            <a:p>
              <a:r>
                <a:rPr lang="zh-CN" altLang="en-US" sz="2400" dirty="0"/>
                <a:t>“我认可这条消息的内容，并对此负责。”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0698186-A703-CB37-072F-B90BB072E518}"/>
              </a:ext>
            </a:extLst>
          </p:cNvPr>
          <p:cNvGrpSpPr/>
          <p:nvPr/>
        </p:nvGrpSpPr>
        <p:grpSpPr>
          <a:xfrm>
            <a:off x="575038" y="4085066"/>
            <a:ext cx="11041922" cy="2117525"/>
            <a:chOff x="4939871" y="1583809"/>
            <a:chExt cx="7149348" cy="2608171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4BBBB2D-6535-9BE4-7949-CE69CC81E4A4}"/>
                </a:ext>
              </a:extLst>
            </p:cNvPr>
            <p:cNvSpPr/>
            <p:nvPr/>
          </p:nvSpPr>
          <p:spPr>
            <a:xfrm>
              <a:off x="4939871" y="1583809"/>
              <a:ext cx="7149348" cy="26081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DDA9567-0A13-267C-1176-DAD470795BAE}"/>
                </a:ext>
              </a:extLst>
            </p:cNvPr>
            <p:cNvSpPr txBox="1"/>
            <p:nvPr/>
          </p:nvSpPr>
          <p:spPr>
            <a:xfrm>
              <a:off x="5176706" y="1758278"/>
              <a:ext cx="6675677" cy="9506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验证数字签名：</a:t>
              </a:r>
              <a:endParaRPr lang="en-US" altLang="zh-CN" sz="2400" b="1" dirty="0">
                <a:solidFill>
                  <a:srgbClr val="FF0000"/>
                </a:solidFill>
              </a:endParaRPr>
            </a:p>
            <a:p>
              <a:r>
                <a:rPr lang="zh-CN" altLang="en-US" sz="2400" dirty="0"/>
                <a:t>由消息的接收者 </a:t>
              </a:r>
              <a:r>
                <a:rPr lang="en-US" altLang="zh-CN" sz="2400" dirty="0"/>
                <a:t>Bob </a:t>
              </a:r>
              <a:r>
                <a:rPr lang="zh-CN" altLang="en-US" sz="2400" dirty="0"/>
                <a:t>来完成，即</a:t>
              </a:r>
              <a:r>
                <a:rPr lang="en-US" altLang="zh-CN" sz="2400" dirty="0"/>
                <a:t>Bob</a:t>
              </a:r>
              <a:r>
                <a:rPr lang="zh-CN" altLang="en-US" sz="2400" dirty="0"/>
                <a:t>对消息进行验证。</a:t>
              </a:r>
            </a:p>
            <a:p>
              <a:r>
                <a:rPr lang="zh-CN" altLang="en-US" sz="2400" dirty="0"/>
                <a:t>验证数字签名的目的是检查消息上的签名是否确实由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生成。</a:t>
              </a:r>
            </a:p>
            <a:p>
              <a:r>
                <a:rPr lang="zh-CN" altLang="en-US" sz="2400" b="1" dirty="0"/>
                <a:t>验证成功</a:t>
              </a:r>
              <a:r>
                <a:rPr lang="zh-CN" altLang="en-US" sz="2400" dirty="0"/>
                <a:t>：签名确实属于 </a:t>
              </a:r>
              <a:r>
                <a:rPr lang="en-US" altLang="zh-CN" sz="2400" dirty="0"/>
                <a:t>Alice</a:t>
              </a:r>
              <a:r>
                <a:rPr lang="zh-CN" altLang="en-US" sz="2400" dirty="0"/>
                <a:t>，消息未被篡改。</a:t>
              </a:r>
            </a:p>
            <a:p>
              <a:r>
                <a:rPr lang="zh-CN" altLang="en-US" sz="2400" b="1" dirty="0"/>
                <a:t>验证失败</a:t>
              </a:r>
              <a:r>
                <a:rPr lang="zh-CN" altLang="en-US" sz="2400" dirty="0"/>
                <a:t>：签名并非由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生成，或消息被修改过。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818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B1C5-C739-95BD-26F4-BA51B871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EAE48F-80C4-851D-FE68-6E0B2FB8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23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E3AED3-2D40-6394-BAC6-CDB04185032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数字签名的原理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2F9169-5BEF-CE20-2344-0FCACE0FA3D8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40A043C4-A082-2100-960D-217BA7B30E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B85BDD9C-4B0C-17B2-21C5-A8A1CDFCE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E54D893E-672D-AAA6-956F-3195AF55BF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F7E2F908-4063-643B-4F64-0F2C0FA06B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2FADC1D4-5932-B036-4FE6-EE5B19AE5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92D3E3C6-EE0A-17D2-EC46-4E2012F530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55724530-CEB3-ADA1-70F6-A13CADA9DEBD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非对称加密（公钥加密）：用</a:t>
            </a:r>
            <a:r>
              <a:rPr lang="zh-CN" altLang="en-US" sz="3200" dirty="0">
                <a:solidFill>
                  <a:srgbClr val="FF0000"/>
                </a:solidFill>
              </a:rPr>
              <a:t>公钥加密</a:t>
            </a:r>
            <a:r>
              <a:rPr lang="zh-CN" altLang="en-US" sz="3200" dirty="0"/>
              <a:t>，用</a:t>
            </a:r>
            <a:r>
              <a:rPr lang="zh-CN" altLang="en-US" sz="3200" dirty="0">
                <a:solidFill>
                  <a:srgbClr val="FF0000"/>
                </a:solidFill>
              </a:rPr>
              <a:t>私钥解密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43BB681-F089-A0A8-5B1C-C13344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13" y="1344563"/>
            <a:ext cx="10063774" cy="521960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A587DA4-E807-8135-31C0-F142672DD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8411" y="1805693"/>
            <a:ext cx="1742857" cy="113333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325C9AD-0656-D71E-444F-F8C087ECF8CC}"/>
              </a:ext>
            </a:extLst>
          </p:cNvPr>
          <p:cNvSpPr txBox="1"/>
          <p:nvPr/>
        </p:nvSpPr>
        <p:spPr>
          <a:xfrm>
            <a:off x="0" y="6234581"/>
            <a:ext cx="12191999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algn="ctr"/>
            <a:r>
              <a:rPr lang="zh-CN" altLang="en-US" sz="3200" dirty="0"/>
              <a:t>公钥密码中，任何人都能够进行加密（保障机密性）</a:t>
            </a:r>
          </a:p>
        </p:txBody>
      </p:sp>
    </p:spTree>
    <p:extLst>
      <p:ext uri="{BB962C8B-B14F-4D97-AF65-F5344CB8AC3E}">
        <p14:creationId xmlns:p14="http://schemas.microsoft.com/office/powerpoint/2010/main" val="1397249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609F-0AF1-E7AF-B0D5-DCCA6CD90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47D7803-DB6B-1A32-3097-8D8511EF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24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68055D-FE46-4B2A-FB9D-E913285FCC9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数字签名的原理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06C05FC-497C-1E0A-A604-C141491D38E0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17B873D5-4FBB-D520-BF76-D4C02AD265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EB07DF41-BADE-E796-8B41-FC9423B56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4DF10799-37CF-3544-090C-8F1E415E9C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E77BA388-27B0-178B-50F3-2D35214FA3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2E37D2CC-3D71-9D44-DE93-823C8D537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66FB237E-5F72-FC26-5123-65C9E2E91C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AD2A7FE-9038-B8E5-CF75-F87A06C993C1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数字签名：用</a:t>
            </a:r>
            <a:r>
              <a:rPr lang="zh-CN" altLang="en-US" sz="3200" dirty="0">
                <a:solidFill>
                  <a:srgbClr val="FF0000"/>
                </a:solidFill>
              </a:rPr>
              <a:t>私钥加密</a:t>
            </a:r>
            <a:r>
              <a:rPr lang="zh-CN" altLang="en-US" sz="3200" dirty="0"/>
              <a:t>，用</a:t>
            </a:r>
            <a:r>
              <a:rPr lang="zh-CN" altLang="en-US" sz="3200" dirty="0">
                <a:solidFill>
                  <a:srgbClr val="FF0000"/>
                </a:solidFill>
              </a:rPr>
              <a:t>公钥解密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ACD8CA-D637-7208-25ED-B9DA8FFD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20" y="1344563"/>
            <a:ext cx="10220960" cy="516371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7C21405-F550-B456-E845-D45841C185D4}"/>
              </a:ext>
            </a:extLst>
          </p:cNvPr>
          <p:cNvSpPr txBox="1"/>
          <p:nvPr/>
        </p:nvSpPr>
        <p:spPr>
          <a:xfrm>
            <a:off x="0" y="6234581"/>
            <a:ext cx="12191999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algn="ctr"/>
            <a:r>
              <a:rPr lang="zh-CN" altLang="en-US" sz="3200" dirty="0"/>
              <a:t>数字签名中，任何人都能够验证签名（保障完整性）</a:t>
            </a:r>
          </a:p>
        </p:txBody>
      </p:sp>
    </p:spTree>
    <p:extLst>
      <p:ext uri="{BB962C8B-B14F-4D97-AF65-F5344CB8AC3E}">
        <p14:creationId xmlns:p14="http://schemas.microsoft.com/office/powerpoint/2010/main" val="1412093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054E-5599-6696-BC8B-E78B4E94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930F68-7A74-27AB-EDE3-8421656F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25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CAED56-73D1-2C5E-6CDC-CDDA2015F53C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数字签名的功能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503FADF-724E-F236-E841-DA5FA5C60A8C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189F5B79-BCDC-F8B1-690D-15FB7347C6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31A87E04-5764-FAA2-D96B-10F05D272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0D6C2549-C959-68A6-33BE-0F9B13665B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0F22C655-4180-F006-B7B4-5E7E2ECB5F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560E7BEB-10AD-E33D-ED58-FE38A8757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B6482A19-C2CC-5BB0-05D7-AF3DAB67F4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1D2E9FA2-E21F-7A92-CE2A-6F6907438D20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篡改、伪装、否认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3B0E0EA-E6C2-BFF2-734A-A26D9CA91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130681"/>
              </p:ext>
            </p:extLst>
          </p:nvPr>
        </p:nvGraphicFramePr>
        <p:xfrm>
          <a:off x="243840" y="1560477"/>
          <a:ext cx="11612880" cy="3962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48134">
                  <a:extLst>
                    <a:ext uri="{9D8B030D-6E8A-4147-A177-3AD203B41FA5}">
                      <a16:colId xmlns:a16="http://schemas.microsoft.com/office/drawing/2014/main" val="393224676"/>
                    </a:ext>
                  </a:extLst>
                </a:gridCol>
                <a:gridCol w="2464024">
                  <a:extLst>
                    <a:ext uri="{9D8B030D-6E8A-4147-A177-3AD203B41FA5}">
                      <a16:colId xmlns:a16="http://schemas.microsoft.com/office/drawing/2014/main" val="1698148022"/>
                    </a:ext>
                  </a:extLst>
                </a:gridCol>
                <a:gridCol w="2576958">
                  <a:extLst>
                    <a:ext uri="{9D8B030D-6E8A-4147-A177-3AD203B41FA5}">
                      <a16:colId xmlns:a16="http://schemas.microsoft.com/office/drawing/2014/main" val="2098053205"/>
                    </a:ext>
                  </a:extLst>
                </a:gridCol>
                <a:gridCol w="3223764">
                  <a:extLst>
                    <a:ext uri="{9D8B030D-6E8A-4147-A177-3AD203B41FA5}">
                      <a16:colId xmlns:a16="http://schemas.microsoft.com/office/drawing/2014/main" val="4233626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安全目标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消息认证码</a:t>
                      </a:r>
                      <a:endParaRPr lang="en-US" altLang="zh-CN" sz="2400" b="1" dirty="0"/>
                    </a:p>
                    <a:p>
                      <a:pPr algn="ctr">
                        <a:buNone/>
                      </a:pPr>
                      <a:r>
                        <a:rPr lang="en-US" altLang="zh-CN" sz="2000" b="1" dirty="0"/>
                        <a:t>MAC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数字签名</a:t>
                      </a:r>
                      <a:endParaRPr lang="en-US" altLang="zh-CN" sz="2400" b="1" dirty="0"/>
                    </a:p>
                    <a:p>
                      <a:pPr algn="ctr">
                        <a:buNone/>
                      </a:pPr>
                      <a:r>
                        <a:rPr lang="en-US" sz="2000" b="1" dirty="0"/>
                        <a:t>Digital Signature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解释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682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防止篡改</a:t>
                      </a:r>
                      <a:endParaRPr lang="en-US" altLang="zh-CN" sz="2400" b="1" dirty="0"/>
                    </a:p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（完整性）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✔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400" dirty="0"/>
                        <a:t>篡改会导致 </a:t>
                      </a:r>
                      <a:r>
                        <a:rPr lang="en-US" altLang="zh-CN" sz="2400" dirty="0"/>
                        <a:t>MAC/</a:t>
                      </a:r>
                      <a:r>
                        <a:rPr lang="zh-CN" altLang="en-US" sz="2400" dirty="0"/>
                        <a:t>签名验证失败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043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防止伪装</a:t>
                      </a:r>
                      <a:endParaRPr lang="en-US" altLang="zh-CN" sz="2400" b="1" dirty="0"/>
                    </a:p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（认证性）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✔ （弱）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✔（弱）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400" dirty="0"/>
                        <a:t>只能在密钥正确的情况下实现认证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6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防止否认</a:t>
                      </a:r>
                      <a:endParaRPr lang="en-US" altLang="zh-CN" sz="2400" b="1" dirty="0"/>
                    </a:p>
                    <a:p>
                      <a:pPr algn="ctr">
                        <a:buNone/>
                      </a:pPr>
                      <a:r>
                        <a:rPr lang="zh-CN" altLang="en-US" sz="2400" b="1" dirty="0"/>
                        <a:t>（不可否认性）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/>
                        <a:t>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400" dirty="0"/>
                        <a:t>MAC </a:t>
                      </a:r>
                      <a:r>
                        <a:rPr lang="zh-CN" altLang="en-US" sz="2400" dirty="0"/>
                        <a:t>使用共享密钥，任意一方都能伪造；签名由公私钥唯一生成，不能否认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120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632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C39B9-BA9D-7D1B-7B3E-87027387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2E29B95-3B1A-1676-FC26-1EA149A5C5CA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zh-CN" altLang="en-US" sz="4000" dirty="0">
                <a:solidFill>
                  <a:schemeClr val="accent1"/>
                </a:solidFill>
              </a:rPr>
              <a:t>数字签名的实现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A10D64-1723-70F1-C3A8-511315A3E43B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#02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254072D5-B687-7DE1-89BA-F6E7A568B04D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FB21588-C7C8-34B2-4BD4-8EC3E19F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21E8F1A6-9900-9257-EBDE-1C36DBBF08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82B8BDA-D023-9E47-B509-B5AD720F81C2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BC575BCD-30C0-2534-80E9-A1BE0E89DA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33D8F76B-083C-96A5-8ECE-7CF7B42AF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20FD2A7-2EE4-9CD3-976D-D8086CFC3150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77FA102-9C8E-E621-F403-66F8A24CF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A093D599-AA3A-282A-6592-797F8AD1C7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3031B58D-CEC9-6CFF-CBE2-027069FBD69E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F560C487-60CF-07E2-8360-A25CFEC63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9359D1AB-53B4-9A41-B1F9-1E66E20713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327D791-DB23-5E99-00CD-60FCCECBCF9D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39722D3-AA66-6CBB-66D3-B0CA67A686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1E060AF1-EA53-DAE4-652F-5D0A29B4E4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113BE51F-5BFD-A0FF-BD9F-2C77887E5F66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F50AB69D-E1B3-2FA7-365A-740414B56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E86BE1EF-5D1A-EC2C-EA42-ADA7B8F823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2614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757D-878F-1B72-019B-EC354F29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48854A0-83AF-D5DB-2337-06051F891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27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7477CF-1A35-5C2C-432C-3FD5050CED8E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数字签名的方法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A49261-1A3D-3FB0-7CD8-FAA03BFB3A59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7EDF5AF8-8E76-3791-11DF-1D7D65D216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A947FE6-BA7D-FD49-A67A-643A3E07A4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1F49D974-9494-A10E-2541-321E9A2084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B63FE463-17CD-4C2F-9E70-7E18CF4C78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BA8DAB92-20D2-B938-DE3C-3E1CCABFD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ADC8043F-3A40-FADA-70B4-B97B065BCE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23E58-EFDA-84B5-2DBB-A6BA94913946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直接对消息进行签名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F82F7A4-1000-F6E4-9068-1A1BF6559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038" y="1212358"/>
            <a:ext cx="6783705" cy="5534372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8732E816-16AF-8A93-68DA-3DF9B33DB6BE}"/>
              </a:ext>
            </a:extLst>
          </p:cNvPr>
          <p:cNvGrpSpPr/>
          <p:nvPr/>
        </p:nvGrpSpPr>
        <p:grpSpPr>
          <a:xfrm>
            <a:off x="121442" y="2052320"/>
            <a:ext cx="4698155" cy="4593128"/>
            <a:chOff x="4939868" y="1472443"/>
            <a:chExt cx="7149348" cy="369088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8140441-BD6F-55DB-C0B5-1C194E55BC49}"/>
                </a:ext>
              </a:extLst>
            </p:cNvPr>
            <p:cNvSpPr/>
            <p:nvPr/>
          </p:nvSpPr>
          <p:spPr>
            <a:xfrm>
              <a:off x="4939868" y="1472443"/>
              <a:ext cx="7149348" cy="36908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BC4DCAF-7D6B-E189-6180-EDC9245F2E32}"/>
                </a:ext>
              </a:extLst>
            </p:cNvPr>
            <p:cNvSpPr txBox="1"/>
            <p:nvPr/>
          </p:nvSpPr>
          <p:spPr>
            <a:xfrm>
              <a:off x="5176702" y="1612289"/>
              <a:ext cx="6675677" cy="9506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altLang="zh-CN" sz="2400" dirty="0"/>
                <a:t>(1) Alice </a:t>
              </a:r>
              <a:r>
                <a:rPr lang="zh-CN" altLang="en-US" sz="2400" dirty="0"/>
                <a:t>用自己的私钥对消息进行加密</a:t>
              </a:r>
              <a:br>
                <a:rPr lang="zh-CN" altLang="en-US" sz="2400" dirty="0"/>
              </a:br>
              <a:r>
                <a:rPr lang="en-US" altLang="zh-CN" sz="2400" dirty="0"/>
                <a:t>(2) Alice </a:t>
              </a:r>
              <a:r>
                <a:rPr lang="zh-CN" altLang="en-US" sz="2400" dirty="0"/>
                <a:t>将消息和签名一起发送给 </a:t>
              </a:r>
              <a:r>
                <a:rPr lang="en-US" altLang="zh-CN" sz="2400" dirty="0"/>
                <a:t>Bob</a:t>
              </a:r>
              <a:endParaRPr lang="zh-CN" altLang="en-US" sz="2400" dirty="0"/>
            </a:p>
            <a:p>
              <a:pPr>
                <a:buNone/>
              </a:pPr>
              <a:r>
                <a:rPr lang="en-US" altLang="zh-CN" sz="2400" dirty="0"/>
                <a:t>(3) Bob </a:t>
              </a:r>
              <a:r>
                <a:rPr lang="zh-CN" altLang="en-US" sz="2400" dirty="0"/>
                <a:t>使用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的公钥对收到的签名进行解密</a:t>
              </a:r>
            </a:p>
            <a:p>
              <a:pPr>
                <a:buNone/>
              </a:pPr>
              <a:r>
                <a:rPr lang="en-US" altLang="zh-CN" sz="2400" dirty="0"/>
                <a:t>(4) Bob </a:t>
              </a:r>
              <a:r>
                <a:rPr lang="zh-CN" altLang="en-US" sz="2400" dirty="0"/>
                <a:t>将解密得到的消息与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明文发送的消息进行比对。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400" dirty="0"/>
                <a:t>若两者一致，则说明签名验证成功；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400" dirty="0"/>
                <a:t>若两者不一致，则说明签名验证失败。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23F690D-D2C3-70CF-E9F8-25686C77CF0B}"/>
              </a:ext>
            </a:extLst>
          </p:cNvPr>
          <p:cNvSpPr txBox="1"/>
          <p:nvPr/>
        </p:nvSpPr>
        <p:spPr>
          <a:xfrm>
            <a:off x="846518" y="1455810"/>
            <a:ext cx="2927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签名与验证流程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256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1DF4D-C983-77ED-546E-52E3CF902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72E78B-E980-C662-940F-2C4295385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28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1FE9E7-3F81-9321-7DAC-E4272ECABFA8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数字签名的方法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D23FFCF-8D3A-6E87-89BA-64351E98D27A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1E7C2498-39B6-1DB1-2F25-DA17854AB4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269C1C58-9C7A-4BDD-C61D-99303F722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8961326C-4C91-E3D4-BF1D-9FDFEB1ACC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D65749F0-1C42-E193-23F7-A4922105B3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0AF44F54-B731-B0D6-6C56-D214EDCF2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05D097F6-C532-7C28-B385-5C3ADCE03E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E02A88E7-852A-F590-CA32-0C182C35E0B5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对消息的散列值进行签名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C77FABD-4971-1951-FD80-47BF3121EDCC}"/>
              </a:ext>
            </a:extLst>
          </p:cNvPr>
          <p:cNvGrpSpPr/>
          <p:nvPr/>
        </p:nvGrpSpPr>
        <p:grpSpPr>
          <a:xfrm>
            <a:off x="121442" y="2052320"/>
            <a:ext cx="4698155" cy="4593128"/>
            <a:chOff x="4939868" y="1472443"/>
            <a:chExt cx="7149348" cy="369088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DED2F58-8CB8-CBDF-E18F-6333B3875BF0}"/>
                </a:ext>
              </a:extLst>
            </p:cNvPr>
            <p:cNvSpPr/>
            <p:nvPr/>
          </p:nvSpPr>
          <p:spPr>
            <a:xfrm>
              <a:off x="4939868" y="1472443"/>
              <a:ext cx="7149348" cy="36908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ED4C61D-6780-F68C-87BB-F44977590D88}"/>
                </a:ext>
              </a:extLst>
            </p:cNvPr>
            <p:cNvSpPr txBox="1"/>
            <p:nvPr/>
          </p:nvSpPr>
          <p:spPr>
            <a:xfrm>
              <a:off x="5176702" y="1612289"/>
              <a:ext cx="6675677" cy="9506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2400" dirty="0"/>
                <a:t>(1) Alice </a:t>
              </a:r>
              <a:r>
                <a:rPr lang="zh-CN" altLang="en-US" sz="2400" dirty="0"/>
                <a:t>使用单向散列函数计算消息的散列值</a:t>
              </a:r>
            </a:p>
            <a:p>
              <a:r>
                <a:rPr lang="en-US" altLang="zh-CN" sz="2400" dirty="0"/>
                <a:t>(2) Alice </a:t>
              </a:r>
              <a:r>
                <a:rPr lang="zh-CN" altLang="en-US" sz="2400" dirty="0"/>
                <a:t>用自己的私钥对散列值进行加密</a:t>
              </a:r>
              <a:br>
                <a:rPr lang="zh-CN" altLang="en-US" sz="2400" dirty="0"/>
              </a:br>
              <a:r>
                <a:rPr lang="en-US" altLang="zh-CN" sz="2400" dirty="0"/>
                <a:t>(3) Alice </a:t>
              </a:r>
              <a:r>
                <a:rPr lang="zh-CN" altLang="en-US" sz="2400" dirty="0"/>
                <a:t>将消息与签名一起发送给 </a:t>
              </a:r>
              <a:r>
                <a:rPr lang="en-US" altLang="zh-CN" sz="2400" dirty="0"/>
                <a:t>Bob</a:t>
              </a:r>
              <a:endParaRPr lang="zh-CN" altLang="en-US" sz="2400" dirty="0"/>
            </a:p>
            <a:p>
              <a:r>
                <a:rPr lang="en-US" altLang="zh-CN" sz="2400" dirty="0"/>
                <a:t>(4) Bob </a:t>
              </a:r>
              <a:r>
                <a:rPr lang="zh-CN" altLang="en-US" sz="2400" dirty="0"/>
                <a:t>使用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的公钥对收到的签名进行解密</a:t>
              </a:r>
            </a:p>
            <a:p>
              <a:r>
                <a:rPr lang="en-US" altLang="zh-CN" sz="2400" dirty="0"/>
                <a:t>(5) Bob </a:t>
              </a:r>
              <a:r>
                <a:rPr lang="zh-CN" altLang="en-US" sz="2400" dirty="0"/>
                <a:t>将解密得到的散列值，与他根据 </a:t>
              </a:r>
              <a:r>
                <a:rPr lang="en-US" altLang="zh-CN" sz="2400" dirty="0"/>
                <a:t>Alice </a:t>
              </a:r>
              <a:r>
                <a:rPr lang="zh-CN" altLang="en-US" sz="2400" dirty="0"/>
                <a:t>的原始消息重新计算得到的散列值进行比较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2C07339-2A0E-FB12-6D6B-D86702ACC6F2}"/>
              </a:ext>
            </a:extLst>
          </p:cNvPr>
          <p:cNvSpPr txBox="1"/>
          <p:nvPr/>
        </p:nvSpPr>
        <p:spPr>
          <a:xfrm>
            <a:off x="846518" y="1455810"/>
            <a:ext cx="2927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签名与验证流程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39D636-0DB3-81C9-4B0D-2B7DFB26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269" y="1272989"/>
            <a:ext cx="6097213" cy="551343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41D44FD-ABE3-B28B-C434-04B6FAC96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087978"/>
            <a:ext cx="564678" cy="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97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D618-3BC0-27F0-DA9A-D6ABBF1B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636283-F2CA-281B-2199-50C3F837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29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0696D7-CDBC-BFE1-AFD8-8165B6765C0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数字签名的应用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AD9BAED-ADD2-16B6-1612-4677EB696DE1}"/>
              </a:ext>
            </a:extLst>
          </p:cNvPr>
          <p:cNvGrpSpPr/>
          <p:nvPr/>
        </p:nvGrpSpPr>
        <p:grpSpPr>
          <a:xfrm>
            <a:off x="341673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E5AD8701-15D2-9F8A-B2E3-DBA53E0BF3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903B500F-CC7C-16DD-6145-96D053C00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3B515629-D253-F409-A821-7A662F0FB5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F3F34CBC-5125-3CF5-4E1D-60074B70AA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2D54D0A1-0292-1C4F-71E9-CE9F964BA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11BE5167-E9FC-691F-913F-5783D99B85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D07AA03-7022-1E06-F304-E087745F421C}"/>
              </a:ext>
            </a:extLst>
          </p:cNvPr>
          <p:cNvSpPr txBox="1"/>
          <p:nvPr/>
        </p:nvSpPr>
        <p:spPr>
          <a:xfrm>
            <a:off x="1" y="655408"/>
            <a:ext cx="569975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信息安全公告</a:t>
            </a:r>
            <a:r>
              <a:rPr lang="en-US" altLang="zh-CN" sz="3200" dirty="0"/>
              <a:t>——</a:t>
            </a:r>
            <a:r>
              <a:rPr lang="zh-CN" altLang="en-US" sz="3200" dirty="0"/>
              <a:t>明文签名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C5C60B-922C-C4B6-F9B2-ED683B4C3F3B}"/>
              </a:ext>
            </a:extLst>
          </p:cNvPr>
          <p:cNvSpPr txBox="1"/>
          <p:nvPr/>
        </p:nvSpPr>
        <p:spPr>
          <a:xfrm>
            <a:off x="6389291" y="655408"/>
            <a:ext cx="5802708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en-US" altLang="zh-CN" sz="3200" dirty="0"/>
              <a:t>Android</a:t>
            </a:r>
            <a:r>
              <a:rPr lang="zh-CN" altLang="en-US" sz="3200" dirty="0"/>
              <a:t>应用软件</a:t>
            </a:r>
            <a:r>
              <a:rPr lang="en-US" altLang="zh-CN" sz="3200" dirty="0"/>
              <a:t>——</a:t>
            </a:r>
            <a:r>
              <a:rPr lang="zh-CN" altLang="en-US" sz="3200" dirty="0"/>
              <a:t>安全验证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BB1A61E-4F30-5708-081B-CFDE66564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1" y="1650912"/>
            <a:ext cx="5525161" cy="4551680"/>
          </a:xfrm>
          <a:prstGeom prst="rect">
            <a:avLst/>
          </a:prstGeom>
        </p:spPr>
      </p:pic>
      <p:cxnSp>
        <p:nvCxnSpPr>
          <p:cNvPr id="21" name="直线连接符 46">
            <a:extLst>
              <a:ext uri="{FF2B5EF4-FFF2-40B4-BE49-F238E27FC236}">
                <a16:creationId xmlns:a16="http://schemas.microsoft.com/office/drawing/2014/main" id="{360A776F-43ED-27D7-9CFC-1797991C54B3}"/>
              </a:ext>
            </a:extLst>
          </p:cNvPr>
          <p:cNvCxnSpPr>
            <a:cxnSpLocks/>
          </p:cNvCxnSpPr>
          <p:nvPr/>
        </p:nvCxnSpPr>
        <p:spPr>
          <a:xfrm>
            <a:off x="6004560" y="442732"/>
            <a:ext cx="91440" cy="6242548"/>
          </a:xfrm>
          <a:prstGeom prst="line">
            <a:avLst/>
          </a:prstGeom>
          <a:ln w="76200">
            <a:solidFill>
              <a:srgbClr val="001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安卓手机：更新包与已安装应用的签名不一致问题解决方法-CSDN博客">
            <a:extLst>
              <a:ext uri="{FF2B5EF4-FFF2-40B4-BE49-F238E27FC236}">
                <a16:creationId xmlns:a16="http://schemas.microsoft.com/office/drawing/2014/main" id="{3AB53BED-FF2E-9FF9-ADBB-DF557C69D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76"/>
          <a:stretch>
            <a:fillRect/>
          </a:stretch>
        </p:blipFill>
        <p:spPr bwMode="auto">
          <a:xfrm>
            <a:off x="7466733" y="1298649"/>
            <a:ext cx="3647823" cy="526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565A3760-32DB-495B-B718-9873714168AF}"/>
              </a:ext>
            </a:extLst>
          </p:cNvPr>
          <p:cNvSpPr/>
          <p:nvPr/>
        </p:nvSpPr>
        <p:spPr>
          <a:xfrm>
            <a:off x="7630160" y="4439920"/>
            <a:ext cx="3302000" cy="4876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941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590F-2BFF-7B0D-AA1B-5FD481C4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C0A4EA-7602-EB90-09A8-5D459D4C0C6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AA8531-CA2C-9261-1EE6-0868C14E499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90574B5A-0CD6-E1E5-BC3A-21DCB6361A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C3EF3199-D62A-959B-A2F4-24A3A823C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2FE4EBDD-0959-9AE8-5715-2BA74D7E2A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FCFBC4A2-8702-67C5-0F06-EF9D70C0E1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4B8A8BFB-7D37-0753-1CA3-09E07DA7E9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EA061C6E-92DF-4D91-81BA-65A9572EBF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61F71E-E9CD-E04F-68A1-A7D21B54EA35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加密与解密流程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E786EB-52FF-8E0B-FD25-E23CF515F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04C3689-1B50-CDF0-A6A1-1ED1D15EFA0A}"/>
              </a:ext>
            </a:extLst>
          </p:cNvPr>
          <p:cNvGraphicFramePr>
            <a:graphicFrameLocks noGrp="1"/>
          </p:cNvGraphicFramePr>
          <p:nvPr/>
        </p:nvGraphicFramePr>
        <p:xfrm>
          <a:off x="261618" y="3934473"/>
          <a:ext cx="11668761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96062">
                  <a:extLst>
                    <a:ext uri="{9D8B030D-6E8A-4147-A177-3AD203B41FA5}">
                      <a16:colId xmlns:a16="http://schemas.microsoft.com/office/drawing/2014/main" val="2908313444"/>
                    </a:ext>
                  </a:extLst>
                </a:gridCol>
                <a:gridCol w="6283112">
                  <a:extLst>
                    <a:ext uri="{9D8B030D-6E8A-4147-A177-3AD203B41FA5}">
                      <a16:colId xmlns:a16="http://schemas.microsoft.com/office/drawing/2014/main" val="2526696859"/>
                    </a:ext>
                  </a:extLst>
                </a:gridCol>
                <a:gridCol w="3889587">
                  <a:extLst>
                    <a:ext uri="{9D8B030D-6E8A-4147-A177-3AD203B41FA5}">
                      <a16:colId xmlns:a16="http://schemas.microsoft.com/office/drawing/2014/main" val="3446144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3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随机选择一对足够大的质数，并计算乘积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59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的欧拉函数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 -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51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选一个与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zh-CN" altLang="en-US" sz="2400" dirty="0"/>
                        <a:t>互质的整数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&lt; e &lt;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3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对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的模反元素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倒数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999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7132AA4D-FA71-0EBF-2644-39A7898DCCE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dirty="0"/>
                            <a:t>加密：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2400" dirty="0"/>
                            <a:t>解密：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41E152D-C220-6390-BCDC-0A34D5EF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535299"/>
                  </p:ext>
                </p:extLst>
              </p:nvPr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7059" r="-209" b="-30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104598" r="-20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1358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7D28-2413-5478-E8B0-F46CA35A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E29E22-1305-C0C9-3D57-6017EA5966AC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数字签名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2952EE6-83F2-5DCD-14F8-A222B01B7588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88C8DC16-2EEE-18B2-556A-C89322AB71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D1C47938-B17B-48DE-A945-BF7BD0B17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03C15715-2432-54BC-7AFF-5246CE5D6E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33417CE-0A2C-9E32-84B2-DF7872F7DE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AFD6DF98-A8AA-3910-0B23-36805C3B6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FF42C8C0-F61B-9EBB-1E94-8AD4239792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7AE56D8-9EF1-947C-2112-49F78FE32A51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数字签名</a:t>
                </a:r>
                <a:r>
                  <a:rPr lang="en-US" altLang="zh-CN" sz="2800" dirty="0">
                    <a:latin typeface="+mn-lt"/>
                    <a:ea typeface="+mn-ea"/>
                  </a:rPr>
                  <a:t>(signature)</a:t>
                </a:r>
                <a:r>
                  <a:rPr lang="zh-CN" altLang="en-US" sz="2800" dirty="0">
                    <a:latin typeface="+mn-lt"/>
                    <a:ea typeface="+mn-ea"/>
                  </a:rPr>
                  <a:t>与验证流程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7AE56D8-9EF1-947C-2112-49F78FE32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6F41326-A591-26C8-C2D1-09E7EA12F92C}"/>
              </a:ext>
            </a:extLst>
          </p:cNvPr>
          <p:cNvGraphicFramePr>
            <a:graphicFrameLocks noGrp="1"/>
          </p:cNvGraphicFramePr>
          <p:nvPr/>
        </p:nvGraphicFramePr>
        <p:xfrm>
          <a:off x="261618" y="3934473"/>
          <a:ext cx="11668761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96062">
                  <a:extLst>
                    <a:ext uri="{9D8B030D-6E8A-4147-A177-3AD203B41FA5}">
                      <a16:colId xmlns:a16="http://schemas.microsoft.com/office/drawing/2014/main" val="2908313444"/>
                    </a:ext>
                  </a:extLst>
                </a:gridCol>
                <a:gridCol w="6283112">
                  <a:extLst>
                    <a:ext uri="{9D8B030D-6E8A-4147-A177-3AD203B41FA5}">
                      <a16:colId xmlns:a16="http://schemas.microsoft.com/office/drawing/2014/main" val="2526696859"/>
                    </a:ext>
                  </a:extLst>
                </a:gridCol>
                <a:gridCol w="3889587">
                  <a:extLst>
                    <a:ext uri="{9D8B030D-6E8A-4147-A177-3AD203B41FA5}">
                      <a16:colId xmlns:a16="http://schemas.microsoft.com/office/drawing/2014/main" val="3446144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3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随机选择一对足够大的质数，并计算乘积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59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的欧拉函数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 -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51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选一个与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zh-CN" altLang="en-US" sz="2400" dirty="0"/>
                        <a:t>互质的整数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&lt; e &lt;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3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对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的模反元素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倒数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999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2E03D19C-AD24-DC88-1628-30504E03C6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3250406"/>
                  </p:ext>
                </p:extLst>
              </p:nvPr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签名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/>
                            <a:t>签名</a:t>
                          </a:r>
                          <a:r>
                            <a:rPr lang="pt-BR" sz="2400" dirty="0"/>
                            <a:t>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/>
                            <a:t>验证</a:t>
                          </a:r>
                          <a:r>
                            <a:rPr lang="da-DK" sz="2400" dirty="0"/>
                            <a:t>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2E03D19C-AD24-DC88-1628-30504E03C6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3250406"/>
                  </p:ext>
                </p:extLst>
              </p:nvPr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5257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签名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5814" r="-209" b="-3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105814" r="-209" b="-2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7372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B7A70-7AA1-3AE5-BAC6-9718F349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B503E0-F22D-4CF8-5DBD-12C10520CBE8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E5580-285B-E601-1970-7234D315E42C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04F136A3-62FA-34EE-3A93-C013007A65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11765888-4CC3-8830-3661-09598677F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69BE556-D8DB-E029-B552-E8B9FCB116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7EC1A5F-4FDF-C5F7-003F-352AE76E95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17490984-1B40-3B1B-C012-242A2B058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FAC72BD5-738A-DCC5-E3CE-1D6AF8CA64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020CF7-7515-E64A-45E7-246DF7A42AF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课堂练习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020CF7-7515-E64A-45E7-246DF7A42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DEE083-5177-99D5-D119-C11E94062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4416"/>
              </p:ext>
            </p:extLst>
          </p:nvPr>
        </p:nvGraphicFramePr>
        <p:xfrm>
          <a:off x="261619" y="1422388"/>
          <a:ext cx="1166876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34381">
                  <a:extLst>
                    <a:ext uri="{9D8B030D-6E8A-4147-A177-3AD203B41FA5}">
                      <a16:colId xmlns:a16="http://schemas.microsoft.com/office/drawing/2014/main" val="3740394943"/>
                    </a:ext>
                  </a:extLst>
                </a:gridCol>
                <a:gridCol w="5834381">
                  <a:extLst>
                    <a:ext uri="{9D8B030D-6E8A-4147-A177-3AD203B41FA5}">
                      <a16:colId xmlns:a16="http://schemas.microsoft.com/office/drawing/2014/main" val="1157866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已知</a:t>
                      </a:r>
                      <a:endParaRPr lang="en-US" altLang="zh-CN" sz="240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0" dirty="0"/>
                        <a:t>求解</a:t>
                      </a:r>
                      <a:endParaRPr lang="en-US" altLang="zh-C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569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5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q </a:t>
                      </a:r>
                      <a:r>
                        <a:rPr lang="en-US" altLang="zh-CN" sz="240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n,</a:t>
                      </a:r>
                      <a:r>
                        <a:rPr lang="zh-CN" alt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84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公钥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(</a:t>
                      </a: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其中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要尽可能小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695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私钥</a:t>
                      </a:r>
                      <a:r>
                        <a:rPr lang="en-US" altLang="zh-CN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37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签名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75710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F068A62-5BF4-5B8D-BDDE-ABB4EC526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146180"/>
              </p:ext>
            </p:extLst>
          </p:nvPr>
        </p:nvGraphicFramePr>
        <p:xfrm>
          <a:off x="261618" y="3882458"/>
          <a:ext cx="11668762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34381">
                  <a:extLst>
                    <a:ext uri="{9D8B030D-6E8A-4147-A177-3AD203B41FA5}">
                      <a16:colId xmlns:a16="http://schemas.microsoft.com/office/drawing/2014/main" val="1468247889"/>
                    </a:ext>
                  </a:extLst>
                </a:gridCol>
                <a:gridCol w="5834381">
                  <a:extLst>
                    <a:ext uri="{9D8B030D-6E8A-4147-A177-3AD203B41FA5}">
                      <a16:colId xmlns:a16="http://schemas.microsoft.com/office/drawing/2014/main" val="1884529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变量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数值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21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246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φ(</a:t>
                      </a:r>
                      <a:r>
                        <a:rPr lang="en-US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98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8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048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02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1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0D45A-C774-86CA-9F54-AA4D111B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A293F4D-8CA2-C199-2609-A0D365CA194F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其他数字签名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EDB546-A70E-4EC0-2BD4-EC48FA5119CD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9C9AE083-F215-7A23-C305-676CFED59C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62D64626-A370-E9F4-D6FF-250293820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7A8BD5DB-17A0-D01F-559A-C9024F9E2C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45FD98D1-57DF-8A64-34D4-E87E03C2D3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37E572ED-05EA-1608-0314-9BF2178BE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6F571FEA-C49F-D4A4-E468-9FDB38293A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56721A5-C4DF-AB1B-D1E0-69DC6253F37D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+mn-ea"/>
                      </a:rPr>
                      <m:t>任意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非对称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算法均可实现数字签名（部分需要改造）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56721A5-C4DF-AB1B-D1E0-69DC6253F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5F55BC8-5D6B-F1C9-499F-F4A5DB99A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67607"/>
              </p:ext>
            </p:extLst>
          </p:nvPr>
        </p:nvGraphicFramePr>
        <p:xfrm>
          <a:off x="427820" y="1422388"/>
          <a:ext cx="11164740" cy="48521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21580">
                  <a:extLst>
                    <a:ext uri="{9D8B030D-6E8A-4147-A177-3AD203B41FA5}">
                      <a16:colId xmlns:a16="http://schemas.microsoft.com/office/drawing/2014/main" val="1414074486"/>
                    </a:ext>
                  </a:extLst>
                </a:gridCol>
                <a:gridCol w="3721580">
                  <a:extLst>
                    <a:ext uri="{9D8B030D-6E8A-4147-A177-3AD203B41FA5}">
                      <a16:colId xmlns:a16="http://schemas.microsoft.com/office/drawing/2014/main" val="3335737197"/>
                    </a:ext>
                  </a:extLst>
                </a:gridCol>
                <a:gridCol w="3721580">
                  <a:extLst>
                    <a:ext uri="{9D8B030D-6E8A-4147-A177-3AD203B41FA5}">
                      <a16:colId xmlns:a16="http://schemas.microsoft.com/office/drawing/2014/main" val="1133552600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算法名称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依赖困难问题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备注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571548700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RSA</a:t>
                      </a:r>
                      <a:endParaRPr lang="en-US" sz="2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整数分解困难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最经典的公钥密码；加密与签名方向相反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145157700"/>
                  </a:ext>
                </a:extLst>
              </a:tr>
              <a:tr h="1105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 dirty="0"/>
                        <a:t>ElGamal</a:t>
                      </a:r>
                      <a:endParaRPr lang="zh-CN" altLang="en-US" sz="24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离散对数困难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GnuPG </a:t>
                      </a:r>
                      <a:r>
                        <a:rPr lang="zh-CN" altLang="en-US" sz="2400" dirty="0"/>
                        <a:t>曾使用 </a:t>
                      </a:r>
                      <a:r>
                        <a:rPr lang="en-US" altLang="zh-CN" sz="2400" dirty="0"/>
                        <a:t>ElGamal </a:t>
                      </a:r>
                      <a:r>
                        <a:rPr lang="zh-CN" altLang="en-US" sz="2400" dirty="0"/>
                        <a:t>签名，但随后发现漏洞后仅用于加密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65089377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DSA</a:t>
                      </a:r>
                      <a:endParaRPr lang="en-US" sz="24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离散对数困难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数字签名标准 </a:t>
                      </a:r>
                      <a:r>
                        <a:rPr lang="en-US" altLang="zh-CN" sz="2400" dirty="0"/>
                        <a:t>DSS </a:t>
                      </a:r>
                      <a:r>
                        <a:rPr lang="zh-CN" altLang="en-US" sz="2400" dirty="0"/>
                        <a:t>的核心算法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229975779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b="1" dirty="0"/>
                        <a:t>ECDSA</a:t>
                      </a:r>
                      <a:endParaRPr lang="zh-CN" altLang="en-US" sz="2400" dirty="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椭圆曲线离散对数困难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用椭圆曲线替代 </a:t>
                      </a:r>
                      <a:r>
                        <a:rPr lang="en-US" altLang="zh-CN" sz="2400" dirty="0"/>
                        <a:t>DSA </a:t>
                      </a:r>
                      <a:r>
                        <a:rPr lang="zh-CN" altLang="en-US" sz="2400" dirty="0"/>
                        <a:t>的大数模运算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750710422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Rabin </a:t>
                      </a:r>
                      <a:r>
                        <a:rPr lang="zh-CN" altLang="en-US" sz="2400" b="1"/>
                        <a:t>方式</a:t>
                      </a:r>
                      <a:endParaRPr lang="zh-CN" altLang="en-US" sz="2400"/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模平方根困难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理论上签名与加密均可；结构类似 </a:t>
                      </a:r>
                      <a:r>
                        <a:rPr lang="en-US" altLang="zh-CN" sz="2400" dirty="0"/>
                        <a:t>RSA</a:t>
                      </a:r>
                      <a:endParaRPr lang="zh-CN" altLang="en-US" sz="2400" dirty="0"/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622373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312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B1733-3A74-081E-DF5D-025A879A2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8CC0DD54-A2DF-E6E2-4052-034C47EBC178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0FEC4F-45F3-9269-63B8-1D0FBC7D8E55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D16351D-5AC6-033A-8D6B-E4BC2F2C3913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164A7B54-16B1-34F9-9EC0-ECF1C7BB30E8}"/>
              </a:ext>
            </a:extLst>
          </p:cNvPr>
          <p:cNvSpPr/>
          <p:nvPr/>
        </p:nvSpPr>
        <p:spPr>
          <a:xfrm>
            <a:off x="5434895" y="965685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D172780A-FC9F-BD1C-AE7A-6986C67DE3F8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B19C21FF-CADD-8EA3-9F0C-965FB0EEEB2B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13687B2B-DE9E-B80B-3B35-693A7233244B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B56BFE52-1DFB-1518-DF21-A5EB683AB144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04DDFB7-C35C-6B16-2CF1-9660FE99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34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CFE39A-674D-E67C-C8D3-287F035D06C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数字签名算法安全缺陷</a:t>
            </a:r>
            <a:r>
              <a:rPr lang="en-US" altLang="zh-CN" sz="3600" b="1" dirty="0">
                <a:solidFill>
                  <a:srgbClr val="2A50A1"/>
                </a:solidFill>
              </a:rPr>
              <a:t>——</a:t>
            </a:r>
            <a:r>
              <a:rPr lang="zh-CN" altLang="en-US" sz="3600" b="1" dirty="0">
                <a:solidFill>
                  <a:srgbClr val="2A50A1"/>
                </a:solidFill>
              </a:rPr>
              <a:t>中间人攻击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44BD213-EB1B-A24C-E555-CD07F5EEA238}"/>
              </a:ext>
            </a:extLst>
          </p:cNvPr>
          <p:cNvGrpSpPr/>
          <p:nvPr/>
        </p:nvGrpSpPr>
        <p:grpSpPr>
          <a:xfrm>
            <a:off x="84433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A1FE354C-ADED-3234-1882-43BA025258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9C8C85-D1E5-6B1A-3141-487232EAA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E0F7632-A2D0-286F-DF82-FB7A5D9CEB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93938DAF-93B2-C265-E751-23F7CF1431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7D8E48B0-76E5-05E6-3F6B-96263E213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754EB57A-E7A4-F026-4555-B2B8835933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1799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463D-FD1F-712A-01F2-1B2A7162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92CF5A2B-ADB0-D484-15D1-1D07414F546A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9DCBD846-D10E-CA12-DABB-76BF359C3CCB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17A3DBDD-BA99-BADE-B095-F559C87B0C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FCD0E32D-CAB4-0FC3-69A9-79DCA6ECD8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BFE5E8B-CF18-1BF9-3570-488F05659F11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8D0C7612-9F21-1273-29DC-1D8DD93BD0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BED75DFB-C591-C02B-79FE-389E3E9353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645A2DD-17A6-D0C7-1F7D-2C6B0784F537}"/>
              </a:ext>
            </a:extLst>
          </p:cNvPr>
          <p:cNvSpPr txBox="1"/>
          <p:nvPr/>
        </p:nvSpPr>
        <p:spPr>
          <a:xfrm>
            <a:off x="652513" y="752752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</a:rPr>
              <a:t>课程小结</a:t>
            </a:r>
            <a:endParaRPr lang="en-US" altLang="zh-CN" sz="4000" b="1" dirty="0">
              <a:solidFill>
                <a:schemeClr val="bg2">
                  <a:lumMod val="25000"/>
                </a:schemeClr>
              </a:solidFill>
            </a:endParaRPr>
          </a:p>
          <a:p>
            <a:endParaRPr lang="zh-CN" altLang="en-US" sz="4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F2DEEF-7BEB-E47E-2909-6903AAC1E669}"/>
              </a:ext>
            </a:extLst>
          </p:cNvPr>
          <p:cNvSpPr txBox="1"/>
          <p:nvPr/>
        </p:nvSpPr>
        <p:spPr>
          <a:xfrm>
            <a:off x="735264" y="453303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SUMMARY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DC8267A-57EB-A5AA-DBE6-14E5063AD447}"/>
              </a:ext>
            </a:extLst>
          </p:cNvPr>
          <p:cNvCxnSpPr>
            <a:cxnSpLocks/>
          </p:cNvCxnSpPr>
          <p:nvPr/>
        </p:nvCxnSpPr>
        <p:spPr>
          <a:xfrm>
            <a:off x="2857189" y="453303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C79DB8D2-56C2-223C-BE1B-BFC779779DB9}"/>
              </a:ext>
            </a:extLst>
          </p:cNvPr>
          <p:cNvSpPr txBox="1"/>
          <p:nvPr/>
        </p:nvSpPr>
        <p:spPr>
          <a:xfrm>
            <a:off x="647976" y="3993520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</a:rPr>
              <a:t>下节预告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45BBD0D-1166-B19D-3818-E6FB5E8865A8}"/>
              </a:ext>
            </a:extLst>
          </p:cNvPr>
          <p:cNvSpPr txBox="1"/>
          <p:nvPr/>
        </p:nvSpPr>
        <p:spPr>
          <a:xfrm>
            <a:off x="730727" y="3694071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000" b="1">
                <a:solidFill>
                  <a:schemeClr val="bg2">
                    <a:lumMod val="25000"/>
                  </a:schemeClr>
                </a:solidFill>
              </a:rPr>
              <a:t>PREVIEW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6" name="直接连接符 2">
            <a:extLst>
              <a:ext uri="{FF2B5EF4-FFF2-40B4-BE49-F238E27FC236}">
                <a16:creationId xmlns:a16="http://schemas.microsoft.com/office/drawing/2014/main" id="{29F12E77-47DB-470B-1C73-53D882634A31}"/>
              </a:ext>
            </a:extLst>
          </p:cNvPr>
          <p:cNvCxnSpPr>
            <a:cxnSpLocks/>
          </p:cNvCxnSpPr>
          <p:nvPr/>
        </p:nvCxnSpPr>
        <p:spPr>
          <a:xfrm>
            <a:off x="2852652" y="3694071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DDDF648A-C093-0702-4269-5EBD7F6C1B0E}"/>
              </a:ext>
            </a:extLst>
          </p:cNvPr>
          <p:cNvCxnSpPr>
            <a:cxnSpLocks/>
          </p:cNvCxnSpPr>
          <p:nvPr/>
        </p:nvCxnSpPr>
        <p:spPr>
          <a:xfrm>
            <a:off x="7004" y="3493551"/>
            <a:ext cx="7773285" cy="0"/>
          </a:xfrm>
          <a:prstGeom prst="line">
            <a:avLst/>
          </a:prstGeom>
          <a:ln w="76200">
            <a:solidFill>
              <a:srgbClr val="001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5D0853C-0D5C-C43E-560C-BB9A10B0E764}"/>
              </a:ext>
            </a:extLst>
          </p:cNvPr>
          <p:cNvSpPr txBox="1"/>
          <p:nvPr/>
        </p:nvSpPr>
        <p:spPr>
          <a:xfrm>
            <a:off x="0" y="5708061"/>
            <a:ext cx="269152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实验提醒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6632D5-B896-D835-C21A-2C7743A2D3F1}"/>
              </a:ext>
            </a:extLst>
          </p:cNvPr>
          <p:cNvGrpSpPr/>
          <p:nvPr/>
        </p:nvGrpSpPr>
        <p:grpSpPr>
          <a:xfrm>
            <a:off x="3329762" y="4739189"/>
            <a:ext cx="3989097" cy="538609"/>
            <a:chOff x="3667674" y="1375533"/>
            <a:chExt cx="3989097" cy="538609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D6CAF05-6566-1564-7D92-4FD1363C20CC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公钥基础设施</a:t>
              </a:r>
              <a:endParaRPr lang="zh-CN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085D25A-34C2-49D3-5063-3C5EEA0DE2AD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C3F865A-FCC5-C8E2-2650-5DEFD9256C3C}"/>
              </a:ext>
            </a:extLst>
          </p:cNvPr>
          <p:cNvGrpSpPr/>
          <p:nvPr/>
        </p:nvGrpSpPr>
        <p:grpSpPr>
          <a:xfrm>
            <a:off x="3296231" y="3949202"/>
            <a:ext cx="3989097" cy="538609"/>
            <a:chOff x="3667674" y="1375533"/>
            <a:chExt cx="3989097" cy="5386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77DBFB8-5521-B761-E028-4BB0DBECBFA3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公钥证书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2EDA599-AB6D-BFEA-006C-E0D9001C14BA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399CAE-1B42-5160-99DB-6BCA426A724C}"/>
              </a:ext>
            </a:extLst>
          </p:cNvPr>
          <p:cNvGrpSpPr/>
          <p:nvPr/>
        </p:nvGrpSpPr>
        <p:grpSpPr>
          <a:xfrm>
            <a:off x="3296231" y="786344"/>
            <a:ext cx="3989097" cy="538609"/>
            <a:chOff x="3667674" y="1375533"/>
            <a:chExt cx="3989097" cy="53860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5325A6A-2B31-E3B4-9692-FF3E09C084CB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非对称加密算法缺陷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C384366-AAE1-71D7-A3FB-6DBF3572E06B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1248784-9C1E-B250-766B-C4AA0EFEA20C}"/>
              </a:ext>
            </a:extLst>
          </p:cNvPr>
          <p:cNvGrpSpPr/>
          <p:nvPr/>
        </p:nvGrpSpPr>
        <p:grpSpPr>
          <a:xfrm>
            <a:off x="3296231" y="1600230"/>
            <a:ext cx="3989097" cy="538609"/>
            <a:chOff x="3667674" y="1375533"/>
            <a:chExt cx="3989097" cy="538609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82C5084-D55C-2E2E-AC68-E247B708141C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数字签名的原理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164D03D-7601-B598-2904-B5723F036E5D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B555EC7-1F76-612A-1B5E-845CCBC6BBDA}"/>
              </a:ext>
            </a:extLst>
          </p:cNvPr>
          <p:cNvGrpSpPr/>
          <p:nvPr/>
        </p:nvGrpSpPr>
        <p:grpSpPr>
          <a:xfrm>
            <a:off x="3296231" y="2431474"/>
            <a:ext cx="3989097" cy="538609"/>
            <a:chOff x="3667674" y="1375533"/>
            <a:chExt cx="3989097" cy="538609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458FA4B-C423-ACE3-E3D7-BA922BEC6482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数字签名的实现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7047D75-70E6-2F8A-140F-7226A02A6FE4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675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E5EF0D9-74F0-4CBD-8EB3-E06F15247A89}"/>
              </a:ext>
            </a:extLst>
          </p:cNvPr>
          <p:cNvGrpSpPr/>
          <p:nvPr/>
        </p:nvGrpSpPr>
        <p:grpSpPr>
          <a:xfrm>
            <a:off x="731838" y="1656965"/>
            <a:ext cx="3125794" cy="1606508"/>
            <a:chOff x="3834754" y="2495699"/>
            <a:chExt cx="3125794" cy="160650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BDE1650-85C7-4A9B-8F63-E81D3F1E0338}"/>
                </a:ext>
              </a:extLst>
            </p:cNvPr>
            <p:cNvSpPr txBox="1"/>
            <p:nvPr/>
          </p:nvSpPr>
          <p:spPr>
            <a:xfrm>
              <a:off x="3839501" y="2495699"/>
              <a:ext cx="3121047" cy="9233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4400" b="1" dirty="0">
                  <a:solidFill>
                    <a:schemeClr val="bg1"/>
                  </a:solidFill>
                  <a:latin typeface="Courier New" panose="02070309020205020404" pitchFamily="49" charset="0"/>
                </a:rPr>
                <a:t>感谢各位同学！</a:t>
              </a: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73685BA-9C3E-4785-BA25-027DA8C0D4EA}"/>
                </a:ext>
              </a:extLst>
            </p:cNvPr>
            <p:cNvGrpSpPr/>
            <p:nvPr userDrawn="1"/>
          </p:nvGrpSpPr>
          <p:grpSpPr>
            <a:xfrm>
              <a:off x="3834754" y="3397344"/>
              <a:ext cx="1124118" cy="704863"/>
              <a:chOff x="2468044" y="3339787"/>
              <a:chExt cx="1124118" cy="704863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02CDF5C-630B-4176-91E0-EC7A84F82601}"/>
                  </a:ext>
                </a:extLst>
              </p:cNvPr>
              <p:cNvSpPr txBox="1"/>
              <p:nvPr/>
            </p:nvSpPr>
            <p:spPr>
              <a:xfrm>
                <a:off x="2552710" y="3339787"/>
                <a:ext cx="10394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200" dirty="0">
                    <a:solidFill>
                      <a:schemeClr val="bg1"/>
                    </a:solidFill>
                  </a:rPr>
                  <a:t>欢迎交流学习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0F1DBB-3DD4-4747-B5B3-412C2675D383}"/>
                  </a:ext>
                </a:extLst>
              </p:cNvPr>
              <p:cNvSpPr txBox="1"/>
              <p:nvPr/>
            </p:nvSpPr>
            <p:spPr>
              <a:xfrm>
                <a:off x="2468044" y="3736873"/>
                <a:ext cx="10114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endParaRPr lang="zh-CN" altLang="en-US" sz="2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8690384-B2B0-E128-55A6-CB6A9F742EB1}"/>
              </a:ext>
            </a:extLst>
          </p:cNvPr>
          <p:cNvSpPr txBox="1"/>
          <p:nvPr/>
        </p:nvSpPr>
        <p:spPr>
          <a:xfrm>
            <a:off x="884238" y="5105840"/>
            <a:ext cx="1991309" cy="74896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刘广睿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哈尔滨工业大学 计算学部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2331C9-B0B7-14CB-E360-31C2F2AE29DB}"/>
              </a:ext>
            </a:extLst>
          </p:cNvPr>
          <p:cNvSpPr txBox="1"/>
          <p:nvPr/>
        </p:nvSpPr>
        <p:spPr>
          <a:xfrm>
            <a:off x="884238" y="6098001"/>
            <a:ext cx="1510029" cy="2308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</a:rPr>
              <a:t>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1D443F-15AB-F188-107A-3C93554ED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66988"/>
            <a:ext cx="4707689" cy="1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826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55f52171-deb4-4d87-9864-47bd9ea656bf&quot;,&quot;Name&quot;:&quot;2&quot;,&quot;Kind&quot;:&quot;Custom&quot;,&quot;OldGuidesSetting&quot;:{&quot;HeaderHeight&quot;:0.0,&quot;FooterHeight&quot;:0.0,&quot;SideMargin&quot;:6.0,&quot;TopMargin&quot;:4.0,&quot;BottomMargin&quot;:8.0,&quot;IntervalMargin&quot;:0.0}}"/>
</p:tagLst>
</file>

<file path=ppt/theme/theme1.xml><?xml version="1.0" encoding="utf-8"?>
<a:theme xmlns:a="http://schemas.openxmlformats.org/drawingml/2006/main" name="主题1">
  <a:themeElements>
    <a:clrScheme name="蓝紫渐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50A1"/>
      </a:accent1>
      <a:accent2>
        <a:srgbClr val="8891C8"/>
      </a:accent2>
      <a:accent3>
        <a:srgbClr val="B8D6E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1" id="{2B54C7FC-80FA-4268-B1AB-7A4718C2F40B}" vid="{49D17BBD-BC41-4722-83BC-2CAB04E0C72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22760</TotalTime>
  <Words>2755</Words>
  <Application>Microsoft Macintosh PowerPoint</Application>
  <PresentationFormat>宽屏</PresentationFormat>
  <Paragraphs>522</Paragraphs>
  <Slides>36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等线</vt:lpstr>
      <vt:lpstr>Arial</vt:lpstr>
      <vt:lpstr>Cambria Math</vt:lpstr>
      <vt:lpstr>Courier New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滚筒洗衣机, WeChat:cooljyh</dc:creator>
  <cp:lastModifiedBy>广睿 刘</cp:lastModifiedBy>
  <cp:revision>832</cp:revision>
  <cp:lastPrinted>2025-11-06T12:39:54Z</cp:lastPrinted>
  <dcterms:created xsi:type="dcterms:W3CDTF">2022-03-15T01:56:04Z</dcterms:created>
  <dcterms:modified xsi:type="dcterms:W3CDTF">2025-12-05T07:44:31Z</dcterms:modified>
</cp:coreProperties>
</file>