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518" r:id="rId2"/>
    <p:sldId id="673" r:id="rId3"/>
    <p:sldId id="708" r:id="rId4"/>
    <p:sldId id="712" r:id="rId5"/>
    <p:sldId id="713" r:id="rId6"/>
    <p:sldId id="714" r:id="rId7"/>
    <p:sldId id="715" r:id="rId8"/>
    <p:sldId id="716" r:id="rId9"/>
    <p:sldId id="709" r:id="rId10"/>
    <p:sldId id="710" r:id="rId11"/>
    <p:sldId id="711" r:id="rId12"/>
    <p:sldId id="717" r:id="rId13"/>
    <p:sldId id="719" r:id="rId14"/>
    <p:sldId id="724" r:id="rId15"/>
    <p:sldId id="726" r:id="rId16"/>
    <p:sldId id="727" r:id="rId17"/>
    <p:sldId id="728" r:id="rId18"/>
    <p:sldId id="729" r:id="rId19"/>
    <p:sldId id="674" r:id="rId20"/>
    <p:sldId id="687" r:id="rId21"/>
    <p:sldId id="526" r:id="rId22"/>
    <p:sldId id="730" r:id="rId23"/>
    <p:sldId id="731" r:id="rId24"/>
    <p:sldId id="732" r:id="rId25"/>
    <p:sldId id="733" r:id="rId26"/>
    <p:sldId id="734" r:id="rId27"/>
    <p:sldId id="736" r:id="rId28"/>
    <p:sldId id="735" r:id="rId29"/>
    <p:sldId id="746" r:id="rId30"/>
    <p:sldId id="737" r:id="rId31"/>
    <p:sldId id="738" r:id="rId32"/>
    <p:sldId id="740" r:id="rId33"/>
    <p:sldId id="741" r:id="rId34"/>
    <p:sldId id="739" r:id="rId35"/>
    <p:sldId id="747" r:id="rId36"/>
    <p:sldId id="742" r:id="rId37"/>
    <p:sldId id="743" r:id="rId38"/>
    <p:sldId id="745" r:id="rId39"/>
    <p:sldId id="692" r:id="rId40"/>
    <p:sldId id="307" r:id="rId41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D3F2"/>
    <a:srgbClr val="EBEBF8"/>
    <a:srgbClr val="FF6161"/>
    <a:srgbClr val="FFA7A7"/>
    <a:srgbClr val="2A50A1"/>
    <a:srgbClr val="152851"/>
    <a:srgbClr val="FFFFFF"/>
    <a:srgbClr val="4E5CAB"/>
    <a:srgbClr val="FF4747"/>
    <a:srgbClr val="F35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44" autoAdjust="0"/>
    <p:restoredTop sz="89586" autoAdjust="0"/>
  </p:normalViewPr>
  <p:slideViewPr>
    <p:cSldViewPr snapToGrid="0" showGuides="1">
      <p:cViewPr varScale="1">
        <p:scale>
          <a:sx n="108" d="100"/>
          <a:sy n="108" d="100"/>
        </p:scale>
        <p:origin x="992" y="2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13DC21E-85DA-4BB8-8DB9-4A7F665A6D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7C0327-D93C-4C09-B71F-1298A02789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557B5-F843-48B3-A788-12C67245D8C5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155753-1757-421A-89A5-BDE6E23D2C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86167D-2C8B-4E23-AF2D-B21291C380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331E2-87C0-43E7-9F25-B91BB9001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0925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C9AD7-9524-433D-9BE7-788EEE17CFA1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B8F8F-C2EC-4CC8-9A1E-190092C81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53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7E5CF-4CFF-5801-C4D2-52048B37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A424DE-33D8-4E6D-5C97-7D01F0194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3BC28D-9E92-9263-1C10-FE2568ECE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13:45</a:t>
            </a:r>
            <a:r>
              <a:rPr lang="zh-CN" altLang="en-US" dirty="0"/>
              <a:t>开始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DEB92-1189-960B-C308-629A1639D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781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951D-D2F0-CE66-EDF2-DD1385D6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324F2A-94FA-1CDE-6C27-40BF7944F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B471C-118D-901F-E03D-DBFD5374E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15:20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5E968B-E942-FF09-37BF-DB4FE23AD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913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638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14:00</a:t>
            </a:r>
          </a:p>
          <a:p>
            <a:r>
              <a:rPr lang="zh-CN" altLang="en-US" dirty="0"/>
              <a:t>板书欧拉定理</a:t>
            </a:r>
            <a:r>
              <a:rPr lang="en-US" altLang="zh-CN" dirty="0"/>
              <a:t>3</a:t>
            </a:r>
            <a:r>
              <a:rPr lang="zh-CN" altLang="en-US" dirty="0"/>
              <a:t>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456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407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264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881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375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D49AB-E49F-8238-1790-55BB019B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CCBE5E-D2E3-E258-B54C-CF1A177A7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F8E2BF-30D8-9E32-B2F7-559958D8B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14:10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CBA51C-48AD-6646-7A31-8DFD37ECB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6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11:20-11:30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635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11:20-11:30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906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158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14:20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641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32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660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14:25</a:t>
            </a:r>
          </a:p>
          <a:p>
            <a:r>
              <a:rPr lang="en-US" altLang="zh-CN" dirty="0" err="1"/>
              <a:t>el</a:t>
            </a:r>
            <a:r>
              <a:rPr lang="en-US" altLang="zh-CN" dirty="0"/>
              <a:t> ‘</a:t>
            </a:r>
            <a:r>
              <a:rPr lang="en-US" altLang="zh-CN" dirty="0" err="1"/>
              <a:t>gama</a:t>
            </a:r>
            <a:endParaRPr lang="en-US" altLang="zh-CN" dirty="0"/>
          </a:p>
          <a:p>
            <a:r>
              <a:rPr lang="en-US" altLang="zh-CN" dirty="0"/>
              <a:t>rea ‘bin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9996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4698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14:35</a:t>
            </a:r>
          </a:p>
          <a:p>
            <a:r>
              <a:rPr lang="zh-CN" altLang="en-US" dirty="0"/>
              <a:t>课间休息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574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14:40</a:t>
            </a:r>
          </a:p>
          <a:p>
            <a:r>
              <a:rPr lang="zh-CN" altLang="en-US" dirty="0"/>
              <a:t>开始上课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863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8870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14:50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425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FAF40-859C-826B-3836-C60F7CC4B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786FFA-3A0E-93BA-7E38-CC1F6EDE0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64E824-A25D-36BE-5DC0-2A913C74A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290122B2-85A0-BC81-EDC3-2B51BC6194C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330BBF-7827-9703-2E32-DC5304D03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3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5D53-EE3F-1DC9-3C58-4BB688168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52C2CE-97CD-6DB1-CCE7-6D575FCCA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2453AF-D613-7503-31D1-B5A076C6E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943596FF-FCD5-A1FF-EC29-A3E665C2BD8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2089AF-4138-F119-9FF4-843C41C60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912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D209-FD22-4900-C15B-F49C89B14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207352-C0FB-68AC-ADB3-F6710E75F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F454BA-D6B1-4402-B7B5-40E26EC68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2CB75A-55BD-91E5-8B68-E1BE0094D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5432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6F72E-85C8-B2F2-EABA-D835DC94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CDCB53-7481-4AC4-EFA9-42379B1C1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83F699-931A-F6A5-B5DD-483A581A1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15:00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DDDD21-4481-8288-4754-8C18C9C4B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3076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62B02-1D3D-5C5A-11B3-D27E00BAF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49F02E-82D3-0236-9C9D-F2198735F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728234-5D07-A577-F38E-ABB14B196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15:00-15:10</a:t>
            </a: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043008B6-7BF0-EF18-5C2D-69129608561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18CF0A-F6BC-1ED6-D3EC-A8C7A0A0A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444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41C36-12C0-9883-0801-9F44A2B4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CC4FAE-CA7F-B659-2630-E4CF3A2C8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0BB458-455F-02F8-7453-F459B7C9C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15:10-15:20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4C178C-1514-F8A4-FE5B-F9F0D6611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972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A0B1-9854-CE0C-C0B6-460C19479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F76C32-4EC1-B787-C9AC-1E0D1CE53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94BD47-7BFD-FDC6-010F-074F70042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15:30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6B3C62-94CB-921A-6275-C328776A5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6975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F0AD5-92EC-0D7A-C3A6-34AC0E40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BD8F7F-AFF4-9D64-53A8-5BF70FCE4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8E90FB-E499-E66F-6D34-425E219DC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15:30</a:t>
            </a:r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F075CD43-E7DC-B768-00B3-8DD25F992C1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密码学原理 </a:t>
            </a:r>
            <a:r>
              <a:rPr lang="en-US"/>
              <a:t>Cryptography Principles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358516-613A-BF37-DA8B-A08474A5F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180AA-17C1-8343-89F7-A1DAC01D4BE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174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11:45</a:t>
            </a:r>
            <a:r>
              <a:rPr kumimoji="1" lang="zh-CN" altLang="en-US" dirty="0"/>
              <a:t>结束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9473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B8F8F-C2EC-4CC8-9A1E-190092C811C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676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81FE403-EFBE-407B-B1B0-589475D3132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79BA6D-EC23-4497-9041-CE1317A49D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D99F5985-A2DB-49D7-0706-93D3C101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1001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CDD81EF3-E712-F5C6-BDC9-F704CAEF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9252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17CE0AD8-4B8A-4CB3-90A2-2EBD4D419B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883884EC-E0BD-292A-12C5-46119C62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8509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DC7B277-97E2-48C0-9D4D-EB6B0FE9FA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28FEE77D-2CC8-414A-04A7-967603AF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3730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3E7863A-1514-4D60-AE03-86A6CDA04DBD}"/>
              </a:ext>
            </a:extLst>
          </p:cNvPr>
          <p:cNvSpPr/>
          <p:nvPr userDrawn="1"/>
        </p:nvSpPr>
        <p:spPr>
          <a:xfrm>
            <a:off x="0" y="-1"/>
            <a:ext cx="12192000" cy="2725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3477F4-59D1-4BC5-B4A9-27AF6AF5FD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9942022" y="151774"/>
            <a:ext cx="2088899" cy="511106"/>
          </a:xfrm>
          <a:prstGeom prst="rect">
            <a:avLst/>
          </a:prstGeom>
        </p:spPr>
      </p:pic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A3F02F0D-D97F-A414-C3BA-2DD34611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3405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BAB4A06-08C2-4C23-89B2-C98B3F8C7F75}"/>
              </a:ext>
            </a:extLst>
          </p:cNvPr>
          <p:cNvSpPr/>
          <p:nvPr userDrawn="1"/>
        </p:nvSpPr>
        <p:spPr>
          <a:xfrm>
            <a:off x="0" y="1"/>
            <a:ext cx="4684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76BB2E33-D1D3-4B64-A8DE-FCB20D58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16587A-6048-4612-8826-36F563D3AC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9942022" y="151774"/>
            <a:ext cx="2088899" cy="5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24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BAB4A06-08C2-4C23-89B2-C98B3F8C7F75}"/>
              </a:ext>
            </a:extLst>
          </p:cNvPr>
          <p:cNvSpPr/>
          <p:nvPr userDrawn="1"/>
        </p:nvSpPr>
        <p:spPr>
          <a:xfrm>
            <a:off x="0" y="1"/>
            <a:ext cx="4684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91384DB8-DD7B-6F63-0A62-DA2C1F99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4386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0EC24C7-A0C0-4B33-8A17-49C5A5794F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27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8274DD1-C79A-4AC5-B392-A4900D81502B}"/>
              </a:ext>
            </a:extLst>
          </p:cNvPr>
          <p:cNvGrpSpPr/>
          <p:nvPr userDrawn="1"/>
        </p:nvGrpSpPr>
        <p:grpSpPr>
          <a:xfrm rot="20394303">
            <a:off x="3221945" y="-1575994"/>
            <a:ext cx="11439261" cy="11910951"/>
            <a:chOff x="3439566" y="1666270"/>
            <a:chExt cx="11439261" cy="11910951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3B3CDDB-B14C-42F2-A1F1-49B0792801F9}"/>
                </a:ext>
              </a:extLst>
            </p:cNvPr>
            <p:cNvGrpSpPr/>
            <p:nvPr/>
          </p:nvGrpSpPr>
          <p:grpSpPr>
            <a:xfrm rot="4029167">
              <a:off x="8779335" y="1665563"/>
              <a:ext cx="6098786" cy="6100199"/>
              <a:chOff x="18351500" y="3723568"/>
              <a:chExt cx="4878842" cy="4879972"/>
            </a:xfrm>
          </p:grpSpPr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26E67D38-75E0-4071-95F6-2AE5FDAF86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5A2EBA7D-F88D-443E-AA35-69B8AB9B65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3386FE9-1899-4359-9BFD-946DEFB6A584}"/>
                </a:ext>
              </a:extLst>
            </p:cNvPr>
            <p:cNvGrpSpPr/>
            <p:nvPr/>
          </p:nvGrpSpPr>
          <p:grpSpPr>
            <a:xfrm rot="14829167">
              <a:off x="3440583" y="4789517"/>
              <a:ext cx="8786687" cy="8788722"/>
              <a:chOff x="18351500" y="3723568"/>
              <a:chExt cx="4878842" cy="4879972"/>
            </a:xfrm>
          </p:grpSpPr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F24A2437-0A2C-45FB-9F89-DF6496635E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74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491B2948-B0A7-4C57-902F-1D49D22C7E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54E713C6-2984-4AD1-870F-DA1B300B2C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4878" r="31497" b="15137"/>
          <a:stretch/>
        </p:blipFill>
        <p:spPr>
          <a:xfrm>
            <a:off x="8745042" y="151774"/>
            <a:ext cx="3285880" cy="8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8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AF93E90-9242-47EA-9503-C81D319405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C3F978FE-3E48-1401-F5BC-1480EF56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9562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DF50A41-D5D0-094F-ACFA-76933026B598}" type="datetime1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951929C-A4A1-CCA1-7D58-1C9B6247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3967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副标题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27C9616-A78E-42B7-B805-E89A55542A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灯片编号占位符 7">
            <a:extLst>
              <a:ext uri="{FF2B5EF4-FFF2-40B4-BE49-F238E27FC236}">
                <a16:creationId xmlns:a16="http://schemas.microsoft.com/office/drawing/2014/main" id="{F639B804-1261-E23F-0730-1E314A2F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08605" y="6564168"/>
            <a:ext cx="2743200" cy="365125"/>
          </a:xfrm>
        </p:spPr>
        <p:txBody>
          <a:bodyPr/>
          <a:lstStyle>
            <a:lvl1pPr>
              <a:defRPr sz="2000"/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6292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9B3896-319D-45EF-A996-F06C43596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73E40-2F7A-654D-BA68-80A2D59C5920}" type="datetime1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9B380B-4756-4CAD-8741-32E82C5C1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C9323-1CD7-4830-B0EE-DC83BF437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05AE2-E521-4071-B027-062C254CF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3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1" r:id="rId2"/>
    <p:sldLayoutId id="2147483654" r:id="rId3"/>
    <p:sldLayoutId id="2147483666" r:id="rId4"/>
    <p:sldLayoutId id="2147483667" r:id="rId5"/>
    <p:sldLayoutId id="2147483668" r:id="rId6"/>
    <p:sldLayoutId id="2147483655" r:id="rId7"/>
    <p:sldLayoutId id="214748365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8" userDrawn="1">
          <p15:clr>
            <a:srgbClr val="F26B43"/>
          </p15:clr>
        </p15:guide>
        <p15:guide id="2" orient="horz" pos="3968" userDrawn="1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2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43.png"/><Relationship Id="rId4" Type="http://schemas.openxmlformats.org/officeDocument/2006/relationships/image" Target="../media/image2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7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32.png"/><Relationship Id="rId4" Type="http://schemas.microsoft.com/office/2007/relationships/hdphoto" Target="../media/hdphoto2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220.png"/><Relationship Id="rId3" Type="http://schemas.openxmlformats.org/officeDocument/2006/relationships/image" Target="../media/image120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15" Type="http://schemas.openxmlformats.org/officeDocument/2006/relationships/image" Target="../media/image240.png"/><Relationship Id="rId10" Type="http://schemas.openxmlformats.org/officeDocument/2006/relationships/image" Target="../media/image320.png"/><Relationship Id="rId4" Type="http://schemas.openxmlformats.org/officeDocument/2006/relationships/image" Target="../media/image130.png"/><Relationship Id="rId9" Type="http://schemas.openxmlformats.org/officeDocument/2006/relationships/image" Target="../media/image310.png"/><Relationship Id="rId14" Type="http://schemas.openxmlformats.org/officeDocument/2006/relationships/image" Target="../media/image2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0.png"/><Relationship Id="rId5" Type="http://schemas.openxmlformats.org/officeDocument/2006/relationships/image" Target="../media/image37.png"/><Relationship Id="rId4" Type="http://schemas.openxmlformats.org/officeDocument/2006/relationships/image" Target="../media/image1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8.png"/><Relationship Id="rId7" Type="http://schemas.microsoft.com/office/2007/relationships/hdphoto" Target="../media/hdphoto2.wdp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59.png"/><Relationship Id="rId9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C255-7EA1-3FCB-AD73-8EF9270B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8A05D1D1-FC36-E154-503F-D312E24E3AFB}"/>
              </a:ext>
            </a:extLst>
          </p:cNvPr>
          <p:cNvSpPr txBox="1"/>
          <p:nvPr/>
        </p:nvSpPr>
        <p:spPr>
          <a:xfrm>
            <a:off x="715404" y="2009273"/>
            <a:ext cx="7064885" cy="115960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just"/>
            <a:r>
              <a:rPr lang="zh-CN" altLang="en-US" sz="7200" b="1" dirty="0">
                <a:solidFill>
                  <a:schemeClr val="bg1"/>
                </a:solidFill>
                <a:latin typeface="+mj-ea"/>
              </a:rPr>
              <a:t>密码学原理</a:t>
            </a:r>
            <a:endParaRPr lang="zh-CN" altLang="zh-CN" sz="7200" b="1" dirty="0">
              <a:solidFill>
                <a:schemeClr val="bg1"/>
              </a:solidFill>
              <a:latin typeface="+mj-ea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4A076ED-B5A0-0B6D-5155-C5BD4B6439E4}"/>
              </a:ext>
            </a:extLst>
          </p:cNvPr>
          <p:cNvGrpSpPr/>
          <p:nvPr/>
        </p:nvGrpSpPr>
        <p:grpSpPr>
          <a:xfrm rot="637793">
            <a:off x="6717963" y="-2695151"/>
            <a:ext cx="8786687" cy="13156983"/>
            <a:chOff x="14552960" y="-177472"/>
            <a:chExt cx="7029080" cy="10525183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3404FA92-C8B0-FDAA-6AD9-192C0379D0BA}"/>
                </a:ext>
              </a:extLst>
            </p:cNvPr>
            <p:cNvGrpSpPr/>
            <p:nvPr/>
          </p:nvGrpSpPr>
          <p:grpSpPr>
            <a:xfrm rot="1495231">
              <a:off x="15166450" y="-177472"/>
              <a:ext cx="4878842" cy="4879972"/>
              <a:chOff x="18351500" y="3723568"/>
              <a:chExt cx="4878842" cy="4879972"/>
            </a:xfrm>
          </p:grpSpPr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0D40C975-AF6C-1A30-DCA6-127C8B9029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7">
                <a:extLst>
                  <a:ext uri="{FF2B5EF4-FFF2-40B4-BE49-F238E27FC236}">
                    <a16:creationId xmlns:a16="http://schemas.microsoft.com/office/drawing/2014/main" id="{B2BE7C3A-1814-947F-1A09-066A1EE715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73E1E18-065C-349B-ECEA-1205F77A383A}"/>
                </a:ext>
              </a:extLst>
            </p:cNvPr>
            <p:cNvGrpSpPr/>
            <p:nvPr/>
          </p:nvGrpSpPr>
          <p:grpSpPr>
            <a:xfrm rot="12295231">
              <a:off x="14552960" y="3317003"/>
              <a:ext cx="7029080" cy="7030708"/>
              <a:chOff x="18351500" y="3723568"/>
              <a:chExt cx="4878842" cy="4879972"/>
            </a:xfrm>
          </p:grpSpPr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8CC3EC3C-5C56-F304-2F57-4D733B6EAD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bg1">
                  <a:alpha val="74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dirty="0"/>
              </a:p>
            </p:txBody>
          </p:sp>
          <p:sp>
            <p:nvSpPr>
              <p:cNvPr id="59" name="Freeform 7">
                <a:extLst>
                  <a:ext uri="{FF2B5EF4-FFF2-40B4-BE49-F238E27FC236}">
                    <a16:creationId xmlns:a16="http://schemas.microsoft.com/office/drawing/2014/main" id="{13764C36-7064-D34C-7F39-DB42AA175D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BFE3AB5-262C-842B-D867-F1C9CA5E20BD}"/>
              </a:ext>
            </a:extLst>
          </p:cNvPr>
          <p:cNvSpPr txBox="1"/>
          <p:nvPr/>
        </p:nvSpPr>
        <p:spPr>
          <a:xfrm>
            <a:off x="884238" y="5105840"/>
            <a:ext cx="1991309" cy="74896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刘广睿</a:t>
            </a:r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哈尔滨工业大学 计算学部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5B60EE-56B9-C0F1-BB28-51194A8D3571}"/>
              </a:ext>
            </a:extLst>
          </p:cNvPr>
          <p:cNvSpPr txBox="1"/>
          <p:nvPr/>
        </p:nvSpPr>
        <p:spPr>
          <a:xfrm>
            <a:off x="884238" y="6098001"/>
            <a:ext cx="1510029" cy="2308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2025</a:t>
            </a:r>
            <a:r>
              <a:rPr lang="zh-CN" altLang="en-US" sz="2400" dirty="0">
                <a:solidFill>
                  <a:schemeClr val="bg1"/>
                </a:solidFill>
              </a:rPr>
              <a:t>秋</a:t>
            </a:r>
          </a:p>
        </p:txBody>
      </p:sp>
      <p:sp>
        <p:nvSpPr>
          <p:cNvPr id="4" name="五边形 3">
            <a:extLst>
              <a:ext uri="{FF2B5EF4-FFF2-40B4-BE49-F238E27FC236}">
                <a16:creationId xmlns:a16="http://schemas.microsoft.com/office/drawing/2014/main" id="{31CA5973-2787-F5F4-8BFB-CB49EED2B0DD}"/>
              </a:ext>
            </a:extLst>
          </p:cNvPr>
          <p:cNvSpPr/>
          <p:nvPr/>
        </p:nvSpPr>
        <p:spPr>
          <a:xfrm>
            <a:off x="0" y="3870815"/>
            <a:ext cx="8100646" cy="730010"/>
          </a:xfrm>
          <a:prstGeom prst="homePlate">
            <a:avLst/>
          </a:prstGeom>
          <a:solidFill>
            <a:srgbClr val="D0D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just"/>
            <a:r>
              <a:rPr lang="zh-CN" altLang="en-US" sz="2800" dirty="0">
                <a:solidFill>
                  <a:schemeClr val="accent1"/>
                </a:solidFill>
              </a:rPr>
              <a:t>第</a:t>
            </a:r>
            <a:r>
              <a:rPr lang="en-US" altLang="zh-CN" sz="2800" dirty="0">
                <a:solidFill>
                  <a:schemeClr val="accent1"/>
                </a:solidFill>
              </a:rPr>
              <a:t>11</a:t>
            </a:r>
            <a:r>
              <a:rPr lang="zh-CN" altLang="en-US" sz="2800" dirty="0">
                <a:solidFill>
                  <a:schemeClr val="accent1"/>
                </a:solidFill>
              </a:rPr>
              <a:t>讲：椭圆曲线加密机制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1A942C-FE03-50A9-EF21-668A9A0AE111}"/>
              </a:ext>
            </a:extLst>
          </p:cNvPr>
          <p:cNvSpPr txBox="1"/>
          <p:nvPr/>
        </p:nvSpPr>
        <p:spPr>
          <a:xfrm>
            <a:off x="715404" y="3151011"/>
            <a:ext cx="762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" altLang="zh-CN" sz="3200" b="1" dirty="0">
                <a:solidFill>
                  <a:schemeClr val="bg1"/>
                </a:solidFill>
                <a:latin typeface="+mj-lt"/>
              </a:rPr>
              <a:t>Cryptography Principles </a:t>
            </a:r>
            <a:endParaRPr lang="en-US" altLang="zh-CN" sz="32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1AE2507-45A8-7FC2-8DED-0BCBD5629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830" y="5575904"/>
            <a:ext cx="4707689" cy="12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5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07C2-2917-A5E9-001F-CF32F959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DBE734-9972-B6DF-7830-3EC6E582DEFE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上节回顾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2CC0CB8-77A2-6EA5-3FC8-17B136FE1242}"/>
              </a:ext>
            </a:extLst>
          </p:cNvPr>
          <p:cNvGrpSpPr/>
          <p:nvPr/>
        </p:nvGrpSpPr>
        <p:grpSpPr>
          <a:xfrm>
            <a:off x="2037741" y="111047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180AA5C4-1F8B-E35B-7C63-40B766C3A2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78DCF2A5-820E-6CF8-E82C-868D2F5F65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CCAED7F8-8F81-C809-5883-4C36213477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7C22398-4EA2-53C7-6E7B-BE0B75F15F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D23F7A04-5A23-1C0B-EE43-B2C1E0856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CBAFE3F8-F304-028E-9E71-D225A1AEE3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ACCDADD5-9493-B0D2-61B5-1A43EA3F6C0E}"/>
              </a:ext>
            </a:extLst>
          </p:cNvPr>
          <p:cNvSpPr txBox="1"/>
          <p:nvPr/>
        </p:nvSpPr>
        <p:spPr>
          <a:xfrm>
            <a:off x="652513" y="1677787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5000" b="1" dirty="0">
                <a:solidFill>
                  <a:schemeClr val="bg2">
                    <a:lumMod val="25000"/>
                  </a:schemeClr>
                </a:solidFill>
              </a:rPr>
              <a:t>回顾</a:t>
            </a:r>
            <a:endParaRPr lang="en-US" altLang="zh-CN" sz="5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9FF038-7B96-4739-F662-8EDAE440D73F}"/>
              </a:ext>
            </a:extLst>
          </p:cNvPr>
          <p:cNvSpPr txBox="1"/>
          <p:nvPr/>
        </p:nvSpPr>
        <p:spPr>
          <a:xfrm>
            <a:off x="735264" y="1378338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CONTENTES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24" name="直接连接符 2">
            <a:extLst>
              <a:ext uri="{FF2B5EF4-FFF2-40B4-BE49-F238E27FC236}">
                <a16:creationId xmlns:a16="http://schemas.microsoft.com/office/drawing/2014/main" id="{1FADC073-070E-BDD0-7C44-F27A98D12D32}"/>
              </a:ext>
            </a:extLst>
          </p:cNvPr>
          <p:cNvCxnSpPr>
            <a:cxnSpLocks/>
          </p:cNvCxnSpPr>
          <p:nvPr/>
        </p:nvCxnSpPr>
        <p:spPr>
          <a:xfrm>
            <a:off x="2857189" y="1378338"/>
            <a:ext cx="0" cy="204263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B03B614-FAA8-AB73-DDC9-56F10BF5D967}"/>
              </a:ext>
            </a:extLst>
          </p:cNvPr>
          <p:cNvGrpSpPr/>
          <p:nvPr/>
        </p:nvGrpSpPr>
        <p:grpSpPr>
          <a:xfrm>
            <a:off x="3256712" y="1367183"/>
            <a:ext cx="3989097" cy="538609"/>
            <a:chOff x="3667674" y="1375533"/>
            <a:chExt cx="3989097" cy="538609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7EF693A-2C7C-95A8-9F53-67E6B1F16D8A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欧拉定理与</a:t>
              </a:r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数论基础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7F0D2DC-4D4F-88DA-06F8-7E3D532E82F9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682992E-F230-866A-16BC-4565EF0F0F5C}"/>
              </a:ext>
            </a:extLst>
          </p:cNvPr>
          <p:cNvGrpSpPr/>
          <p:nvPr/>
        </p:nvGrpSpPr>
        <p:grpSpPr>
          <a:xfrm>
            <a:off x="3236496" y="2180561"/>
            <a:ext cx="3989097" cy="538609"/>
            <a:chOff x="3667674" y="1375533"/>
            <a:chExt cx="3989097" cy="538609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9C86B8F-4209-C4C8-8EC8-6836D041242C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密钥生成与加解密机制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DB16D1B-4590-A7F3-C525-9D62EE17CAE7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2058ACD-C3CF-D574-7EBC-0610EA67FE08}"/>
              </a:ext>
            </a:extLst>
          </p:cNvPr>
          <p:cNvGrpSpPr/>
          <p:nvPr/>
        </p:nvGrpSpPr>
        <p:grpSpPr>
          <a:xfrm>
            <a:off x="3236496" y="2993939"/>
            <a:ext cx="3989097" cy="538609"/>
            <a:chOff x="3667674" y="1375533"/>
            <a:chExt cx="3989097" cy="538609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CB33055-5F90-E884-5D9C-C5517DE9C44B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安全性分析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4B9617A-AB96-3A46-9A6D-04F919A97F9E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#03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9357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A35A0E-C1A4-8689-6378-9D0FD97BB3CB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59C880C-B0F8-F687-D984-79B227621B6B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312C2557-28D1-46BE-98C8-63695C2388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B91E4F00-6F4B-E5F6-8D7A-4EB499E89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D5F583B9-1A17-4FF1-E987-2F70DE7650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BA2FE466-1DD3-7DC2-4C0B-E7F662D200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14FA2023-B313-42BD-BA4A-83A8DFB74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11A94971-B3B2-7D0E-1790-9C7BAABE5C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660292-01C4-E5E0-9D7C-34E66296091E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加密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660292-01C4-E5E0-9D7C-34E662960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2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4588B0-638F-C5C1-043C-EA95182F09A5}"/>
                  </a:ext>
                </a:extLst>
              </p:cNvPr>
              <p:cNvSpPr txBox="1"/>
              <p:nvPr/>
            </p:nvSpPr>
            <p:spPr>
              <a:xfrm>
                <a:off x="-321923" y="1906604"/>
                <a:ext cx="4206304" cy="6631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𝑝𝑘</m:t>
                          </m:r>
                        </m:sub>
                      </m:sSub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4588B0-638F-C5C1-043C-EA95182F0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923" y="1906604"/>
                <a:ext cx="4206304" cy="6631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D9B6DCC-3C22-E33D-BFB5-8C79E37FA405}"/>
                  </a:ext>
                </a:extLst>
              </p:cNvPr>
              <p:cNvSpPr txBox="1"/>
              <p:nvPr/>
            </p:nvSpPr>
            <p:spPr>
              <a:xfrm>
                <a:off x="3666644" y="1906604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sz="40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D9B6DCC-3C22-E33D-BFB5-8C79E37FA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644" y="1906604"/>
                <a:ext cx="4206304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8A8F96E-980D-5D32-B901-E98953568EDA}"/>
                  </a:ext>
                </a:extLst>
              </p:cNvPr>
              <p:cNvSpPr txBox="1"/>
              <p:nvPr/>
            </p:nvSpPr>
            <p:spPr>
              <a:xfrm>
                <a:off x="7655211" y="1906603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𝑝𝑘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8A8F96E-980D-5D32-B901-E98953568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211" y="1906603"/>
                <a:ext cx="4206304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12C2C7-A487-D321-4EA0-FE5B3D1EFB75}"/>
                  </a:ext>
                </a:extLst>
              </p:cNvPr>
              <p:cNvSpPr txBox="1"/>
              <p:nvPr/>
            </p:nvSpPr>
            <p:spPr>
              <a:xfrm>
                <a:off x="0" y="3238840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ea typeface="+mn-ea"/>
                      </a:rPr>
                      <m:t>解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密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12C2C7-A487-D321-4EA0-FE5B3D1EF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38840"/>
                <a:ext cx="12192000" cy="523220"/>
              </a:xfrm>
              <a:prstGeom prst="rect">
                <a:avLst/>
              </a:prstGeom>
              <a:blipFill>
                <a:blip r:embed="rId6"/>
                <a:stretch>
                  <a:fillRect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37005C6-F936-D0A5-461D-4CF115BD515B}"/>
                  </a:ext>
                </a:extLst>
              </p:cNvPr>
              <p:cNvSpPr txBox="1"/>
              <p:nvPr/>
            </p:nvSpPr>
            <p:spPr>
              <a:xfrm>
                <a:off x="-321923" y="4532106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4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𝑠𝑘</m:t>
                          </m:r>
                        </m:sub>
                      </m:sSub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37005C6-F936-D0A5-461D-4CF115BD5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923" y="4532106"/>
                <a:ext cx="4206304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EC168BA-EDE2-0355-DC39-5881F9159E67}"/>
                  </a:ext>
                </a:extLst>
              </p:cNvPr>
              <p:cNvSpPr txBox="1"/>
              <p:nvPr/>
            </p:nvSpPr>
            <p:spPr>
              <a:xfrm>
                <a:off x="3666644" y="4532106"/>
                <a:ext cx="4206304" cy="6265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altLang="zh-CN" sz="4000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EC168BA-EDE2-0355-DC39-5881F9159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644" y="4532106"/>
                <a:ext cx="4206304" cy="6265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8BE052-7300-A662-BCB4-AAB0591B107A}"/>
                  </a:ext>
                </a:extLst>
              </p:cNvPr>
              <p:cNvSpPr txBox="1"/>
              <p:nvPr/>
            </p:nvSpPr>
            <p:spPr>
              <a:xfrm>
                <a:off x="7655211" y="4532105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𝑠𝑘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A8BE052-7300-A662-BCB4-AAB0591B1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211" y="4532105"/>
                <a:ext cx="4206304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下箭头 26">
            <a:extLst>
              <a:ext uri="{FF2B5EF4-FFF2-40B4-BE49-F238E27FC236}">
                <a16:creationId xmlns:a16="http://schemas.microsoft.com/office/drawing/2014/main" id="{7CB831E8-845D-5FA1-A064-ACA04AF1089B}"/>
              </a:ext>
            </a:extLst>
          </p:cNvPr>
          <p:cNvSpPr/>
          <p:nvPr/>
        </p:nvSpPr>
        <p:spPr>
          <a:xfrm rot="16200000">
            <a:off x="3317113" y="1965978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9" name="下箭头 26">
            <a:extLst>
              <a:ext uri="{FF2B5EF4-FFF2-40B4-BE49-F238E27FC236}">
                <a16:creationId xmlns:a16="http://schemas.microsoft.com/office/drawing/2014/main" id="{5DE55B76-E4C4-1255-2FC3-9C1C58235696}"/>
              </a:ext>
            </a:extLst>
          </p:cNvPr>
          <p:cNvSpPr/>
          <p:nvPr/>
        </p:nvSpPr>
        <p:spPr>
          <a:xfrm rot="16200000">
            <a:off x="7592202" y="1965978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0" name="下箭头 26">
            <a:extLst>
              <a:ext uri="{FF2B5EF4-FFF2-40B4-BE49-F238E27FC236}">
                <a16:creationId xmlns:a16="http://schemas.microsoft.com/office/drawing/2014/main" id="{0E13775E-8962-60AB-61CE-686EF877B296}"/>
              </a:ext>
            </a:extLst>
          </p:cNvPr>
          <p:cNvSpPr/>
          <p:nvPr/>
        </p:nvSpPr>
        <p:spPr>
          <a:xfrm rot="16200000">
            <a:off x="3317113" y="4527466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1" name="下箭头 26">
            <a:extLst>
              <a:ext uri="{FF2B5EF4-FFF2-40B4-BE49-F238E27FC236}">
                <a16:creationId xmlns:a16="http://schemas.microsoft.com/office/drawing/2014/main" id="{3175385A-015E-BBBD-E9F4-AC35598CA2BA}"/>
              </a:ext>
            </a:extLst>
          </p:cNvPr>
          <p:cNvSpPr/>
          <p:nvPr/>
        </p:nvSpPr>
        <p:spPr>
          <a:xfrm rot="16200000">
            <a:off x="7592202" y="4587243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137406-B5B4-5B0A-334F-DE544B7996CD}"/>
              </a:ext>
            </a:extLst>
          </p:cNvPr>
          <p:cNvSpPr txBox="1"/>
          <p:nvPr/>
        </p:nvSpPr>
        <p:spPr>
          <a:xfrm>
            <a:off x="0" y="5780561"/>
            <a:ext cx="577088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RSA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的明文、密文、密钥均为整数</a:t>
            </a:r>
            <a:endParaRPr lang="zh-CN" altLang="zh-CN" sz="28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2E28003-C350-1D7E-0703-1C560730D6A5}"/>
                  </a:ext>
                </a:extLst>
              </p:cNvPr>
              <p:cNvSpPr txBox="1"/>
              <p:nvPr/>
            </p:nvSpPr>
            <p:spPr>
              <a:xfrm>
                <a:off x="7647340" y="5710157"/>
                <a:ext cx="4544660" cy="593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𝑒𝑑</m:t>
                          </m:r>
                        </m:sup>
                      </m:sSup>
                      <m:d>
                        <m:dPr>
                          <m:ctrlP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2E28003-C350-1D7E-0703-1C560730D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340" y="5710157"/>
                <a:ext cx="4544660" cy="5936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36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E9DD1-9DBC-2673-B075-BA136C784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136AF-C070-B2B7-23D4-AA33ACA1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B25AB-B8EC-BA8C-04E3-13F204024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660" y="3630468"/>
            <a:ext cx="4940300" cy="29337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DE8BFAF-E80D-8B1B-B693-AB2345D7C69D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单向陷门函数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E34FF68-BD9B-7FD5-FD40-9EB63959A824}"/>
              </a:ext>
            </a:extLst>
          </p:cNvPr>
          <p:cNvGrpSpPr/>
          <p:nvPr/>
        </p:nvGrpSpPr>
        <p:grpSpPr>
          <a:xfrm>
            <a:off x="3412992" y="99174"/>
            <a:ext cx="425713" cy="442041"/>
            <a:chOff x="5823870" y="1767426"/>
            <a:chExt cx="425713" cy="442041"/>
          </a:xfrm>
        </p:grpSpPr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EE2B3AD-D6CC-1C87-08D4-96B0026EB3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1ACBF069-9CDD-BD11-EC40-4D57214E4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1390762A-4857-CF79-3914-98A3A611DD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F61F4E-8BC3-84D3-5B29-F8C37F036B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49297594-37C2-970E-892B-D897BECBC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93EE7F8-3A9F-4E70-6146-B192002111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97476E5-43AA-A014-CEBD-08180CADECB9}"/>
              </a:ext>
            </a:extLst>
          </p:cNvPr>
          <p:cNvSpPr/>
          <p:nvPr/>
        </p:nvSpPr>
        <p:spPr>
          <a:xfrm>
            <a:off x="202095" y="947634"/>
            <a:ext cx="11787809" cy="1120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陷门函数（</a:t>
            </a:r>
            <a:r>
              <a:rPr lang="en" altLang="zh-CN" sz="2800" dirty="0">
                <a:solidFill>
                  <a:schemeClr val="tx1"/>
                </a:solidFill>
              </a:rPr>
              <a:t>Trapdoor function</a:t>
            </a:r>
            <a:r>
              <a:rPr lang="zh-CN" altLang="en" sz="2800" dirty="0">
                <a:solidFill>
                  <a:schemeClr val="tx1"/>
                </a:solidFill>
              </a:rPr>
              <a:t>）</a:t>
            </a:r>
            <a:r>
              <a:rPr lang="en" altLang="zh-CN" sz="2800" dirty="0">
                <a:solidFill>
                  <a:schemeClr val="tx1"/>
                </a:solidFill>
              </a:rPr>
              <a:t>: </a:t>
            </a:r>
            <a:r>
              <a:rPr lang="zh-CN" altLang="en" sz="2800" dirty="0">
                <a:solidFill>
                  <a:schemeClr val="tx1"/>
                </a:solidFill>
              </a:rPr>
              <a:t>正向</a:t>
            </a:r>
            <a:r>
              <a:rPr lang="zh-CN" altLang="en-US" sz="2800" dirty="0">
                <a:solidFill>
                  <a:schemeClr val="tx1"/>
                </a:solidFill>
              </a:rPr>
              <a:t>计算容易，逆向计算困难。</a:t>
            </a:r>
            <a:r>
              <a:rPr lang="zh-CN" altLang="en-US" sz="2800" dirty="0">
                <a:solidFill>
                  <a:srgbClr val="FF0000"/>
                </a:solidFill>
              </a:rPr>
              <a:t>但在已知特定信息（陷门）时逆向计算容易</a:t>
            </a:r>
            <a:r>
              <a:rPr lang="zh-CN" altLang="en-US" sz="2800" dirty="0">
                <a:solidFill>
                  <a:schemeClr val="tx1"/>
                </a:solidFill>
              </a:rPr>
              <a:t>，即带有陷门的单向函数。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82BBF5-7C47-6CE3-17FA-455F04E40DAE}"/>
              </a:ext>
            </a:extLst>
          </p:cNvPr>
          <p:cNvSpPr/>
          <p:nvPr/>
        </p:nvSpPr>
        <p:spPr>
          <a:xfrm>
            <a:off x="202095" y="2272320"/>
            <a:ext cx="11787809" cy="11205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1982</a:t>
            </a:r>
            <a:r>
              <a:rPr lang="zh-CN" altLang="en-US" sz="2800" dirty="0">
                <a:solidFill>
                  <a:schemeClr val="tx1"/>
                </a:solidFill>
              </a:rPr>
              <a:t>年，姚期智在论文</a:t>
            </a:r>
            <a:r>
              <a:rPr lang="en-US" altLang="zh-CN" sz="2800" dirty="0">
                <a:solidFill>
                  <a:schemeClr val="tx1"/>
                </a:solidFill>
              </a:rPr>
              <a:t>《</a:t>
            </a:r>
            <a:r>
              <a:rPr lang="en" altLang="zh-CN" sz="2800" dirty="0">
                <a:solidFill>
                  <a:schemeClr val="tx1"/>
                </a:solidFill>
              </a:rPr>
              <a:t>Theory and Applications of Trapdoor Functions》</a:t>
            </a:r>
            <a:r>
              <a:rPr lang="zh-CN" altLang="en-US" sz="2800" dirty="0">
                <a:solidFill>
                  <a:schemeClr val="tx1"/>
                </a:solidFill>
              </a:rPr>
              <a:t>中提出，</a:t>
            </a:r>
            <a:r>
              <a:rPr lang="zh-CN" altLang="en-US" sz="2800" dirty="0">
                <a:solidFill>
                  <a:srgbClr val="FF0000"/>
                </a:solidFill>
              </a:rPr>
              <a:t>从任意陷门函数中可构造一个公钥加密方案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58229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1650841-004A-0604-83F7-BC86FECD2FCA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j-ea"/>
              </a:rPr>
              <a:t>欧拉定理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DF4ED49-90CB-67A8-F6FF-B4406935A1E9}"/>
              </a:ext>
            </a:extLst>
          </p:cNvPr>
          <p:cNvGrpSpPr/>
          <p:nvPr/>
        </p:nvGrpSpPr>
        <p:grpSpPr>
          <a:xfrm>
            <a:off x="1985184" y="119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FC8A7A52-C349-B921-D183-8769913251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EA07DEA-CF92-51D1-769E-00566E32F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64E14F0-41AE-7197-6969-CF6CD5014C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CC0A86FC-B597-D3C5-7262-6E7B006575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7D192335-C541-3FA7-AED0-F17514230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20B69911-B1B5-723F-EFED-9506F2C29C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B46948F-FA19-92FE-E8D4-00E1D9C6E654}"/>
              </a:ext>
            </a:extLst>
          </p:cNvPr>
          <p:cNvGrpSpPr/>
          <p:nvPr/>
        </p:nvGrpSpPr>
        <p:grpSpPr>
          <a:xfrm>
            <a:off x="4757236" y="1341767"/>
            <a:ext cx="7149348" cy="2712073"/>
            <a:chOff x="4939871" y="1583809"/>
            <a:chExt cx="7149348" cy="141384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BA79E0F-7A10-0AFC-413E-44F4ACA3EE83}"/>
                </a:ext>
              </a:extLst>
            </p:cNvPr>
            <p:cNvSpPr/>
            <p:nvPr/>
          </p:nvSpPr>
          <p:spPr>
            <a:xfrm>
              <a:off x="4939871" y="1583809"/>
              <a:ext cx="7149348" cy="14138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1496FEF-E7E2-025B-6BC6-AC17C873D0D6}"/>
                    </a:ext>
                  </a:extLst>
                </p:cNvPr>
                <p:cNvSpPr txBox="1"/>
                <p:nvPr/>
              </p:nvSpPr>
              <p:spPr>
                <a:xfrm>
                  <a:off x="4984039" y="1650809"/>
                  <a:ext cx="7061012" cy="57545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ct val="125000"/>
                    </a:lnSpc>
                  </a:pPr>
                  <a:r>
                    <a:rPr lang="zh-CN" altLang="en-US" sz="3200" dirty="0">
                      <a:latin typeface="+mn-ea"/>
                    </a:rPr>
                    <a:t>对于任意互质的正整数</a:t>
                  </a:r>
                  <a:r>
                    <a:rPr lang="en-US" altLang="zh-CN" sz="3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</a:t>
                  </a:r>
                  <a:r>
                    <a:rPr lang="zh-CN" altLang="en-US" sz="3200" dirty="0">
                      <a:latin typeface="+mn-ea"/>
                    </a:rPr>
                    <a:t>与</a:t>
                  </a:r>
                  <a:r>
                    <a:rPr lang="en-US" altLang="zh-CN" sz="3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zh-CN" altLang="en-US" sz="3200" dirty="0">
                      <a:latin typeface="+mn-ea"/>
                    </a:rPr>
                    <a:t>，都有：</a:t>
                  </a:r>
                  <a:endParaRPr lang="en-US" altLang="zh-CN" sz="3200" dirty="0">
                    <a:latin typeface="+mn-ea"/>
                  </a:endParaRPr>
                </a:p>
                <a:p>
                  <a:pPr algn="ctr">
                    <a:lnSpc>
                      <a:spcPct val="125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1(</m:t>
                        </m:r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),</m:t>
                        </m:r>
                      </m:oMath>
                    </m:oMathPara>
                  </a14:m>
                  <a:endParaRPr lang="en-US" altLang="zh-CN" sz="3200" dirty="0">
                    <a:latin typeface="+mn-ea"/>
                  </a:endParaRPr>
                </a:p>
                <a:p>
                  <a:pPr algn="ctr">
                    <a:lnSpc>
                      <a:spcPct val="125000"/>
                    </a:lnSpc>
                  </a:pPr>
                  <a:r>
                    <a:rPr lang="zh-CN" altLang="en-US" sz="3200" dirty="0"/>
                    <a:t>其中 </a:t>
                  </a:r>
                  <a14:m>
                    <m:oMath xmlns:m="http://schemas.openxmlformats.org/officeDocument/2006/math"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ar-AE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a14:m>
                  <a:r>
                    <a:rPr lang="zh-CN" altLang="en-US" sz="3200" dirty="0"/>
                    <a:t>是欧拉函数，表示小于</a:t>
                  </a:r>
                  <a:r>
                    <a:rPr lang="en-US" altLang="zh-CN" sz="3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zh-CN" altLang="en-US" sz="3200" dirty="0"/>
                    <a:t>且与 </a:t>
                  </a:r>
                  <a:r>
                    <a:rPr lang="en-US" altLang="zh-CN" sz="320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</a:t>
                  </a:r>
                  <a:r>
                    <a:rPr lang="zh-CN" altLang="en-US" sz="3200" dirty="0"/>
                    <a:t>互质的数的个数</a:t>
                  </a:r>
                  <a:endParaRPr lang="en-US" altLang="zh-CN" sz="32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1496FEF-E7E2-025B-6BC6-AC17C873D0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4039" y="1650809"/>
                  <a:ext cx="7061012" cy="575455"/>
                </a:xfrm>
                <a:prstGeom prst="rect">
                  <a:avLst/>
                </a:prstGeom>
                <a:blipFill>
                  <a:blip r:embed="rId3"/>
                  <a:stretch>
                    <a:fillRect l="-2332" t="-7735" r="-2159" b="-1403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DE4BC1F8-1F14-76F5-21A3-443BA5CA9308}"/>
              </a:ext>
            </a:extLst>
          </p:cNvPr>
          <p:cNvSpPr txBox="1"/>
          <p:nvPr/>
        </p:nvSpPr>
        <p:spPr>
          <a:xfrm>
            <a:off x="113595" y="6174826"/>
            <a:ext cx="4163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莱昂哈德</a:t>
            </a:r>
            <a:r>
              <a:rPr kumimoji="1"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kumimoji="1"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欧拉</a:t>
            </a:r>
            <a:endParaRPr kumimoji="1"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9D0303C-74D3-2770-9F80-1D664BDE8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904240"/>
            <a:ext cx="4202176" cy="525272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E756376-0107-70A2-03DF-F992C621359E}"/>
              </a:ext>
            </a:extLst>
          </p:cNvPr>
          <p:cNvSpPr txBox="1"/>
          <p:nvPr/>
        </p:nvSpPr>
        <p:spPr>
          <a:xfrm>
            <a:off x="5240730" y="718519"/>
            <a:ext cx="61823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+mn-ea"/>
              </a:rPr>
              <a:t>欧拉定理</a:t>
            </a:r>
            <a:endParaRPr lang="en-US" altLang="zh-CN" sz="3200" b="1" dirty="0">
              <a:solidFill>
                <a:srgbClr val="FF000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55BC750-AAFC-CB55-70D6-0C6693F8F143}"/>
                  </a:ext>
                </a:extLst>
              </p:cNvPr>
              <p:cNvSpPr txBox="1"/>
              <p:nvPr/>
            </p:nvSpPr>
            <p:spPr>
              <a:xfrm>
                <a:off x="4757236" y="4270471"/>
                <a:ext cx="7105180" cy="206210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zh-CN" altLang="en-US" sz="3200" b="1" dirty="0"/>
                  <a:t>直观理解：</a:t>
                </a:r>
                <a:endParaRPr lang="zh-CN" altLang="en-US" sz="3200" dirty="0"/>
              </a:p>
              <a:p>
                <a:pPr algn="just"/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ar-AE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表示</m:t>
                    </m:r>
                    <m:r>
                      <m:rPr>
                        <m:sty m:val="p"/>
                      </m:rP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/>
                  <a:t>下乘法的</a:t>
                </a:r>
                <a:r>
                  <a:rPr lang="zh-CN" altLang="en-US" sz="3200" dirty="0">
                    <a:solidFill>
                      <a:srgbClr val="FF0000"/>
                    </a:solidFill>
                  </a:rPr>
                  <a:t>循环上限</a:t>
                </a:r>
                <a:r>
                  <a:rPr lang="zh-CN" altLang="en-US" sz="3200" dirty="0"/>
                  <a:t>，即任何与</a:t>
                </a:r>
                <a:r>
                  <a:rPr lang="en-US" altLang="zh-CN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3200" dirty="0"/>
                  <a:t>互质的数</a:t>
                </a:r>
                <a:r>
                  <a:rPr lang="en-US" altLang="zh-CN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sz="3200" dirty="0"/>
                  <a:t>，重复乘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ar-AE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sz="3200" dirty="0"/>
                  <a:t> </a:t>
                </a:r>
                <a:r>
                  <a:rPr lang="zh-CN" altLang="en-US" sz="3200" dirty="0"/>
                  <a:t>次 ， 一定回到 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（起点）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55BC750-AAFC-CB55-70D6-0C6693F8F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36" y="4270471"/>
                <a:ext cx="7105180" cy="2062103"/>
              </a:xfrm>
              <a:prstGeom prst="rect">
                <a:avLst/>
              </a:prstGeom>
              <a:blipFill>
                <a:blip r:embed="rId5"/>
                <a:stretch>
                  <a:fillRect l="-2144" t="-4734" r="-2144" b="-9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95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CA3E4-805B-0353-2A79-3CB01D58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957F90-CE1C-1981-E291-C67A68B8F8EE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欧拉定理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4ED4A1D-BE2D-953F-9EFC-7B23EDD79A0D}"/>
              </a:ext>
            </a:extLst>
          </p:cNvPr>
          <p:cNvGrpSpPr/>
          <p:nvPr/>
        </p:nvGrpSpPr>
        <p:grpSpPr>
          <a:xfrm>
            <a:off x="221307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323B0C02-4E66-1A0D-5AE2-6CDE01EAB7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22604A7A-DD29-A011-3CEA-CDC5FCAE72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DD290022-D361-45C5-35DD-F9B3321904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915ABF61-A934-53AB-8959-07809E42D0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48BE810D-18CC-A6B7-1AF3-4E63B1B76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D600785B-E4A0-5D70-5482-42C40CDDAF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D8E2CF8-E350-441D-39A8-62D9327EDBE9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41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若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质数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则</m:t>
                      </m:r>
                      <m:r>
                        <a:rPr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CN" sz="2800" i="1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D8E2CF8-E350-441D-39A8-62D9327ED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41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2B8A837-85AB-9642-1BFC-F4FD49ED11D7}"/>
              </a:ext>
            </a:extLst>
          </p:cNvPr>
          <p:cNvGraphicFramePr>
            <a:graphicFrameLocks noGrp="1"/>
          </p:cNvGraphicFramePr>
          <p:nvPr/>
        </p:nvGraphicFramePr>
        <p:xfrm>
          <a:off x="502104" y="1358544"/>
          <a:ext cx="11303817" cy="539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67939">
                  <a:extLst>
                    <a:ext uri="{9D8B030D-6E8A-4147-A177-3AD203B41FA5}">
                      <a16:colId xmlns:a16="http://schemas.microsoft.com/office/drawing/2014/main" val="3000940724"/>
                    </a:ext>
                  </a:extLst>
                </a:gridCol>
                <a:gridCol w="3767939">
                  <a:extLst>
                    <a:ext uri="{9D8B030D-6E8A-4147-A177-3AD203B41FA5}">
                      <a16:colId xmlns:a16="http://schemas.microsoft.com/office/drawing/2014/main" val="3311670176"/>
                    </a:ext>
                  </a:extLst>
                </a:gridCol>
                <a:gridCol w="3767939">
                  <a:extLst>
                    <a:ext uri="{9D8B030D-6E8A-4147-A177-3AD203B41FA5}">
                      <a16:colId xmlns:a16="http://schemas.microsoft.com/office/drawing/2014/main" val="1582538074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小于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zh-CN" altLang="en-US" sz="2400" dirty="0"/>
                        <a:t>且与 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zh-CN" altLang="en-US" sz="2400" dirty="0"/>
                        <a:t>互质的数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338751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9326002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1,2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65647397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03850049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1,2,3,4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0222568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4405405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1,2,3,4,5,6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4445948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1,3,5,7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40743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1,2,4,5,7,8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67553576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1,3,7,9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80129853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1,2,3,4,5,6,7,8,9,10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0415085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1,5,7,11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5779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20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97568-77BD-B3C4-B9CB-04BF4B03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840E8F9-125E-9A82-636D-996276611F0B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欧拉定理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A59A62D-6880-E403-2AB9-35278933FDEA}"/>
              </a:ext>
            </a:extLst>
          </p:cNvPr>
          <p:cNvGrpSpPr/>
          <p:nvPr/>
        </p:nvGrpSpPr>
        <p:grpSpPr>
          <a:xfrm>
            <a:off x="221307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B78C46A0-E7E0-C34D-6CB6-C0E0CC24D7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37A854CB-6715-E01A-6C5A-C7AA71A18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D2059A67-E1F2-19C1-FC9D-A3526607BC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D2B69E5D-40C3-BF56-C8E3-9ECBD85E71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00915B1E-9925-3879-AFD4-8304881ED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A44E6CC1-91F4-A4CD-3C9B-B8B2F96D12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1590F09-8499-95DA-A683-F58F13CA4C60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41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欧拉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定理：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≡1(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1590F09-8499-95DA-A683-F58F13CA4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41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C2FA1DF-8190-45E8-9DFC-2B1A9C26D757}"/>
                  </a:ext>
                </a:extLst>
              </p:cNvPr>
              <p:cNvSpPr txBox="1"/>
              <p:nvPr/>
            </p:nvSpPr>
            <p:spPr>
              <a:xfrm>
                <a:off x="2905760" y="1387057"/>
                <a:ext cx="6197600" cy="560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C2FA1DF-8190-45E8-9DFC-2B1A9C26D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1387057"/>
                <a:ext cx="6197600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01D53D9-0D0B-3F1A-5B4F-B55C0D6C9205}"/>
                  </a:ext>
                </a:extLst>
              </p:cNvPr>
              <p:cNvSpPr txBox="1"/>
              <p:nvPr/>
            </p:nvSpPr>
            <p:spPr>
              <a:xfrm>
                <a:off x="2905760" y="2052781"/>
                <a:ext cx="6197600" cy="541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01D53D9-0D0B-3F1A-5B4F-B55C0D6C9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2052781"/>
                <a:ext cx="6197600" cy="541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BD9CA5F-FE43-5E29-4773-BCDC43173C0F}"/>
                  </a:ext>
                </a:extLst>
              </p:cNvPr>
              <p:cNvSpPr txBox="1"/>
              <p:nvPr/>
            </p:nvSpPr>
            <p:spPr>
              <a:xfrm>
                <a:off x="2905760" y="2718505"/>
                <a:ext cx="6197600" cy="541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BD9CA5F-FE43-5E29-4773-BCDC43173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2718505"/>
                <a:ext cx="6197600" cy="541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F9300A1-1E6D-5D7A-0573-171F1777B888}"/>
                  </a:ext>
                </a:extLst>
              </p:cNvPr>
              <p:cNvSpPr txBox="1"/>
              <p:nvPr/>
            </p:nvSpPr>
            <p:spPr>
              <a:xfrm>
                <a:off x="2905760" y="3384229"/>
                <a:ext cx="6197600" cy="552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F9300A1-1E6D-5D7A-0573-171F1777B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3384229"/>
                <a:ext cx="6197600" cy="5522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0CFC9A1-7C08-A147-0953-DC71E4BF81D8}"/>
                  </a:ext>
                </a:extLst>
              </p:cNvPr>
              <p:cNvSpPr txBox="1"/>
              <p:nvPr/>
            </p:nvSpPr>
            <p:spPr>
              <a:xfrm>
                <a:off x="0" y="4110639"/>
                <a:ext cx="12192000" cy="53091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RSA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加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解密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sSup>
                        <m:sSup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𝑒𝑑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0CFC9A1-7C08-A147-0953-DC71E4BF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10639"/>
                <a:ext cx="12192000" cy="530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6D3BEEB-2216-5E26-69A5-58DA13D9ABC8}"/>
                  </a:ext>
                </a:extLst>
              </p:cNvPr>
              <p:cNvSpPr txBox="1"/>
              <p:nvPr/>
            </p:nvSpPr>
            <p:spPr>
              <a:xfrm>
                <a:off x="2905760" y="4930024"/>
                <a:ext cx="61976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6D3BEEB-2216-5E26-69A5-58DA13D9A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4930024"/>
                <a:ext cx="619760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159A1EC-F3C3-59AF-CF06-89439D0810AE}"/>
                  </a:ext>
                </a:extLst>
              </p:cNvPr>
              <p:cNvSpPr txBox="1"/>
              <p:nvPr/>
            </p:nvSpPr>
            <p:spPr>
              <a:xfrm>
                <a:off x="2905760" y="5635082"/>
                <a:ext cx="6197600" cy="936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solidFill>
                                <a:schemeClr val="accent3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chemeClr val="accent3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chemeClr val="accent3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159A1EC-F3C3-59AF-CF06-89439D081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0" y="5635082"/>
                <a:ext cx="6197600" cy="9361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F9C7BF9-1816-F7CB-3704-2E34B711738E}"/>
                  </a:ext>
                </a:extLst>
              </p:cNvPr>
              <p:cNvSpPr txBox="1"/>
              <p:nvPr/>
            </p:nvSpPr>
            <p:spPr>
              <a:xfrm>
                <a:off x="8280400" y="5204195"/>
                <a:ext cx="3911600" cy="95410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8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accent3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2800" i="1">
                        <a:solidFill>
                          <a:schemeClr val="accent3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kumimoji="1"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对</a:t>
                </a:r>
                <a:r>
                  <a:rPr kumimoji="1" lang="en-US" altLang="zh-CN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kumimoji="1" lang="zh-CN" alt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的质因数分解是极为困难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F9C7BF9-1816-F7CB-3704-2E34B7117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400" y="5204195"/>
                <a:ext cx="3911600" cy="954107"/>
              </a:xfrm>
              <a:prstGeom prst="rect">
                <a:avLst/>
              </a:prstGeom>
              <a:blipFill>
                <a:blip r:embed="rId10"/>
                <a:stretch>
                  <a:fillRect l="-935" t="-8974" r="-935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4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 animBg="1"/>
      <p:bldP spid="22" grpId="0"/>
      <p:bldP spid="23" grpId="0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F029D-BD2B-85D3-7BED-6D15FA81A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6B0248-02BF-1149-47BE-6B37798B2D8F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欧拉定理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F9615-AD6C-AEC7-1BC7-F4669A7A0D18}"/>
              </a:ext>
            </a:extLst>
          </p:cNvPr>
          <p:cNvGrpSpPr/>
          <p:nvPr/>
        </p:nvGrpSpPr>
        <p:grpSpPr>
          <a:xfrm>
            <a:off x="221307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1EAA9AB4-ECBF-23C8-EEC4-7ADA0339ED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9D887F07-6187-61F8-13BE-29C356094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EB601A1B-B46E-4239-DEA8-7DA1755937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53757F36-7637-3AD0-4DEF-227EB187E4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72013909-509A-2861-11AE-55DB18D0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002DE63E-D84C-21F8-7301-27F9BAFB2F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2338FB2-BF07-9066-CF78-88BB06A0CAD9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93871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 algn="ctr"/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欧拉函数的乘法性质：</a:t>
                </a:r>
                <a:endPara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sz="2700" i="1" smtClean="0">
                        <a:latin typeface="Cambria Math" panose="02040503050406030204" pitchFamily="18" charset="0"/>
                      </a:rPr>
                      <m:t>若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,且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互质</m:t>
                    </m:r>
                    <m:r>
                      <a:rPr lang="zh-CN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7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−1)×(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endParaRPr lang="zh-CN" altLang="en-US" sz="27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2338FB2-BF07-9066-CF78-88BB06A0C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938719"/>
              </a:xfrm>
              <a:prstGeom prst="rect">
                <a:avLst/>
              </a:prstGeom>
              <a:blipFill>
                <a:blip r:embed="rId3"/>
                <a:stretch>
                  <a:fillRect t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5E4642A-CDCB-EAA3-AC34-873055C06354}"/>
                  </a:ext>
                </a:extLst>
              </p:cNvPr>
              <p:cNvSpPr txBox="1"/>
              <p:nvPr/>
            </p:nvSpPr>
            <p:spPr>
              <a:xfrm>
                <a:off x="701040" y="1679205"/>
                <a:ext cx="10078720" cy="501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200" i="0">
                        <a:latin typeface="Cambria Math" panose="02040503050406030204" pitchFamily="18" charset="0"/>
                      </a:rPr>
                      <m:t>=5,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3200" i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altLang="en-US" sz="3200" dirty="0"/>
                  <a:t>→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i="0">
                        <a:latin typeface="Cambria Math" panose="02040503050406030204" pitchFamily="18" charset="0"/>
                      </a:rPr>
                      <m:t>=5×7=35</m:t>
                    </m:r>
                  </m:oMath>
                </a14:m>
                <a:endParaRPr lang="en-US" altLang="zh-CN" sz="3200" dirty="0"/>
              </a:p>
              <a:p>
                <a:pPr algn="ctr"/>
                <a:br>
                  <a:rPr lang="zh-CN" altLang="en-US" sz="3200" dirty="0"/>
                </a:b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=5−1=4</m:t>
                    </m:r>
                  </m:oMath>
                </a14:m>
                <a:r>
                  <a:rPr lang="en-US" altLang="zh-CN" sz="3200" dirty="0"/>
                  <a:t> → {1,2,3,4}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=7−1=6</m:t>
                    </m:r>
                  </m:oMath>
                </a14:m>
                <a:r>
                  <a:rPr lang="en-US" altLang="zh-CN" sz="3200" dirty="0"/>
                  <a:t> → {1,2,3,4,5,6}</a:t>
                </a:r>
              </a:p>
              <a:p>
                <a:pPr algn="ctr"/>
                <a:endParaRPr lang="en-US" altLang="zh-CN" sz="3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35</m:t>
                          </m:r>
                        </m:e>
                      </m:d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=4×6=24</m:t>
                      </m:r>
                    </m:oMath>
                  </m:oMathPara>
                </a14:m>
                <a:br>
                  <a:rPr lang="zh-CN" altLang="en-US" sz="3200" dirty="0"/>
                </a:br>
                <a:endParaRPr lang="zh-CN" altLang="en-US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小于 </a:t>
                </a:r>
                <a:r>
                  <a:rPr lang="en-US" altLang="zh-CN" sz="3200" dirty="0"/>
                  <a:t>35 </a:t>
                </a:r>
                <a:r>
                  <a:rPr lang="zh-CN" altLang="en-US" sz="3200" dirty="0"/>
                  <a:t>且与 </a:t>
                </a:r>
                <a:r>
                  <a:rPr lang="en-US" altLang="zh-CN" sz="3200" dirty="0"/>
                  <a:t>35 </a:t>
                </a:r>
                <a:r>
                  <a:rPr lang="zh-CN" altLang="en-US" sz="3200" dirty="0"/>
                  <a:t>互质的数：</a:t>
                </a:r>
                <a:br>
                  <a:rPr lang="zh-CN" altLang="en-US" sz="3200" dirty="0"/>
                </a:br>
                <a:r>
                  <a:rPr lang="en-US" altLang="zh-CN" sz="3200" dirty="0"/>
                  <a:t>1,2,3,4,6,8,9,11,12,13,16,17,18,19,22,23,24,26,27,29,31,32,33,34</a:t>
                </a:r>
                <a:r>
                  <a:rPr lang="zh-CN" altLang="en-US" sz="3200" dirty="0"/>
                  <a:t>，数量共 </a:t>
                </a:r>
                <a:r>
                  <a:rPr lang="en-US" altLang="zh-CN" sz="3200" dirty="0"/>
                  <a:t>24 </a:t>
                </a:r>
                <a:r>
                  <a:rPr lang="zh-CN" altLang="en-US" sz="3200" dirty="0"/>
                  <a:t>个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5E4642A-CDCB-EAA3-AC34-873055C06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" y="1679205"/>
                <a:ext cx="10078720" cy="5016758"/>
              </a:xfrm>
              <a:prstGeom prst="rect">
                <a:avLst/>
              </a:prstGeom>
              <a:blipFill>
                <a:blip r:embed="rId4"/>
                <a:stretch>
                  <a:fillRect l="-1512" t="-1580" r="-1512" b="-3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523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0B7290-6AB7-618C-2325-38C17D61F405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1DCE166-CB72-FD01-D08A-39A11FE21620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A6CF1055-838C-55FF-924B-C04EB235F3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56064F67-97F1-E378-0ED6-856E81ECF4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7F099DB1-4881-D68C-C887-0F2329D1F4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ED6064E-7656-09CB-3ACD-1899066C45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EAB190DF-7028-2A35-2188-BA24456E5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B0185540-5FD9-EDBC-4946-F3F5DAAAA4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9B64BB9-D9CB-07DF-8F25-483AB47C79D1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密钥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生成算法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9B64BB9-D9CB-07DF-8F25-483AB47C7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2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6DD5B58-DE6E-7EFB-E8A3-0621BCE8C2A8}"/>
                  </a:ext>
                </a:extLst>
              </p:cNvPr>
              <p:cNvSpPr txBox="1"/>
              <p:nvPr/>
            </p:nvSpPr>
            <p:spPr>
              <a:xfrm>
                <a:off x="665131" y="1742295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𝑝𝑘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6DD5B58-DE6E-7EFB-E8A3-0621BCE8C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31" y="1742295"/>
                <a:ext cx="4206304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941301-49E1-9F17-258E-3C1EAAA524EC}"/>
                  </a:ext>
                </a:extLst>
              </p:cNvPr>
              <p:cNvSpPr txBox="1"/>
              <p:nvPr/>
            </p:nvSpPr>
            <p:spPr>
              <a:xfrm>
                <a:off x="6385211" y="1742295"/>
                <a:ext cx="42063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𝑠𝑘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4000" b="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941301-49E1-9F17-258E-3C1EAAA52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211" y="1742295"/>
                <a:ext cx="4206304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E7010A3-9DA3-2429-F91C-1E587613D437}"/>
                  </a:ext>
                </a:extLst>
              </p:cNvPr>
              <p:cNvSpPr txBox="1"/>
              <p:nvPr/>
            </p:nvSpPr>
            <p:spPr>
              <a:xfrm>
                <a:off x="846518" y="3553791"/>
                <a:ext cx="148328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4000" b="0" i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E7010A3-9DA3-2429-F91C-1E587613D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18" y="3553791"/>
                <a:ext cx="1483286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ECBA38D-1F09-4A3F-CF42-01D03FD9B7A1}"/>
                  </a:ext>
                </a:extLst>
              </p:cNvPr>
              <p:cNvSpPr txBox="1"/>
              <p:nvPr/>
            </p:nvSpPr>
            <p:spPr>
              <a:xfrm>
                <a:off x="6196273" y="3553792"/>
                <a:ext cx="1885166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altLang="zh-CN" sz="4000" b="0" i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ECBA38D-1F09-4A3F-CF42-01D03FD9B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273" y="3553792"/>
                <a:ext cx="1885166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2BEECD7-A702-16B9-0646-9E1FDD61CD44}"/>
                  </a:ext>
                </a:extLst>
              </p:cNvPr>
              <p:cNvSpPr txBox="1"/>
              <p:nvPr/>
            </p:nvSpPr>
            <p:spPr>
              <a:xfrm>
                <a:off x="9791935" y="3570136"/>
                <a:ext cx="181864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altLang="zh-CN" sz="4000" b="0" i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2BEECD7-A702-16B9-0646-9E1FDD61C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1935" y="3570136"/>
                <a:ext cx="1818640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C41E955-EC68-43AF-A175-257C823DEAD6}"/>
                  </a:ext>
                </a:extLst>
              </p:cNvPr>
              <p:cNvSpPr txBox="1"/>
              <p:nvPr/>
            </p:nvSpPr>
            <p:spPr>
              <a:xfrm>
                <a:off x="3130980" y="3570136"/>
                <a:ext cx="181864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altLang="zh-CN" sz="4000" b="0" i="1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C41E955-EC68-43AF-A175-257C823DE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980" y="3570136"/>
                <a:ext cx="1818640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下箭头 26">
            <a:extLst>
              <a:ext uri="{FF2B5EF4-FFF2-40B4-BE49-F238E27FC236}">
                <a16:creationId xmlns:a16="http://schemas.microsoft.com/office/drawing/2014/main" id="{B21D57D9-F59A-9A96-CA2D-176191C80A02}"/>
              </a:ext>
            </a:extLst>
          </p:cNvPr>
          <p:cNvSpPr/>
          <p:nvPr/>
        </p:nvSpPr>
        <p:spPr>
          <a:xfrm rot="16200000">
            <a:off x="2451012" y="3608929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8" name="下箭头 26">
            <a:extLst>
              <a:ext uri="{FF2B5EF4-FFF2-40B4-BE49-F238E27FC236}">
                <a16:creationId xmlns:a16="http://schemas.microsoft.com/office/drawing/2014/main" id="{F9ADD808-F3DF-811A-ED31-B37BBCDBCABB}"/>
              </a:ext>
            </a:extLst>
          </p:cNvPr>
          <p:cNvSpPr/>
          <p:nvPr/>
        </p:nvSpPr>
        <p:spPr>
          <a:xfrm rot="16200000">
            <a:off x="5469075" y="3608929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9" name="下箭头 26">
            <a:extLst>
              <a:ext uri="{FF2B5EF4-FFF2-40B4-BE49-F238E27FC236}">
                <a16:creationId xmlns:a16="http://schemas.microsoft.com/office/drawing/2014/main" id="{D77DEB87-231F-5412-C4C8-C8EBC1B64B23}"/>
              </a:ext>
            </a:extLst>
          </p:cNvPr>
          <p:cNvSpPr/>
          <p:nvPr/>
        </p:nvSpPr>
        <p:spPr>
          <a:xfrm rot="16200000">
            <a:off x="8781235" y="3565497"/>
            <a:ext cx="735106" cy="62483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7695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BAC0-178D-CDD3-5648-2C2D35BD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4BD7EF-D44A-4C91-799A-EFE3918CDDBF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E7F518A-CDC5-C7A6-2957-05C45788B254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C21EAF25-BA1D-275E-AB8A-BAC09579B9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573E2888-25F2-5591-F058-CD8354E3E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2315B0A6-808D-F8D1-B74E-E97CD48F08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A0B9A323-C0B7-9259-4B75-6010315512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986A13EC-659A-17A9-F463-0AE841DEAA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51492F1F-E9C0-CDD9-E8FA-FAC0CB35C8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EA078E2-4ECF-C335-77B7-AD3B8FFE4D44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密钥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生成算法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求</a:t>
                </a:r>
                <a:r>
                  <a:rPr lang="en-US" altLang="zh-CN" sz="2800" i="1" dirty="0">
                    <a:ea typeface="+mn-ea"/>
                  </a:rPr>
                  <a:t>n </a:t>
                </a:r>
                <a:r>
                  <a:rPr lang="en-US" altLang="zh-CN" sz="2800" dirty="0">
                    <a:ea typeface="+mn-ea"/>
                  </a:rPr>
                  <a:t>(</a:t>
                </a:r>
                <a:r>
                  <a:rPr lang="zh-CN" altLang="en-US" sz="2800" dirty="0">
                    <a:ea typeface="+mn-ea"/>
                  </a:rPr>
                  <a:t>设计陷门</a:t>
                </a:r>
                <a:r>
                  <a:rPr lang="en-US" altLang="zh-CN" sz="2800" dirty="0">
                    <a:ea typeface="+mn-ea"/>
                  </a:rPr>
                  <a:t>)</a:t>
                </a:r>
                <a:endParaRPr lang="zh-CN" altLang="en-US" sz="2800" dirty="0">
                  <a:ea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EA078E2-4ECF-C335-77B7-AD3B8FFE4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3DC58BA-BCD3-ADBD-98E6-0249493DEC0B}"/>
                  </a:ext>
                </a:extLst>
              </p:cNvPr>
              <p:cNvSpPr/>
              <p:nvPr/>
            </p:nvSpPr>
            <p:spPr>
              <a:xfrm>
                <a:off x="404191" y="1428854"/>
                <a:ext cx="11279809" cy="11205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r>
                  <a:rPr lang="en-US" altLang="zh-CN" sz="2800" dirty="0">
                    <a:solidFill>
                      <a:schemeClr val="tx1"/>
                    </a:solidFill>
                  </a:rPr>
                  <a:t>Step1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：随机选择两个足够大的大质数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3DC58BA-BCD3-ADBD-98E6-0249493DE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91" y="1428854"/>
                <a:ext cx="11279809" cy="1120514"/>
              </a:xfrm>
              <a:prstGeom prst="rect">
                <a:avLst/>
              </a:prstGeom>
              <a:blipFill>
                <a:blip r:embed="rId4"/>
                <a:stretch>
                  <a:fillRect l="-159"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1261FBF-A1E5-CBF0-0076-2B5E24BC97A3}"/>
                  </a:ext>
                </a:extLst>
              </p:cNvPr>
              <p:cNvSpPr/>
              <p:nvPr/>
            </p:nvSpPr>
            <p:spPr>
              <a:xfrm>
                <a:off x="404190" y="2688694"/>
                <a:ext cx="11279809" cy="11205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r>
                  <a:rPr lang="en-US" altLang="zh-CN" sz="2800" dirty="0">
                    <a:solidFill>
                      <a:schemeClr val="tx1"/>
                    </a:solidFill>
                  </a:rPr>
                  <a:t>Step2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：计算它们的乘积，得到 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RSA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的模数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1261FBF-A1E5-CBF0-0076-2B5E24BC97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90" y="2688694"/>
                <a:ext cx="11279809" cy="1120514"/>
              </a:xfrm>
              <a:prstGeom prst="rect">
                <a:avLst/>
              </a:prstGeom>
              <a:blipFill>
                <a:blip r:embed="rId5"/>
                <a:stretch>
                  <a:fillRect l="-159"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CF7D169-9B56-14B5-357A-F3EED40DE6A2}"/>
                  </a:ext>
                </a:extLst>
              </p:cNvPr>
              <p:cNvSpPr txBox="1"/>
              <p:nvPr/>
            </p:nvSpPr>
            <p:spPr>
              <a:xfrm>
                <a:off x="0" y="3989744"/>
                <a:ext cx="5770880" cy="5232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如何判断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800" dirty="0">
                    <a:latin typeface="Arial" panose="020B0604020202020204" pitchFamily="34" charset="0"/>
                  </a:rPr>
                  <a:t>质数？</a:t>
                </a:r>
                <a:endParaRPr lang="zh-CN" altLang="zh-CN" sz="28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CF7D169-9B56-14B5-357A-F3EED40DE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89744"/>
                <a:ext cx="5770880" cy="523220"/>
              </a:xfrm>
              <a:prstGeom prst="rect">
                <a:avLst/>
              </a:prstGeom>
              <a:blipFill>
                <a:blip r:embed="rId6"/>
                <a:stretch>
                  <a:fillRect l="-2112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BD9234CF-BE7B-0E03-00B1-BBDCC8AB2EBA}"/>
              </a:ext>
            </a:extLst>
          </p:cNvPr>
          <p:cNvGraphicFramePr>
            <a:graphicFrameLocks noGrp="1"/>
          </p:cNvGraphicFramePr>
          <p:nvPr/>
        </p:nvGraphicFramePr>
        <p:xfrm>
          <a:off x="786294" y="4693500"/>
          <a:ext cx="10515600" cy="198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0120">
                  <a:extLst>
                    <a:ext uri="{9D8B030D-6E8A-4147-A177-3AD203B41FA5}">
                      <a16:colId xmlns:a16="http://schemas.microsoft.com/office/drawing/2014/main" val="663224229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60682830"/>
                    </a:ext>
                  </a:extLst>
                </a:gridCol>
                <a:gridCol w="2738120">
                  <a:extLst>
                    <a:ext uri="{9D8B030D-6E8A-4147-A177-3AD203B41FA5}">
                      <a16:colId xmlns:a16="http://schemas.microsoft.com/office/drawing/2014/main" val="13993016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335567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91722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/>
                        <a:t>方法名称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/>
                        <a:t>判断性质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/>
                        <a:t>优点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/>
                        <a:t>缺点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/>
                        <a:t>是否常用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924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/>
                        <a:t>试除法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确定性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原理简单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速度极慢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983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/>
                        <a:t>费马测试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概率性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实现简单、速度快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存在误判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54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/>
                        <a:t>米勒</a:t>
                      </a:r>
                      <a:r>
                        <a:rPr lang="en-US" altLang="zh-CN" sz="2000" b="1" dirty="0"/>
                        <a:t>·</a:t>
                      </a:r>
                      <a:r>
                        <a:rPr lang="zh-CN" altLang="en-US" sz="2000" b="1" dirty="0"/>
                        <a:t>拉宾测试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概率性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速度极快、业界标准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有极小误判概率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501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AKS </a:t>
                      </a:r>
                      <a:r>
                        <a:rPr lang="zh-CN" altLang="en-US" sz="2000" b="1" dirty="0"/>
                        <a:t>质数判定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确定性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数学可证明，绝对正确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速度慢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747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60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183FF-C60C-35D5-FC83-619B9416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A95DD1-EC31-16F1-6090-E1D1D80AB3A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F87C097-D99C-6746-33ED-EC2019D97C4D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482A10D5-6F5D-4D21-8154-8122C9E536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502D3FF5-D386-08E4-CFE1-529B41059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57CECE39-1380-BFA2-5E26-2D2AB2CF4E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E80E9DB6-6A72-5624-1D2F-D9CD2BEE49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ACD2DDD8-090F-2DBD-BCA8-5A4DD4B37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AF216622-45DF-1449-01BC-F3E26F7227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2DD34DA-C9F5-F64E-ABB9-68A650E56D18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密钥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生成算法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求</a:t>
                </a:r>
                <a:r>
                  <a:rPr lang="en-US" altLang="zh-CN" sz="2800" i="1" dirty="0">
                    <a:ea typeface="+mn-ea"/>
                  </a:rPr>
                  <a:t>l</a:t>
                </a:r>
                <a:r>
                  <a:rPr lang="en-US" altLang="zh-CN" sz="2800" dirty="0"/>
                  <a:t> (</a:t>
                </a:r>
                <a:r>
                  <a:rPr lang="zh-CN" altLang="en-US" sz="2800" dirty="0"/>
                  <a:t>计算周期</a:t>
                </a:r>
                <a:r>
                  <a:rPr lang="en-US" altLang="zh-CN" sz="2800" dirty="0"/>
                  <a:t>)</a:t>
                </a:r>
                <a:endParaRPr lang="zh-CN" altLang="en-US" sz="2800" i="1" dirty="0">
                  <a:ea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2DD34DA-C9F5-F64E-ABB9-68A650E56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46DBD47-7066-970E-0EA3-BB3E0F03EC38}"/>
                  </a:ext>
                </a:extLst>
              </p:cNvPr>
              <p:cNvSpPr/>
              <p:nvPr/>
            </p:nvSpPr>
            <p:spPr>
              <a:xfrm>
                <a:off x="404189" y="1726734"/>
                <a:ext cx="11279809" cy="17078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宽松限制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——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循环上界</a:t>
                </a:r>
                <a:endPara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计算</a:t>
                </a:r>
                <a:r>
                  <a:rPr lang="en-US" altLang="zh-CN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的欧拉函数：</a:t>
                </a:r>
                <a:endParaRPr lang="en-US" altLang="zh-CN" sz="2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−1)×(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B46DBD47-7066-970E-0EA3-BB3E0F03EC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9" y="1726734"/>
                <a:ext cx="11279809" cy="1707844"/>
              </a:xfrm>
              <a:prstGeom prst="rect">
                <a:avLst/>
              </a:prstGeom>
              <a:blipFill>
                <a:blip r:embed="rId4"/>
                <a:stretch>
                  <a:fillRect l="-159"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DAD5819-B933-79D8-F4BE-EAC76E6E936D}"/>
                  </a:ext>
                </a:extLst>
              </p:cNvPr>
              <p:cNvSpPr/>
              <p:nvPr/>
            </p:nvSpPr>
            <p:spPr>
              <a:xfrm>
                <a:off x="404188" y="4050134"/>
                <a:ext cx="11279809" cy="17078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严格限制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——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循环下界</a:t>
                </a:r>
                <a:endParaRPr lang="en-US" altLang="zh-CN" sz="2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计算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与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的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最小公倍数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(least common multiple, lcm)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：</a:t>
                </a:r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lcm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FDAD5819-B933-79D8-F4BE-EAC76E6E93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8" y="4050134"/>
                <a:ext cx="11279809" cy="1707844"/>
              </a:xfrm>
              <a:prstGeom prst="rect">
                <a:avLst/>
              </a:prstGeom>
              <a:blipFill>
                <a:blip r:embed="rId5"/>
                <a:stretch>
                  <a:fillRect l="-159"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2">
            <a:extLst>
              <a:ext uri="{FF2B5EF4-FFF2-40B4-BE49-F238E27FC236}">
                <a16:creationId xmlns:a16="http://schemas.microsoft.com/office/drawing/2014/main" id="{13FB284D-E0F7-3813-C48B-8618A92BFF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6626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11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7D976-6CAA-DE7C-AA3E-D5B31000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86775C-5BDF-70A6-6B9E-9C494898784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42DA1FB-6FD9-2997-45EB-117BCE2B6AE9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B7CF241D-1DBE-3FAD-BDDC-09E918689A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F04FA337-017D-8216-39E5-C3DBFCC1B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EECD4E93-57B9-7D0F-A82F-00A6F4007F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4F77CFDD-1E5C-F14A-803D-CE705FEAB7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9FD2DB13-627C-E404-A30F-4008D5364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E5AE5488-F672-326B-0340-DD6462D744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8BF604-1FC9-1626-E04A-661560A28D4C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密钥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生成算法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求</a:t>
                </a:r>
                <a:r>
                  <a:rPr lang="en-US" altLang="zh-CN" sz="2800" i="1" dirty="0">
                    <a:ea typeface="+mn-ea"/>
                  </a:rPr>
                  <a:t>e</a:t>
                </a:r>
                <a:r>
                  <a:rPr lang="en-US" altLang="zh-CN" sz="2800" dirty="0"/>
                  <a:t> (</a:t>
                </a:r>
                <a:r>
                  <a:rPr lang="zh-CN" altLang="en-US" sz="2800" dirty="0"/>
                  <a:t>计算公钥</a:t>
                </a:r>
                <a:r>
                  <a:rPr lang="en-US" altLang="zh-CN" sz="2800" dirty="0"/>
                  <a:t>)</a:t>
                </a:r>
                <a:endParaRPr lang="zh-CN" altLang="en-US" sz="2800" i="1" dirty="0">
                  <a:ea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8BF604-1FC9-1626-E04A-661560A28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BE958E3C-2E8E-84F2-D58E-4C96120500B8}"/>
              </a:ext>
            </a:extLst>
          </p:cNvPr>
          <p:cNvSpPr/>
          <p:nvPr/>
        </p:nvSpPr>
        <p:spPr>
          <a:xfrm>
            <a:off x="404189" y="1726734"/>
            <a:ext cx="11279809" cy="20527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公钥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pitchFamily="18" charset="0"/>
              </a:rPr>
              <a:t>{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e,n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pitchFamily="18" charset="0"/>
              </a:rPr>
              <a:t>}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的要求：</a:t>
            </a:r>
            <a:endParaRPr lang="en-US" altLang="zh-CN" sz="2800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大，比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（先随机生成）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与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互质，即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与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的</a:t>
            </a:r>
            <a:r>
              <a:rPr lang="zh-CN" altLang="en-US" sz="2800" dirty="0">
                <a:solidFill>
                  <a:schemeClr val="tx1"/>
                </a:solidFill>
              </a:rPr>
              <a:t>最大公约数</a:t>
            </a:r>
            <a:r>
              <a:rPr lang="en-US" altLang="zh-CN" sz="2800" dirty="0">
                <a:solidFill>
                  <a:schemeClr val="tx1"/>
                </a:solidFill>
              </a:rPr>
              <a:t>(greatest common divisor, </a:t>
            </a:r>
            <a:r>
              <a:rPr lang="en-US" altLang="zh-CN" sz="2800" dirty="0" err="1">
                <a:solidFill>
                  <a:schemeClr val="tx1"/>
                </a:solidFill>
              </a:rPr>
              <a:t>gcd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为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（后验证</a:t>
            </a:r>
            <a:r>
              <a:rPr lang="en-US" altLang="zh-CN" sz="2800" dirty="0" err="1">
                <a:solidFill>
                  <a:schemeClr val="tx1"/>
                </a:solidFill>
                <a:latin typeface="Cambria Math" panose="02040503050406030204" pitchFamily="18" charset="0"/>
              </a:rPr>
              <a:t>gcd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）</a:t>
            </a:r>
            <a:endParaRPr lang="en-US" altLang="zh-CN" sz="280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B8D8216-00AC-8CC3-7D1B-C58C2D230436}"/>
                  </a:ext>
                </a:extLst>
              </p:cNvPr>
              <p:cNvSpPr/>
              <p:nvPr/>
            </p:nvSpPr>
            <p:spPr>
              <a:xfrm>
                <a:off x="404188" y="4050134"/>
                <a:ext cx="11279809" cy="17078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altLang="zh-CN" sz="2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gdc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B8D8216-00AC-8CC3-7D1B-C58C2D2304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8" y="4050134"/>
                <a:ext cx="11279809" cy="1707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2">
            <a:extLst>
              <a:ext uri="{FF2B5EF4-FFF2-40B4-BE49-F238E27FC236}">
                <a16:creationId xmlns:a16="http://schemas.microsoft.com/office/drawing/2014/main" id="{F5A7D1F1-67F6-F8AB-47AB-9991501333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6626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93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382F9-8292-257F-A632-0AE029D3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42406B-5295-3CA1-2CFB-BA08C7366111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30D91C9-40D2-4712-CE92-F76F575000AB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961617CA-52A7-E1DD-9E01-FF3E7C9778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8D9D7E18-0A9D-E3E4-E70B-E4DE904DF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F695916A-35D8-68CC-0166-CBBA06C7F9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F7520A4-D0BF-ED09-6FC2-7E9CD02EF8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0E554D96-9E07-D548-FD47-EC32E0A77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A8BFBE1B-8DE5-AA6C-7749-2F2CE12FC1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ACEA212-2B40-BFD6-1896-FCEDD86EA2DA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密钥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生成算法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求</a:t>
                </a:r>
                <a:r>
                  <a:rPr lang="en-US" altLang="zh-CN" sz="2800" i="1" dirty="0">
                    <a:ea typeface="+mn-ea"/>
                  </a:rPr>
                  <a:t>d</a:t>
                </a:r>
                <a:r>
                  <a:rPr lang="en-US" altLang="zh-CN" sz="2800" dirty="0"/>
                  <a:t> (</a:t>
                </a:r>
                <a:r>
                  <a:rPr lang="zh-CN" altLang="en-US" sz="2800" dirty="0"/>
                  <a:t>计算私钥</a:t>
                </a:r>
                <a:r>
                  <a:rPr lang="en-US" altLang="zh-CN" sz="2800" dirty="0"/>
                  <a:t>)</a:t>
                </a:r>
                <a:endParaRPr lang="zh-CN" altLang="en-US" sz="2800" i="1" dirty="0">
                  <a:ea typeface="+mn-ea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ACEA212-2B40-BFD6-1896-FCEDD86EA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ADEF92C-CBE5-3F0A-8524-BD2392795AF3}"/>
                  </a:ext>
                </a:extLst>
              </p:cNvPr>
              <p:cNvSpPr/>
              <p:nvPr/>
            </p:nvSpPr>
            <p:spPr>
              <a:xfrm>
                <a:off x="404189" y="1726734"/>
                <a:ext cx="11279809" cy="17078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私钥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{</a:t>
                </a:r>
                <a:r>
                  <a:rPr lang="en-US" altLang="zh-CN" sz="2800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d,n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}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的要求：</a:t>
                </a:r>
                <a:endParaRPr lang="en-US" altLang="zh-CN" sz="2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4ADEF92C-CBE5-3F0A-8524-BD2392795A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89" y="1726734"/>
                <a:ext cx="11279809" cy="1707844"/>
              </a:xfrm>
              <a:prstGeom prst="rect">
                <a:avLst/>
              </a:prstGeom>
              <a:blipFill>
                <a:blip r:embed="rId4"/>
                <a:stretch>
                  <a:fillRect l="-159"/>
                </a:stretch>
              </a:blipFill>
              <a:ln>
                <a:solidFill>
                  <a:schemeClr val="accent1"/>
                </a:solidFill>
              </a:ln>
              <a:effectLst>
                <a:outerShdw blurRad="317500" dist="203200" dir="5400000" sx="96000" sy="96000" algn="t" rotWithShape="0">
                  <a:schemeClr val="tx1">
                    <a:alpha val="30000"/>
                  </a:scheme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2">
            <a:extLst>
              <a:ext uri="{FF2B5EF4-FFF2-40B4-BE49-F238E27FC236}">
                <a16:creationId xmlns:a16="http://schemas.microsoft.com/office/drawing/2014/main" id="{DBDC9888-87A2-C2EB-A6FD-AE415A8C45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6626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42A3787-6579-E240-9177-F83BF37F7DDA}"/>
                  </a:ext>
                </a:extLst>
              </p:cNvPr>
              <p:cNvSpPr txBox="1"/>
              <p:nvPr/>
            </p:nvSpPr>
            <p:spPr>
              <a:xfrm>
                <a:off x="0" y="3628013"/>
                <a:ext cx="12192000" cy="541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欧拉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定理：</m:t>
                      </m:r>
                      <m:sSup>
                        <m:sSup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≡1(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42A3787-6579-E240-9177-F83BF37F7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28013"/>
                <a:ext cx="12192000" cy="541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AB3C948-99B8-495E-5BE2-68D6CA8CCCBA}"/>
                  </a:ext>
                </a:extLst>
              </p:cNvPr>
              <p:cNvSpPr txBox="1"/>
              <p:nvPr/>
            </p:nvSpPr>
            <p:spPr>
              <a:xfrm>
                <a:off x="0" y="4301414"/>
                <a:ext cx="12192000" cy="53091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RSA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加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解密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：</m:t>
                      </m:r>
                      <m:sSup>
                        <m:sSupPr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𝑒𝑑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AB3C948-99B8-495E-5BE2-68D6CA8CC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301414"/>
                <a:ext cx="12192000" cy="5309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A08C22D-5AA9-B537-1AEB-60CA5C00F084}"/>
                  </a:ext>
                </a:extLst>
              </p:cNvPr>
              <p:cNvSpPr txBox="1"/>
              <p:nvPr/>
            </p:nvSpPr>
            <p:spPr>
              <a:xfrm>
                <a:off x="2945293" y="5138001"/>
                <a:ext cx="61976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A08C22D-5AA9-B537-1AEB-60CA5C00F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293" y="5138001"/>
                <a:ext cx="61976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4CAE522-FA6A-2D1E-5067-70D4BA89B948}"/>
                  </a:ext>
                </a:extLst>
              </p:cNvPr>
              <p:cNvSpPr txBox="1"/>
              <p:nvPr/>
            </p:nvSpPr>
            <p:spPr>
              <a:xfrm>
                <a:off x="2945293" y="5843059"/>
                <a:ext cx="6197600" cy="936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solidFill>
                                <a:schemeClr val="accent3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chemeClr val="accent3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chemeClr val="accent3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4CAE522-FA6A-2D1E-5067-70D4BA89B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293" y="5843059"/>
                <a:ext cx="6197600" cy="9361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561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E2094-F2D1-7D96-0147-4C3001420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264B05-CDED-98FC-54FD-009BE02BA468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2449857-26FE-E3FC-074D-9DB09FFE8E47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A00BDC5B-95B5-F069-5518-B7F0CAFAE7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2074A9B2-961E-4D68-F71E-0A227E3E2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832F6E9C-8EC2-3053-F037-89AA07A4CF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EE9C36EE-133E-C5CD-5A05-2C24134E69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F8B58D77-94BF-F614-AE6D-EA7DF444A0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374BA9D5-A60D-9C49-5944-D739D2D4CBC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2C043A6-74C0-56E1-6E83-7043699AD024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smtClean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ea typeface="+mn-ea"/>
                  </a:rPr>
                  <a:t>密钥对生成过程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2C043A6-74C0-56E1-6E83-7043699AD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027527CD-CE67-06EA-AC96-ADCF69FD68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7680" y="1422388"/>
            <a:ext cx="11216640" cy="52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07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8B20-5001-4F8A-B394-C514BA950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22E3E23-3779-5581-1A27-2664ABB38A02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BCA7DA8-C87A-E3AE-DE11-E4ECFF46491B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4CD20272-9549-451B-177C-9F5E0695F9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76A72D09-F266-4FE9-ABDE-B577DA173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897F0AD8-51AC-ACE5-B06F-EC9B0FC8A4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BA22D7B8-FDFD-1CE5-CE88-9509ADF134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C536869D-4E61-6AAB-88AB-35F423671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B586C3D2-79AC-BEF6-AE46-6B029E3B4E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3E786EB-52FF-8E0B-FD25-E23CF515FA8E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加密与解密流程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3E786EB-52FF-8E0B-FD25-E23CF515F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C6E920B1-4A16-C958-0D08-2D3479C7C4D5}"/>
              </a:ext>
            </a:extLst>
          </p:cNvPr>
          <p:cNvGraphicFramePr>
            <a:graphicFrameLocks noGrp="1"/>
          </p:cNvGraphicFramePr>
          <p:nvPr/>
        </p:nvGraphicFramePr>
        <p:xfrm>
          <a:off x="261618" y="3934473"/>
          <a:ext cx="11668761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96062">
                  <a:extLst>
                    <a:ext uri="{9D8B030D-6E8A-4147-A177-3AD203B41FA5}">
                      <a16:colId xmlns:a16="http://schemas.microsoft.com/office/drawing/2014/main" val="2908313444"/>
                    </a:ext>
                  </a:extLst>
                </a:gridCol>
                <a:gridCol w="6283112">
                  <a:extLst>
                    <a:ext uri="{9D8B030D-6E8A-4147-A177-3AD203B41FA5}">
                      <a16:colId xmlns:a16="http://schemas.microsoft.com/office/drawing/2014/main" val="2526696859"/>
                    </a:ext>
                  </a:extLst>
                </a:gridCol>
                <a:gridCol w="3889587">
                  <a:extLst>
                    <a:ext uri="{9D8B030D-6E8A-4147-A177-3AD203B41FA5}">
                      <a16:colId xmlns:a16="http://schemas.microsoft.com/office/drawing/2014/main" val="3446144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43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随机选择一对足够大的质数，并计算乘积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459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计算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的欧拉函数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 -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511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选一个与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zh-CN" altLang="en-US" sz="2400" dirty="0"/>
                        <a:t>互质的整数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&lt; e &lt;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83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计算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对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的模反元素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</a:t>
                      </a:r>
                      <a:r>
                        <a:rPr lang="zh-CN" alt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倒数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φ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999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B41E152D-C220-6390-BCDC-0A34D5EFBB1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1618" y="1422388"/>
              <a:ext cx="11668762" cy="19583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4381">
                      <a:extLst>
                        <a:ext uri="{9D8B030D-6E8A-4147-A177-3AD203B41FA5}">
                          <a16:colId xmlns:a16="http://schemas.microsoft.com/office/drawing/2014/main" val="3740394943"/>
                        </a:ext>
                      </a:extLst>
                    </a:gridCol>
                    <a:gridCol w="5834381">
                      <a:extLst>
                        <a:ext uri="{9D8B030D-6E8A-4147-A177-3AD203B41FA5}">
                          <a16:colId xmlns:a16="http://schemas.microsoft.com/office/drawing/2014/main" val="11578668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dirty="0"/>
                            <a:t>加密：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28474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明文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a-DK" sz="2400" dirty="0"/>
                            <a:t>解密：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26953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公钥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93709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私钥</a:t>
                          </a: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475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B41E152D-C220-6390-BCDC-0A34D5EF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1535299"/>
                  </p:ext>
                </p:extLst>
              </p:nvPr>
            </p:nvGraphicFramePr>
            <p:xfrm>
              <a:off x="261618" y="1422388"/>
              <a:ext cx="11668762" cy="19583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4381">
                      <a:extLst>
                        <a:ext uri="{9D8B030D-6E8A-4147-A177-3AD203B41FA5}">
                          <a16:colId xmlns:a16="http://schemas.microsoft.com/office/drawing/2014/main" val="3740394943"/>
                        </a:ext>
                      </a:extLst>
                    </a:gridCol>
                    <a:gridCol w="5834381">
                      <a:extLst>
                        <a:ext uri="{9D8B030D-6E8A-4147-A177-3AD203B41FA5}">
                          <a16:colId xmlns:a16="http://schemas.microsoft.com/office/drawing/2014/main" val="115786680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04" t="-7059" r="-209" b="-30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84740"/>
                      </a:ext>
                    </a:extLst>
                  </a:tr>
                  <a:tr h="5257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明文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04" t="-104598" r="-20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26953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公钥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93709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私钥</a:t>
                          </a: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4757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38329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B7A70-7AA1-3AE5-BAC6-9718F349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B503E0-F22D-4CF8-5DBD-12C10520CBE8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E5580-285B-E601-1970-7234D315E42C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04F136A3-62FA-34EE-3A93-C013007A65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11765888-4CC3-8830-3661-09598677F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869BE556-D8DB-E029-B552-E8B9FCB116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E7EC1A5F-4FDF-C5F7-003F-352AE76E95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17490984-1B40-3B1B-C012-242A2B058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FAC72BD5-738A-DCC5-E3CE-1D6AF8CA64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020CF7-7515-E64A-45E7-246DF7A42AF9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加密</a:t>
                </a:r>
                <a:r>
                  <a:rPr lang="en-US" altLang="zh-CN" sz="2800" dirty="0">
                    <a:latin typeface="+mn-lt"/>
                    <a:ea typeface="+mn-ea"/>
                  </a:rPr>
                  <a:t>——</a:t>
                </a:r>
                <a:r>
                  <a:rPr lang="zh-CN" altLang="en-US" sz="2800" dirty="0">
                    <a:latin typeface="+mn-lt"/>
                    <a:ea typeface="+mn-ea"/>
                  </a:rPr>
                  <a:t>课堂练习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7020CF7-7515-E64A-45E7-246DF7A42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5DEE083-5177-99D5-D119-C11E940624DB}"/>
              </a:ext>
            </a:extLst>
          </p:cNvPr>
          <p:cNvGraphicFramePr>
            <a:graphicFrameLocks noGrp="1"/>
          </p:cNvGraphicFramePr>
          <p:nvPr/>
        </p:nvGraphicFramePr>
        <p:xfrm>
          <a:off x="261619" y="1422388"/>
          <a:ext cx="11668762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34381">
                  <a:extLst>
                    <a:ext uri="{9D8B030D-6E8A-4147-A177-3AD203B41FA5}">
                      <a16:colId xmlns:a16="http://schemas.microsoft.com/office/drawing/2014/main" val="3740394943"/>
                    </a:ext>
                  </a:extLst>
                </a:gridCol>
                <a:gridCol w="5834381">
                  <a:extLst>
                    <a:ext uri="{9D8B030D-6E8A-4147-A177-3AD203B41FA5}">
                      <a16:colId xmlns:a16="http://schemas.microsoft.com/office/drawing/2014/main" val="1157866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i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已知</a:t>
                      </a:r>
                      <a:endParaRPr lang="en-US" altLang="zh-CN" sz="2400" i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0" dirty="0"/>
                        <a:t>求解</a:t>
                      </a:r>
                      <a:endParaRPr lang="en-US" altLang="zh-CN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569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3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q </a:t>
                      </a:r>
                      <a:r>
                        <a:rPr lang="en-US" altLang="zh-CN" sz="2400" i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n,</a:t>
                      </a:r>
                      <a:r>
                        <a:rPr lang="zh-CN" alt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pt-BR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2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84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20, 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公钥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695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私钥</a:t>
                      </a:r>
                      <a:r>
                        <a:rPr lang="en-US" altLang="zh-CN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370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密文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75710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F068A62-5BF4-5B8D-BDDE-ABB4EC526003}"/>
              </a:ext>
            </a:extLst>
          </p:cNvPr>
          <p:cNvGraphicFramePr>
            <a:graphicFrameLocks noGrp="1"/>
          </p:cNvGraphicFramePr>
          <p:nvPr/>
        </p:nvGraphicFramePr>
        <p:xfrm>
          <a:off x="261618" y="3882458"/>
          <a:ext cx="11668762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34381">
                  <a:extLst>
                    <a:ext uri="{9D8B030D-6E8A-4147-A177-3AD203B41FA5}">
                      <a16:colId xmlns:a16="http://schemas.microsoft.com/office/drawing/2014/main" val="1468247889"/>
                    </a:ext>
                  </a:extLst>
                </a:gridCol>
                <a:gridCol w="5834381">
                  <a:extLst>
                    <a:ext uri="{9D8B030D-6E8A-4147-A177-3AD203B41FA5}">
                      <a16:colId xmlns:a16="http://schemas.microsoft.com/office/drawing/2014/main" val="1884529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变量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数值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21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246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φ(</a:t>
                      </a:r>
                      <a:r>
                        <a:rPr lang="en-US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98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8048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02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12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235F6-5328-240A-F74F-C12226C47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94D3DF0-C3C4-FFAC-C65E-6FAE26B6EDBB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的安全性分析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AF6911E-4F9D-3961-A62D-7343EBF8CB42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C088577D-4208-8CEF-A21E-1360872115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05D901E3-88B6-5893-C6F9-EA8F9E963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1CB65909-AF4D-C78E-2A1A-CE3D785037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E3CF6B39-8D05-A3C3-2CDD-F9E3789BC5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BC66F3D2-EB1D-F3B8-7353-E85946BF7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834EB352-3C73-4659-9C61-FAA22D7E01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D56A554-7C30-1680-D32A-1A29D93ED3C3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+mn-ea"/>
                      </a:rPr>
                      <m:t>攻击者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能力分析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D56A554-7C30-1680-D32A-1A29D93ED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E250D9B7-FAF0-476B-6D3E-0458843604A8}"/>
              </a:ext>
            </a:extLst>
          </p:cNvPr>
          <p:cNvSpPr/>
          <p:nvPr/>
        </p:nvSpPr>
        <p:spPr>
          <a:xfrm>
            <a:off x="456095" y="2020268"/>
            <a:ext cx="11279809" cy="123444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密文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：可以通过窃听来获取</a:t>
            </a: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公钥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pitchFamily="18" charset="0"/>
              </a:rPr>
              <a:t>{</a:t>
            </a:r>
            <a:r>
              <a:rPr lang="en-US" altLang="zh-CN" sz="2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e,n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pitchFamily="18" charset="0"/>
              </a:rPr>
              <a:t>}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：公钥是公开的信息</a:t>
            </a:r>
            <a:endParaRPr lang="en-US" altLang="zh-CN" sz="280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C8C545-B639-9698-3F6D-0FA3224A0C38}"/>
              </a:ext>
            </a:extLst>
          </p:cNvPr>
          <p:cNvSpPr/>
          <p:nvPr/>
        </p:nvSpPr>
        <p:spPr>
          <a:xfrm>
            <a:off x="404188" y="4500880"/>
            <a:ext cx="11279809" cy="16320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明文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：敌手破译目标</a:t>
            </a: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私钥中的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：私钥中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chemeClr val="tx1"/>
                </a:solidFill>
                <a:latin typeface="Cambria Math" panose="02040503050406030204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是不知道的信息</a:t>
            </a:r>
          </a:p>
          <a:p>
            <a:r>
              <a:rPr lang="zh-CN" altLang="en-US" sz="2800" dirty="0">
                <a:solidFill>
                  <a:schemeClr val="tx1"/>
                </a:solidFill>
                <a:latin typeface="Cambria Math" panose="02040503050406030204" pitchFamily="18" charset="0"/>
              </a:rPr>
              <a:t>其他：敌手不知道生成密钥时所使用的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9" name="AutoShape 2">
            <a:extLst>
              <a:ext uri="{FF2B5EF4-FFF2-40B4-BE49-F238E27FC236}">
                <a16:creationId xmlns:a16="http://schemas.microsoft.com/office/drawing/2014/main" id="{A7A59ECF-7E3C-AB4B-3367-A648DF9C14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6626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4A349D-676D-46CE-85FF-1344F9C5319D}"/>
              </a:ext>
            </a:extLst>
          </p:cNvPr>
          <p:cNvSpPr txBox="1"/>
          <p:nvPr/>
        </p:nvSpPr>
        <p:spPr>
          <a:xfrm>
            <a:off x="2945292" y="1497048"/>
            <a:ext cx="619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</a:rPr>
              <a:t>敌手知道的信息</a:t>
            </a:r>
            <a:endParaRPr lang="en-US" altLang="zh-CN" sz="2800" dirty="0">
              <a:solidFill>
                <a:srgbClr val="FF0000"/>
              </a:solidFill>
              <a:latin typeface="Cambria Math" panose="020405030504060302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D72F83-11B0-071A-2B84-6AF35CDCEAD6}"/>
              </a:ext>
            </a:extLst>
          </p:cNvPr>
          <p:cNvSpPr txBox="1"/>
          <p:nvPr/>
        </p:nvSpPr>
        <p:spPr>
          <a:xfrm>
            <a:off x="2945292" y="3885324"/>
            <a:ext cx="619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Cambria Math" panose="02040503050406030204" pitchFamily="18" charset="0"/>
              </a:rPr>
              <a:t>敌手不知道的信息</a:t>
            </a:r>
            <a:endParaRPr lang="en-US" altLang="zh-CN" sz="2800" dirty="0">
              <a:solidFill>
                <a:schemeClr val="accent6">
                  <a:lumMod val="7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058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AD479-249F-E83A-5100-52F18229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791D614-5B17-091D-2680-6DB95E510EE7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的安全性分析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A394DCF-5251-E299-4F48-2F3D2A9E4581}"/>
              </a:ext>
            </a:extLst>
          </p:cNvPr>
          <p:cNvGrpSpPr/>
          <p:nvPr/>
        </p:nvGrpSpPr>
        <p:grpSpPr>
          <a:xfrm>
            <a:off x="397075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41053112-54DA-E028-B0C1-BE8F5907EF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B7321BAB-F3F0-C0E2-FE8A-E10607C2B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732B7BE3-9459-1B05-7B74-348BA998FE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1A953338-99AE-FCB1-46B7-9C9036977A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AD480FD7-E77F-357B-9350-8927A58E3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63FA0877-C959-6908-B93C-17BAFF310C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CDDC733A-F849-7F2C-AA42-3262FA057286}"/>
              </a:ext>
            </a:extLst>
          </p:cNvPr>
          <p:cNvSpPr txBox="1"/>
          <p:nvPr/>
        </p:nvSpPr>
        <p:spPr>
          <a:xfrm>
            <a:off x="0" y="72509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1.</a:t>
            </a:r>
            <a:r>
              <a:rPr lang="zh-CN" altLang="en-US" sz="2800" dirty="0"/>
              <a:t>通过密文来求得明文</a:t>
            </a:r>
            <a:endParaRPr lang="en-US" altLang="zh-CN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18CAEA-22F5-7795-C757-13C9F507DE76}"/>
              </a:ext>
            </a:extLst>
          </p:cNvPr>
          <p:cNvSpPr txBox="1"/>
          <p:nvPr/>
        </p:nvSpPr>
        <p:spPr>
          <a:xfrm>
            <a:off x="0" y="179189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2.</a:t>
            </a:r>
            <a:r>
              <a:rPr lang="zh-CN" altLang="en-US" sz="2800" dirty="0"/>
              <a:t>通过暴力破解来找出 </a:t>
            </a:r>
            <a:r>
              <a:rPr lang="en-US" altLang="zh-CN" sz="2800" dirty="0"/>
              <a:t>d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9F726A-F1E0-716B-B178-A5F649AEE673}"/>
              </a:ext>
            </a:extLst>
          </p:cNvPr>
          <p:cNvSpPr txBox="1"/>
          <p:nvPr/>
        </p:nvSpPr>
        <p:spPr>
          <a:xfrm>
            <a:off x="0" y="294505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3.</a:t>
            </a:r>
            <a:r>
              <a:rPr lang="zh-CN" altLang="en-US" sz="2800" dirty="0"/>
              <a:t>通过 </a:t>
            </a:r>
            <a:r>
              <a:rPr lang="en-US" altLang="zh-CN" sz="2800" i="1" dirty="0"/>
              <a:t>e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zh-CN" altLang="en-US" sz="2800" dirty="0"/>
              <a:t>来求出 </a:t>
            </a:r>
            <a:r>
              <a:rPr lang="en-US" altLang="zh-CN" sz="2800" i="1" dirty="0"/>
              <a:t>d</a:t>
            </a:r>
            <a:endParaRPr lang="en-US" altLang="zh-CN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3351E5A-4B00-369C-E944-9FDF65ABDCF3}"/>
              </a:ext>
            </a:extLst>
          </p:cNvPr>
          <p:cNvSpPr txBox="1"/>
          <p:nvPr/>
        </p:nvSpPr>
        <p:spPr>
          <a:xfrm>
            <a:off x="0" y="4098218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4.</a:t>
            </a:r>
            <a:r>
              <a:rPr lang="zh-CN" altLang="en-US" sz="2800" dirty="0"/>
              <a:t>对 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zh-CN" altLang="en-US" sz="2800" dirty="0"/>
              <a:t>进行质因数分解攻击</a:t>
            </a:r>
            <a:endParaRPr lang="en-US" altLang="zh-CN" sz="28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0FEE5A7-BC9D-1760-D678-23ADCF017A48}"/>
              </a:ext>
            </a:extLst>
          </p:cNvPr>
          <p:cNvSpPr txBox="1"/>
          <p:nvPr/>
        </p:nvSpPr>
        <p:spPr>
          <a:xfrm>
            <a:off x="0" y="5205211"/>
            <a:ext cx="1219200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5.</a:t>
            </a:r>
            <a:r>
              <a:rPr lang="zh-CN" altLang="en-US" sz="2800" dirty="0"/>
              <a:t>通过推测 </a:t>
            </a:r>
            <a:r>
              <a:rPr lang="en-US" altLang="zh-CN" sz="2800" i="1" dirty="0"/>
              <a:t>p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i="1" dirty="0"/>
              <a:t>q</a:t>
            </a:r>
            <a:r>
              <a:rPr lang="en-US" altLang="zh-CN" sz="2800" dirty="0"/>
              <a:t> </a:t>
            </a:r>
            <a:r>
              <a:rPr lang="zh-CN" altLang="en-US" sz="2800" dirty="0"/>
              <a:t>进行攻击</a:t>
            </a:r>
            <a:endParaRPr lang="en-US" altLang="zh-CN" sz="28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7BDA64-0EC4-2860-D4C2-8237206EEA09}"/>
              </a:ext>
            </a:extLst>
          </p:cNvPr>
          <p:cNvSpPr txBox="1"/>
          <p:nvPr/>
        </p:nvSpPr>
        <p:spPr>
          <a:xfrm>
            <a:off x="4898065" y="722270"/>
            <a:ext cx="729393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——</a:t>
            </a:r>
            <a:r>
              <a:rPr lang="zh-CN" altLang="en-US" sz="2800" dirty="0"/>
              <a:t>需要求解有限域上的离散对数问题</a:t>
            </a:r>
            <a:endParaRPr lang="en-US" altLang="zh-CN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F05EFE-F2DD-AC03-05D4-1BD5862A0AED}"/>
              </a:ext>
            </a:extLst>
          </p:cNvPr>
          <p:cNvSpPr txBox="1"/>
          <p:nvPr/>
        </p:nvSpPr>
        <p:spPr>
          <a:xfrm>
            <a:off x="4898065" y="1791898"/>
            <a:ext cx="729393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——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zh-CN" altLang="en-US" sz="2800" dirty="0"/>
              <a:t>的长度为 </a:t>
            </a:r>
            <a:r>
              <a:rPr lang="en-US" altLang="zh-CN" sz="2800" dirty="0"/>
              <a:t>2048 </a:t>
            </a:r>
            <a:r>
              <a:rPr lang="zh-CN" altLang="en-US" sz="2800" dirty="0"/>
              <a:t>位或更长</a:t>
            </a:r>
            <a:endParaRPr lang="en-US" altLang="zh-CN" sz="28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49631C-B2EC-179B-8F29-535AC69436D7}"/>
              </a:ext>
            </a:extLst>
          </p:cNvPr>
          <p:cNvSpPr txBox="1"/>
          <p:nvPr/>
        </p:nvSpPr>
        <p:spPr>
          <a:xfrm>
            <a:off x="4898065" y="2945058"/>
            <a:ext cx="729393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——</a:t>
            </a:r>
            <a:r>
              <a:rPr lang="zh-CN" altLang="en-US" sz="2800" dirty="0"/>
              <a:t>陷门保密：质数 </a:t>
            </a:r>
            <a:r>
              <a:rPr lang="en-US" altLang="zh-CN" sz="2800" i="1" dirty="0"/>
              <a:t>p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i="1" dirty="0"/>
              <a:t>q</a:t>
            </a:r>
            <a:r>
              <a:rPr lang="en-US" altLang="zh-CN" sz="2800" dirty="0"/>
              <a:t> </a:t>
            </a:r>
            <a:r>
              <a:rPr lang="zh-CN" altLang="en-US" sz="2800" dirty="0"/>
              <a:t>敌手不知道</a:t>
            </a:r>
            <a:endParaRPr lang="en-US" altLang="zh-CN" sz="28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538B5B0-05C4-F5FB-795D-6D2AA0F49857}"/>
              </a:ext>
            </a:extLst>
          </p:cNvPr>
          <p:cNvSpPr txBox="1"/>
          <p:nvPr/>
        </p:nvSpPr>
        <p:spPr>
          <a:xfrm>
            <a:off x="4898064" y="4098218"/>
            <a:ext cx="729393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b="1" dirty="0"/>
              <a:t>——</a:t>
            </a:r>
            <a:r>
              <a:rPr lang="zh-CN" altLang="en-US" sz="2800" dirty="0"/>
              <a:t>需要对大整数进行质因数分解</a:t>
            </a:r>
            <a:endParaRPr lang="en-US" altLang="zh-CN" sz="28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AD6FAB-0937-46EB-21E0-2A74CE199813}"/>
              </a:ext>
            </a:extLst>
          </p:cNvPr>
          <p:cNvSpPr txBox="1"/>
          <p:nvPr/>
        </p:nvSpPr>
        <p:spPr>
          <a:xfrm>
            <a:off x="4898065" y="5205211"/>
            <a:ext cx="729393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800" dirty="0"/>
              <a:t>——</a:t>
            </a:r>
            <a:r>
              <a:rPr lang="zh-CN" altLang="en-US" sz="2800" dirty="0"/>
              <a:t>伪随机数生成器保证 </a:t>
            </a:r>
            <a:r>
              <a:rPr lang="en-US" altLang="zh-CN" sz="2800" i="1" dirty="0"/>
              <a:t>p</a:t>
            </a:r>
            <a:r>
              <a:rPr lang="en-US" altLang="zh-CN" sz="2800" dirty="0"/>
              <a:t> </a:t>
            </a:r>
            <a:r>
              <a:rPr lang="zh-CN" altLang="en-US" sz="2800" dirty="0"/>
              <a:t>和 </a:t>
            </a:r>
            <a:r>
              <a:rPr lang="en-US" altLang="zh-CN" sz="2800" i="1" dirty="0"/>
              <a:t>q </a:t>
            </a:r>
            <a:r>
              <a:rPr lang="zh-CN" altLang="en-US" sz="2800" dirty="0"/>
              <a:t>的安全性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75865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16" grpId="0" animBg="1"/>
      <p:bldP spid="11" grpId="0" animBg="1"/>
      <p:bldP spid="12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688B8CC6-B548-40CA-93E4-212D0E04D22F}"/>
              </a:ext>
            </a:extLst>
          </p:cNvPr>
          <p:cNvGrpSpPr/>
          <p:nvPr/>
        </p:nvGrpSpPr>
        <p:grpSpPr>
          <a:xfrm rot="637793">
            <a:off x="6717963" y="-2695151"/>
            <a:ext cx="8786687" cy="13156983"/>
            <a:chOff x="14552960" y="-177472"/>
            <a:chExt cx="7029080" cy="10525183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D57EA9D9-5E3A-4570-A0A1-FE4F71280BCC}"/>
                </a:ext>
              </a:extLst>
            </p:cNvPr>
            <p:cNvGrpSpPr/>
            <p:nvPr/>
          </p:nvGrpSpPr>
          <p:grpSpPr>
            <a:xfrm rot="1495231">
              <a:off x="15166450" y="-177472"/>
              <a:ext cx="4878842" cy="4879972"/>
              <a:chOff x="18351500" y="3723568"/>
              <a:chExt cx="4878842" cy="4879972"/>
            </a:xfrm>
          </p:grpSpPr>
          <p:sp>
            <p:nvSpPr>
              <p:cNvPr id="32" name="Freeform 6">
                <a:extLst>
                  <a:ext uri="{FF2B5EF4-FFF2-40B4-BE49-F238E27FC236}">
                    <a16:creationId xmlns:a16="http://schemas.microsoft.com/office/drawing/2014/main" id="{A1E9E03B-1BC3-4C9A-8A51-7329E00EC1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7">
                <a:extLst>
                  <a:ext uri="{FF2B5EF4-FFF2-40B4-BE49-F238E27FC236}">
                    <a16:creationId xmlns:a16="http://schemas.microsoft.com/office/drawing/2014/main" id="{245CCFFC-F09A-47D8-8B3B-88EF31E890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5AA2E4A-FA11-4014-B207-60C2845236D6}"/>
                </a:ext>
              </a:extLst>
            </p:cNvPr>
            <p:cNvGrpSpPr/>
            <p:nvPr/>
          </p:nvGrpSpPr>
          <p:grpSpPr>
            <a:xfrm rot="12295231">
              <a:off x="14552960" y="3317003"/>
              <a:ext cx="7029080" cy="7030708"/>
              <a:chOff x="18351500" y="3723568"/>
              <a:chExt cx="4878842" cy="4879972"/>
            </a:xfrm>
          </p:grpSpPr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3C6CFD63-5B57-41A7-B662-313039308E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id="{1B6F08D9-7F96-4802-B7C9-CB4EEC2083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54D3FBA-4047-4CC0-B783-83C404AE80DA}"/>
              </a:ext>
            </a:extLst>
          </p:cNvPr>
          <p:cNvGrpSpPr/>
          <p:nvPr/>
        </p:nvGrpSpPr>
        <p:grpSpPr>
          <a:xfrm>
            <a:off x="3334299" y="1364545"/>
            <a:ext cx="3989097" cy="538609"/>
            <a:chOff x="3667674" y="1375533"/>
            <a:chExt cx="3989097" cy="538609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DFB6750-B4E8-42BD-93E8-AF90F8BF68F5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椭圆曲线数学基础</a:t>
              </a: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CDC4B2FB-BB76-41C8-965E-0654ED86E1AA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EA178E5B-74EB-4472-9261-43D09FBB4F2E}"/>
              </a:ext>
            </a:extLst>
          </p:cNvPr>
          <p:cNvSpPr txBox="1"/>
          <p:nvPr/>
        </p:nvSpPr>
        <p:spPr>
          <a:xfrm>
            <a:off x="652513" y="1677787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5000" b="1" dirty="0">
                <a:solidFill>
                  <a:schemeClr val="bg2">
                    <a:lumMod val="25000"/>
                  </a:schemeClr>
                </a:solidFill>
              </a:rPr>
              <a:t>目录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B7EEC8-D0FE-4CE4-8A07-1E4B690DFD28}"/>
              </a:ext>
            </a:extLst>
          </p:cNvPr>
          <p:cNvSpPr txBox="1"/>
          <p:nvPr/>
        </p:nvSpPr>
        <p:spPr>
          <a:xfrm>
            <a:off x="735264" y="1378338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CONTENTES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7B4CD1D-6AD6-4688-8633-DC339240DC4F}"/>
              </a:ext>
            </a:extLst>
          </p:cNvPr>
          <p:cNvCxnSpPr>
            <a:cxnSpLocks/>
          </p:cNvCxnSpPr>
          <p:nvPr/>
        </p:nvCxnSpPr>
        <p:spPr>
          <a:xfrm>
            <a:off x="2857189" y="1378338"/>
            <a:ext cx="0" cy="289377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416BD8B-F9CE-E8CF-4F1C-83B30CEE15E2}"/>
              </a:ext>
            </a:extLst>
          </p:cNvPr>
          <p:cNvGrpSpPr/>
          <p:nvPr/>
        </p:nvGrpSpPr>
        <p:grpSpPr>
          <a:xfrm>
            <a:off x="3314083" y="2177923"/>
            <a:ext cx="3989097" cy="538609"/>
            <a:chOff x="3667674" y="1375533"/>
            <a:chExt cx="3989097" cy="5386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DDC6358-2D85-14F9-053F-92E174B193B7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椭圆曲线实现加密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D72A633-2665-50C7-397C-4407360E6C8C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AC56C61-304D-CE56-8784-4104EA4FA809}"/>
              </a:ext>
            </a:extLst>
          </p:cNvPr>
          <p:cNvGrpSpPr/>
          <p:nvPr/>
        </p:nvGrpSpPr>
        <p:grpSpPr>
          <a:xfrm>
            <a:off x="3314083" y="2985886"/>
            <a:ext cx="3989097" cy="538609"/>
            <a:chOff x="3667674" y="1375533"/>
            <a:chExt cx="3989097" cy="538609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1183A53-8F8D-9A7B-B90C-32259B30DB48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椭圆曲线实现密钥交换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F887723-C1E5-875F-762F-7EBD10D89882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#03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5911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8C41-EF96-8809-CBFC-A985D87F2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A89B17C-2B16-2AD2-1515-94969D6FC652}"/>
              </a:ext>
            </a:extLst>
          </p:cNvPr>
          <p:cNvSpPr txBox="1"/>
          <p:nvPr/>
        </p:nvSpPr>
        <p:spPr>
          <a:xfrm>
            <a:off x="3352513" y="2754066"/>
            <a:ext cx="5482323" cy="6155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zh-CN" altLang="en-US" sz="4000" dirty="0">
                <a:solidFill>
                  <a:schemeClr val="accent1"/>
                </a:solidFill>
              </a:rPr>
              <a:t>椭圆曲线公钥加密算法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3BE3C1-99AE-CC1C-EF2D-2A866F95AE12}"/>
              </a:ext>
            </a:extLst>
          </p:cNvPr>
          <p:cNvSpPr txBox="1"/>
          <p:nvPr/>
        </p:nvSpPr>
        <p:spPr>
          <a:xfrm>
            <a:off x="5720898" y="2041451"/>
            <a:ext cx="750205" cy="5386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#01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D1C1BDEF-04BF-63A7-70D4-DFB5136E17D9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3100272" y="1534089"/>
            <a:ext cx="922672" cy="922974"/>
            <a:chOff x="14101" y="4437"/>
            <a:chExt cx="3056" cy="305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F5A9C3A5-0656-117E-A298-6DD1A7A91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5E47A1CC-250D-F6BE-B009-9FA9063E88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71513FE-D90A-97E7-4B77-AAF67917D167}"/>
              </a:ext>
            </a:extLst>
          </p:cNvPr>
          <p:cNvGrpSpPr/>
          <p:nvPr/>
        </p:nvGrpSpPr>
        <p:grpSpPr>
          <a:xfrm rot="18900000">
            <a:off x="7424365" y="-2902432"/>
            <a:ext cx="6098786" cy="6100199"/>
            <a:chOff x="18351500" y="3723568"/>
            <a:chExt cx="4878842" cy="4879972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793131CA-562E-B78F-25D3-A074FC3781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FE24490-6104-D3B6-FD94-435092EA7D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0899DB9-1365-4816-A7F1-4295702FDAD4}"/>
              </a:ext>
            </a:extLst>
          </p:cNvPr>
          <p:cNvGrpSpPr/>
          <p:nvPr/>
        </p:nvGrpSpPr>
        <p:grpSpPr>
          <a:xfrm rot="8100000">
            <a:off x="6722596" y="2086183"/>
            <a:ext cx="8786687" cy="8788722"/>
            <a:chOff x="18351500" y="3723568"/>
            <a:chExt cx="4878842" cy="4879972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D0A9EB2E-96FD-3A2F-9523-36A3B9BE84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7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7C0AA00-295E-BB55-2730-E7FCD34440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613469AD-9A58-08D6-0300-AAF21FC00670}"/>
              </a:ext>
            </a:extLst>
          </p:cNvPr>
          <p:cNvGrpSpPr>
            <a:grpSpLocks noChangeAspect="1"/>
          </p:cNvGrpSpPr>
          <p:nvPr/>
        </p:nvGrpSpPr>
        <p:grpSpPr bwMode="auto">
          <a:xfrm rot="8100000">
            <a:off x="10501205" y="2666453"/>
            <a:ext cx="4851400" cy="4852988"/>
            <a:chOff x="14101" y="4437"/>
            <a:chExt cx="3056" cy="3057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193C255F-349C-8627-314A-D3E8F3606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C115CE08-469C-56DA-C331-619A08E2EF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E50757B-69B9-2816-D7BA-8079C7D9444D}"/>
              </a:ext>
            </a:extLst>
          </p:cNvPr>
          <p:cNvGrpSpPr/>
          <p:nvPr/>
        </p:nvGrpSpPr>
        <p:grpSpPr>
          <a:xfrm rot="18900000">
            <a:off x="-2098325" y="3005269"/>
            <a:ext cx="6098786" cy="6100199"/>
            <a:chOff x="18351500" y="3723568"/>
            <a:chExt cx="4878842" cy="4879972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3404029F-0DE2-386D-BC78-3C721FDF9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2078348E-E25D-EADF-8808-110348861D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E5BBD459-456E-3A1C-9EB2-C7617F3A8413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2714211" y="1610357"/>
            <a:ext cx="1291038" cy="1291460"/>
            <a:chOff x="14101" y="4437"/>
            <a:chExt cx="3056" cy="3057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DACC32E1-59B0-22C9-E7FB-E3EDF9DCF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D082546C-FFF9-EB2B-C063-5FAD1172DD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4897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C6F1-9E91-B22E-7FA5-00540B812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DAE24082-F4D3-86DE-2115-30B7C383607A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55BEF27D-A53F-25BE-C4F8-1F11A154AE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6D31F9A9-0D1B-8BC8-4140-593F8138C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F1DED90-182E-3A63-00E5-6A3F234DF5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8100E9B0-B318-3114-C58A-43DEE1821B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57002769-5B1F-A49B-4A15-B9B1DDF53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9F8410DE-67B9-E4AB-3CBA-FABD7F3178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5A4813C6-3F71-98E4-B982-36F5E342AEA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其他非对称加密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B0E906-0D18-E882-C3B7-03741DED2D12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任意单项陷门函数都可以构造一个公钥加密方案</a:t>
            </a:r>
            <a:r>
              <a:rPr lang="en-US" altLang="zh-CN" sz="3200" dirty="0"/>
              <a:t>——</a:t>
            </a:r>
            <a:r>
              <a:rPr lang="zh-CN" altLang="en-US" sz="3200" dirty="0"/>
              <a:t>姚期智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362146E-3F7B-3BB2-D790-74539A4ECF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4139793"/>
                  </p:ext>
                </p:extLst>
              </p:nvPr>
            </p:nvGraphicFramePr>
            <p:xfrm>
              <a:off x="332748" y="2057049"/>
              <a:ext cx="11526504" cy="398233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283266">
                      <a:extLst>
                        <a:ext uri="{9D8B030D-6E8A-4147-A177-3AD203B41FA5}">
                          <a16:colId xmlns:a16="http://schemas.microsoft.com/office/drawing/2014/main" val="803040330"/>
                        </a:ext>
                      </a:extLst>
                    </a:gridCol>
                    <a:gridCol w="3381154">
                      <a:extLst>
                        <a:ext uri="{9D8B030D-6E8A-4147-A177-3AD203B41FA5}">
                          <a16:colId xmlns:a16="http://schemas.microsoft.com/office/drawing/2014/main" val="225108039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8599616"/>
                        </a:ext>
                      </a:extLst>
                    </a:gridCol>
                    <a:gridCol w="3118884">
                      <a:extLst>
                        <a:ext uri="{9D8B030D-6E8A-4147-A177-3AD203B41FA5}">
                          <a16:colId xmlns:a16="http://schemas.microsoft.com/office/drawing/2014/main" val="2305154594"/>
                        </a:ext>
                      </a:extLst>
                    </a:gridCol>
                  </a:tblGrid>
                  <a:tr h="25978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非对称密码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基本困难问题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优点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缺点 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4269990782"/>
                      </a:ext>
                    </a:extLst>
                  </a:tr>
                  <a:tr h="4546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/>
                            <a:t>RSA</a:t>
                          </a:r>
                          <a:r>
                            <a:rPr lang="zh-CN" altLang="en-US" sz="2400" b="0"/>
                            <a:t>方式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大整数分解困难问题</a:t>
                          </a:r>
                          <a:endParaRPr lang="en-US" altLang="zh-CN" sz="2400" b="0" dirty="0"/>
                        </a:p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（对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4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2400" b="0" dirty="0"/>
                            <a:t>分解）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最普及的公钥密码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需要较长密钥才能保持安全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3031721810"/>
                      </a:ext>
                    </a:extLst>
                  </a:tr>
                  <a:tr h="4546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/>
                            <a:t>ElGamal</a:t>
                          </a:r>
                          <a:r>
                            <a:rPr lang="zh-CN" altLang="en-US" sz="2400" b="0"/>
                            <a:t>方式</a:t>
                          </a:r>
                          <a:endParaRPr lang="zh-CN" altLang="en-US" sz="2400" b="0" dirty="0"/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zh-CN" altLang="en-US" sz="2400" b="0" dirty="0"/>
                            <a:t>下离散对数困难问题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天然支持随机化加密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密文长度为明文的两倍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1869829767"/>
                      </a:ext>
                    </a:extLst>
                  </a:tr>
                  <a:tr h="4546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 dirty="0"/>
                            <a:t>Rabin</a:t>
                          </a:r>
                          <a:r>
                            <a:rPr lang="zh-CN" altLang="en-US" sz="2400" b="0" dirty="0"/>
                            <a:t>方式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zh-CN" altLang="en-US" sz="2400" b="0" dirty="0"/>
                            <a:t>下求平方根困难问题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破解难度与“大整数分解”严格等价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解密后可能得到 </a:t>
                          </a:r>
                          <a:r>
                            <a:rPr lang="en-US" altLang="zh-CN" sz="2400" b="0" dirty="0"/>
                            <a:t>4 </a:t>
                          </a:r>
                          <a:r>
                            <a:rPr lang="zh-CN" altLang="en-US" sz="2400" b="0" dirty="0"/>
                            <a:t>个可能的明文，需要额外机制消除歧义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3985464370"/>
                      </a:ext>
                    </a:extLst>
                  </a:tr>
                  <a:tr h="45461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椭圆曲线密码 </a:t>
                          </a:r>
                          <a:r>
                            <a:rPr lang="en-US" altLang="zh-CN" sz="2400" b="0" dirty="0"/>
                            <a:t>ECC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椭圆曲线离散对数困难问题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密钥短、性能高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数学结构复杂</a:t>
                          </a:r>
                        </a:p>
                        <a:p>
                          <a:pPr>
                            <a:buNone/>
                          </a:pPr>
                          <a:endParaRPr lang="zh-CN" altLang="en-US" sz="2400" b="0" dirty="0"/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28736060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362146E-3F7B-3BB2-D790-74539A4ECF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4139793"/>
                  </p:ext>
                </p:extLst>
              </p:nvPr>
            </p:nvGraphicFramePr>
            <p:xfrm>
              <a:off x="332748" y="2057049"/>
              <a:ext cx="11526504" cy="398233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283266">
                      <a:extLst>
                        <a:ext uri="{9D8B030D-6E8A-4147-A177-3AD203B41FA5}">
                          <a16:colId xmlns:a16="http://schemas.microsoft.com/office/drawing/2014/main" val="803040330"/>
                        </a:ext>
                      </a:extLst>
                    </a:gridCol>
                    <a:gridCol w="3381154">
                      <a:extLst>
                        <a:ext uri="{9D8B030D-6E8A-4147-A177-3AD203B41FA5}">
                          <a16:colId xmlns:a16="http://schemas.microsoft.com/office/drawing/2014/main" val="225108039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8599616"/>
                        </a:ext>
                      </a:extLst>
                    </a:gridCol>
                    <a:gridCol w="3118884">
                      <a:extLst>
                        <a:ext uri="{9D8B030D-6E8A-4147-A177-3AD203B41FA5}">
                          <a16:colId xmlns:a16="http://schemas.microsoft.com/office/drawing/2014/main" val="2305154594"/>
                        </a:ext>
                      </a:extLst>
                    </a:gridCol>
                  </a:tblGrid>
                  <a:tr h="43070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非对称密码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基本困难问题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优点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缺点 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4269990782"/>
                      </a:ext>
                    </a:extLst>
                  </a:tr>
                  <a:tr h="79646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/>
                            <a:t>RSA</a:t>
                          </a:r>
                          <a:r>
                            <a:rPr lang="zh-CN" altLang="en-US" sz="2400" b="0"/>
                            <a:t>方式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4945" marR="64945" marT="32473" marB="32473" anchor="ctr">
                        <a:blipFill>
                          <a:blip r:embed="rId3"/>
                          <a:stretch>
                            <a:fillRect l="-67748" t="-64122" r="-173694" b="-364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最普及的公钥密码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需要较长密钥才能保持安全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3031721810"/>
                      </a:ext>
                    </a:extLst>
                  </a:tr>
                  <a:tr h="79646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/>
                            <a:t>ElGamal</a:t>
                          </a:r>
                          <a:r>
                            <a:rPr lang="zh-CN" altLang="en-US" sz="2400" b="0"/>
                            <a:t>方式</a:t>
                          </a:r>
                          <a:endParaRPr lang="zh-CN" altLang="en-US" sz="2400" b="0" dirty="0"/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4945" marR="64945" marT="32473" marB="32473" anchor="ctr">
                        <a:blipFill>
                          <a:blip r:embed="rId3"/>
                          <a:stretch>
                            <a:fillRect l="-67748" t="-165385" r="-173694" b="-26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天然支持随机化加密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密文长度为明文的两倍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1869829767"/>
                      </a:ext>
                    </a:extLst>
                  </a:tr>
                  <a:tr h="11622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b="0" dirty="0"/>
                            <a:t>Rabin</a:t>
                          </a:r>
                          <a:r>
                            <a:rPr lang="zh-CN" altLang="en-US" sz="2400" b="0" dirty="0"/>
                            <a:t>方式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4945" marR="64945" marT="32473" marB="32473" anchor="ctr">
                        <a:blipFill>
                          <a:blip r:embed="rId3"/>
                          <a:stretch>
                            <a:fillRect l="-67748" t="-180628" r="-173694" b="-821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破解难度与“大整数分解”严格等价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解密后可能得到 </a:t>
                          </a:r>
                          <a:r>
                            <a:rPr lang="en-US" altLang="zh-CN" sz="2400" b="0" dirty="0"/>
                            <a:t>4 </a:t>
                          </a:r>
                          <a:r>
                            <a:rPr lang="zh-CN" altLang="en-US" sz="2400" b="0" dirty="0"/>
                            <a:t>个可能的明文，需要额外机制消除歧义</a:t>
                          </a:r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3985464370"/>
                      </a:ext>
                    </a:extLst>
                  </a:tr>
                  <a:tr h="79646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椭圆曲线密码 </a:t>
                          </a:r>
                          <a:r>
                            <a:rPr lang="en-US" altLang="zh-CN" sz="2400" b="0" dirty="0"/>
                            <a:t>ECC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椭圆曲线离散对数困难问题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b="0" dirty="0"/>
                            <a:t>密钥短、性能高</a:t>
                          </a:r>
                        </a:p>
                      </a:txBody>
                      <a:tcPr marL="64945" marR="64945" marT="32473" marB="3247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b="0" dirty="0"/>
                            <a:t>数学结构复杂</a:t>
                          </a:r>
                        </a:p>
                        <a:p>
                          <a:pPr>
                            <a:buNone/>
                          </a:pPr>
                          <a:endParaRPr lang="zh-CN" altLang="en-US" sz="2400" b="0" dirty="0"/>
                        </a:p>
                      </a:txBody>
                      <a:tcPr marL="64945" marR="64945" marT="32473" marB="32473" anchor="ctr"/>
                    </a:tc>
                    <a:extLst>
                      <a:ext uri="{0D108BD9-81ED-4DB2-BD59-A6C34878D82A}">
                        <a16:rowId xmlns:a16="http://schemas.microsoft.com/office/drawing/2014/main" val="28736060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725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294F0-A520-ED40-C63F-32085D6D3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2FB584D-4FEA-FBC4-29FB-B312997581EE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6F0EC806-B74B-926E-51AD-C589B734CF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E45B870-B354-121E-66C8-9F1BDBAAE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7F93FA4-EF04-706D-D12C-7864F20A8B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63C81DA7-6440-F3C0-251E-7C4FBF000D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021AF273-879E-5BC7-7A34-0E508F1B2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833B51E9-6A92-158A-7670-BF8F403946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C09CFFC9-2DE0-3BF6-D30D-CD021E8C5F55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E298DE-6F9B-058B-06F0-F4952E1B2BBD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椭圆曲线密码（</a:t>
            </a:r>
            <a:r>
              <a:rPr lang="en-US" altLang="zh-CN" sz="3200" dirty="0"/>
              <a:t>Elliptic Curve Cryptography, ECC )</a:t>
            </a:r>
            <a:endParaRPr lang="zh-CN" altLang="en-US" sz="32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5AB1660-5534-1ECE-2845-5D591EF4F631}"/>
              </a:ext>
            </a:extLst>
          </p:cNvPr>
          <p:cNvGrpSpPr/>
          <p:nvPr/>
        </p:nvGrpSpPr>
        <p:grpSpPr>
          <a:xfrm>
            <a:off x="575039" y="1680063"/>
            <a:ext cx="11041922" cy="1964281"/>
            <a:chOff x="4939871" y="1583809"/>
            <a:chExt cx="7149348" cy="281175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FA4E9D6-8AB9-56AF-8585-823212DCC7F8}"/>
                </a:ext>
              </a:extLst>
            </p:cNvPr>
            <p:cNvSpPr/>
            <p:nvPr/>
          </p:nvSpPr>
          <p:spPr>
            <a:xfrm>
              <a:off x="4939871" y="1583809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C6DB435-305E-FE99-539F-3CFE1AF2DA08}"/>
                </a:ext>
              </a:extLst>
            </p:cNvPr>
            <p:cNvSpPr txBox="1"/>
            <p:nvPr/>
          </p:nvSpPr>
          <p:spPr>
            <a:xfrm>
              <a:off x="5176707" y="1598546"/>
              <a:ext cx="6675677" cy="9506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zh-CN" altLang="en-US" sz="2400" dirty="0"/>
                <a:t>椭圆曲线密码是</a:t>
              </a:r>
              <a:r>
                <a:rPr lang="zh-CN" altLang="en-US" sz="2400" dirty="0">
                  <a:solidFill>
                    <a:srgbClr val="FF0000"/>
                  </a:solidFill>
                </a:rPr>
                <a:t>利用椭圆曲线数学结构实现的密码技术的统称</a:t>
              </a:r>
              <a:r>
                <a:rPr lang="zh-CN" altLang="en-US" sz="2400" dirty="0"/>
                <a:t>。其主要涵盖以下三个方面：</a:t>
              </a:r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基于椭圆曲线的公钥加密 </a:t>
              </a:r>
              <a:r>
                <a:rPr lang="en-US" altLang="zh-CN" sz="2400" dirty="0"/>
                <a:t>(ECC) —— </a:t>
              </a:r>
              <a:r>
                <a:rPr lang="zh-CN" altLang="en-US" sz="2400" dirty="0"/>
                <a:t>应用于手机蓝牙连接等协议</a:t>
              </a:r>
              <a:endParaRPr lang="en-US" altLang="zh-CN" sz="2400" dirty="0"/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基于椭圆曲线的密钥交换 </a:t>
              </a:r>
              <a:r>
                <a:rPr lang="en-US" altLang="zh-CN" sz="2400" dirty="0"/>
                <a:t>(ECDHE) —— </a:t>
              </a:r>
              <a:r>
                <a:rPr lang="zh-CN" altLang="en-US" sz="2400" dirty="0"/>
                <a:t>应用于</a:t>
              </a:r>
              <a:r>
                <a:rPr lang="en-US" altLang="zh-CN" sz="2400" dirty="0"/>
                <a:t>SSL/TLS(https)</a:t>
              </a:r>
              <a:r>
                <a:rPr lang="zh-CN" altLang="en-US" sz="2400" dirty="0"/>
                <a:t>等协议</a:t>
              </a:r>
              <a:endParaRPr lang="en-US" altLang="zh-CN" sz="2400" dirty="0"/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基于椭圆曲线的数字签名 </a:t>
              </a:r>
              <a:r>
                <a:rPr lang="en-US" altLang="zh-CN" sz="2400" dirty="0"/>
                <a:t>(ECDSA) ——</a:t>
              </a:r>
              <a:r>
                <a:rPr lang="zh-CN" altLang="en-US" sz="2400" dirty="0"/>
                <a:t>应用于虚拟货币比特币等协议</a:t>
              </a:r>
              <a:endParaRPr lang="en-US" altLang="zh-CN" sz="2400" dirty="0"/>
            </a:p>
            <a:p>
              <a:pPr marL="342900" indent="-342900">
                <a:buFont typeface="Wingdings" panose="05000000000000000000" pitchFamily="2" charset="2"/>
                <a:buChar char="Ø"/>
              </a:pPr>
              <a:endParaRPr lang="zh-CN" altLang="en-US" sz="2400" dirty="0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7311C221-E6F7-ABC1-1343-C11492E4E3EB}"/>
              </a:ext>
            </a:extLst>
          </p:cNvPr>
          <p:cNvSpPr/>
          <p:nvPr/>
        </p:nvSpPr>
        <p:spPr>
          <a:xfrm>
            <a:off x="575039" y="4130370"/>
            <a:ext cx="11041922" cy="209513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317500" dist="203200" dir="5400000" sx="96000" sy="96000" algn="t" rotWithShape="0">
              <a:schemeClr val="tx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椭圆曲线密码的重要优势：在提供相同安全强度的前提下，其密钥长度明显短于 </a:t>
            </a:r>
            <a:r>
              <a:rPr lang="en-US" altLang="zh-CN" sz="2400" dirty="0">
                <a:solidFill>
                  <a:schemeClr val="tx1"/>
                </a:solidFill>
              </a:rPr>
              <a:t>RSA</a:t>
            </a:r>
            <a:r>
              <a:rPr lang="zh-CN" altLang="en-US" sz="2400" dirty="0">
                <a:solidFill>
                  <a:schemeClr val="tx1"/>
                </a:solidFill>
              </a:rPr>
              <a:t>。即</a:t>
            </a:r>
            <a:r>
              <a:rPr lang="en-US" altLang="zh-CN" sz="2400" dirty="0">
                <a:solidFill>
                  <a:srgbClr val="FF0000"/>
                </a:solidFill>
              </a:rPr>
              <a:t>ECC </a:t>
            </a:r>
            <a:r>
              <a:rPr lang="zh-CN" altLang="en-US" sz="2400" dirty="0">
                <a:solidFill>
                  <a:srgbClr val="FF0000"/>
                </a:solidFill>
              </a:rPr>
              <a:t>的密钥更短而强度更高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密钥长度为 </a:t>
            </a:r>
            <a:r>
              <a:rPr lang="en-US" altLang="zh-CN" sz="2400" dirty="0">
                <a:solidFill>
                  <a:schemeClr val="tx1"/>
                </a:solidFill>
              </a:rPr>
              <a:t>224</a:t>
            </a:r>
            <a:r>
              <a:rPr lang="zh-CN" altLang="en-US" sz="2400" dirty="0">
                <a:solidFill>
                  <a:schemeClr val="tx1"/>
                </a:solidFill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</a:rPr>
              <a:t>255 </a:t>
            </a:r>
            <a:r>
              <a:rPr lang="zh-CN" altLang="en-US" sz="2400" dirty="0">
                <a:solidFill>
                  <a:schemeClr val="tx1"/>
                </a:solidFill>
              </a:rPr>
              <a:t>比特的椭圆曲线密码，其安全强度与 </a:t>
            </a:r>
            <a:r>
              <a:rPr lang="en-US" altLang="zh-CN" sz="2400" dirty="0">
                <a:solidFill>
                  <a:schemeClr val="tx1"/>
                </a:solidFill>
              </a:rPr>
              <a:t>2048 </a:t>
            </a:r>
            <a:r>
              <a:rPr lang="zh-CN" altLang="en-US" sz="2400" dirty="0">
                <a:solidFill>
                  <a:schemeClr val="tx1"/>
                </a:solidFill>
              </a:rPr>
              <a:t>比特的 </a:t>
            </a:r>
            <a:r>
              <a:rPr lang="en-US" altLang="zh-CN" sz="2400" dirty="0">
                <a:solidFill>
                  <a:schemeClr val="tx1"/>
                </a:solidFill>
              </a:rPr>
              <a:t>RSA </a:t>
            </a:r>
            <a:r>
              <a:rPr lang="zh-CN" altLang="en-US" sz="2400" dirty="0">
                <a:solidFill>
                  <a:schemeClr val="tx1"/>
                </a:solidFill>
              </a:rPr>
              <a:t>密钥几乎相当</a:t>
            </a:r>
          </a:p>
        </p:txBody>
      </p:sp>
    </p:spTree>
    <p:extLst>
      <p:ext uri="{BB962C8B-B14F-4D97-AF65-F5344CB8AC3E}">
        <p14:creationId xmlns:p14="http://schemas.microsoft.com/office/powerpoint/2010/main" val="1049518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BDED5-0040-D73D-9846-92B1ED5E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80A455B5-E799-5501-D99A-7AEB032032EA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3FA2C437-B82E-3467-CB84-25976AA633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0A42A16-9587-D087-9FD5-720A7236E1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BD8E0EE-D139-A0BD-192D-0DCE906EE8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9FD97FCB-7DAA-E61F-ED1E-5A086324FF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729EB5BB-B75B-4F2F-50B8-0B86E46F3E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26C5F97E-840E-88ED-7775-20B06116E0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278B3-4679-F39E-6B6C-7CE7AE5A6B77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A1CECAB-D523-38AA-4689-80F9A4D2B01C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椭圆曲线函数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9842B3-A428-C5A4-F953-04A1C1049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336" y="1439607"/>
            <a:ext cx="5273269" cy="4901609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9405ACF0-55BB-6724-785E-BF0FEC0AD4BE}"/>
              </a:ext>
            </a:extLst>
          </p:cNvPr>
          <p:cNvGrpSpPr/>
          <p:nvPr/>
        </p:nvGrpSpPr>
        <p:grpSpPr>
          <a:xfrm>
            <a:off x="560862" y="2143186"/>
            <a:ext cx="5273269" cy="3494449"/>
            <a:chOff x="4939871" y="1583808"/>
            <a:chExt cx="7149348" cy="28117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40D313C-256C-ED87-1474-1B0A9A4664E1}"/>
                </a:ext>
              </a:extLst>
            </p:cNvPr>
            <p:cNvSpPr/>
            <p:nvPr/>
          </p:nvSpPr>
          <p:spPr>
            <a:xfrm>
              <a:off x="4939871" y="1583808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2B1CB53-1D54-C243-5D27-75AB1599450B}"/>
                    </a:ext>
                  </a:extLst>
                </p:cNvPr>
                <p:cNvSpPr txBox="1"/>
                <p:nvPr/>
              </p:nvSpPr>
              <p:spPr>
                <a:xfrm>
                  <a:off x="5084918" y="1855759"/>
                  <a:ext cx="6675677" cy="9506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buNone/>
                  </a:pPr>
                  <a:r>
                    <a:rPr lang="zh-CN" altLang="en-US" sz="2400" dirty="0"/>
                    <a:t>椭圆曲线可以用下面的三次方程表示：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  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𝐴𝑥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400" dirty="0"/>
                </a:p>
                <a:p>
                  <a:pPr>
                    <a:buNone/>
                  </a:pPr>
                  <a:r>
                    <a:rPr lang="zh-CN" altLang="en-US" sz="2400" dirty="0"/>
                    <a:t>其中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zh-CN" altLang="en-US" sz="2400" dirty="0"/>
                    <a:t>是适当的常数。</a:t>
                  </a:r>
                  <a:endParaRPr lang="en-US" altLang="zh-CN" sz="2400" dirty="0"/>
                </a:p>
                <a:p>
                  <a:pPr>
                    <a:buNone/>
                  </a:pPr>
                  <a:endParaRPr lang="zh-CN" altLang="en-US" sz="2400" dirty="0"/>
                </a:p>
                <a:p>
                  <a:pPr>
                    <a:buNone/>
                  </a:pPr>
                  <a:r>
                    <a:rPr lang="zh-CN" altLang="en-US" sz="2400" b="1" dirty="0"/>
                    <a:t>示例：</a:t>
                  </a:r>
                  <a:r>
                    <a:rPr lang="zh-CN" altLang="en-US" sz="2400" dirty="0"/>
                    <a:t>令</a:t>
                  </a:r>
                  <a14:m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=−2,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，</m:t>
                      </m:r>
                    </m:oMath>
                  </a14:m>
                  <a:r>
                    <a:rPr lang="zh-CN" altLang="en-US" sz="2400" dirty="0"/>
                    <a:t>则对应的椭圆曲线为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  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+4.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2B1CB53-1D54-C243-5D27-75AB15994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4918" y="1855759"/>
                  <a:ext cx="6675677" cy="950635"/>
                </a:xfrm>
                <a:prstGeom prst="rect">
                  <a:avLst/>
                </a:prstGeom>
                <a:blipFill>
                  <a:blip r:embed="rId4"/>
                  <a:stretch>
                    <a:fillRect l="-3841" t="-9278" r="-9046" b="-1257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758053B-340B-17B9-F044-F990BE2C9AED}"/>
                  </a:ext>
                </a:extLst>
              </p:cNvPr>
              <p:cNvSpPr txBox="1"/>
              <p:nvPr/>
            </p:nvSpPr>
            <p:spPr>
              <a:xfrm>
                <a:off x="-1" y="6024979"/>
                <a:ext cx="8059479" cy="52322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由于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2800" dirty="0"/>
                  <a:t>中有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800" dirty="0"/>
                  <a:t>所以函数图像一定是关于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800" dirty="0"/>
                  <a:t>轴对阵的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758053B-340B-17B9-F044-F990BE2C9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024979"/>
                <a:ext cx="8059479" cy="523220"/>
              </a:xfrm>
              <a:prstGeom prst="rect">
                <a:avLst/>
              </a:prstGeom>
              <a:blipFill>
                <a:blip r:embed="rId5"/>
                <a:stretch>
                  <a:fillRect l="-1513"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31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E8475-569B-C84C-5A20-687BA23E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9E3512A-C5DD-5C45-29F6-E15E441D30E9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AB01A5F2-4005-EFE5-6565-E34ADD256D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A7A0A5F6-FCA5-2A22-DB15-7F3D1C5E4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A3C15571-EE5A-7813-FF93-DAF8FFB8D7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4B953C10-463E-BDAA-A995-D7F758BE70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C18B0B6B-1BFA-54C8-0F07-61B9371FF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6DCDFF11-673B-708F-9C7B-108F0028BC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5A7F67C5-C41A-9B84-A920-9A6E07789D91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7230C7-67D4-216E-B5DB-711AEFB71AC0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椭圆曲线上的加法运算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B58ACF8-6E29-D07C-15C3-62EF376424E5}"/>
              </a:ext>
            </a:extLst>
          </p:cNvPr>
          <p:cNvGrpSpPr/>
          <p:nvPr/>
        </p:nvGrpSpPr>
        <p:grpSpPr>
          <a:xfrm>
            <a:off x="384824" y="2538304"/>
            <a:ext cx="5654863" cy="2863036"/>
            <a:chOff x="4939871" y="1583808"/>
            <a:chExt cx="7149348" cy="28117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89AA6FB-A120-976E-454A-8E3574A3B729}"/>
                </a:ext>
              </a:extLst>
            </p:cNvPr>
            <p:cNvSpPr/>
            <p:nvPr/>
          </p:nvSpPr>
          <p:spPr>
            <a:xfrm>
              <a:off x="4939871" y="1583808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4BEBD84-9F8D-C092-DAB1-A4A75708B0DA}"/>
                    </a:ext>
                  </a:extLst>
                </p:cNvPr>
                <p:cNvSpPr txBox="1"/>
                <p:nvPr/>
              </p:nvSpPr>
              <p:spPr>
                <a:xfrm>
                  <a:off x="5176705" y="1724578"/>
                  <a:ext cx="6675677" cy="9506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zh-CN" altLang="en-US" sz="2400" dirty="0"/>
                    <a:t>过椭圆曲线上的两点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2400" dirty="0"/>
                    <a:t>与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zh-CN" altLang="en-US" sz="2400" dirty="0"/>
                    <a:t>作一直线，</a:t>
                  </a:r>
                  <a:br>
                    <a:rPr lang="zh-CN" altLang="en-US" sz="2400" dirty="0"/>
                  </a:br>
                  <a:r>
                    <a:rPr lang="zh-CN" altLang="en-US" sz="2400" dirty="0"/>
                    <a:t>由于椭圆曲线是三次曲线，这条直线通常会与曲线有三个交点，其中两个是已知的点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2400" dirty="0"/>
                    <a:t>和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zh-CN" altLang="en-US" sz="2400" dirty="0"/>
                    <a:t>，第三个交点记为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2400" b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zh-CN" altLang="en-US" sz="2400" dirty="0"/>
                    <a:t>。</a:t>
                  </a:r>
                  <a:endParaRPr lang="en-US" altLang="zh-CN" sz="2400" dirty="0"/>
                </a:p>
                <a:p>
                  <a:endParaRPr lang="zh-CN" altLang="en-US" sz="2400" dirty="0"/>
                </a:p>
                <a:p>
                  <a:r>
                    <a:rPr lang="zh-CN" altLang="en-US" sz="2400" dirty="0"/>
                    <a:t>将该交点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zh-CN" altLang="en-US" sz="2400" dirty="0"/>
                    <a:t>关于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zh-CN" altLang="en-US" sz="2400" dirty="0"/>
                    <a:t>轴取对称点。设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zh-CN" altLang="en-US" sz="2400" dirty="0"/>
                    <a:t>的对称点为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zh-CN" altLang="en-US" sz="2400" dirty="0"/>
                    <a:t>。将此点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a14:m>
                  <a:r>
                    <a:rPr lang="zh-CN" altLang="en-US" sz="2400" dirty="0"/>
                    <a:t>定义为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zh-CN" altLang="en-US" sz="2400" dirty="0"/>
                    <a:t>。</a:t>
                  </a: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4BEBD84-9F8D-C092-DAB1-A4A75708B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6705" y="1724578"/>
                  <a:ext cx="6675677" cy="950635"/>
                </a:xfrm>
                <a:prstGeom prst="rect">
                  <a:avLst/>
                </a:prstGeom>
                <a:blipFill>
                  <a:blip r:embed="rId2"/>
                  <a:stretch>
                    <a:fillRect l="-3580" t="-11950" r="-1617" b="-187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FF8D3A2-01AB-784B-F0DD-2314DF9BC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198" y="1502734"/>
            <a:ext cx="5400467" cy="48783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C2DDC5E-8223-0314-577C-05ED03D8D59B}"/>
                  </a:ext>
                </a:extLst>
              </p:cNvPr>
              <p:cNvSpPr txBox="1"/>
              <p:nvPr/>
            </p:nvSpPr>
            <p:spPr>
              <a:xfrm>
                <a:off x="313940" y="1732469"/>
                <a:ext cx="61987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椭圆曲线上两点 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和 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的和</a:t>
                </a:r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C2DDC5E-8223-0314-577C-05ED03D8D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40" y="1732469"/>
                <a:ext cx="6198780" cy="523220"/>
              </a:xfrm>
              <a:prstGeom prst="rect">
                <a:avLst/>
              </a:prstGeom>
              <a:blipFill>
                <a:blip r:embed="rId4"/>
                <a:stretch>
                  <a:fillRect t="-15116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212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75B24-2622-D2AB-884B-0BBE2CB9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24EE073-7CD8-1F5D-F5AE-965BF385966F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8981D350-8230-C855-F694-4F25E1AB7F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DBBDBB49-3D37-C6AD-83CE-B46DA9F3C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EFE72A22-151C-F537-D04E-0F8CECB572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C45886E1-60D1-E415-D5F2-0D8BD9EBB8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88336794-B368-FE45-03D3-C2E820B14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544B813D-B9C0-5B07-6CDE-1CB3766693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6010C420-33B9-3EAB-AD4A-8634197B2C09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AE9000-42EA-4CF5-7B70-6C072F1073E5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椭圆曲线上的倍率运算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3DAB090-075C-DBD0-3C88-FED2ED91E48D}"/>
              </a:ext>
            </a:extLst>
          </p:cNvPr>
          <p:cNvGrpSpPr/>
          <p:nvPr/>
        </p:nvGrpSpPr>
        <p:grpSpPr>
          <a:xfrm>
            <a:off x="430238" y="2102055"/>
            <a:ext cx="5654863" cy="4000258"/>
            <a:chOff x="4939868" y="1472443"/>
            <a:chExt cx="7149348" cy="28117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DD756D4-76C4-2679-5B02-DB8436774E2D}"/>
                </a:ext>
              </a:extLst>
            </p:cNvPr>
            <p:cNvSpPr/>
            <p:nvPr/>
          </p:nvSpPr>
          <p:spPr>
            <a:xfrm>
              <a:off x="4939868" y="1472443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AAD8FC2-43F3-F8DC-8574-A27F4719B74A}"/>
                    </a:ext>
                  </a:extLst>
                </p:cNvPr>
                <p:cNvSpPr txBox="1"/>
                <p:nvPr/>
              </p:nvSpPr>
              <p:spPr>
                <a:xfrm>
                  <a:off x="5176702" y="1612289"/>
                  <a:ext cx="6675677" cy="9506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zh-CN" altLang="en-US" sz="2400" dirty="0"/>
                    <a:t>当直线为切线时，即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2400" dirty="0"/>
                    <a:t>与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zh-CN" altLang="en-US" sz="2400" dirty="0"/>
                    <a:t>两点重合，“过两点作直线”这一操作已经不再适用，因此引入二倍运算。</a:t>
                  </a:r>
                </a:p>
                <a:p>
                  <a:endParaRPr lang="en-US" altLang="zh-CN" sz="2400" dirty="0"/>
                </a:p>
                <a:p>
                  <a:r>
                    <a:rPr lang="zh-CN" altLang="en-US" sz="2400" dirty="0"/>
                    <a:t>在点</a:t>
                  </a:r>
                  <a14:m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2400" dirty="0"/>
                    <a:t>处作椭圆曲线的切线。因为椭圆曲线是三次曲线，因此这条切线仍会与曲线再相交一次，设该交点为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zh-CN" altLang="en-US" sz="2400" dirty="0"/>
                    <a:t>。</a:t>
                  </a:r>
                </a:p>
                <a:p>
                  <a:endParaRPr lang="en-US" altLang="zh-CN" sz="2400" dirty="0"/>
                </a:p>
                <a:p>
                  <a:r>
                    <a:rPr lang="zh-CN" altLang="en-US" sz="2400" dirty="0"/>
                    <a:t>将交点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a14:m>
                  <a:r>
                    <a:rPr lang="zh-CN" altLang="en-US" sz="2400" dirty="0"/>
                    <a:t>关于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zh-CN" altLang="en-US" sz="2400" dirty="0"/>
                    <a:t>轴取对称点。设该对称点为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lang="zh-CN" altLang="en-US" sz="2400" dirty="0"/>
                    <a:t>。我们将此点 </a:t>
                  </a:r>
                  <a14:m>
                    <m:oMath xmlns:m="http://schemas.openxmlformats.org/officeDocument/2006/math"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lang="zh-CN" altLang="en-US" sz="2400" dirty="0"/>
                    <a:t>定义为 </a:t>
                  </a:r>
                  <a14:m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2400" dirty="0"/>
                    <a:t>。</a:t>
                  </a: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AAD8FC2-43F3-F8DC-8574-A27F4719B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6702" y="1612289"/>
                  <a:ext cx="6675677" cy="950635"/>
                </a:xfrm>
                <a:prstGeom prst="rect">
                  <a:avLst/>
                </a:prstGeom>
                <a:blipFill>
                  <a:blip r:embed="rId3"/>
                  <a:stretch>
                    <a:fillRect l="-3464" t="-8108" r="-1732" b="-1873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3EB176-78CF-20B0-E500-86AE29F2CEB6}"/>
                  </a:ext>
                </a:extLst>
              </p:cNvPr>
              <p:cNvSpPr txBox="1"/>
              <p:nvPr/>
            </p:nvSpPr>
            <p:spPr>
              <a:xfrm>
                <a:off x="288325" y="1499163"/>
                <a:ext cx="61987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zh-CN" alt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</a:rPr>
                  <a:t>椭圆曲线上二倍运算</a:t>
                </a:r>
                <a:endParaRPr lang="en-US" altLang="zh-CN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3EB176-78CF-20B0-E500-86AE29F2C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25" y="1499163"/>
                <a:ext cx="6198780" cy="523220"/>
              </a:xfrm>
              <a:prstGeom prst="rect">
                <a:avLst/>
              </a:prstGeom>
              <a:blipFill>
                <a:blip r:embed="rId4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B135E3D0-2549-4895-9234-84464FC90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14" y="1880931"/>
            <a:ext cx="5676661" cy="432166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1F678DB-2D32-C4E4-062E-DF53544A1547}"/>
              </a:ext>
            </a:extLst>
          </p:cNvPr>
          <p:cNvSpPr txBox="1"/>
          <p:nvPr/>
        </p:nvSpPr>
        <p:spPr>
          <a:xfrm>
            <a:off x="0" y="6274709"/>
            <a:ext cx="80594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椭圆曲线上的点运算符合交换律，即</a:t>
            </a:r>
            <a:r>
              <a:rPr lang="en-US" altLang="zh-CN" sz="2800" dirty="0"/>
              <a:t>2(3G)=3(2G)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9902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D89D5-CFBD-B63C-16F6-D562CB71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6351D971-E698-D175-FE2A-64343C2DCAC3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FCFA889A-8DFE-861E-3FB9-AA9667654A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ED28579-D4E1-738C-3540-2E7F6B9C3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4210380-84B2-BE49-96DD-644E80AFFE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4CB3A239-A432-41EF-CE0A-B7CCB312B9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21FD1548-4B74-24E8-5177-AEDEFC742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7F7CA1EE-ADA8-1FCC-3F66-AA82073C42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005CAD1-D0D3-5AA9-64B5-823C402A99F9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F88C24-8FCB-89BE-5D6F-0D096B94710F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椭圆曲线的单项性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17F5E4D-A4E0-8ABE-7754-BA0DB5BFF22A}"/>
              </a:ext>
            </a:extLst>
          </p:cNvPr>
          <p:cNvGrpSpPr/>
          <p:nvPr/>
        </p:nvGrpSpPr>
        <p:grpSpPr>
          <a:xfrm>
            <a:off x="378127" y="2400542"/>
            <a:ext cx="5654863" cy="3312686"/>
            <a:chOff x="4939868" y="1472443"/>
            <a:chExt cx="7149348" cy="28117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B5E9B68-8E8D-47E0-BEB3-174A2A0370BF}"/>
                </a:ext>
              </a:extLst>
            </p:cNvPr>
            <p:cNvSpPr/>
            <p:nvPr/>
          </p:nvSpPr>
          <p:spPr>
            <a:xfrm>
              <a:off x="4939868" y="1472443"/>
              <a:ext cx="7149348" cy="28117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317500" dist="203200" dir="5400000" sx="96000" sy="96000" algn="t" rotWithShape="0">
                <a:schemeClr val="tx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08B229E-C7BD-4C7A-E4E3-633B361D1922}"/>
                    </a:ext>
                  </a:extLst>
                </p:cNvPr>
                <p:cNvSpPr txBox="1"/>
                <p:nvPr/>
              </p:nvSpPr>
              <p:spPr>
                <a:xfrm>
                  <a:off x="5176702" y="1612289"/>
                  <a:ext cx="6675677" cy="9506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zh-CN" altLang="en-US" sz="2400" dirty="0"/>
                    <a:t>基本运算：给定椭圆曲线上的某一点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，即可求出 </a:t>
                  </a:r>
                  <a14:m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,3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等点的坐标。其中，</a:t>
                  </a:r>
                  <a14:m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 相当于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的二倍，而 </a:t>
                  </a:r>
                  <a14:m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则相当于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。</a:t>
                  </a:r>
                  <a:endParaRPr lang="en-US" altLang="zh-CN" sz="2400" dirty="0"/>
                </a:p>
                <a:p>
                  <a:endParaRPr lang="en-US" altLang="zh-CN" sz="2400" dirty="0"/>
                </a:p>
                <a:p>
                  <a:r>
                    <a:rPr lang="zh-CN" altLang="en-US" sz="2400" dirty="0"/>
                    <a:t>单项性：当已知点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zh-CN" altLang="en-US" sz="2400" dirty="0"/>
                    <a:t>时，计算“已知数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zh-CN" altLang="en-US" sz="2400" dirty="0"/>
                    <a:t>求点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𝑥𝐺</m:t>
                      </m:r>
                    </m:oMath>
                  </a14:m>
                  <a:r>
                    <a:rPr lang="zh-CN" altLang="en-US" sz="2400" dirty="0"/>
                    <a:t>”并不困难。但反过来，“已知点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𝑥𝐺</m:t>
                      </m:r>
                    </m:oMath>
                  </a14:m>
                  <a:r>
                    <a:rPr lang="zh-CN" altLang="en-US" sz="2400" dirty="0"/>
                    <a:t>求数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zh-CN" altLang="en-US" sz="2400" dirty="0"/>
                    <a:t>”则非常困难</a:t>
                  </a: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08B229E-C7BD-4C7A-E4E3-633B361D19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6702" y="1612289"/>
                  <a:ext cx="6675677" cy="950635"/>
                </a:xfrm>
                <a:prstGeom prst="rect">
                  <a:avLst/>
                </a:prstGeom>
                <a:blipFill>
                  <a:blip r:embed="rId3"/>
                  <a:stretch>
                    <a:fillRect l="-3580" t="-10326" r="-9238" b="-1755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60103FD-1B9A-E1F6-A2D1-7066EFD8CA59}"/>
              </a:ext>
            </a:extLst>
          </p:cNvPr>
          <p:cNvSpPr txBox="1"/>
          <p:nvPr/>
        </p:nvSpPr>
        <p:spPr>
          <a:xfrm>
            <a:off x="967020" y="1794942"/>
            <a:ext cx="4201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椭圆曲线逆向求解困难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E443AA9-B156-740A-4255-FF9122F40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336" y="1439607"/>
            <a:ext cx="5273269" cy="49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62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81764-F04B-2341-F7E0-743CD2BF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D59FDB02-912D-1EC9-0CAB-072EFA888056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30F15CE4-12D3-E83F-5234-7CF3840405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DC9B186D-5887-5042-9EEF-8DB4D6FDC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D438EA8-0DD9-2A3C-AA94-DC866D44DD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97DCCA21-EEC7-F3A0-1E46-A6FC242B2D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6BE789C5-9B3A-FCB6-8E7B-6E71E0199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FFEDFF94-E1A0-DBC9-6844-F8AB1E1F75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866AAF8C-DBCB-8D06-779D-B23468EC0E1F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BA02EF-C8BA-06F1-043A-70EBBBF51818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>
              <a:buNone/>
            </a:pPr>
            <a:r>
              <a:rPr lang="zh-CN" altLang="en-US" sz="3200" dirty="0"/>
              <a:t>椭圆曲线离散对数问题</a:t>
            </a:r>
            <a:endParaRPr lang="en-US" altLang="zh-CN" sz="3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BE7AEA9-6BAB-B4DB-28BB-79BF6F5949BD}"/>
              </a:ext>
            </a:extLst>
          </p:cNvPr>
          <p:cNvGrpSpPr/>
          <p:nvPr/>
        </p:nvGrpSpPr>
        <p:grpSpPr>
          <a:xfrm>
            <a:off x="6669927" y="1880372"/>
            <a:ext cx="4317049" cy="4261702"/>
            <a:chOff x="6669927" y="1880372"/>
            <a:chExt cx="4317049" cy="4261702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F0AB7B8F-F281-5218-367F-EC0282797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69927" y="1880372"/>
              <a:ext cx="4317049" cy="4261702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9111DCB-186B-87E6-92EA-D19E457D0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820" y="5068185"/>
              <a:ext cx="463468" cy="704471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42240C3-BD64-9C12-1EAE-C39444AC1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53657" y="3214576"/>
              <a:ext cx="463468" cy="704471"/>
            </a:xfrm>
            <a:prstGeom prst="rect">
              <a:avLst/>
            </a:prstGeom>
          </p:spPr>
        </p:pic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065F360D-117D-CE89-75D5-F414E85A8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392" y="2015692"/>
            <a:ext cx="4389693" cy="408030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D2F7F4F4-D0FF-D981-E4DA-0AFDDDC1E4E3}"/>
              </a:ext>
            </a:extLst>
          </p:cNvPr>
          <p:cNvSpPr txBox="1"/>
          <p:nvPr/>
        </p:nvSpPr>
        <p:spPr>
          <a:xfrm>
            <a:off x="998732" y="6142074"/>
            <a:ext cx="4201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实数域上的椭圆曲线</a:t>
            </a:r>
            <a:endParaRPr lang="en-US" altLang="zh-CN" sz="28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0A1CFB-4AB8-DA3C-42A9-A33E12DCA207}"/>
              </a:ext>
            </a:extLst>
          </p:cNvPr>
          <p:cNvSpPr txBox="1"/>
          <p:nvPr/>
        </p:nvSpPr>
        <p:spPr>
          <a:xfrm>
            <a:off x="7322288" y="6202592"/>
            <a:ext cx="4201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有限域上的椭圆曲线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1226873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5BD69-0261-6D6C-D99C-640E1BA8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AEAFE817-00B5-9272-2B42-6902F1A19BC2}"/>
              </a:ext>
            </a:extLst>
          </p:cNvPr>
          <p:cNvGrpSpPr/>
          <p:nvPr/>
        </p:nvGrpSpPr>
        <p:grpSpPr>
          <a:xfrm>
            <a:off x="3856601" y="111047"/>
            <a:ext cx="425713" cy="442041"/>
            <a:chOff x="5823870" y="1767426"/>
            <a:chExt cx="425713" cy="442041"/>
          </a:xfrm>
        </p:grpSpPr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92FE690B-F992-6F38-52CB-2EE2590668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AB2E791-5366-838A-0C79-69D924EEF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0F5F2FED-0D83-06C1-050E-49D83A695F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" name="Group 10">
              <a:extLst>
                <a:ext uri="{FF2B5EF4-FFF2-40B4-BE49-F238E27FC236}">
                  <a16:creationId xmlns:a16="http://schemas.microsoft.com/office/drawing/2014/main" id="{9B3AF897-BB17-C7A4-900E-5AD440B04E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D15F292A-B89D-7C43-8403-62E9957E3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0E2D1C61-3B18-5B1E-259B-4FEFABC56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2C52A86A-6DD2-49C5-E83C-2B1140637EE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F8AB2C-D2CF-6E9A-8094-FC1AD9950FF0}"/>
              </a:ext>
            </a:extLst>
          </p:cNvPr>
          <p:cNvSpPr txBox="1"/>
          <p:nvPr/>
        </p:nvSpPr>
        <p:spPr>
          <a:xfrm>
            <a:off x="1" y="655408"/>
            <a:ext cx="12191999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10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sz="3200" dirty="0"/>
              <a:t>单项函数对比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352CD45-172F-DC3F-B942-2A9B396F9C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2934855"/>
                  </p:ext>
                </p:extLst>
              </p:nvPr>
            </p:nvGraphicFramePr>
            <p:xfrm>
              <a:off x="838200" y="1965960"/>
              <a:ext cx="10515600" cy="292608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854842">
                      <a:extLst>
                        <a:ext uri="{9D8B030D-6E8A-4147-A177-3AD203B41FA5}">
                          <a16:colId xmlns:a16="http://schemas.microsoft.com/office/drawing/2014/main" val="1649529673"/>
                        </a:ext>
                      </a:extLst>
                    </a:gridCol>
                    <a:gridCol w="3281916">
                      <a:extLst>
                        <a:ext uri="{9D8B030D-6E8A-4147-A177-3AD203B41FA5}">
                          <a16:colId xmlns:a16="http://schemas.microsoft.com/office/drawing/2014/main" val="1663418236"/>
                        </a:ext>
                      </a:extLst>
                    </a:gridCol>
                    <a:gridCol w="4378842">
                      <a:extLst>
                        <a:ext uri="{9D8B030D-6E8A-4147-A177-3AD203B41FA5}">
                          <a16:colId xmlns:a16="http://schemas.microsoft.com/office/drawing/2014/main" val="243389711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密码方式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核心困难问题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问题本质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091876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/>
                            <a:t>RSA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大素数分解问题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已知整数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4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zh-CN" altLang="en-US" sz="2400" dirty="0"/>
                            <a:t>，求其素因子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719335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/>
                            <a:t>Diffie-Hellman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有限域离散对数问题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已知有限域上生成元</a:t>
                          </a:r>
                          <a:r>
                            <a:rPr lang="en-US" altLang="zh-CN" sz="2400" dirty="0"/>
                            <a:t>(</a:t>
                          </a:r>
                          <a:r>
                            <a:rPr lang="zh-CN" altLang="en-US" sz="2400" dirty="0"/>
                            <a:t>底数</a:t>
                          </a:r>
                          <a:r>
                            <a:rPr lang="en-US" altLang="zh-CN" sz="2400" dirty="0"/>
                            <a:t>)</a:t>
                          </a:r>
                          <a:r>
                            <a:rPr lang="zh-CN" altLang="en-US" sz="24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  <a:r>
                            <a:rPr lang="zh-CN" altLang="en-US" sz="2400" dirty="0"/>
                            <a:t>与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sz="2400" b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/>
                            <a:t>，</a:t>
                          </a:r>
                          <a:r>
                            <a:rPr lang="zh-CN" altLang="en-US" sz="2400" dirty="0"/>
                            <a:t>求指数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20187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椭圆曲线密码 </a:t>
                          </a:r>
                          <a:r>
                            <a:rPr lang="en-US" altLang="zh-CN" sz="2400" dirty="0"/>
                            <a:t>(ECC)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椭圆曲线离散对数问题</a:t>
                          </a:r>
                          <a:endParaRPr lang="en-US" altLang="zh-CN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已知椭圆曲线上基点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oMath>
                          </a14:m>
                          <a:r>
                            <a:rPr lang="zh-CN" altLang="en-US" sz="2400" dirty="0"/>
                            <a:t>与其倍点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oMath>
                          </a14:m>
                          <a:r>
                            <a:rPr lang="zh-CN" altLang="en-US" sz="2400" dirty="0"/>
                            <a:t>，求倍数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altLang="zh-CN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4856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352CD45-172F-DC3F-B942-2A9B396F9C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2934855"/>
                  </p:ext>
                </p:extLst>
              </p:nvPr>
            </p:nvGraphicFramePr>
            <p:xfrm>
              <a:off x="838200" y="1965960"/>
              <a:ext cx="10515600" cy="292608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854842">
                      <a:extLst>
                        <a:ext uri="{9D8B030D-6E8A-4147-A177-3AD203B41FA5}">
                          <a16:colId xmlns:a16="http://schemas.microsoft.com/office/drawing/2014/main" val="1649529673"/>
                        </a:ext>
                      </a:extLst>
                    </a:gridCol>
                    <a:gridCol w="3281916">
                      <a:extLst>
                        <a:ext uri="{9D8B030D-6E8A-4147-A177-3AD203B41FA5}">
                          <a16:colId xmlns:a16="http://schemas.microsoft.com/office/drawing/2014/main" val="1663418236"/>
                        </a:ext>
                      </a:extLst>
                    </a:gridCol>
                    <a:gridCol w="4378842">
                      <a:extLst>
                        <a:ext uri="{9D8B030D-6E8A-4147-A177-3AD203B41FA5}">
                          <a16:colId xmlns:a16="http://schemas.microsoft.com/office/drawing/2014/main" val="243389711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密码方式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核心困难问题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问题本质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0918764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/>
                            <a:t>RSA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大素数分解问题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195" t="-62963" r="-278" b="-2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193355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400" dirty="0"/>
                            <a:t>Diffie-Hellman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/>
                            <a:t>有限域离散对数问题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195" t="-161765" r="-278" b="-113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2018713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椭圆曲线密码 </a:t>
                          </a:r>
                          <a:r>
                            <a:rPr lang="en-US" altLang="zh-CN" sz="2400" dirty="0"/>
                            <a:t>(ECC)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椭圆曲线离散对数问题</a:t>
                          </a:r>
                          <a:endParaRPr lang="en-US" altLang="zh-CN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195" t="-263704" r="-278" b="-140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48566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1078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A4238-6284-412B-1A3D-1BE2EE05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173372-BA0B-E4B6-A663-971FFAFB49B0}"/>
              </a:ext>
            </a:extLst>
          </p:cNvPr>
          <p:cNvSpPr txBox="1"/>
          <p:nvPr/>
        </p:nvSpPr>
        <p:spPr>
          <a:xfrm>
            <a:off x="3352513" y="2754066"/>
            <a:ext cx="5482323" cy="6155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zh-CN" altLang="en-US" sz="4000" dirty="0">
                <a:solidFill>
                  <a:schemeClr val="accent1"/>
                </a:solidFill>
              </a:rPr>
              <a:t>椭圆曲线实现密钥交换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60F214-7FF6-71F1-47DE-2E4AC502914E}"/>
              </a:ext>
            </a:extLst>
          </p:cNvPr>
          <p:cNvSpPr txBox="1"/>
          <p:nvPr/>
        </p:nvSpPr>
        <p:spPr>
          <a:xfrm>
            <a:off x="5720898" y="2041451"/>
            <a:ext cx="750205" cy="5386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#02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36E492B1-7614-6ADE-76C6-DC132F68E2D6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3100272" y="1534089"/>
            <a:ext cx="922672" cy="922974"/>
            <a:chOff x="14101" y="4437"/>
            <a:chExt cx="3056" cy="305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2893248E-B471-55E6-CFF5-CDEA4182E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A9FF58EB-67B5-EA1F-E676-E88A10D90C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DF21378-41AE-2C2A-AE36-ADBEC5DF74B6}"/>
              </a:ext>
            </a:extLst>
          </p:cNvPr>
          <p:cNvGrpSpPr/>
          <p:nvPr/>
        </p:nvGrpSpPr>
        <p:grpSpPr>
          <a:xfrm rot="18900000">
            <a:off x="7424365" y="-2902432"/>
            <a:ext cx="6098786" cy="6100199"/>
            <a:chOff x="18351500" y="3723568"/>
            <a:chExt cx="4878842" cy="4879972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4DD7F0E3-8E0C-1303-8ED8-84C434A91F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8CA613A5-2D89-E7D0-0797-D5CADC0E91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5DCB24E-74BF-F202-AADC-90CC232BD0FF}"/>
              </a:ext>
            </a:extLst>
          </p:cNvPr>
          <p:cNvGrpSpPr/>
          <p:nvPr/>
        </p:nvGrpSpPr>
        <p:grpSpPr>
          <a:xfrm rot="8100000">
            <a:off x="6722596" y="2086183"/>
            <a:ext cx="8786687" cy="8788722"/>
            <a:chOff x="18351500" y="3723568"/>
            <a:chExt cx="4878842" cy="4879972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83074C10-D970-55F6-3C71-9493C96D42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7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5EBBAD8-B9BB-205E-6D64-84B56ABC97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2E18A812-93EF-606C-6EB6-73A234D85DC9}"/>
              </a:ext>
            </a:extLst>
          </p:cNvPr>
          <p:cNvGrpSpPr>
            <a:grpSpLocks noChangeAspect="1"/>
          </p:cNvGrpSpPr>
          <p:nvPr/>
        </p:nvGrpSpPr>
        <p:grpSpPr bwMode="auto">
          <a:xfrm rot="8100000">
            <a:off x="10501205" y="2666453"/>
            <a:ext cx="4851400" cy="4852988"/>
            <a:chOff x="14101" y="4437"/>
            <a:chExt cx="3056" cy="3057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E09EA765-4BD9-C252-66CA-1527529AE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9B395722-7C39-4189-75C9-1F767ACD54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D49E284-1413-19B0-E13A-05273567337F}"/>
              </a:ext>
            </a:extLst>
          </p:cNvPr>
          <p:cNvGrpSpPr/>
          <p:nvPr/>
        </p:nvGrpSpPr>
        <p:grpSpPr>
          <a:xfrm rot="18900000">
            <a:off x="-2098325" y="3005269"/>
            <a:ext cx="6098786" cy="6100199"/>
            <a:chOff x="18351500" y="3723568"/>
            <a:chExt cx="4878842" cy="4879972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6389B242-D034-A00D-430F-F482689BE6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0A8BE5C1-BEFD-7098-8536-97DF4ABA99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1A0FDA77-6C6B-7905-54DC-2C0E39BD5976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2714211" y="1610357"/>
            <a:ext cx="1291038" cy="1291460"/>
            <a:chOff x="14101" y="4437"/>
            <a:chExt cx="3056" cy="3057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C3FDB9A0-99CD-C1E7-91CD-B6E2D80A8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13D5F37B-BEAA-8A57-0BDA-44FDEFFF0F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326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44CB-08C9-447E-DD5B-D0F7217D7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92EC031-3681-A571-D673-75A766A4571D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2967CC-3676-CB78-54E2-B157CC535BEE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239F334-6430-5DA3-133A-480B5C94090E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C2428B49-2E77-8233-B559-445B2B576EDC}"/>
              </a:ext>
            </a:extLst>
          </p:cNvPr>
          <p:cNvSpPr txBox="1"/>
          <p:nvPr/>
        </p:nvSpPr>
        <p:spPr>
          <a:xfrm>
            <a:off x="1567652" y="1675454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68BAB0F3-8D9F-CDE9-E061-E67C87A4FC5D}"/>
              </a:ext>
            </a:extLst>
          </p:cNvPr>
          <p:cNvSpPr txBox="1"/>
          <p:nvPr/>
        </p:nvSpPr>
        <p:spPr>
          <a:xfrm>
            <a:off x="2973028" y="1675454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D06281BE-6ACB-0343-7AA0-0EF71681ED6B}"/>
              </a:ext>
            </a:extLst>
          </p:cNvPr>
          <p:cNvSpPr txBox="1"/>
          <p:nvPr/>
        </p:nvSpPr>
        <p:spPr>
          <a:xfrm>
            <a:off x="7808547" y="1669833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7D22B251-A477-ED69-37D9-A40A8459CF56}"/>
              </a:ext>
            </a:extLst>
          </p:cNvPr>
          <p:cNvSpPr txBox="1"/>
          <p:nvPr/>
        </p:nvSpPr>
        <p:spPr>
          <a:xfrm>
            <a:off x="9213923" y="1669833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4222676D-4FC1-E1BF-1568-AAD55411570F}"/>
              </a:ext>
            </a:extLst>
          </p:cNvPr>
          <p:cNvGrpSpPr/>
          <p:nvPr/>
        </p:nvGrpSpPr>
        <p:grpSpPr>
          <a:xfrm>
            <a:off x="1917232" y="2105993"/>
            <a:ext cx="698273" cy="677142"/>
            <a:chOff x="4327470" y="3372072"/>
            <a:chExt cx="698273" cy="677142"/>
          </a:xfrm>
        </p:grpSpPr>
        <p:sp>
          <p:nvSpPr>
            <p:cNvPr id="154" name="磁盘 153">
              <a:extLst>
                <a:ext uri="{FF2B5EF4-FFF2-40B4-BE49-F238E27FC236}">
                  <a16:creationId xmlns:a16="http://schemas.microsoft.com/office/drawing/2014/main" id="{9BD0F6A9-44B8-B450-76D2-33BE58E78A6E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5" name="磁盘 154">
              <a:extLst>
                <a:ext uri="{FF2B5EF4-FFF2-40B4-BE49-F238E27FC236}">
                  <a16:creationId xmlns:a16="http://schemas.microsoft.com/office/drawing/2014/main" id="{0F278B52-DBEA-6C93-FB7A-2316B14CCBD0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6" name="磁盘 155">
              <a:extLst>
                <a:ext uri="{FF2B5EF4-FFF2-40B4-BE49-F238E27FC236}">
                  <a16:creationId xmlns:a16="http://schemas.microsoft.com/office/drawing/2014/main" id="{C9082A1D-842C-2DB5-6935-E7DF3E3A641D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2D0CD5B0-874C-AC85-E990-B17295E46F91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1839174E-F1DE-F480-3DB2-9D09296FE777}"/>
              </a:ext>
            </a:extLst>
          </p:cNvPr>
          <p:cNvGrpSpPr/>
          <p:nvPr/>
        </p:nvGrpSpPr>
        <p:grpSpPr>
          <a:xfrm>
            <a:off x="9572830" y="2101303"/>
            <a:ext cx="698273" cy="677142"/>
            <a:chOff x="4327470" y="3372072"/>
            <a:chExt cx="698273" cy="677142"/>
          </a:xfrm>
        </p:grpSpPr>
        <p:sp>
          <p:nvSpPr>
            <p:cNvPr id="212" name="磁盘 211">
              <a:extLst>
                <a:ext uri="{FF2B5EF4-FFF2-40B4-BE49-F238E27FC236}">
                  <a16:creationId xmlns:a16="http://schemas.microsoft.com/office/drawing/2014/main" id="{DA554475-AAFA-EAE2-6A79-8C43E285D3DC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42DAE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3" name="磁盘 212">
              <a:extLst>
                <a:ext uri="{FF2B5EF4-FFF2-40B4-BE49-F238E27FC236}">
                  <a16:creationId xmlns:a16="http://schemas.microsoft.com/office/drawing/2014/main" id="{B5A1ED0D-9059-A3CA-5C8D-E35A26A2EAA2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4" name="磁盘 213">
              <a:extLst>
                <a:ext uri="{FF2B5EF4-FFF2-40B4-BE49-F238E27FC236}">
                  <a16:creationId xmlns:a16="http://schemas.microsoft.com/office/drawing/2014/main" id="{ADB84581-AA65-20B5-B18E-FDC3FBF31FB9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15AD8EDF-6F81-9997-A2AE-1E1FCFB3718D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21B6B6AD-A3EF-5F61-4598-1D872B0E879F}"/>
              </a:ext>
            </a:extLst>
          </p:cNvPr>
          <p:cNvCxnSpPr>
            <a:cxnSpLocks/>
            <a:stCxn id="154" idx="3"/>
            <a:endCxn id="226" idx="0"/>
          </p:cNvCxnSpPr>
          <p:nvPr/>
        </p:nvCxnSpPr>
        <p:spPr>
          <a:xfrm>
            <a:off x="2266371" y="2783135"/>
            <a:ext cx="1412129" cy="1874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箭头连接符 218">
            <a:extLst>
              <a:ext uri="{FF2B5EF4-FFF2-40B4-BE49-F238E27FC236}">
                <a16:creationId xmlns:a16="http://schemas.microsoft.com/office/drawing/2014/main" id="{0CF8251E-ED9D-572E-92AF-C1F5A38FA994}"/>
              </a:ext>
            </a:extLst>
          </p:cNvPr>
          <p:cNvCxnSpPr>
            <a:cxnSpLocks/>
            <a:stCxn id="171" idx="3"/>
            <a:endCxn id="226" idx="0"/>
          </p:cNvCxnSpPr>
          <p:nvPr/>
        </p:nvCxnSpPr>
        <p:spPr>
          <a:xfrm>
            <a:off x="3676343" y="2780957"/>
            <a:ext cx="2157" cy="18961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3382356E-D52F-FAD7-0727-CD530C992F51}"/>
              </a:ext>
            </a:extLst>
          </p:cNvPr>
          <p:cNvGrpSpPr/>
          <p:nvPr/>
        </p:nvGrpSpPr>
        <p:grpSpPr>
          <a:xfrm>
            <a:off x="3332890" y="3391396"/>
            <a:ext cx="698273" cy="677142"/>
            <a:chOff x="4327470" y="3372072"/>
            <a:chExt cx="698273" cy="677142"/>
          </a:xfrm>
        </p:grpSpPr>
        <p:sp>
          <p:nvSpPr>
            <p:cNvPr id="159" name="磁盘 158">
              <a:extLst>
                <a:ext uri="{FF2B5EF4-FFF2-40B4-BE49-F238E27FC236}">
                  <a16:creationId xmlns:a16="http://schemas.microsoft.com/office/drawing/2014/main" id="{EDBF99A6-9AB9-70EF-ED16-0B80615DF215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0" name="磁盘 159">
              <a:extLst>
                <a:ext uri="{FF2B5EF4-FFF2-40B4-BE49-F238E27FC236}">
                  <a16:creationId xmlns:a16="http://schemas.microsoft.com/office/drawing/2014/main" id="{84BFC479-6AA8-F164-A720-ABB462A91FB9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1" name="磁盘 160">
              <a:extLst>
                <a:ext uri="{FF2B5EF4-FFF2-40B4-BE49-F238E27FC236}">
                  <a16:creationId xmlns:a16="http://schemas.microsoft.com/office/drawing/2014/main" id="{E805400A-966D-FC06-0D0E-B99F316D0165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4BDE94C9-5138-090C-EE3C-2E3D366AE731}"/>
                </a:ext>
              </a:extLst>
            </p:cNvPr>
            <p:cNvSpPr/>
            <p:nvPr/>
          </p:nvSpPr>
          <p:spPr>
            <a:xfrm>
              <a:off x="4349903" y="3728896"/>
              <a:ext cx="653401" cy="166599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66D80909-FCFF-09BB-EEEE-85680F1A6918}"/>
              </a:ext>
            </a:extLst>
          </p:cNvPr>
          <p:cNvGrpSpPr/>
          <p:nvPr/>
        </p:nvGrpSpPr>
        <p:grpSpPr>
          <a:xfrm>
            <a:off x="3327204" y="2103814"/>
            <a:ext cx="698273" cy="677142"/>
            <a:chOff x="4327470" y="3372072"/>
            <a:chExt cx="698273" cy="677142"/>
          </a:xfrm>
        </p:grpSpPr>
        <p:sp>
          <p:nvSpPr>
            <p:cNvPr id="171" name="磁盘 170">
              <a:extLst>
                <a:ext uri="{FF2B5EF4-FFF2-40B4-BE49-F238E27FC236}">
                  <a16:creationId xmlns:a16="http://schemas.microsoft.com/office/drawing/2014/main" id="{EDCC49C5-0027-0452-591B-0505D1E53302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2" name="磁盘 171">
              <a:extLst>
                <a:ext uri="{FF2B5EF4-FFF2-40B4-BE49-F238E27FC236}">
                  <a16:creationId xmlns:a16="http://schemas.microsoft.com/office/drawing/2014/main" id="{3288FD9E-4D19-6C9B-8F91-90C99BCB8369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3" name="磁盘 172">
              <a:extLst>
                <a:ext uri="{FF2B5EF4-FFF2-40B4-BE49-F238E27FC236}">
                  <a16:creationId xmlns:a16="http://schemas.microsoft.com/office/drawing/2014/main" id="{1130779F-DE75-1474-C726-094E7F193F05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A2F3FBFD-827F-0742-4ABB-45845A0E7051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rgbClr val="F4CED0"/>
            </a:solidFill>
            <a:ln w="35560">
              <a:solidFill>
                <a:srgbClr val="F4CE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DA28E2D4-0CFF-4481-4BD3-5D7B217E3C55}"/>
              </a:ext>
            </a:extLst>
          </p:cNvPr>
          <p:cNvGrpSpPr/>
          <p:nvPr/>
        </p:nvGrpSpPr>
        <p:grpSpPr>
          <a:xfrm>
            <a:off x="3325819" y="4336114"/>
            <a:ext cx="698273" cy="677142"/>
            <a:chOff x="4327470" y="3372072"/>
            <a:chExt cx="698273" cy="677142"/>
          </a:xfrm>
        </p:grpSpPr>
        <p:sp>
          <p:nvSpPr>
            <p:cNvPr id="176" name="磁盘 175">
              <a:extLst>
                <a:ext uri="{FF2B5EF4-FFF2-40B4-BE49-F238E27FC236}">
                  <a16:creationId xmlns:a16="http://schemas.microsoft.com/office/drawing/2014/main" id="{BAC306EA-D3F5-E693-076D-ADCE1DD3802E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7" name="磁盘 176">
              <a:extLst>
                <a:ext uri="{FF2B5EF4-FFF2-40B4-BE49-F238E27FC236}">
                  <a16:creationId xmlns:a16="http://schemas.microsoft.com/office/drawing/2014/main" id="{51A0E9A7-9EBD-BC75-5940-DD2AADDFE0E2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8" name="磁盘 177">
              <a:extLst>
                <a:ext uri="{FF2B5EF4-FFF2-40B4-BE49-F238E27FC236}">
                  <a16:creationId xmlns:a16="http://schemas.microsoft.com/office/drawing/2014/main" id="{DB51AE6C-B393-1492-2764-590D31224248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B3FD58D4-B41A-5A65-C200-44666487BBDC}"/>
                </a:ext>
              </a:extLst>
            </p:cNvPr>
            <p:cNvSpPr/>
            <p:nvPr/>
          </p:nvSpPr>
          <p:spPr>
            <a:xfrm>
              <a:off x="4349903" y="3728896"/>
              <a:ext cx="653401" cy="16659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86EFC53C-95EF-A259-0C23-49895381FD2A}"/>
              </a:ext>
            </a:extLst>
          </p:cNvPr>
          <p:cNvGrpSpPr/>
          <p:nvPr/>
        </p:nvGrpSpPr>
        <p:grpSpPr>
          <a:xfrm>
            <a:off x="1915911" y="5616871"/>
            <a:ext cx="698273" cy="677142"/>
            <a:chOff x="3858537" y="4611731"/>
            <a:chExt cx="698273" cy="677142"/>
          </a:xfrm>
          <a:solidFill>
            <a:schemeClr val="accent4">
              <a:lumMod val="50000"/>
            </a:schemeClr>
          </a:solidFill>
        </p:grpSpPr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EE18350A-519C-29B0-3000-D9EAEB4AA532}"/>
                </a:ext>
              </a:extLst>
            </p:cNvPr>
            <p:cNvGrpSpPr/>
            <p:nvPr/>
          </p:nvGrpSpPr>
          <p:grpSpPr>
            <a:xfrm>
              <a:off x="3858537" y="4611731"/>
              <a:ext cx="698273" cy="677142"/>
              <a:chOff x="4327470" y="3372072"/>
              <a:chExt cx="698273" cy="677142"/>
            </a:xfrm>
            <a:grpFill/>
          </p:grpSpPr>
          <p:sp>
            <p:nvSpPr>
              <p:cNvPr id="183" name="磁盘 182">
                <a:extLst>
                  <a:ext uri="{FF2B5EF4-FFF2-40B4-BE49-F238E27FC236}">
                    <a16:creationId xmlns:a16="http://schemas.microsoft.com/office/drawing/2014/main" id="{71CA4951-C431-5AF8-316A-C98080C12CD5}"/>
                  </a:ext>
                </a:extLst>
              </p:cNvPr>
              <p:cNvSpPr/>
              <p:nvPr/>
            </p:nvSpPr>
            <p:spPr>
              <a:xfrm>
                <a:off x="4327474" y="3758268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4" name="磁盘 183">
                <a:extLst>
                  <a:ext uri="{FF2B5EF4-FFF2-40B4-BE49-F238E27FC236}">
                    <a16:creationId xmlns:a16="http://schemas.microsoft.com/office/drawing/2014/main" id="{CA1C50CD-61D1-6EBA-50C0-C059A9979EAD}"/>
                  </a:ext>
                </a:extLst>
              </p:cNvPr>
              <p:cNvSpPr/>
              <p:nvPr/>
            </p:nvSpPr>
            <p:spPr>
              <a:xfrm>
                <a:off x="4327472" y="3564593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5" name="磁盘 184">
                <a:extLst>
                  <a:ext uri="{FF2B5EF4-FFF2-40B4-BE49-F238E27FC236}">
                    <a16:creationId xmlns:a16="http://schemas.microsoft.com/office/drawing/2014/main" id="{404DEDF3-F3F1-F1C5-6E24-8222481AE0DE}"/>
                  </a:ext>
                </a:extLst>
              </p:cNvPr>
              <p:cNvSpPr/>
              <p:nvPr/>
            </p:nvSpPr>
            <p:spPr>
              <a:xfrm>
                <a:off x="4327470" y="3372072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6" name="矩形 185">
                <a:extLst>
                  <a:ext uri="{FF2B5EF4-FFF2-40B4-BE49-F238E27FC236}">
                    <a16:creationId xmlns:a16="http://schemas.microsoft.com/office/drawing/2014/main" id="{B1626D7E-79CB-2A1C-9B4E-6293B494076A}"/>
                  </a:ext>
                </a:extLst>
              </p:cNvPr>
              <p:cNvSpPr/>
              <p:nvPr/>
            </p:nvSpPr>
            <p:spPr>
              <a:xfrm>
                <a:off x="4349903" y="3530673"/>
                <a:ext cx="653401" cy="166599"/>
              </a:xfrm>
              <a:prstGeom prst="rect">
                <a:avLst/>
              </a:prstGeom>
              <a:grpFill/>
              <a:ln w="3810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1AD0A7B4-57B2-85F0-AD83-7AAAA1EE0919}"/>
                </a:ext>
              </a:extLst>
            </p:cNvPr>
            <p:cNvSpPr/>
            <p:nvPr/>
          </p:nvSpPr>
          <p:spPr>
            <a:xfrm>
              <a:off x="3880970" y="4953393"/>
              <a:ext cx="653401" cy="166599"/>
            </a:xfrm>
            <a:prstGeom prst="rect">
              <a:avLst/>
            </a:prstGeom>
            <a:grpFill/>
            <a:ln w="381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6" name="文本框 225">
            <a:extLst>
              <a:ext uri="{FF2B5EF4-FFF2-40B4-BE49-F238E27FC236}">
                <a16:creationId xmlns:a16="http://schemas.microsoft.com/office/drawing/2014/main" id="{1A419559-1F74-398D-62D2-DA94BDF184FE}"/>
              </a:ext>
            </a:extLst>
          </p:cNvPr>
          <p:cNvSpPr txBox="1"/>
          <p:nvPr/>
        </p:nvSpPr>
        <p:spPr>
          <a:xfrm>
            <a:off x="3446753" y="2970568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混合</a:t>
            </a: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B1604228-14A5-2A8F-F3F0-713657FBC1E9}"/>
              </a:ext>
            </a:extLst>
          </p:cNvPr>
          <p:cNvSpPr txBox="1"/>
          <p:nvPr/>
        </p:nvSpPr>
        <p:spPr>
          <a:xfrm>
            <a:off x="2033297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混合</a:t>
            </a:r>
          </a:p>
        </p:txBody>
      </p: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42D7392A-8ED9-0431-0666-C8CEADF188BA}"/>
              </a:ext>
            </a:extLst>
          </p:cNvPr>
          <p:cNvGrpSpPr/>
          <p:nvPr/>
        </p:nvGrpSpPr>
        <p:grpSpPr>
          <a:xfrm>
            <a:off x="8211547" y="3391396"/>
            <a:ext cx="698273" cy="677142"/>
            <a:chOff x="4327470" y="3372072"/>
            <a:chExt cx="698273" cy="677142"/>
          </a:xfrm>
        </p:grpSpPr>
        <p:sp>
          <p:nvSpPr>
            <p:cNvPr id="258" name="磁盘 257">
              <a:extLst>
                <a:ext uri="{FF2B5EF4-FFF2-40B4-BE49-F238E27FC236}">
                  <a16:creationId xmlns:a16="http://schemas.microsoft.com/office/drawing/2014/main" id="{21761634-31FC-5759-D1E7-86E02D86672F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9" name="磁盘 258">
              <a:extLst>
                <a:ext uri="{FF2B5EF4-FFF2-40B4-BE49-F238E27FC236}">
                  <a16:creationId xmlns:a16="http://schemas.microsoft.com/office/drawing/2014/main" id="{E10FAF5C-E945-044F-E309-0BA08D83AD5C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0" name="磁盘 259">
              <a:extLst>
                <a:ext uri="{FF2B5EF4-FFF2-40B4-BE49-F238E27FC236}">
                  <a16:creationId xmlns:a16="http://schemas.microsoft.com/office/drawing/2014/main" id="{61A107F0-107D-85C5-7410-B93910E5E863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4B815FAC-BEAE-F139-7F00-DB5CB51A3A98}"/>
                </a:ext>
              </a:extLst>
            </p:cNvPr>
            <p:cNvSpPr/>
            <p:nvPr/>
          </p:nvSpPr>
          <p:spPr>
            <a:xfrm>
              <a:off x="4349903" y="3728896"/>
              <a:ext cx="653401" cy="16659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02524C6C-801B-75CD-F75C-7616C97FA9F5}"/>
              </a:ext>
            </a:extLst>
          </p:cNvPr>
          <p:cNvGrpSpPr/>
          <p:nvPr/>
        </p:nvGrpSpPr>
        <p:grpSpPr>
          <a:xfrm>
            <a:off x="8208045" y="2105993"/>
            <a:ext cx="698273" cy="677142"/>
            <a:chOff x="4327470" y="3372072"/>
            <a:chExt cx="698273" cy="677142"/>
          </a:xfrm>
        </p:grpSpPr>
        <p:sp>
          <p:nvSpPr>
            <p:cNvPr id="254" name="磁盘 253">
              <a:extLst>
                <a:ext uri="{FF2B5EF4-FFF2-40B4-BE49-F238E27FC236}">
                  <a16:creationId xmlns:a16="http://schemas.microsoft.com/office/drawing/2014/main" id="{3796E625-92F4-4047-0D34-A2F5D65180A6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5" name="磁盘 254">
              <a:extLst>
                <a:ext uri="{FF2B5EF4-FFF2-40B4-BE49-F238E27FC236}">
                  <a16:creationId xmlns:a16="http://schemas.microsoft.com/office/drawing/2014/main" id="{9EC4DC57-C0B4-9DE3-7C69-AB5855272C1A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6" name="磁盘 255">
              <a:extLst>
                <a:ext uri="{FF2B5EF4-FFF2-40B4-BE49-F238E27FC236}">
                  <a16:creationId xmlns:a16="http://schemas.microsoft.com/office/drawing/2014/main" id="{15A4482B-C722-DF05-7E94-570135106224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E370A8F3-F3A4-A6A4-B22D-329A08E6B1F2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rgbClr val="F4CED0"/>
            </a:solidFill>
            <a:ln w="38100">
              <a:solidFill>
                <a:srgbClr val="F4CE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236DECFB-8D79-0EB1-FB85-84FB0E4553E7}"/>
              </a:ext>
            </a:extLst>
          </p:cNvPr>
          <p:cNvGrpSpPr/>
          <p:nvPr/>
        </p:nvGrpSpPr>
        <p:grpSpPr>
          <a:xfrm>
            <a:off x="8200820" y="4336114"/>
            <a:ext cx="698273" cy="677142"/>
            <a:chOff x="4327470" y="3372072"/>
            <a:chExt cx="698273" cy="677142"/>
          </a:xfrm>
        </p:grpSpPr>
        <p:sp>
          <p:nvSpPr>
            <p:cNvPr id="250" name="磁盘 249">
              <a:extLst>
                <a:ext uri="{FF2B5EF4-FFF2-40B4-BE49-F238E27FC236}">
                  <a16:creationId xmlns:a16="http://schemas.microsoft.com/office/drawing/2014/main" id="{824C3FAC-6EE1-A19C-9BCF-A78BAA55ECFF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1" name="磁盘 250">
              <a:extLst>
                <a:ext uri="{FF2B5EF4-FFF2-40B4-BE49-F238E27FC236}">
                  <a16:creationId xmlns:a16="http://schemas.microsoft.com/office/drawing/2014/main" id="{65DFB8C9-E370-3E3A-68B2-3BCDB9CAC984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solidFill>
              <a:srgbClr val="FFC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2" name="磁盘 251">
              <a:extLst>
                <a:ext uri="{FF2B5EF4-FFF2-40B4-BE49-F238E27FC236}">
                  <a16:creationId xmlns:a16="http://schemas.microsoft.com/office/drawing/2014/main" id="{94656891-8F59-A4EF-71C9-403F557D82E3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79FA9511-B11C-64FD-F491-56CEEB6872F6}"/>
                </a:ext>
              </a:extLst>
            </p:cNvPr>
            <p:cNvSpPr/>
            <p:nvPr/>
          </p:nvSpPr>
          <p:spPr>
            <a:xfrm>
              <a:off x="4349903" y="3728896"/>
              <a:ext cx="653401" cy="166599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BD8F3DD6-131F-F685-571E-3B3BCF38122D}"/>
              </a:ext>
            </a:extLst>
          </p:cNvPr>
          <p:cNvGrpSpPr/>
          <p:nvPr/>
        </p:nvGrpSpPr>
        <p:grpSpPr>
          <a:xfrm>
            <a:off x="9575602" y="5616871"/>
            <a:ext cx="698273" cy="677142"/>
            <a:chOff x="3858537" y="4611731"/>
            <a:chExt cx="698273" cy="677142"/>
          </a:xfrm>
          <a:solidFill>
            <a:schemeClr val="accent4">
              <a:lumMod val="50000"/>
            </a:schemeClr>
          </a:solidFill>
        </p:grpSpPr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A0919F4D-5379-7723-C1D2-C14C27079B52}"/>
                </a:ext>
              </a:extLst>
            </p:cNvPr>
            <p:cNvGrpSpPr/>
            <p:nvPr/>
          </p:nvGrpSpPr>
          <p:grpSpPr>
            <a:xfrm>
              <a:off x="3858537" y="4611731"/>
              <a:ext cx="698273" cy="677142"/>
              <a:chOff x="4327470" y="3372072"/>
              <a:chExt cx="698273" cy="677142"/>
            </a:xfrm>
            <a:grpFill/>
          </p:grpSpPr>
          <p:sp>
            <p:nvSpPr>
              <p:cNvPr id="246" name="磁盘 245">
                <a:extLst>
                  <a:ext uri="{FF2B5EF4-FFF2-40B4-BE49-F238E27FC236}">
                    <a16:creationId xmlns:a16="http://schemas.microsoft.com/office/drawing/2014/main" id="{7FCB0523-CFBB-3C1F-7C57-89C2DA783255}"/>
                  </a:ext>
                </a:extLst>
              </p:cNvPr>
              <p:cNvSpPr/>
              <p:nvPr/>
            </p:nvSpPr>
            <p:spPr>
              <a:xfrm>
                <a:off x="4327474" y="3758268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7" name="磁盘 246">
                <a:extLst>
                  <a:ext uri="{FF2B5EF4-FFF2-40B4-BE49-F238E27FC236}">
                    <a16:creationId xmlns:a16="http://schemas.microsoft.com/office/drawing/2014/main" id="{3293452F-B06B-7590-72BE-9BCEAF540A41}"/>
                  </a:ext>
                </a:extLst>
              </p:cNvPr>
              <p:cNvSpPr/>
              <p:nvPr/>
            </p:nvSpPr>
            <p:spPr>
              <a:xfrm>
                <a:off x="4327472" y="3564593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8" name="磁盘 247">
                <a:extLst>
                  <a:ext uri="{FF2B5EF4-FFF2-40B4-BE49-F238E27FC236}">
                    <a16:creationId xmlns:a16="http://schemas.microsoft.com/office/drawing/2014/main" id="{69EB9233-14D4-ADAE-8C79-1DFC85830905}"/>
                  </a:ext>
                </a:extLst>
              </p:cNvPr>
              <p:cNvSpPr/>
              <p:nvPr/>
            </p:nvSpPr>
            <p:spPr>
              <a:xfrm>
                <a:off x="4327470" y="3372072"/>
                <a:ext cx="698269" cy="290946"/>
              </a:xfrm>
              <a:prstGeom prst="flowChartMagneticDisk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9" name="矩形 248">
                <a:extLst>
                  <a:ext uri="{FF2B5EF4-FFF2-40B4-BE49-F238E27FC236}">
                    <a16:creationId xmlns:a16="http://schemas.microsoft.com/office/drawing/2014/main" id="{09EF9227-A0E7-FB2B-09F3-28FFE7B988DE}"/>
                  </a:ext>
                </a:extLst>
              </p:cNvPr>
              <p:cNvSpPr/>
              <p:nvPr/>
            </p:nvSpPr>
            <p:spPr>
              <a:xfrm>
                <a:off x="4349903" y="3530673"/>
                <a:ext cx="653401" cy="166599"/>
              </a:xfrm>
              <a:prstGeom prst="rect">
                <a:avLst/>
              </a:prstGeom>
              <a:grpFill/>
              <a:ln w="3810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44B3E6C2-F379-BFFF-19CB-E7FA094BCD1B}"/>
                </a:ext>
              </a:extLst>
            </p:cNvPr>
            <p:cNvSpPr/>
            <p:nvPr/>
          </p:nvSpPr>
          <p:spPr>
            <a:xfrm>
              <a:off x="3880970" y="4953393"/>
              <a:ext cx="653401" cy="166599"/>
            </a:xfrm>
            <a:prstGeom prst="rect">
              <a:avLst/>
            </a:prstGeom>
            <a:grpFill/>
            <a:ln w="381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2" name="文本框 241">
            <a:extLst>
              <a:ext uri="{FF2B5EF4-FFF2-40B4-BE49-F238E27FC236}">
                <a16:creationId xmlns:a16="http://schemas.microsoft.com/office/drawing/2014/main" id="{3F372F55-99B1-689D-D331-0483C97AC6F6}"/>
              </a:ext>
            </a:extLst>
          </p:cNvPr>
          <p:cNvSpPr txBox="1"/>
          <p:nvPr/>
        </p:nvSpPr>
        <p:spPr>
          <a:xfrm>
            <a:off x="8325410" y="2966479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混合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89700D4B-FD12-3AE5-814E-4EE8CB06AC69}"/>
              </a:ext>
            </a:extLst>
          </p:cNvPr>
          <p:cNvSpPr txBox="1"/>
          <p:nvPr/>
        </p:nvSpPr>
        <p:spPr>
          <a:xfrm>
            <a:off x="9692988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混合</a:t>
            </a:r>
          </a:p>
        </p:txBody>
      </p: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C61A8409-2B42-8E92-9E3F-0C46E49F3534}"/>
              </a:ext>
            </a:extLst>
          </p:cNvPr>
          <p:cNvGrpSpPr/>
          <p:nvPr/>
        </p:nvGrpSpPr>
        <p:grpSpPr>
          <a:xfrm>
            <a:off x="1914489" y="4324890"/>
            <a:ext cx="698273" cy="677142"/>
            <a:chOff x="4327470" y="3372072"/>
            <a:chExt cx="698273" cy="677142"/>
          </a:xfrm>
        </p:grpSpPr>
        <p:sp>
          <p:nvSpPr>
            <p:cNvPr id="280" name="磁盘 279">
              <a:extLst>
                <a:ext uri="{FF2B5EF4-FFF2-40B4-BE49-F238E27FC236}">
                  <a16:creationId xmlns:a16="http://schemas.microsoft.com/office/drawing/2014/main" id="{52286552-B258-EB1F-1FA3-1230615C41C4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FF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1" name="磁盘 280">
              <a:extLst>
                <a:ext uri="{FF2B5EF4-FFF2-40B4-BE49-F238E27FC236}">
                  <a16:creationId xmlns:a16="http://schemas.microsoft.com/office/drawing/2014/main" id="{A19ACC74-1EF2-3DCA-FC9E-940D177BA458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2" name="磁盘 281">
              <a:extLst>
                <a:ext uri="{FF2B5EF4-FFF2-40B4-BE49-F238E27FC236}">
                  <a16:creationId xmlns:a16="http://schemas.microsoft.com/office/drawing/2014/main" id="{610AFC3E-9D9A-E3DB-8AA9-0B7E9289A583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A0F98BC8-DE6E-2EEF-748B-E9FF71B84EEF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6ADADAEC-A423-619D-1004-8A2A87C55966}"/>
              </a:ext>
            </a:extLst>
          </p:cNvPr>
          <p:cNvGrpSpPr/>
          <p:nvPr/>
        </p:nvGrpSpPr>
        <p:grpSpPr>
          <a:xfrm>
            <a:off x="9572830" y="4336114"/>
            <a:ext cx="698273" cy="677142"/>
            <a:chOff x="4327470" y="3372072"/>
            <a:chExt cx="698273" cy="677142"/>
          </a:xfrm>
        </p:grpSpPr>
        <p:sp>
          <p:nvSpPr>
            <p:cNvPr id="285" name="磁盘 284">
              <a:extLst>
                <a:ext uri="{FF2B5EF4-FFF2-40B4-BE49-F238E27FC236}">
                  <a16:creationId xmlns:a16="http://schemas.microsoft.com/office/drawing/2014/main" id="{049DE145-375D-40C5-3675-E40547A13C7F}"/>
                </a:ext>
              </a:extLst>
            </p:cNvPr>
            <p:cNvSpPr/>
            <p:nvPr/>
          </p:nvSpPr>
          <p:spPr>
            <a:xfrm>
              <a:off x="4327474" y="3758268"/>
              <a:ext cx="698269" cy="290946"/>
            </a:xfrm>
            <a:prstGeom prst="flowChartMagneticDisk">
              <a:avLst/>
            </a:prstGeom>
            <a:solidFill>
              <a:srgbClr val="42DAEA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6" name="磁盘 285">
              <a:extLst>
                <a:ext uri="{FF2B5EF4-FFF2-40B4-BE49-F238E27FC236}">
                  <a16:creationId xmlns:a16="http://schemas.microsoft.com/office/drawing/2014/main" id="{867A6C6D-7DAB-EC57-9201-1C567E0D4381}"/>
                </a:ext>
              </a:extLst>
            </p:cNvPr>
            <p:cNvSpPr/>
            <p:nvPr/>
          </p:nvSpPr>
          <p:spPr>
            <a:xfrm>
              <a:off x="4327472" y="3564593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7" name="磁盘 286">
              <a:extLst>
                <a:ext uri="{FF2B5EF4-FFF2-40B4-BE49-F238E27FC236}">
                  <a16:creationId xmlns:a16="http://schemas.microsoft.com/office/drawing/2014/main" id="{ED046A3A-C659-EE20-0933-33470232C323}"/>
                </a:ext>
              </a:extLst>
            </p:cNvPr>
            <p:cNvSpPr/>
            <p:nvPr/>
          </p:nvSpPr>
          <p:spPr>
            <a:xfrm>
              <a:off x="4327470" y="3372072"/>
              <a:ext cx="698269" cy="290946"/>
            </a:xfrm>
            <a:prstGeom prst="flowChartMagneticDisk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8" name="矩形 287">
              <a:extLst>
                <a:ext uri="{FF2B5EF4-FFF2-40B4-BE49-F238E27FC236}">
                  <a16:creationId xmlns:a16="http://schemas.microsoft.com/office/drawing/2014/main" id="{DB7AE010-9D41-151D-D822-48AD8FF85F5B}"/>
                </a:ext>
              </a:extLst>
            </p:cNvPr>
            <p:cNvSpPr/>
            <p:nvPr/>
          </p:nvSpPr>
          <p:spPr>
            <a:xfrm>
              <a:off x="4349903" y="3530673"/>
              <a:ext cx="653401" cy="16659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289" name="直线箭头连接符 288">
            <a:extLst>
              <a:ext uri="{FF2B5EF4-FFF2-40B4-BE49-F238E27FC236}">
                <a16:creationId xmlns:a16="http://schemas.microsoft.com/office/drawing/2014/main" id="{985D24E9-EF7C-5233-8A7A-35CB671F8F7B}"/>
              </a:ext>
            </a:extLst>
          </p:cNvPr>
          <p:cNvCxnSpPr>
            <a:cxnSpLocks/>
            <a:stCxn id="280" idx="3"/>
            <a:endCxn id="235" idx="0"/>
          </p:cNvCxnSpPr>
          <p:nvPr/>
        </p:nvCxnSpPr>
        <p:spPr>
          <a:xfrm>
            <a:off x="2263627" y="5002033"/>
            <a:ext cx="1416" cy="189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46B132B7-7376-2AF9-3E37-B5566CF03DAF}"/>
              </a:ext>
            </a:extLst>
          </p:cNvPr>
          <p:cNvCxnSpPr>
            <a:cxnSpLocks/>
            <a:stCxn id="176" idx="3"/>
            <a:endCxn id="235" idx="0"/>
          </p:cNvCxnSpPr>
          <p:nvPr/>
        </p:nvCxnSpPr>
        <p:spPr>
          <a:xfrm flipH="1">
            <a:off x="2265043" y="5013257"/>
            <a:ext cx="1409914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线箭头连接符 296">
            <a:extLst>
              <a:ext uri="{FF2B5EF4-FFF2-40B4-BE49-F238E27FC236}">
                <a16:creationId xmlns:a16="http://schemas.microsoft.com/office/drawing/2014/main" id="{72635EB8-A455-F646-556B-5F00A2ADCE9F}"/>
              </a:ext>
            </a:extLst>
          </p:cNvPr>
          <p:cNvCxnSpPr>
            <a:cxnSpLocks/>
            <a:stCxn id="226" idx="2"/>
            <a:endCxn id="161" idx="1"/>
          </p:cNvCxnSpPr>
          <p:nvPr/>
        </p:nvCxnSpPr>
        <p:spPr>
          <a:xfrm>
            <a:off x="3678500" y="3216788"/>
            <a:ext cx="3525" cy="1746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线箭头连接符 299">
            <a:extLst>
              <a:ext uri="{FF2B5EF4-FFF2-40B4-BE49-F238E27FC236}">
                <a16:creationId xmlns:a16="http://schemas.microsoft.com/office/drawing/2014/main" id="{ED0D2B52-4ECE-3E9F-37F7-CC79ECC7A3FD}"/>
              </a:ext>
            </a:extLst>
          </p:cNvPr>
          <p:cNvCxnSpPr>
            <a:cxnSpLocks/>
            <a:stCxn id="235" idx="2"/>
            <a:endCxn id="185" idx="1"/>
          </p:cNvCxnSpPr>
          <p:nvPr/>
        </p:nvCxnSpPr>
        <p:spPr>
          <a:xfrm>
            <a:off x="2265043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线箭头连接符 302">
            <a:extLst>
              <a:ext uri="{FF2B5EF4-FFF2-40B4-BE49-F238E27FC236}">
                <a16:creationId xmlns:a16="http://schemas.microsoft.com/office/drawing/2014/main" id="{D398D056-BB7C-F758-646D-EB4205DDE5B1}"/>
              </a:ext>
            </a:extLst>
          </p:cNvPr>
          <p:cNvCxnSpPr>
            <a:cxnSpLocks/>
            <a:stCxn id="212" idx="3"/>
            <a:endCxn id="242" idx="0"/>
          </p:cNvCxnSpPr>
          <p:nvPr/>
        </p:nvCxnSpPr>
        <p:spPr>
          <a:xfrm flipH="1">
            <a:off x="8557156" y="2778446"/>
            <a:ext cx="1364812" cy="1880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线箭头连接符 305">
            <a:extLst>
              <a:ext uri="{FF2B5EF4-FFF2-40B4-BE49-F238E27FC236}">
                <a16:creationId xmlns:a16="http://schemas.microsoft.com/office/drawing/2014/main" id="{1D559E41-0180-07CE-C29B-5B47EFCAFA67}"/>
              </a:ext>
            </a:extLst>
          </p:cNvPr>
          <p:cNvCxnSpPr>
            <a:cxnSpLocks/>
            <a:stCxn id="254" idx="3"/>
            <a:endCxn id="242" idx="0"/>
          </p:cNvCxnSpPr>
          <p:nvPr/>
        </p:nvCxnSpPr>
        <p:spPr>
          <a:xfrm flipH="1">
            <a:off x="8557157" y="2783136"/>
            <a:ext cx="27" cy="1833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线箭头连接符 308">
            <a:extLst>
              <a:ext uri="{FF2B5EF4-FFF2-40B4-BE49-F238E27FC236}">
                <a16:creationId xmlns:a16="http://schemas.microsoft.com/office/drawing/2014/main" id="{1414327C-CFC0-5091-6F2E-6B98A217A346}"/>
              </a:ext>
            </a:extLst>
          </p:cNvPr>
          <p:cNvCxnSpPr>
            <a:cxnSpLocks/>
            <a:stCxn id="242" idx="2"/>
            <a:endCxn id="260" idx="1"/>
          </p:cNvCxnSpPr>
          <p:nvPr/>
        </p:nvCxnSpPr>
        <p:spPr>
          <a:xfrm>
            <a:off x="8557157" y="3212700"/>
            <a:ext cx="3525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线箭头连接符 311">
            <a:extLst>
              <a:ext uri="{FF2B5EF4-FFF2-40B4-BE49-F238E27FC236}">
                <a16:creationId xmlns:a16="http://schemas.microsoft.com/office/drawing/2014/main" id="{38D5F4AF-C7FA-3380-6DDF-8B9E0DA5A299}"/>
              </a:ext>
            </a:extLst>
          </p:cNvPr>
          <p:cNvCxnSpPr>
            <a:cxnSpLocks/>
            <a:stCxn id="285" idx="3"/>
            <a:endCxn id="243" idx="0"/>
          </p:cNvCxnSpPr>
          <p:nvPr/>
        </p:nvCxnSpPr>
        <p:spPr>
          <a:xfrm>
            <a:off x="9921968" y="5013257"/>
            <a:ext cx="276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线箭头连接符 314">
            <a:extLst>
              <a:ext uri="{FF2B5EF4-FFF2-40B4-BE49-F238E27FC236}">
                <a16:creationId xmlns:a16="http://schemas.microsoft.com/office/drawing/2014/main" id="{3BA4C2C7-0054-E1C0-85A7-F83878B73CE0}"/>
              </a:ext>
            </a:extLst>
          </p:cNvPr>
          <p:cNvCxnSpPr>
            <a:cxnSpLocks/>
            <a:stCxn id="250" idx="3"/>
            <a:endCxn id="243" idx="0"/>
          </p:cNvCxnSpPr>
          <p:nvPr/>
        </p:nvCxnSpPr>
        <p:spPr>
          <a:xfrm>
            <a:off x="8549958" y="5013257"/>
            <a:ext cx="137477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线箭头连接符 317">
            <a:extLst>
              <a:ext uri="{FF2B5EF4-FFF2-40B4-BE49-F238E27FC236}">
                <a16:creationId xmlns:a16="http://schemas.microsoft.com/office/drawing/2014/main" id="{289722DD-FB0F-7CB2-C7E3-0BF39E20F3FE}"/>
              </a:ext>
            </a:extLst>
          </p:cNvPr>
          <p:cNvCxnSpPr>
            <a:cxnSpLocks/>
            <a:stCxn id="243" idx="2"/>
            <a:endCxn id="248" idx="1"/>
          </p:cNvCxnSpPr>
          <p:nvPr/>
        </p:nvCxnSpPr>
        <p:spPr>
          <a:xfrm>
            <a:off x="9924734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328">
            <a:extLst>
              <a:ext uri="{FF2B5EF4-FFF2-40B4-BE49-F238E27FC236}">
                <a16:creationId xmlns:a16="http://schemas.microsoft.com/office/drawing/2014/main" id="{F5E44796-F1E7-5B10-53B4-C68F5153577C}"/>
              </a:ext>
            </a:extLst>
          </p:cNvPr>
          <p:cNvSpPr txBox="1"/>
          <p:nvPr/>
        </p:nvSpPr>
        <p:spPr>
          <a:xfrm>
            <a:off x="1508638" y="225463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2E036005-F2AB-4538-5226-548AF1C26FAE}"/>
              </a:ext>
            </a:extLst>
          </p:cNvPr>
          <p:cNvSpPr txBox="1"/>
          <p:nvPr/>
        </p:nvSpPr>
        <p:spPr>
          <a:xfrm>
            <a:off x="1508637" y="345071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06D09E91-19AB-CF79-0486-221A922CD0B5}"/>
              </a:ext>
            </a:extLst>
          </p:cNvPr>
          <p:cNvSpPr txBox="1"/>
          <p:nvPr/>
        </p:nvSpPr>
        <p:spPr>
          <a:xfrm>
            <a:off x="1508637" y="451741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49B3E162-7798-97E0-2C9E-B4A1DD3BD5EF}"/>
              </a:ext>
            </a:extLst>
          </p:cNvPr>
          <p:cNvSpPr txBox="1"/>
          <p:nvPr/>
        </p:nvSpPr>
        <p:spPr>
          <a:xfrm>
            <a:off x="10248356" y="223567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7D2F0C15-1997-E164-0DE6-FAEC38C7DFA7}"/>
              </a:ext>
            </a:extLst>
          </p:cNvPr>
          <p:cNvSpPr txBox="1"/>
          <p:nvPr/>
        </p:nvSpPr>
        <p:spPr>
          <a:xfrm>
            <a:off x="10248355" y="343175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EF485542-A956-9BB0-A973-6C847727D0E0}"/>
              </a:ext>
            </a:extLst>
          </p:cNvPr>
          <p:cNvSpPr txBox="1"/>
          <p:nvPr/>
        </p:nvSpPr>
        <p:spPr>
          <a:xfrm>
            <a:off x="10248355" y="449845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9" name="右箭头 338">
            <a:extLst>
              <a:ext uri="{FF2B5EF4-FFF2-40B4-BE49-F238E27FC236}">
                <a16:creationId xmlns:a16="http://schemas.microsoft.com/office/drawing/2014/main" id="{B88BDC88-EC23-4ACD-6EDE-F18C2B71990E}"/>
              </a:ext>
            </a:extLst>
          </p:cNvPr>
          <p:cNvSpPr/>
          <p:nvPr/>
        </p:nvSpPr>
        <p:spPr>
          <a:xfrm>
            <a:off x="4031160" y="2410307"/>
            <a:ext cx="4169652" cy="152973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1" name="右箭头 340">
            <a:extLst>
              <a:ext uri="{FF2B5EF4-FFF2-40B4-BE49-F238E27FC236}">
                <a16:creationId xmlns:a16="http://schemas.microsoft.com/office/drawing/2014/main" id="{A00F1FFC-5439-8723-063A-A3408D4B4368}"/>
              </a:ext>
            </a:extLst>
          </p:cNvPr>
          <p:cNvSpPr/>
          <p:nvPr/>
        </p:nvSpPr>
        <p:spPr>
          <a:xfrm rot="10079758">
            <a:off x="3992528" y="4251057"/>
            <a:ext cx="4246916" cy="15297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0" name="右箭头 339">
            <a:extLst>
              <a:ext uri="{FF2B5EF4-FFF2-40B4-BE49-F238E27FC236}">
                <a16:creationId xmlns:a16="http://schemas.microsoft.com/office/drawing/2014/main" id="{84455206-6ABF-0DA9-BD38-A44EB3238A70}"/>
              </a:ext>
            </a:extLst>
          </p:cNvPr>
          <p:cNvSpPr/>
          <p:nvPr/>
        </p:nvSpPr>
        <p:spPr>
          <a:xfrm rot="723826">
            <a:off x="4000250" y="4214558"/>
            <a:ext cx="4246916" cy="15297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DE1945B3-69D0-62FD-7DE6-A372434CCAAF}"/>
              </a:ext>
            </a:extLst>
          </p:cNvPr>
          <p:cNvSpPr/>
          <p:nvPr/>
        </p:nvSpPr>
        <p:spPr>
          <a:xfrm>
            <a:off x="5434895" y="5720556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grpSp>
        <p:nvGrpSpPr>
          <p:cNvPr id="346" name="组合 345">
            <a:extLst>
              <a:ext uri="{FF2B5EF4-FFF2-40B4-BE49-F238E27FC236}">
                <a16:creationId xmlns:a16="http://schemas.microsoft.com/office/drawing/2014/main" id="{3DEE1092-29AA-3977-B3B2-8E05B9957D9F}"/>
              </a:ext>
            </a:extLst>
          </p:cNvPr>
          <p:cNvGrpSpPr/>
          <p:nvPr/>
        </p:nvGrpSpPr>
        <p:grpSpPr>
          <a:xfrm>
            <a:off x="2042521" y="5664018"/>
            <a:ext cx="439420" cy="626749"/>
            <a:chOff x="4662826" y="1410273"/>
            <a:chExt cx="439420" cy="626749"/>
          </a:xfrm>
        </p:grpSpPr>
        <p:pic>
          <p:nvPicPr>
            <p:cNvPr id="347" name="图形 346">
              <a:extLst>
                <a:ext uri="{FF2B5EF4-FFF2-40B4-BE49-F238E27FC236}">
                  <a16:creationId xmlns:a16="http://schemas.microsoft.com/office/drawing/2014/main" id="{1AC09551-5656-B2FF-F52F-977EDC436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3383291">
              <a:off x="4662826" y="1410273"/>
              <a:ext cx="439420" cy="439420"/>
            </a:xfrm>
            <a:prstGeom prst="rect">
              <a:avLst/>
            </a:prstGeom>
          </p:spPr>
        </p:pic>
        <p:sp>
          <p:nvSpPr>
            <p:cNvPr id="348" name="文本框 347">
              <a:extLst>
                <a:ext uri="{FF2B5EF4-FFF2-40B4-BE49-F238E27FC236}">
                  <a16:creationId xmlns:a16="http://schemas.microsoft.com/office/drawing/2014/main" id="{F5913B79-3F28-C267-9B07-3B388539574A}"/>
                </a:ext>
              </a:extLst>
            </p:cNvPr>
            <p:cNvSpPr txBox="1"/>
            <p:nvPr/>
          </p:nvSpPr>
          <p:spPr>
            <a:xfrm>
              <a:off x="4739363" y="1667690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kumimoji="1"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9" name="组合 348">
            <a:extLst>
              <a:ext uri="{FF2B5EF4-FFF2-40B4-BE49-F238E27FC236}">
                <a16:creationId xmlns:a16="http://schemas.microsoft.com/office/drawing/2014/main" id="{6EF74F20-E1BB-335F-CC33-4D6C20792E80}"/>
              </a:ext>
            </a:extLst>
          </p:cNvPr>
          <p:cNvGrpSpPr/>
          <p:nvPr/>
        </p:nvGrpSpPr>
        <p:grpSpPr>
          <a:xfrm>
            <a:off x="9724999" y="5673239"/>
            <a:ext cx="439420" cy="626749"/>
            <a:chOff x="4662826" y="1410273"/>
            <a:chExt cx="439420" cy="626749"/>
          </a:xfrm>
        </p:grpSpPr>
        <p:pic>
          <p:nvPicPr>
            <p:cNvPr id="350" name="图形 349">
              <a:extLst>
                <a:ext uri="{FF2B5EF4-FFF2-40B4-BE49-F238E27FC236}">
                  <a16:creationId xmlns:a16="http://schemas.microsoft.com/office/drawing/2014/main" id="{053E3099-1EAB-CD30-2F84-293536EE4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3383291">
              <a:off x="4662826" y="1410273"/>
              <a:ext cx="439420" cy="439420"/>
            </a:xfrm>
            <a:prstGeom prst="rect">
              <a:avLst/>
            </a:prstGeom>
          </p:spPr>
        </p:pic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4310826E-80B4-108B-9DA2-862263629DCA}"/>
                </a:ext>
              </a:extLst>
            </p:cNvPr>
            <p:cNvSpPr txBox="1"/>
            <p:nvPr/>
          </p:nvSpPr>
          <p:spPr>
            <a:xfrm>
              <a:off x="4739363" y="1667690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kumimoji="1"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8" name="组合 367">
            <a:extLst>
              <a:ext uri="{FF2B5EF4-FFF2-40B4-BE49-F238E27FC236}">
                <a16:creationId xmlns:a16="http://schemas.microsoft.com/office/drawing/2014/main" id="{CD5A0CF7-ACE2-124C-54F0-2AFE2E940ADC}"/>
              </a:ext>
            </a:extLst>
          </p:cNvPr>
          <p:cNvGrpSpPr/>
          <p:nvPr/>
        </p:nvGrpSpPr>
        <p:grpSpPr>
          <a:xfrm>
            <a:off x="5572700" y="6410500"/>
            <a:ext cx="1035896" cy="328897"/>
            <a:chOff x="4048700" y="6487114"/>
            <a:chExt cx="1035896" cy="328897"/>
          </a:xfrm>
        </p:grpSpPr>
        <p:sp>
          <p:nvSpPr>
            <p:cNvPr id="362" name="磁盘 361">
              <a:extLst>
                <a:ext uri="{FF2B5EF4-FFF2-40B4-BE49-F238E27FC236}">
                  <a16:creationId xmlns:a16="http://schemas.microsoft.com/office/drawing/2014/main" id="{ABC7BCC6-AE51-A678-A011-67F7105A22C1}"/>
                </a:ext>
              </a:extLst>
            </p:cNvPr>
            <p:cNvSpPr/>
            <p:nvPr/>
          </p:nvSpPr>
          <p:spPr>
            <a:xfrm>
              <a:off x="4447662" y="6487114"/>
              <a:ext cx="240367" cy="189062"/>
            </a:xfrm>
            <a:prstGeom prst="flowChartMagneticDisk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3" name="磁盘 362">
              <a:extLst>
                <a:ext uri="{FF2B5EF4-FFF2-40B4-BE49-F238E27FC236}">
                  <a16:creationId xmlns:a16="http://schemas.microsoft.com/office/drawing/2014/main" id="{5F7D8DCC-4166-941E-C2C6-A1B9CBC68199}"/>
                </a:ext>
              </a:extLst>
            </p:cNvPr>
            <p:cNvSpPr/>
            <p:nvPr/>
          </p:nvSpPr>
          <p:spPr>
            <a:xfrm>
              <a:off x="4844229" y="6487114"/>
              <a:ext cx="240367" cy="189062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65" name="磁盘 364">
              <a:extLst>
                <a:ext uri="{FF2B5EF4-FFF2-40B4-BE49-F238E27FC236}">
                  <a16:creationId xmlns:a16="http://schemas.microsoft.com/office/drawing/2014/main" id="{9AA5E2FF-F363-3A7A-2232-2E0AAEC2CD7B}"/>
                </a:ext>
              </a:extLst>
            </p:cNvPr>
            <p:cNvSpPr/>
            <p:nvPr/>
          </p:nvSpPr>
          <p:spPr>
            <a:xfrm>
              <a:off x="4048700" y="6626949"/>
              <a:ext cx="240367" cy="189062"/>
            </a:xfrm>
            <a:prstGeom prst="flowChartMagneticDisk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6" name="磁盘 365">
              <a:extLst>
                <a:ext uri="{FF2B5EF4-FFF2-40B4-BE49-F238E27FC236}">
                  <a16:creationId xmlns:a16="http://schemas.microsoft.com/office/drawing/2014/main" id="{B04B3314-3568-3FDA-0C8C-8D8C00690DEE}"/>
                </a:ext>
              </a:extLst>
            </p:cNvPr>
            <p:cNvSpPr/>
            <p:nvPr/>
          </p:nvSpPr>
          <p:spPr>
            <a:xfrm>
              <a:off x="4447662" y="6626949"/>
              <a:ext cx="240367" cy="189062"/>
            </a:xfrm>
            <a:prstGeom prst="flowChartMagneticDisk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C000"/>
                </a:solidFill>
              </a:endParaRPr>
            </a:p>
          </p:txBody>
        </p:sp>
        <p:sp>
          <p:nvSpPr>
            <p:cNvPr id="367" name="磁盘 366">
              <a:extLst>
                <a:ext uri="{FF2B5EF4-FFF2-40B4-BE49-F238E27FC236}">
                  <a16:creationId xmlns:a16="http://schemas.microsoft.com/office/drawing/2014/main" id="{656CFB3A-765C-E19F-5D93-89A67E47E1B9}"/>
                </a:ext>
              </a:extLst>
            </p:cNvPr>
            <p:cNvSpPr/>
            <p:nvPr/>
          </p:nvSpPr>
          <p:spPr>
            <a:xfrm>
              <a:off x="4844229" y="6626949"/>
              <a:ext cx="240367" cy="189062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8EFC1C5A-89C5-1CC1-565C-829828371851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F31111D-10E2-2B6D-8A91-0E7C66861FCA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9837487F-9651-CFEF-E178-5D287F059DA4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40860972-C219-7D24-181F-511D52959E04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FABB30CE-C2F7-6C93-E0D8-2839C88D8736}"/>
              </a:ext>
            </a:extLst>
          </p:cNvPr>
          <p:cNvGrpSpPr/>
          <p:nvPr/>
        </p:nvGrpSpPr>
        <p:grpSpPr>
          <a:xfrm>
            <a:off x="2098751" y="6367578"/>
            <a:ext cx="1035896" cy="246222"/>
            <a:chOff x="509297" y="6367578"/>
            <a:chExt cx="1035896" cy="246222"/>
          </a:xfrm>
        </p:grpSpPr>
        <p:grpSp>
          <p:nvGrpSpPr>
            <p:cNvPr id="355" name="组合 354">
              <a:extLst>
                <a:ext uri="{FF2B5EF4-FFF2-40B4-BE49-F238E27FC236}">
                  <a16:creationId xmlns:a16="http://schemas.microsoft.com/office/drawing/2014/main" id="{69372D5D-277F-B9A1-915D-7300A7D4B9DC}"/>
                </a:ext>
              </a:extLst>
            </p:cNvPr>
            <p:cNvGrpSpPr/>
            <p:nvPr/>
          </p:nvGrpSpPr>
          <p:grpSpPr>
            <a:xfrm>
              <a:off x="509297" y="6410499"/>
              <a:ext cx="1035896" cy="189062"/>
              <a:chOff x="221897" y="6444386"/>
              <a:chExt cx="1035896" cy="189062"/>
            </a:xfrm>
          </p:grpSpPr>
          <p:sp>
            <p:nvSpPr>
              <p:cNvPr id="352" name="磁盘 351">
                <a:extLst>
                  <a:ext uri="{FF2B5EF4-FFF2-40B4-BE49-F238E27FC236}">
                    <a16:creationId xmlns:a16="http://schemas.microsoft.com/office/drawing/2014/main" id="{327836FC-00D7-F150-6419-DC8ABE643DFE}"/>
                  </a:ext>
                </a:extLst>
              </p:cNvPr>
              <p:cNvSpPr/>
              <p:nvPr/>
            </p:nvSpPr>
            <p:spPr>
              <a:xfrm>
                <a:off x="221897" y="6444386"/>
                <a:ext cx="240367" cy="189062"/>
              </a:xfrm>
              <a:prstGeom prst="flowChartMagneticDisk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3" name="磁盘 352">
                <a:extLst>
                  <a:ext uri="{FF2B5EF4-FFF2-40B4-BE49-F238E27FC236}">
                    <a16:creationId xmlns:a16="http://schemas.microsoft.com/office/drawing/2014/main" id="{5D827E23-19A7-A360-F783-623742D48F10}"/>
                  </a:ext>
                </a:extLst>
              </p:cNvPr>
              <p:cNvSpPr/>
              <p:nvPr/>
            </p:nvSpPr>
            <p:spPr>
              <a:xfrm>
                <a:off x="620859" y="6444386"/>
                <a:ext cx="240367" cy="189062"/>
              </a:xfrm>
              <a:prstGeom prst="flowChartMagneticDisk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4" name="磁盘 353">
                <a:extLst>
                  <a:ext uri="{FF2B5EF4-FFF2-40B4-BE49-F238E27FC236}">
                    <a16:creationId xmlns:a16="http://schemas.microsoft.com/office/drawing/2014/main" id="{2370F8A8-1AB8-8DBE-5279-2AC105611A00}"/>
                  </a:ext>
                </a:extLst>
              </p:cNvPr>
              <p:cNvSpPr/>
              <p:nvPr/>
            </p:nvSpPr>
            <p:spPr>
              <a:xfrm>
                <a:off x="1017426" y="6444386"/>
                <a:ext cx="240367" cy="189062"/>
              </a:xfrm>
              <a:prstGeom prst="flowChartMagneticDisk">
                <a:avLst/>
              </a:prstGeom>
              <a:solidFill>
                <a:srgbClr val="42DAE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54C2CEC-B996-4460-8FDB-7FC2BD6A7077}"/>
                </a:ext>
              </a:extLst>
            </p:cNvPr>
            <p:cNvSpPr txBox="1"/>
            <p:nvPr/>
          </p:nvSpPr>
          <p:spPr>
            <a:xfrm>
              <a:off x="724019" y="6367579"/>
              <a:ext cx="2487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+</a:t>
              </a:r>
              <a:endParaRPr kumimoji="1" lang="zh-CN" altLang="en-US" sz="10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B82519B-A6FE-C4F4-EF50-54D651BCE64E}"/>
                </a:ext>
              </a:extLst>
            </p:cNvPr>
            <p:cNvSpPr txBox="1"/>
            <p:nvPr/>
          </p:nvSpPr>
          <p:spPr>
            <a:xfrm>
              <a:off x="1098295" y="6367578"/>
              <a:ext cx="2487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+</a:t>
              </a:r>
              <a:endParaRPr kumimoji="1" lang="zh-CN" altLang="en-US" sz="10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D1C31EC-133B-2F93-1110-D31C7EBC4D8A}"/>
              </a:ext>
            </a:extLst>
          </p:cNvPr>
          <p:cNvGrpSpPr/>
          <p:nvPr/>
        </p:nvGrpSpPr>
        <p:grpSpPr>
          <a:xfrm>
            <a:off x="9061382" y="6372050"/>
            <a:ext cx="1035896" cy="246222"/>
            <a:chOff x="509297" y="6367578"/>
            <a:chExt cx="1035896" cy="24622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CFD4B6E-5964-B1C1-A3B6-2D00CF699C05}"/>
                </a:ext>
              </a:extLst>
            </p:cNvPr>
            <p:cNvGrpSpPr/>
            <p:nvPr/>
          </p:nvGrpSpPr>
          <p:grpSpPr>
            <a:xfrm>
              <a:off x="509297" y="6410499"/>
              <a:ext cx="1035896" cy="189062"/>
              <a:chOff x="221897" y="6444386"/>
              <a:chExt cx="1035896" cy="189062"/>
            </a:xfrm>
          </p:grpSpPr>
          <p:sp>
            <p:nvSpPr>
              <p:cNvPr id="12" name="磁盘 11">
                <a:extLst>
                  <a:ext uri="{FF2B5EF4-FFF2-40B4-BE49-F238E27FC236}">
                    <a16:creationId xmlns:a16="http://schemas.microsoft.com/office/drawing/2014/main" id="{1AD84D67-CEFE-C05F-FC4D-D244DAA8631E}"/>
                  </a:ext>
                </a:extLst>
              </p:cNvPr>
              <p:cNvSpPr/>
              <p:nvPr/>
            </p:nvSpPr>
            <p:spPr>
              <a:xfrm>
                <a:off x="221897" y="6444386"/>
                <a:ext cx="240367" cy="189062"/>
              </a:xfrm>
              <a:prstGeom prst="flowChartMagneticDisk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磁盘 12">
                <a:extLst>
                  <a:ext uri="{FF2B5EF4-FFF2-40B4-BE49-F238E27FC236}">
                    <a16:creationId xmlns:a16="http://schemas.microsoft.com/office/drawing/2014/main" id="{1472D0E0-4600-136D-CFD5-0ABCEB9825E6}"/>
                  </a:ext>
                </a:extLst>
              </p:cNvPr>
              <p:cNvSpPr/>
              <p:nvPr/>
            </p:nvSpPr>
            <p:spPr>
              <a:xfrm>
                <a:off x="620859" y="6444386"/>
                <a:ext cx="240367" cy="189062"/>
              </a:xfrm>
              <a:prstGeom prst="flowChartMagneticDisk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磁盘 13">
                <a:extLst>
                  <a:ext uri="{FF2B5EF4-FFF2-40B4-BE49-F238E27FC236}">
                    <a16:creationId xmlns:a16="http://schemas.microsoft.com/office/drawing/2014/main" id="{78EE24D6-E301-624B-E3FD-D76571338BF9}"/>
                  </a:ext>
                </a:extLst>
              </p:cNvPr>
              <p:cNvSpPr/>
              <p:nvPr/>
            </p:nvSpPr>
            <p:spPr>
              <a:xfrm>
                <a:off x="1017426" y="6444386"/>
                <a:ext cx="240367" cy="189062"/>
              </a:xfrm>
              <a:prstGeom prst="flowChartMagneticDisk">
                <a:avLst/>
              </a:prstGeom>
              <a:solidFill>
                <a:srgbClr val="42DAE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3DB55E0-0999-99D0-ADDA-EA430262A58E}"/>
                </a:ext>
              </a:extLst>
            </p:cNvPr>
            <p:cNvSpPr txBox="1"/>
            <p:nvPr/>
          </p:nvSpPr>
          <p:spPr>
            <a:xfrm>
              <a:off x="724019" y="6367579"/>
              <a:ext cx="2487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+</a:t>
              </a:r>
              <a:endParaRPr kumimoji="1" lang="zh-CN" altLang="en-US" sz="10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40FC19E-84E1-1F58-E8AD-7B8B8575F047}"/>
                </a:ext>
              </a:extLst>
            </p:cNvPr>
            <p:cNvSpPr txBox="1"/>
            <p:nvPr/>
          </p:nvSpPr>
          <p:spPr>
            <a:xfrm>
              <a:off x="1098295" y="6367578"/>
              <a:ext cx="2487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+</a:t>
              </a:r>
              <a:endParaRPr kumimoji="1" lang="zh-CN" altLang="en-US" sz="1000" dirty="0"/>
            </a:p>
          </p:txBody>
        </p:sp>
      </p:grp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D5F15196-F87C-7622-FCB7-BD6A1C49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30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351D5D-4244-8A4A-77AA-833D42AD8716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调色板密钥交换协议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4BB6039-B8B7-AA65-0F55-568E39450F16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1A066E05-A8F1-E1FE-E26B-A707426B69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C33F0272-3AE4-7F20-7D5D-BB8B180FA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2">
                <a:extLst>
                  <a:ext uri="{FF2B5EF4-FFF2-40B4-BE49-F238E27FC236}">
                    <a16:creationId xmlns:a16="http://schemas.microsoft.com/office/drawing/2014/main" id="{89867554-524C-D55A-839C-78CAE8AD1A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" name="Group 10">
              <a:extLst>
                <a:ext uri="{FF2B5EF4-FFF2-40B4-BE49-F238E27FC236}">
                  <a16:creationId xmlns:a16="http://schemas.microsoft.com/office/drawing/2014/main" id="{E2C7771F-7654-079E-DFD1-75EE6C0E78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20" name="Freeform 11">
                <a:extLst>
                  <a:ext uri="{FF2B5EF4-FFF2-40B4-BE49-F238E27FC236}">
                    <a16:creationId xmlns:a16="http://schemas.microsoft.com/office/drawing/2014/main" id="{77787206-B715-616F-E3E6-0E6081824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22" name="Freeform 12">
                <a:extLst>
                  <a:ext uri="{FF2B5EF4-FFF2-40B4-BE49-F238E27FC236}">
                    <a16:creationId xmlns:a16="http://schemas.microsoft.com/office/drawing/2014/main" id="{F5B351C4-AE9D-9ECC-6474-30BC37B30F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4274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FC7A-DBF2-C3B4-A16E-B65C5F59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D4B72925-043E-500D-66C7-E439A30EAFE3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084743-669D-181A-A205-7D0719C79F8F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030DE74A-86CD-174C-F18F-93EB12D0ACB7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2C51C2D1-A6A0-9028-C13E-331BDBF0B434}"/>
              </a:ext>
            </a:extLst>
          </p:cNvPr>
          <p:cNvSpPr txBox="1"/>
          <p:nvPr/>
        </p:nvSpPr>
        <p:spPr>
          <a:xfrm>
            <a:off x="1567652" y="1675454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E6DDDC8B-39F6-60EA-67C4-00355A7D1151}"/>
              </a:ext>
            </a:extLst>
          </p:cNvPr>
          <p:cNvSpPr txBox="1"/>
          <p:nvPr/>
        </p:nvSpPr>
        <p:spPr>
          <a:xfrm>
            <a:off x="2973028" y="1675454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C4E70E53-9529-B2A6-8B69-5040D4F59877}"/>
              </a:ext>
            </a:extLst>
          </p:cNvPr>
          <p:cNvSpPr txBox="1"/>
          <p:nvPr/>
        </p:nvSpPr>
        <p:spPr>
          <a:xfrm>
            <a:off x="7808547" y="1669833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BD39EBDD-5D5A-EFFF-9465-8D2B4FB785AD}"/>
              </a:ext>
            </a:extLst>
          </p:cNvPr>
          <p:cNvSpPr txBox="1"/>
          <p:nvPr/>
        </p:nvSpPr>
        <p:spPr>
          <a:xfrm>
            <a:off x="9213923" y="1669833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94589C90-68FD-A731-63D6-0A0824907289}"/>
              </a:ext>
            </a:extLst>
          </p:cNvPr>
          <p:cNvCxnSpPr>
            <a:cxnSpLocks/>
            <a:stCxn id="15" idx="2"/>
            <a:endCxn id="226" idx="0"/>
          </p:cNvCxnSpPr>
          <p:nvPr/>
        </p:nvCxnSpPr>
        <p:spPr>
          <a:xfrm>
            <a:off x="2262231" y="2666559"/>
            <a:ext cx="1416268" cy="30400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箭头连接符 218">
            <a:extLst>
              <a:ext uri="{FF2B5EF4-FFF2-40B4-BE49-F238E27FC236}">
                <a16:creationId xmlns:a16="http://schemas.microsoft.com/office/drawing/2014/main" id="{DAC33044-4BE9-9F1B-145A-EEED5E311513}"/>
              </a:ext>
            </a:extLst>
          </p:cNvPr>
          <p:cNvCxnSpPr>
            <a:cxnSpLocks/>
            <a:stCxn id="28" idx="2"/>
            <a:endCxn id="226" idx="0"/>
          </p:cNvCxnSpPr>
          <p:nvPr/>
        </p:nvCxnSpPr>
        <p:spPr>
          <a:xfrm>
            <a:off x="3423517" y="2669665"/>
            <a:ext cx="254983" cy="30090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文本框 225">
            <a:extLst>
              <a:ext uri="{FF2B5EF4-FFF2-40B4-BE49-F238E27FC236}">
                <a16:creationId xmlns:a16="http://schemas.microsoft.com/office/drawing/2014/main" id="{5A9BA37F-89DF-8BE8-B7E1-03EF45E96414}"/>
              </a:ext>
            </a:extLst>
          </p:cNvPr>
          <p:cNvSpPr txBox="1"/>
          <p:nvPr/>
        </p:nvSpPr>
        <p:spPr>
          <a:xfrm>
            <a:off x="3446753" y="2970568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910BFCB7-5EAF-BC3E-235A-E7D1B19567F7}"/>
              </a:ext>
            </a:extLst>
          </p:cNvPr>
          <p:cNvSpPr txBox="1"/>
          <p:nvPr/>
        </p:nvSpPr>
        <p:spPr>
          <a:xfrm>
            <a:off x="2033297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939A21CC-5CAE-E90C-A22C-8863E5F8FD79}"/>
              </a:ext>
            </a:extLst>
          </p:cNvPr>
          <p:cNvSpPr txBox="1"/>
          <p:nvPr/>
        </p:nvSpPr>
        <p:spPr>
          <a:xfrm>
            <a:off x="8325410" y="2966479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107A3599-7D2A-64EE-E351-3F2B08210251}"/>
              </a:ext>
            </a:extLst>
          </p:cNvPr>
          <p:cNvSpPr txBox="1"/>
          <p:nvPr/>
        </p:nvSpPr>
        <p:spPr>
          <a:xfrm>
            <a:off x="9692988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cxnSp>
        <p:nvCxnSpPr>
          <p:cNvPr id="289" name="直线箭头连接符 288">
            <a:extLst>
              <a:ext uri="{FF2B5EF4-FFF2-40B4-BE49-F238E27FC236}">
                <a16:creationId xmlns:a16="http://schemas.microsoft.com/office/drawing/2014/main" id="{791A8025-3DC3-673B-0559-CBF763223293}"/>
              </a:ext>
            </a:extLst>
          </p:cNvPr>
          <p:cNvCxnSpPr>
            <a:cxnSpLocks/>
            <a:endCxn id="235" idx="0"/>
          </p:cNvCxnSpPr>
          <p:nvPr/>
        </p:nvCxnSpPr>
        <p:spPr>
          <a:xfrm>
            <a:off x="2263627" y="5002033"/>
            <a:ext cx="1416" cy="189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996EEAAA-5F46-C4BA-1871-A235AABAFF10}"/>
              </a:ext>
            </a:extLst>
          </p:cNvPr>
          <p:cNvCxnSpPr>
            <a:cxnSpLocks/>
            <a:endCxn id="235" idx="0"/>
          </p:cNvCxnSpPr>
          <p:nvPr/>
        </p:nvCxnSpPr>
        <p:spPr>
          <a:xfrm flipH="1">
            <a:off x="2265043" y="5013257"/>
            <a:ext cx="1409914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线箭头连接符 296">
            <a:extLst>
              <a:ext uri="{FF2B5EF4-FFF2-40B4-BE49-F238E27FC236}">
                <a16:creationId xmlns:a16="http://schemas.microsoft.com/office/drawing/2014/main" id="{CE180519-70E4-50CC-E530-4692BD556910}"/>
              </a:ext>
            </a:extLst>
          </p:cNvPr>
          <p:cNvCxnSpPr>
            <a:cxnSpLocks/>
            <a:stCxn id="226" idx="2"/>
            <a:endCxn id="35" idx="0"/>
          </p:cNvCxnSpPr>
          <p:nvPr/>
        </p:nvCxnSpPr>
        <p:spPr>
          <a:xfrm flipH="1">
            <a:off x="3674951" y="3216789"/>
            <a:ext cx="3548" cy="24590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线箭头连接符 299">
            <a:extLst>
              <a:ext uri="{FF2B5EF4-FFF2-40B4-BE49-F238E27FC236}">
                <a16:creationId xmlns:a16="http://schemas.microsoft.com/office/drawing/2014/main" id="{3F260A18-C2AA-79C0-0ADB-266B21AEFC3D}"/>
              </a:ext>
            </a:extLst>
          </p:cNvPr>
          <p:cNvCxnSpPr>
            <a:cxnSpLocks/>
            <a:stCxn id="235" idx="2"/>
          </p:cNvCxnSpPr>
          <p:nvPr/>
        </p:nvCxnSpPr>
        <p:spPr>
          <a:xfrm>
            <a:off x="2265043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线箭头连接符 302">
            <a:extLst>
              <a:ext uri="{FF2B5EF4-FFF2-40B4-BE49-F238E27FC236}">
                <a16:creationId xmlns:a16="http://schemas.microsoft.com/office/drawing/2014/main" id="{7E463299-0688-1950-F031-865B19E907EE}"/>
              </a:ext>
            </a:extLst>
          </p:cNvPr>
          <p:cNvCxnSpPr>
            <a:cxnSpLocks/>
            <a:stCxn id="16" idx="2"/>
            <a:endCxn id="242" idx="0"/>
          </p:cNvCxnSpPr>
          <p:nvPr/>
        </p:nvCxnSpPr>
        <p:spPr>
          <a:xfrm flipH="1">
            <a:off x="8557156" y="2666558"/>
            <a:ext cx="1401196" cy="299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线箭头连接符 305">
            <a:extLst>
              <a:ext uri="{FF2B5EF4-FFF2-40B4-BE49-F238E27FC236}">
                <a16:creationId xmlns:a16="http://schemas.microsoft.com/office/drawing/2014/main" id="{ECBE81DE-19F5-8489-076D-1EF533EA3805}"/>
              </a:ext>
            </a:extLst>
          </p:cNvPr>
          <p:cNvCxnSpPr>
            <a:cxnSpLocks/>
            <a:stCxn id="32" idx="2"/>
            <a:endCxn id="242" idx="0"/>
          </p:cNvCxnSpPr>
          <p:nvPr/>
        </p:nvCxnSpPr>
        <p:spPr>
          <a:xfrm>
            <a:off x="8356860" y="2670800"/>
            <a:ext cx="200296" cy="2956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线箭头连接符 308">
            <a:extLst>
              <a:ext uri="{FF2B5EF4-FFF2-40B4-BE49-F238E27FC236}">
                <a16:creationId xmlns:a16="http://schemas.microsoft.com/office/drawing/2014/main" id="{9D1D39B7-E334-25E3-A21F-78EE42A8863C}"/>
              </a:ext>
            </a:extLst>
          </p:cNvPr>
          <p:cNvCxnSpPr>
            <a:cxnSpLocks/>
            <a:stCxn id="242" idx="2"/>
            <a:endCxn id="36" idx="0"/>
          </p:cNvCxnSpPr>
          <p:nvPr/>
        </p:nvCxnSpPr>
        <p:spPr>
          <a:xfrm flipH="1">
            <a:off x="8554944" y="3212700"/>
            <a:ext cx="2212" cy="24254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线箭头连接符 311">
            <a:extLst>
              <a:ext uri="{FF2B5EF4-FFF2-40B4-BE49-F238E27FC236}">
                <a16:creationId xmlns:a16="http://schemas.microsoft.com/office/drawing/2014/main" id="{7370CD2D-3CE3-78B0-9782-EF90F3220049}"/>
              </a:ext>
            </a:extLst>
          </p:cNvPr>
          <p:cNvCxnSpPr>
            <a:cxnSpLocks/>
            <a:endCxn id="243" idx="0"/>
          </p:cNvCxnSpPr>
          <p:nvPr/>
        </p:nvCxnSpPr>
        <p:spPr>
          <a:xfrm>
            <a:off x="9921968" y="5013257"/>
            <a:ext cx="276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线箭头连接符 314">
            <a:extLst>
              <a:ext uri="{FF2B5EF4-FFF2-40B4-BE49-F238E27FC236}">
                <a16:creationId xmlns:a16="http://schemas.microsoft.com/office/drawing/2014/main" id="{63BCB58D-2FB9-07C8-A6C6-AD8B6E1AB4A9}"/>
              </a:ext>
            </a:extLst>
          </p:cNvPr>
          <p:cNvCxnSpPr>
            <a:cxnSpLocks/>
            <a:endCxn id="243" idx="0"/>
          </p:cNvCxnSpPr>
          <p:nvPr/>
        </p:nvCxnSpPr>
        <p:spPr>
          <a:xfrm>
            <a:off x="8549958" y="5013257"/>
            <a:ext cx="137477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线箭头连接符 317">
            <a:extLst>
              <a:ext uri="{FF2B5EF4-FFF2-40B4-BE49-F238E27FC236}">
                <a16:creationId xmlns:a16="http://schemas.microsoft.com/office/drawing/2014/main" id="{A7C4A4EC-A600-80D9-B8D0-1AAEF9B39908}"/>
              </a:ext>
            </a:extLst>
          </p:cNvPr>
          <p:cNvCxnSpPr>
            <a:cxnSpLocks/>
            <a:stCxn id="243" idx="2"/>
          </p:cNvCxnSpPr>
          <p:nvPr/>
        </p:nvCxnSpPr>
        <p:spPr>
          <a:xfrm>
            <a:off x="9924734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328">
            <a:extLst>
              <a:ext uri="{FF2B5EF4-FFF2-40B4-BE49-F238E27FC236}">
                <a16:creationId xmlns:a16="http://schemas.microsoft.com/office/drawing/2014/main" id="{0FF45F42-C276-17E5-2201-BA87953B9AD1}"/>
              </a:ext>
            </a:extLst>
          </p:cNvPr>
          <p:cNvSpPr txBox="1"/>
          <p:nvPr/>
        </p:nvSpPr>
        <p:spPr>
          <a:xfrm>
            <a:off x="1508638" y="225463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44583EDB-AA63-0D73-4435-153727276419}"/>
              </a:ext>
            </a:extLst>
          </p:cNvPr>
          <p:cNvSpPr txBox="1"/>
          <p:nvPr/>
        </p:nvSpPr>
        <p:spPr>
          <a:xfrm>
            <a:off x="1508637" y="345071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29D19374-F445-97A9-BEE8-A658ED5C9449}"/>
              </a:ext>
            </a:extLst>
          </p:cNvPr>
          <p:cNvSpPr txBox="1"/>
          <p:nvPr/>
        </p:nvSpPr>
        <p:spPr>
          <a:xfrm>
            <a:off x="1508637" y="451741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F215592D-0B68-E3C7-A156-0E086821923D}"/>
              </a:ext>
            </a:extLst>
          </p:cNvPr>
          <p:cNvSpPr txBox="1"/>
          <p:nvPr/>
        </p:nvSpPr>
        <p:spPr>
          <a:xfrm>
            <a:off x="10248356" y="223567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2AD38808-51E4-90EA-D15E-D3DF2EAEAAE3}"/>
              </a:ext>
            </a:extLst>
          </p:cNvPr>
          <p:cNvSpPr txBox="1"/>
          <p:nvPr/>
        </p:nvSpPr>
        <p:spPr>
          <a:xfrm>
            <a:off x="10248355" y="343175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E4E6AB12-B01F-47FB-0E14-398A58A80165}"/>
              </a:ext>
            </a:extLst>
          </p:cNvPr>
          <p:cNvSpPr txBox="1"/>
          <p:nvPr/>
        </p:nvSpPr>
        <p:spPr>
          <a:xfrm>
            <a:off x="10248355" y="449845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9" name="右箭头 338">
            <a:extLst>
              <a:ext uri="{FF2B5EF4-FFF2-40B4-BE49-F238E27FC236}">
                <a16:creationId xmlns:a16="http://schemas.microsoft.com/office/drawing/2014/main" id="{2AA6180B-86DC-5AB9-4A84-11B41D23FE2E}"/>
              </a:ext>
            </a:extLst>
          </p:cNvPr>
          <p:cNvSpPr/>
          <p:nvPr/>
        </p:nvSpPr>
        <p:spPr>
          <a:xfrm>
            <a:off x="4031160" y="2410307"/>
            <a:ext cx="4169652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1" name="右箭头 340">
            <a:extLst>
              <a:ext uri="{FF2B5EF4-FFF2-40B4-BE49-F238E27FC236}">
                <a16:creationId xmlns:a16="http://schemas.microsoft.com/office/drawing/2014/main" id="{7AD769D9-9D49-23D7-6C1A-0E1886076A8B}"/>
              </a:ext>
            </a:extLst>
          </p:cNvPr>
          <p:cNvSpPr/>
          <p:nvPr/>
        </p:nvSpPr>
        <p:spPr>
          <a:xfrm rot="10079758">
            <a:off x="3992528" y="4251057"/>
            <a:ext cx="4246916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0" name="右箭头 339">
            <a:extLst>
              <a:ext uri="{FF2B5EF4-FFF2-40B4-BE49-F238E27FC236}">
                <a16:creationId xmlns:a16="http://schemas.microsoft.com/office/drawing/2014/main" id="{7FF4D752-B5A3-9937-F36E-B53724ED4F00}"/>
              </a:ext>
            </a:extLst>
          </p:cNvPr>
          <p:cNvSpPr/>
          <p:nvPr/>
        </p:nvSpPr>
        <p:spPr>
          <a:xfrm rot="723826">
            <a:off x="4000250" y="4214558"/>
            <a:ext cx="4246916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DF845CF7-FC64-ABD5-B3CF-E07C01D83C56}"/>
              </a:ext>
            </a:extLst>
          </p:cNvPr>
          <p:cNvSpPr/>
          <p:nvPr/>
        </p:nvSpPr>
        <p:spPr>
          <a:xfrm>
            <a:off x="5434895" y="5720556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4D513F5F-EFC2-B61E-2E81-E405CC018E1D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C97E0908-CA5E-EBAB-C332-181AB5FBCDF8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8EF8214-C317-3CD0-3A34-EF60EE723571}"/>
              </a:ext>
            </a:extLst>
          </p:cNvPr>
          <p:cNvSpPr txBox="1"/>
          <p:nvPr/>
        </p:nvSpPr>
        <p:spPr>
          <a:xfrm>
            <a:off x="2082695" y="2174116"/>
            <a:ext cx="35907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指数</a:t>
            </a:r>
            <a:endParaRPr kumimoji="1"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88C52A-151B-6DCB-2505-C873765A4109}"/>
              </a:ext>
            </a:extLst>
          </p:cNvPr>
          <p:cNvSpPr txBox="1"/>
          <p:nvPr/>
        </p:nvSpPr>
        <p:spPr>
          <a:xfrm>
            <a:off x="9778816" y="2174115"/>
            <a:ext cx="35907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指数</a:t>
            </a:r>
            <a:endParaRPr kumimoji="1"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BE4C10B-7ED7-405A-7A99-AC7BDEBBEE0D}"/>
              </a:ext>
            </a:extLst>
          </p:cNvPr>
          <p:cNvGrpSpPr/>
          <p:nvPr/>
        </p:nvGrpSpPr>
        <p:grpSpPr>
          <a:xfrm>
            <a:off x="3218527" y="2174114"/>
            <a:ext cx="805933" cy="495550"/>
            <a:chOff x="1694526" y="2174114"/>
            <a:chExt cx="805933" cy="49555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5D23145-78F0-3264-5221-D97473BF38CB}"/>
                </a:ext>
              </a:extLst>
            </p:cNvPr>
            <p:cNvGrpSpPr/>
            <p:nvPr/>
          </p:nvGrpSpPr>
          <p:grpSpPr>
            <a:xfrm>
              <a:off x="1694526" y="2174114"/>
              <a:ext cx="805933" cy="492443"/>
              <a:chOff x="1694526" y="2174114"/>
              <a:chExt cx="805933" cy="492443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0797D83-0736-54C1-695F-BE2A8CDC786C}"/>
                  </a:ext>
                </a:extLst>
              </p:cNvPr>
              <p:cNvSpPr txBox="1"/>
              <p:nvPr/>
            </p:nvSpPr>
            <p:spPr>
              <a:xfrm>
                <a:off x="1694526" y="2174114"/>
                <a:ext cx="3590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底数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078F006-7865-3AFE-75BF-E037050457DA}"/>
                  </a:ext>
                </a:extLst>
              </p:cNvPr>
              <p:cNvSpPr txBox="1"/>
              <p:nvPr/>
            </p:nvSpPr>
            <p:spPr>
              <a:xfrm>
                <a:off x="2141386" y="2174114"/>
                <a:ext cx="359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273B4E77-283C-A857-6F54-46BDE0410CD9}"/>
                    </a:ext>
                  </a:extLst>
                </p:cNvPr>
                <p:cNvSpPr txBox="1"/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3991C30-8AF8-32C9-8D6F-8F979849B8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3529" r="-23529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8BEC16D-48BA-AE26-992C-1FBED88AC6C6}"/>
              </a:ext>
            </a:extLst>
          </p:cNvPr>
          <p:cNvGrpSpPr/>
          <p:nvPr/>
        </p:nvGrpSpPr>
        <p:grpSpPr>
          <a:xfrm>
            <a:off x="8151871" y="2175249"/>
            <a:ext cx="805933" cy="495550"/>
            <a:chOff x="1694526" y="2174114"/>
            <a:chExt cx="805933" cy="495550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5B4C46D2-D5A0-3F35-57BE-56962B10AE74}"/>
                </a:ext>
              </a:extLst>
            </p:cNvPr>
            <p:cNvGrpSpPr/>
            <p:nvPr/>
          </p:nvGrpSpPr>
          <p:grpSpPr>
            <a:xfrm>
              <a:off x="1694526" y="2174114"/>
              <a:ext cx="805933" cy="492443"/>
              <a:chOff x="1694526" y="2174114"/>
              <a:chExt cx="805933" cy="492443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D421CBA-158D-A893-EF66-CA751105DC8B}"/>
                  </a:ext>
                </a:extLst>
              </p:cNvPr>
              <p:cNvSpPr txBox="1"/>
              <p:nvPr/>
            </p:nvSpPr>
            <p:spPr>
              <a:xfrm>
                <a:off x="1694526" y="2174114"/>
                <a:ext cx="3590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底数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467B19F-5592-E410-F5AA-B6C41042D37F}"/>
                  </a:ext>
                </a:extLst>
              </p:cNvPr>
              <p:cNvSpPr txBox="1"/>
              <p:nvPr/>
            </p:nvSpPr>
            <p:spPr>
              <a:xfrm>
                <a:off x="2141386" y="2174114"/>
                <a:ext cx="359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3D931EC8-1C3A-02A0-CDD7-F14C575A3E52}"/>
                    </a:ext>
                  </a:extLst>
                </p:cNvPr>
                <p:cNvSpPr txBox="1"/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19AF0BE6-D39D-CC15-DC5B-033C23184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546" y="2392665"/>
                  <a:ext cx="19793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1250" r="-31250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4588E0D-EB88-17D7-0823-53A0525E3076}"/>
                  </a:ext>
                </a:extLst>
              </p:cNvPr>
              <p:cNvSpPr txBox="1"/>
              <p:nvPr/>
            </p:nvSpPr>
            <p:spPr>
              <a:xfrm>
                <a:off x="3152565" y="3462696"/>
                <a:ext cx="10447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03F6F2A-2043-A1FF-4B40-AECCF319D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565" y="3462696"/>
                <a:ext cx="1044773" cy="276999"/>
              </a:xfrm>
              <a:prstGeom prst="rect">
                <a:avLst/>
              </a:prstGeom>
              <a:blipFill>
                <a:blip r:embed="rId5"/>
                <a:stretch>
                  <a:fillRect l="-6024" t="-4348" r="-8434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8895632-A2D9-89A1-3BCB-E009A53004C5}"/>
                  </a:ext>
                </a:extLst>
              </p:cNvPr>
              <p:cNvSpPr txBox="1"/>
              <p:nvPr/>
            </p:nvSpPr>
            <p:spPr>
              <a:xfrm>
                <a:off x="8034770" y="3455247"/>
                <a:ext cx="1040349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0522B6C-A67B-D333-4CC3-5069C2475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4770" y="3455247"/>
                <a:ext cx="1040349" cy="281937"/>
              </a:xfrm>
              <a:prstGeom prst="rect">
                <a:avLst/>
              </a:prstGeom>
              <a:blipFill>
                <a:blip r:embed="rId6"/>
                <a:stretch>
                  <a:fillRect l="-4819" t="-4348" r="-8434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742F5713-D73B-6546-C528-FF36BD16C6CE}"/>
              </a:ext>
            </a:extLst>
          </p:cNvPr>
          <p:cNvCxnSpPr>
            <a:cxnSpLocks/>
            <a:stCxn id="19" idx="2"/>
            <a:endCxn id="226" idx="0"/>
          </p:cNvCxnSpPr>
          <p:nvPr/>
        </p:nvCxnSpPr>
        <p:spPr>
          <a:xfrm flipH="1">
            <a:off x="3678499" y="2666557"/>
            <a:ext cx="166424" cy="3040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54D61573-8AE0-2C8B-958D-84B9C1DE0854}"/>
              </a:ext>
            </a:extLst>
          </p:cNvPr>
          <p:cNvCxnSpPr>
            <a:cxnSpLocks/>
            <a:stCxn id="34" idx="2"/>
            <a:endCxn id="242" idx="0"/>
          </p:cNvCxnSpPr>
          <p:nvPr/>
        </p:nvCxnSpPr>
        <p:spPr>
          <a:xfrm flipH="1">
            <a:off x="8557157" y="2667692"/>
            <a:ext cx="221111" cy="29878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19BC04FD-DE2E-A478-BAB1-5A210E6B7427}"/>
              </a:ext>
            </a:extLst>
          </p:cNvPr>
          <p:cNvSpPr txBox="1"/>
          <p:nvPr/>
        </p:nvSpPr>
        <p:spPr>
          <a:xfrm>
            <a:off x="2200857" y="4502264"/>
            <a:ext cx="11541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5D1656EF-0C6D-E94B-079E-B1C0033704B8}"/>
                  </a:ext>
                </a:extLst>
              </p:cNvPr>
              <p:cNvSpPr txBox="1"/>
              <p:nvPr/>
            </p:nvSpPr>
            <p:spPr>
              <a:xfrm>
                <a:off x="3113481" y="4712770"/>
                <a:ext cx="1040349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2B22567-5FD8-F668-78C7-99C95FA63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481" y="4712770"/>
                <a:ext cx="1040349" cy="281937"/>
              </a:xfrm>
              <a:prstGeom prst="rect">
                <a:avLst/>
              </a:prstGeom>
              <a:blipFill>
                <a:blip r:embed="rId7"/>
                <a:stretch>
                  <a:fillRect l="-6098" t="-4348" r="-8537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82133CAB-369C-8A13-D197-2E121EC03991}"/>
                  </a:ext>
                </a:extLst>
              </p:cNvPr>
              <p:cNvSpPr txBox="1"/>
              <p:nvPr/>
            </p:nvSpPr>
            <p:spPr>
              <a:xfrm>
                <a:off x="8008591" y="4736257"/>
                <a:ext cx="10447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F2D8ACE-D326-1D46-CCEC-3D99715B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591" y="4736257"/>
                <a:ext cx="1044773" cy="276999"/>
              </a:xfrm>
              <a:prstGeom prst="rect">
                <a:avLst/>
              </a:prstGeom>
              <a:blipFill>
                <a:blip r:embed="rId8"/>
                <a:stretch>
                  <a:fillRect l="-4819" r="-8434" b="-43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>
            <a:extLst>
              <a:ext uri="{FF2B5EF4-FFF2-40B4-BE49-F238E27FC236}">
                <a16:creationId xmlns:a16="http://schemas.microsoft.com/office/drawing/2014/main" id="{BB85B250-C34D-FA0C-D16C-014D268454FE}"/>
              </a:ext>
            </a:extLst>
          </p:cNvPr>
          <p:cNvSpPr txBox="1"/>
          <p:nvPr/>
        </p:nvSpPr>
        <p:spPr>
          <a:xfrm>
            <a:off x="9865642" y="4511449"/>
            <a:ext cx="11541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BDC6C45-8F57-1712-318D-494A6E111842}"/>
                  </a:ext>
                </a:extLst>
              </p:cNvPr>
              <p:cNvSpPr txBox="1"/>
              <p:nvPr/>
            </p:nvSpPr>
            <p:spPr>
              <a:xfrm>
                <a:off x="1675748" y="5692076"/>
                <a:ext cx="1167884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kumimoji="1" lang="en-US" altLang="zh-CN">
                        <a:latin typeface="Cambria Math" panose="02040503050406030204" pitchFamily="18" charset="0"/>
                      </a:rPr>
                      <m:t>mod</m:t>
                    </m:r>
                    <m:r>
                      <a:rPr kumimoji="1"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en-US" altLang="zh-CN" i="1" dirty="0"/>
                  <a:t> </a:t>
                </a:r>
                <a:endParaRPr kumimoji="1" lang="zh-CN" altLang="en-US" i="1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F76DB2D-C908-1B38-C89C-8F38877CD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748" y="5692076"/>
                <a:ext cx="1167884" cy="281937"/>
              </a:xfrm>
              <a:prstGeom prst="rect">
                <a:avLst/>
              </a:prstGeom>
              <a:blipFill>
                <a:blip r:embed="rId9"/>
                <a:stretch>
                  <a:fillRect l="-7609" t="-4348" r="-2174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9F4E312-C75C-B7A8-C4FD-3F347A8D21B2}"/>
                  </a:ext>
                </a:extLst>
              </p:cNvPr>
              <p:cNvSpPr txBox="1"/>
              <p:nvPr/>
            </p:nvSpPr>
            <p:spPr>
              <a:xfrm>
                <a:off x="9307761" y="5692075"/>
                <a:ext cx="1219180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kumimoji="1" lang="zh-CN" altLang="en-US" i="1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C4E3B5C-938A-6F0E-5B43-CFA729C88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761" y="5692075"/>
                <a:ext cx="1219180" cy="281937"/>
              </a:xfrm>
              <a:prstGeom prst="rect">
                <a:avLst/>
              </a:prstGeom>
              <a:blipFill>
                <a:blip r:embed="rId10"/>
                <a:stretch>
                  <a:fillRect l="-6186" t="-4348" r="-4124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AD6C3653-66BD-3B60-5F72-8F32C49CECB0}"/>
              </a:ext>
            </a:extLst>
          </p:cNvPr>
          <p:cNvGrpSpPr/>
          <p:nvPr/>
        </p:nvGrpSpPr>
        <p:grpSpPr>
          <a:xfrm>
            <a:off x="5530901" y="6273362"/>
            <a:ext cx="1227599" cy="369332"/>
            <a:chOff x="4006900" y="6273362"/>
            <a:chExt cx="1227599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7BBC8DE-AD0C-8AAE-2828-8AD82C999FFB}"/>
                    </a:ext>
                  </a:extLst>
                </p:cNvPr>
                <p:cNvSpPr txBox="1"/>
                <p:nvPr/>
              </p:nvSpPr>
              <p:spPr>
                <a:xfrm>
                  <a:off x="4584809" y="6317060"/>
                  <a:ext cx="312970" cy="2819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616C776E-6B22-D5DD-2655-2EAE41FB68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4809" y="6317060"/>
                  <a:ext cx="312970" cy="281937"/>
                </a:xfrm>
                <a:prstGeom prst="rect">
                  <a:avLst/>
                </a:prstGeom>
                <a:blipFill>
                  <a:blip r:embed="rId13"/>
                  <a:stretch>
                    <a:fillRect l="-15385" t="-4348" r="-3846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68D38E54-74EC-34E4-B85D-F61DE40FF476}"/>
                    </a:ext>
                  </a:extLst>
                </p:cNvPr>
                <p:cNvSpPr txBox="1"/>
                <p:nvPr/>
              </p:nvSpPr>
              <p:spPr>
                <a:xfrm>
                  <a:off x="4917104" y="6326813"/>
                  <a:ext cx="3173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5BBB822-66A5-FC69-E773-85BDE5D1D3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104" y="6326813"/>
                  <a:ext cx="317395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9231" b="-3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885B768E-A6D5-D41D-6224-485D6D053DEC}"/>
                    </a:ext>
                  </a:extLst>
                </p:cNvPr>
                <p:cNvSpPr txBox="1"/>
                <p:nvPr/>
              </p:nvSpPr>
              <p:spPr>
                <a:xfrm>
                  <a:off x="4006900" y="6321998"/>
                  <a:ext cx="1979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5C62A98-1266-E6E4-4966-62A329504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6900" y="6321998"/>
                  <a:ext cx="197939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3529" r="-23529" b="-26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A38EB093-F6E7-FBCC-02AD-F85B4436BD81}"/>
                </a:ext>
              </a:extLst>
            </p:cNvPr>
            <p:cNvSpPr txBox="1"/>
            <p:nvPr/>
          </p:nvSpPr>
          <p:spPr>
            <a:xfrm>
              <a:off x="4243987" y="6273362"/>
              <a:ext cx="2733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kumimoji="1"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圆角矩形 5">
            <a:extLst>
              <a:ext uri="{FF2B5EF4-FFF2-40B4-BE49-F238E27FC236}">
                <a16:creationId xmlns:a16="http://schemas.microsoft.com/office/drawing/2014/main" id="{56377113-CE63-B938-F1BE-68A802BB1FA3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7C1E3C54-FD5F-A228-E172-5145374126BC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40684AF-2FDC-614D-8A1E-F46275CE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31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EE1823-710B-FA65-4A51-CF576DE55E20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DH</a:t>
            </a:r>
            <a:r>
              <a:rPr lang="zh-CN" altLang="en-US" sz="3600" b="1" dirty="0">
                <a:solidFill>
                  <a:srgbClr val="2A50A1"/>
                </a:solidFill>
              </a:rPr>
              <a:t>密钥交换协议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E40CD0C-E613-34DA-AF5A-66C5F216F671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E79F068B-3764-2E87-337D-C706A6FE77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090C0DB2-FBA2-7B7B-3C53-B0C4B9678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5F571362-1D7A-B3C5-D546-C225D363BA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612F6850-CD64-795C-716C-A241ED22F3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EA06E5D-282D-5025-6FEA-D441D5975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9E0EAE1E-5C8E-A373-38DB-1E731F7C6B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519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35" grpId="0" animBg="1"/>
      <p:bldP spid="242" grpId="0" animBg="1"/>
      <p:bldP spid="243" grpId="0" animBg="1"/>
      <p:bldP spid="329" grpId="0"/>
      <p:bldP spid="331" grpId="0"/>
      <p:bldP spid="333" grpId="0"/>
      <p:bldP spid="336" grpId="0"/>
      <p:bldP spid="337" grpId="0"/>
      <p:bldP spid="338" grpId="0"/>
      <p:bldP spid="339" grpId="0" animBg="1"/>
      <p:bldP spid="341" grpId="0" animBg="1"/>
      <p:bldP spid="340" grpId="0" animBg="1"/>
      <p:bldP spid="15" grpId="0"/>
      <p:bldP spid="16" grpId="0"/>
      <p:bldP spid="35" grpId="0"/>
      <p:bldP spid="36" grpId="0"/>
      <p:bldP spid="51" grpId="0"/>
      <p:bldP spid="52" grpId="0"/>
      <p:bldP spid="53" grpId="0"/>
      <p:bldP spid="54" grpId="0"/>
      <p:bldP spid="60" grpId="0"/>
      <p:bldP spid="6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3DE00-E4F6-3388-3301-194A86DA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82FEBEF4-3FB3-760D-E8E6-08A24E754E61}"/>
              </a:ext>
            </a:extLst>
          </p:cNvPr>
          <p:cNvGrpSpPr/>
          <p:nvPr/>
        </p:nvGrpSpPr>
        <p:grpSpPr>
          <a:xfrm>
            <a:off x="3190122" y="1506471"/>
            <a:ext cx="5753047" cy="430887"/>
            <a:chOff x="1666121" y="2235594"/>
            <a:chExt cx="5753047" cy="43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A2FF03A-1859-0374-8C28-76B323DBE970}"/>
                    </a:ext>
                  </a:extLst>
                </p:cNvPr>
                <p:cNvSpPr txBox="1"/>
                <p:nvPr/>
              </p:nvSpPr>
              <p:spPr>
                <a:xfrm>
                  <a:off x="1666121" y="2235594"/>
                  <a:ext cx="279589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" altLang="zh-CN" sz="28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kumimoji="1" lang="en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A4F9814-DBC3-20D9-D651-73ADF0D6F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6121" y="2235594"/>
                  <a:ext cx="2795894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4072" t="-8571" r="-4525" b="-3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88FBC87-1B53-3332-4CDA-9B5144947242}"/>
                    </a:ext>
                  </a:extLst>
                </p:cNvPr>
                <p:cNvSpPr txBox="1"/>
                <p:nvPr/>
              </p:nvSpPr>
              <p:spPr>
                <a:xfrm>
                  <a:off x="5592129" y="2235594"/>
                  <a:ext cx="182703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2792EC5B-A8AF-300C-5DA4-E76C9D870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129" y="2235594"/>
                  <a:ext cx="1827039" cy="430887"/>
                </a:xfrm>
                <a:prstGeom prst="rect">
                  <a:avLst/>
                </a:prstGeom>
                <a:blipFill>
                  <a:blip r:embed="rId4"/>
                  <a:stretch>
                    <a:fillRect l="-4138" r="-690" b="-2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199C1B9-11E4-D355-2FE5-85A82EA31C2C}"/>
                </a:ext>
              </a:extLst>
            </p:cNvPr>
            <p:cNvSpPr txBox="1"/>
            <p:nvPr/>
          </p:nvSpPr>
          <p:spPr>
            <a:xfrm>
              <a:off x="4897418" y="2318799"/>
              <a:ext cx="798393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其中</a:t>
              </a:r>
              <a:r>
                <a:rPr kumimoji="1"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,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301EF27-E257-3A06-F3E6-EEBAF115C033}"/>
              </a:ext>
            </a:extLst>
          </p:cNvPr>
          <p:cNvGrpSpPr/>
          <p:nvPr/>
        </p:nvGrpSpPr>
        <p:grpSpPr>
          <a:xfrm>
            <a:off x="4321076" y="1010928"/>
            <a:ext cx="3959967" cy="495543"/>
            <a:chOff x="2797075" y="1740051"/>
            <a:chExt cx="3959967" cy="495543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C321B0-A9FF-2ECA-1A9F-B932F38D416C}"/>
                </a:ext>
              </a:extLst>
            </p:cNvPr>
            <p:cNvSpPr txBox="1"/>
            <p:nvPr/>
          </p:nvSpPr>
          <p:spPr>
            <a:xfrm>
              <a:off x="3420160" y="174610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有限域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A6A408A-42CB-45B3-8CCA-36B209B9A00A}"/>
                </a:ext>
              </a:extLst>
            </p:cNvPr>
            <p:cNvSpPr txBox="1"/>
            <p:nvPr/>
          </p:nvSpPr>
          <p:spPr>
            <a:xfrm>
              <a:off x="2797075" y="174610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指数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4422DA7-DD42-C100-8756-C45DB19E87F8}"/>
                </a:ext>
              </a:extLst>
            </p:cNvPr>
            <p:cNvSpPr txBox="1"/>
            <p:nvPr/>
          </p:nvSpPr>
          <p:spPr>
            <a:xfrm>
              <a:off x="5958649" y="174005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离散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线箭头连接符 37">
              <a:extLst>
                <a:ext uri="{FF2B5EF4-FFF2-40B4-BE49-F238E27FC236}">
                  <a16:creationId xmlns:a16="http://schemas.microsoft.com/office/drawing/2014/main" id="{D11C4B79-24A1-C54A-6508-9E1A2CF0A951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3196272" y="2060033"/>
              <a:ext cx="0" cy="1695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箭头连接符 42">
              <a:extLst>
                <a:ext uri="{FF2B5EF4-FFF2-40B4-BE49-F238E27FC236}">
                  <a16:creationId xmlns:a16="http://schemas.microsoft.com/office/drawing/2014/main" id="{F0889335-EDBA-8AA2-1019-46E4BAF8F6B3}"/>
                </a:ext>
              </a:extLst>
            </p:cNvPr>
            <p:cNvCxnSpPr>
              <a:cxnSpLocks/>
            </p:cNvCxnSpPr>
            <p:nvPr/>
          </p:nvCxnSpPr>
          <p:spPr>
            <a:xfrm>
              <a:off x="3822635" y="2060033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11B4207D-DA2B-67D7-3A32-697FF52949BA}"/>
                </a:ext>
              </a:extLst>
            </p:cNvPr>
            <p:cNvCxnSpPr>
              <a:cxnSpLocks/>
            </p:cNvCxnSpPr>
            <p:nvPr/>
          </p:nvCxnSpPr>
          <p:spPr>
            <a:xfrm>
              <a:off x="6354813" y="2044336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960E5E8-E288-F997-933D-87A6540F5365}"/>
              </a:ext>
            </a:extLst>
          </p:cNvPr>
          <p:cNvGrpSpPr/>
          <p:nvPr/>
        </p:nvGrpSpPr>
        <p:grpSpPr>
          <a:xfrm>
            <a:off x="4069442" y="1975634"/>
            <a:ext cx="1984722" cy="567410"/>
            <a:chOff x="2545442" y="2704758"/>
            <a:chExt cx="1984722" cy="567410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7090DE6-9C23-B0C9-F423-B05C07DE4765}"/>
                </a:ext>
              </a:extLst>
            </p:cNvPr>
            <p:cNvSpPr txBox="1"/>
            <p:nvPr/>
          </p:nvSpPr>
          <p:spPr>
            <a:xfrm>
              <a:off x="3731771" y="2958236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大素数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63EBDA3-31DB-AEEA-886D-E41D67FE1081}"/>
                </a:ext>
              </a:extLst>
            </p:cNvPr>
            <p:cNvSpPr txBox="1"/>
            <p:nvPr/>
          </p:nvSpPr>
          <p:spPr>
            <a:xfrm>
              <a:off x="2545442" y="2958236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底数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E6044795-66B5-8879-AB53-815858E60EE6}"/>
                </a:ext>
              </a:extLst>
            </p:cNvPr>
            <p:cNvCxnSpPr>
              <a:cxnSpLocks/>
            </p:cNvCxnSpPr>
            <p:nvPr/>
          </p:nvCxnSpPr>
          <p:spPr>
            <a:xfrm>
              <a:off x="2957718" y="2708477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箭头连接符 60">
              <a:extLst>
                <a:ext uri="{FF2B5EF4-FFF2-40B4-BE49-F238E27FC236}">
                  <a16:creationId xmlns:a16="http://schemas.microsoft.com/office/drawing/2014/main" id="{6422D8C0-11F2-57AF-F95B-EDB8FEA4468E}"/>
                </a:ext>
              </a:extLst>
            </p:cNvPr>
            <p:cNvCxnSpPr>
              <a:cxnSpLocks/>
            </p:cNvCxnSpPr>
            <p:nvPr/>
          </p:nvCxnSpPr>
          <p:spPr>
            <a:xfrm>
              <a:off x="4218553" y="2704758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6C9B8333-D3F9-3908-2A5D-18D4D3CBB704}"/>
              </a:ext>
            </a:extLst>
          </p:cNvPr>
          <p:cNvGrpSpPr/>
          <p:nvPr/>
        </p:nvGrpSpPr>
        <p:grpSpPr>
          <a:xfrm>
            <a:off x="2098330" y="3540299"/>
            <a:ext cx="8569671" cy="2862322"/>
            <a:chOff x="574329" y="3540299"/>
            <a:chExt cx="8569671" cy="2862322"/>
          </a:xfrm>
        </p:grpSpPr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B285B3D-CCD0-E9EA-649A-02B39B844732}"/>
                </a:ext>
              </a:extLst>
            </p:cNvPr>
            <p:cNvSpPr txBox="1"/>
            <p:nvPr/>
          </p:nvSpPr>
          <p:spPr>
            <a:xfrm>
              <a:off x="574329" y="3540299"/>
              <a:ext cx="8569671" cy="286232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D4D376DD-248B-68C8-732D-350951D23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7271" y="3666223"/>
              <a:ext cx="7772400" cy="2542373"/>
            </a:xfrm>
            <a:prstGeom prst="rect">
              <a:avLst/>
            </a:prstGeom>
          </p:spPr>
        </p:pic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5B3A2CC7-2D01-5166-F6A0-03ABA6EB2BF3}"/>
              </a:ext>
            </a:extLst>
          </p:cNvPr>
          <p:cNvSpPr txBox="1"/>
          <p:nvPr/>
        </p:nvSpPr>
        <p:spPr>
          <a:xfrm>
            <a:off x="1524001" y="3540299"/>
            <a:ext cx="574328" cy="2862322"/>
          </a:xfrm>
          <a:prstGeom prst="rect">
            <a:avLst/>
          </a:prstGeom>
          <a:solidFill>
            <a:srgbClr val="DBE4F4"/>
          </a:solidFill>
        </p:spPr>
        <p:txBody>
          <a:bodyPr wrap="square" rtlCol="0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单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向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性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C498DA2D-E162-F782-21B7-9A014699326F}"/>
              </a:ext>
            </a:extLst>
          </p:cNvPr>
          <p:cNvSpPr txBox="1"/>
          <p:nvPr/>
        </p:nvSpPr>
        <p:spPr>
          <a:xfrm>
            <a:off x="1524001" y="2557009"/>
            <a:ext cx="574328" cy="923330"/>
          </a:xfrm>
          <a:prstGeom prst="rect">
            <a:avLst/>
          </a:prstGeom>
          <a:solidFill>
            <a:srgbClr val="DBE4F4"/>
          </a:solidFill>
        </p:spPr>
        <p:txBody>
          <a:bodyPr wrap="square" rtlCol="0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交换律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0F9BEA4-BA91-7EFB-AB45-392B1CE344EA}"/>
              </a:ext>
            </a:extLst>
          </p:cNvPr>
          <p:cNvGrpSpPr/>
          <p:nvPr/>
        </p:nvGrpSpPr>
        <p:grpSpPr>
          <a:xfrm>
            <a:off x="2098329" y="2557009"/>
            <a:ext cx="8569671" cy="923330"/>
            <a:chOff x="574328" y="2557009"/>
            <a:chExt cx="8569671" cy="923330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B8FB189C-9B28-28F0-1619-3194BAEBA0FE}"/>
                </a:ext>
              </a:extLst>
            </p:cNvPr>
            <p:cNvSpPr txBox="1"/>
            <p:nvPr/>
          </p:nvSpPr>
          <p:spPr>
            <a:xfrm>
              <a:off x="574328" y="2557009"/>
              <a:ext cx="8569671" cy="92333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D09E6512-749D-AEF4-0D98-64CCD7C5F343}"/>
                </a:ext>
              </a:extLst>
            </p:cNvPr>
            <p:cNvGrpSpPr/>
            <p:nvPr/>
          </p:nvGrpSpPr>
          <p:grpSpPr>
            <a:xfrm>
              <a:off x="2482630" y="2614927"/>
              <a:ext cx="4591321" cy="741352"/>
              <a:chOff x="2482630" y="2650783"/>
              <a:chExt cx="4591321" cy="74135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0CC27933-B17A-6157-619B-5FAA30AFA8BB}"/>
                      </a:ext>
                    </a:extLst>
                  </p:cNvPr>
                  <p:cNvSpPr txBox="1"/>
                  <p:nvPr/>
                </p:nvSpPr>
                <p:spPr>
                  <a:xfrm>
                    <a:off x="2482630" y="3078844"/>
                    <a:ext cx="4591321" cy="31329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kumimoji="1" lang="en" altLang="zh-CN" sz="2000" dirty="0"/>
                              <m:t>(</m:t>
                            </m:r>
                            <m:sSup>
                              <m:sSupPr>
                                <m:ctrlPr>
                                  <a:rPr kumimoji="1" lang="e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0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kumimoji="1" lang="en-US" altLang="zh-CN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)</m:t>
                            </m:r>
                          </m:e>
                          <m: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kumimoji="1" lang="en-US" altLang="zh-CN" sz="2000" dirty="0"/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kumimoji="1" lang="en" altLang="zh-CN" sz="2000" dirty="0"/>
                              <m:t>(</m:t>
                            </m:r>
                            <m:sSup>
                              <m:sSupPr>
                                <m:ctrlPr>
                                  <a:rPr kumimoji="1" lang="e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0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kumimoji="1" lang="en-US" altLang="zh-CN" sz="20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00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 )</m:t>
                            </m:r>
                          </m:e>
                          <m: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kumimoji="1" lang="en-US" altLang="zh-CN" sz="2000" i="1" dirty="0"/>
                      <a:t> </a:t>
                    </a:r>
                    <a:endParaRPr kumimoji="1" lang="zh-CN" altLang="en-US" sz="2000" i="1" dirty="0"/>
                  </a:p>
                </p:txBody>
              </p:sp>
            </mc:Choice>
            <mc:Fallback xmlns="">
              <p:sp>
                <p:nvSpPr>
                  <p:cNvPr id="78" name="文本框 77">
                    <a:extLst>
                      <a:ext uri="{FF2B5EF4-FFF2-40B4-BE49-F238E27FC236}">
                        <a16:creationId xmlns:a16="http://schemas.microsoft.com/office/drawing/2014/main" id="{332BAE31-B2E4-8DA0-C8A3-86189C8930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2630" y="3078844"/>
                    <a:ext cx="4591321" cy="31329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486" t="-7692" b="-3461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文本框 78">
                    <a:extLst>
                      <a:ext uri="{FF2B5EF4-FFF2-40B4-BE49-F238E27FC236}">
                        <a16:creationId xmlns:a16="http://schemas.microsoft.com/office/drawing/2014/main" id="{A7F3A938-4AD6-8623-933C-CDFC617A2E7F}"/>
                      </a:ext>
                    </a:extLst>
                  </p:cNvPr>
                  <p:cNvSpPr txBox="1"/>
                  <p:nvPr/>
                </p:nvSpPr>
                <p:spPr>
                  <a:xfrm>
                    <a:off x="3311544" y="2650783"/>
                    <a:ext cx="2933495" cy="31329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kumimoji="1" lang="en-US" altLang="zh-CN" sz="2000" dirty="0"/>
                      <a:t>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kumimoji="1" lang="en-US" altLang="zh-CN" sz="20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kumimoji="1" lang="en-US" altLang="zh-CN" sz="2000" i="1" dirty="0"/>
                      <a:t> </a:t>
                    </a:r>
                    <a:endParaRPr kumimoji="1" lang="zh-CN" altLang="en-US" sz="2000" i="1" dirty="0"/>
                  </a:p>
                </p:txBody>
              </p:sp>
            </mc:Choice>
            <mc:Fallback xmlns="">
              <p:sp>
                <p:nvSpPr>
                  <p:cNvPr id="79" name="文本框 78">
                    <a:extLst>
                      <a:ext uri="{FF2B5EF4-FFF2-40B4-BE49-F238E27FC236}">
                        <a16:creationId xmlns:a16="http://schemas.microsoft.com/office/drawing/2014/main" id="{134AF741-567B-01B8-9C82-C9973640CB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1544" y="2650783"/>
                    <a:ext cx="2933495" cy="31329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017" t="-3846" b="-3461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A648EB-7EF5-2DA3-528F-47E50256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32</a:t>
            </a:fld>
            <a:endParaRPr 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D10173-E6F3-B7C7-A553-A5B034BE6B9D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有限域上的离散对数</a:t>
            </a:r>
            <a:r>
              <a:rPr lang="en-US" altLang="zh-CN" sz="3600" b="1" dirty="0">
                <a:solidFill>
                  <a:srgbClr val="2A50A1"/>
                </a:solidFill>
              </a:rPr>
              <a:t>/</a:t>
            </a:r>
            <a:r>
              <a:rPr lang="zh-CN" altLang="en-US" sz="3600" b="1" dirty="0">
                <a:solidFill>
                  <a:srgbClr val="2A50A1"/>
                </a:solidFill>
              </a:rPr>
              <a:t>指数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FF19E22-9FC8-594B-A062-9572997C0883}"/>
              </a:ext>
            </a:extLst>
          </p:cNvPr>
          <p:cNvGrpSpPr/>
          <p:nvPr/>
        </p:nvGrpSpPr>
        <p:grpSpPr>
          <a:xfrm>
            <a:off x="5291961" y="97795"/>
            <a:ext cx="425713" cy="442041"/>
            <a:chOff x="5823870" y="1767426"/>
            <a:chExt cx="425713" cy="442041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2717E3EB-EC07-84C3-EA03-11F51C5517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537E5BE6-B5F5-EA77-AAC8-CD03A2203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2">
                <a:extLst>
                  <a:ext uri="{FF2B5EF4-FFF2-40B4-BE49-F238E27FC236}">
                    <a16:creationId xmlns:a16="http://schemas.microsoft.com/office/drawing/2014/main" id="{327541DE-7817-8D3B-80F9-0336B44060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FFF735E8-BDEF-9878-4A25-AD881739AD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68442B7C-6A59-9F54-9E65-312BF12F5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E075A59C-F3C9-F947-67FB-530D2E6F81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318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FDBC-A270-2936-29F9-94DBF889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>
            <a:extLst>
              <a:ext uri="{FF2B5EF4-FFF2-40B4-BE49-F238E27FC236}">
                <a16:creationId xmlns:a16="http://schemas.microsoft.com/office/drawing/2014/main" id="{174A544B-B834-95A5-74C5-ABCB81B20E4B}"/>
              </a:ext>
            </a:extLst>
          </p:cNvPr>
          <p:cNvGrpSpPr/>
          <p:nvPr/>
        </p:nvGrpSpPr>
        <p:grpSpPr>
          <a:xfrm>
            <a:off x="3190122" y="1506471"/>
            <a:ext cx="5794340" cy="430887"/>
            <a:chOff x="1666121" y="2235594"/>
            <a:chExt cx="5794340" cy="43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AD84F1E-6D24-6685-C144-C561B5929F6E}"/>
                    </a:ext>
                  </a:extLst>
                </p:cNvPr>
                <p:cNvSpPr txBox="1"/>
                <p:nvPr/>
              </p:nvSpPr>
              <p:spPr>
                <a:xfrm>
                  <a:off x="1666121" y="2235594"/>
                  <a:ext cx="283462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" altLang="zh-CN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𝑥𝐺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AD84F1E-6D24-6685-C144-C561B5929F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6121" y="2235594"/>
                  <a:ext cx="2834622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600CCCE-475F-EB90-0CD2-72EBF117996D}"/>
                    </a:ext>
                  </a:extLst>
                </p:cNvPr>
                <p:cNvSpPr txBox="1"/>
                <p:nvPr/>
              </p:nvSpPr>
              <p:spPr>
                <a:xfrm>
                  <a:off x="5592129" y="2235594"/>
                  <a:ext cx="186833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600CCCE-475F-EB90-0CD2-72EBF11799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129" y="2235594"/>
                  <a:ext cx="1868332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CC21D72-F6CD-32F7-5DFA-7F7D4BD2B7EA}"/>
                </a:ext>
              </a:extLst>
            </p:cNvPr>
            <p:cNvSpPr txBox="1"/>
            <p:nvPr/>
          </p:nvSpPr>
          <p:spPr>
            <a:xfrm>
              <a:off x="4897418" y="2318799"/>
              <a:ext cx="798393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其中</a:t>
              </a:r>
              <a:r>
                <a:rPr kumimoji="1"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,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1DF1ADF-BDD6-4F41-4C83-194B69AC3DA3}"/>
              </a:ext>
            </a:extLst>
          </p:cNvPr>
          <p:cNvGrpSpPr/>
          <p:nvPr/>
        </p:nvGrpSpPr>
        <p:grpSpPr>
          <a:xfrm>
            <a:off x="4321076" y="1010928"/>
            <a:ext cx="3959967" cy="495543"/>
            <a:chOff x="2797075" y="1740051"/>
            <a:chExt cx="3959967" cy="495543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2E06B2C-0BC9-4071-A48C-9AA53564DB44}"/>
                </a:ext>
              </a:extLst>
            </p:cNvPr>
            <p:cNvSpPr txBox="1"/>
            <p:nvPr/>
          </p:nvSpPr>
          <p:spPr>
            <a:xfrm>
              <a:off x="3420160" y="174610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有限域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2FF9C76-EA2E-CB47-916D-DA627289F2B5}"/>
                </a:ext>
              </a:extLst>
            </p:cNvPr>
            <p:cNvSpPr txBox="1"/>
            <p:nvPr/>
          </p:nvSpPr>
          <p:spPr>
            <a:xfrm>
              <a:off x="2797075" y="174610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基点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BDD2C72-6FF0-49CB-C434-CDD03611168A}"/>
                </a:ext>
              </a:extLst>
            </p:cNvPr>
            <p:cNvSpPr txBox="1"/>
            <p:nvPr/>
          </p:nvSpPr>
          <p:spPr>
            <a:xfrm>
              <a:off x="5958649" y="1740051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离散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线箭头连接符 37">
              <a:extLst>
                <a:ext uri="{FF2B5EF4-FFF2-40B4-BE49-F238E27FC236}">
                  <a16:creationId xmlns:a16="http://schemas.microsoft.com/office/drawing/2014/main" id="{771C0987-45EE-05A5-5F28-C6BC9126EA93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3196272" y="2060033"/>
              <a:ext cx="0" cy="1695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箭头连接符 42">
              <a:extLst>
                <a:ext uri="{FF2B5EF4-FFF2-40B4-BE49-F238E27FC236}">
                  <a16:creationId xmlns:a16="http://schemas.microsoft.com/office/drawing/2014/main" id="{2729D663-E497-A1DF-4C75-A5A83B7FA4E9}"/>
                </a:ext>
              </a:extLst>
            </p:cNvPr>
            <p:cNvCxnSpPr>
              <a:cxnSpLocks/>
            </p:cNvCxnSpPr>
            <p:nvPr/>
          </p:nvCxnSpPr>
          <p:spPr>
            <a:xfrm>
              <a:off x="3822635" y="2060033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箭头连接符 45">
              <a:extLst>
                <a:ext uri="{FF2B5EF4-FFF2-40B4-BE49-F238E27FC236}">
                  <a16:creationId xmlns:a16="http://schemas.microsoft.com/office/drawing/2014/main" id="{BF77FBF5-AAB1-9A0B-9432-7D8E5300FC8B}"/>
                </a:ext>
              </a:extLst>
            </p:cNvPr>
            <p:cNvCxnSpPr>
              <a:cxnSpLocks/>
            </p:cNvCxnSpPr>
            <p:nvPr/>
          </p:nvCxnSpPr>
          <p:spPr>
            <a:xfrm>
              <a:off x="6354813" y="2044336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2957A880-CEA2-7F65-26C9-F1CB1CC1E166}"/>
              </a:ext>
            </a:extLst>
          </p:cNvPr>
          <p:cNvGrpSpPr/>
          <p:nvPr/>
        </p:nvGrpSpPr>
        <p:grpSpPr>
          <a:xfrm>
            <a:off x="4069442" y="1975634"/>
            <a:ext cx="1984722" cy="567410"/>
            <a:chOff x="2545442" y="2704758"/>
            <a:chExt cx="1984722" cy="567410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D1ADD1CF-58E5-363E-A11D-BE3154820246}"/>
                </a:ext>
              </a:extLst>
            </p:cNvPr>
            <p:cNvSpPr txBox="1"/>
            <p:nvPr/>
          </p:nvSpPr>
          <p:spPr>
            <a:xfrm>
              <a:off x="3731771" y="2958236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大素数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F497A56-422B-41AE-E93B-E51CADF1EE2B}"/>
                </a:ext>
              </a:extLst>
            </p:cNvPr>
            <p:cNvSpPr txBox="1"/>
            <p:nvPr/>
          </p:nvSpPr>
          <p:spPr>
            <a:xfrm>
              <a:off x="2545442" y="2958236"/>
              <a:ext cx="798393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sz="1600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倍率</a:t>
              </a:r>
              <a:endParaRPr kumimoji="1" lang="en-US" altLang="zh-CN" sz="16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2" name="直线箭头连接符 51">
              <a:extLst>
                <a:ext uri="{FF2B5EF4-FFF2-40B4-BE49-F238E27FC236}">
                  <a16:creationId xmlns:a16="http://schemas.microsoft.com/office/drawing/2014/main" id="{D3B7C5A1-9921-9361-8896-CA8B9EA9F219}"/>
                </a:ext>
              </a:extLst>
            </p:cNvPr>
            <p:cNvCxnSpPr>
              <a:cxnSpLocks/>
            </p:cNvCxnSpPr>
            <p:nvPr/>
          </p:nvCxnSpPr>
          <p:spPr>
            <a:xfrm>
              <a:off x="2957718" y="2708477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箭头连接符 60">
              <a:extLst>
                <a:ext uri="{FF2B5EF4-FFF2-40B4-BE49-F238E27FC236}">
                  <a16:creationId xmlns:a16="http://schemas.microsoft.com/office/drawing/2014/main" id="{043F78DA-C039-B8BA-A5DC-41053EE711A4}"/>
                </a:ext>
              </a:extLst>
            </p:cNvPr>
            <p:cNvCxnSpPr>
              <a:cxnSpLocks/>
            </p:cNvCxnSpPr>
            <p:nvPr/>
          </p:nvCxnSpPr>
          <p:spPr>
            <a:xfrm>
              <a:off x="4218553" y="2704758"/>
              <a:ext cx="0" cy="17556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68DFCDF1-BED1-A313-BED5-62C9140AFA83}"/>
              </a:ext>
            </a:extLst>
          </p:cNvPr>
          <p:cNvSpPr txBox="1"/>
          <p:nvPr/>
        </p:nvSpPr>
        <p:spPr>
          <a:xfrm>
            <a:off x="2098330" y="3540299"/>
            <a:ext cx="8569671" cy="28623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71E9682-957B-4DDC-8941-C7989440B1C3}"/>
              </a:ext>
            </a:extLst>
          </p:cNvPr>
          <p:cNvSpPr txBox="1"/>
          <p:nvPr/>
        </p:nvSpPr>
        <p:spPr>
          <a:xfrm>
            <a:off x="1524001" y="3540299"/>
            <a:ext cx="574328" cy="2862322"/>
          </a:xfrm>
          <a:prstGeom prst="rect">
            <a:avLst/>
          </a:prstGeom>
          <a:solidFill>
            <a:srgbClr val="DBE4F4"/>
          </a:solidFill>
        </p:spPr>
        <p:txBody>
          <a:bodyPr wrap="square" rtlCol="0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单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向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性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 defTabSz="914377">
              <a:lnSpc>
                <a:spcPct val="90000"/>
              </a:lnSpc>
              <a:spcBef>
                <a:spcPct val="0"/>
              </a:spcBef>
            </a:pP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4B51B94-D57C-DB66-C3A4-8C3D3D488C23}"/>
              </a:ext>
            </a:extLst>
          </p:cNvPr>
          <p:cNvSpPr txBox="1"/>
          <p:nvPr/>
        </p:nvSpPr>
        <p:spPr>
          <a:xfrm>
            <a:off x="1524001" y="2557009"/>
            <a:ext cx="574328" cy="923330"/>
          </a:xfrm>
          <a:prstGeom prst="rect">
            <a:avLst/>
          </a:prstGeom>
          <a:solidFill>
            <a:srgbClr val="DBE4F4"/>
          </a:solidFill>
        </p:spPr>
        <p:txBody>
          <a:bodyPr wrap="square" rtlCol="0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</a:pPr>
            <a:r>
              <a:rPr kumimoji="1"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交换律</a:t>
            </a:r>
            <a:endParaRPr kumimoji="1" lang="en-US" altLang="zh-CN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E7C036B-86B6-420F-DFF7-5863A788BBF9}"/>
              </a:ext>
            </a:extLst>
          </p:cNvPr>
          <p:cNvGrpSpPr/>
          <p:nvPr/>
        </p:nvGrpSpPr>
        <p:grpSpPr>
          <a:xfrm>
            <a:off x="2098329" y="2557009"/>
            <a:ext cx="8569671" cy="923330"/>
            <a:chOff x="574328" y="2557009"/>
            <a:chExt cx="8569671" cy="923330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8B334457-2EE6-4EA2-94A9-80F483A7219D}"/>
                </a:ext>
              </a:extLst>
            </p:cNvPr>
            <p:cNvSpPr txBox="1"/>
            <p:nvPr/>
          </p:nvSpPr>
          <p:spPr>
            <a:xfrm>
              <a:off x="574328" y="2557009"/>
              <a:ext cx="8569671" cy="92333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endParaRPr kumimoji="1"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B04AD9D-5CFA-DEB2-2950-415BD5072663}"/>
                    </a:ext>
                  </a:extLst>
                </p:cNvPr>
                <p:cNvSpPr txBox="1"/>
                <p:nvPr/>
              </p:nvSpPr>
              <p:spPr>
                <a:xfrm>
                  <a:off x="3291170" y="2864785"/>
                  <a:ext cx="313598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𝑎𝐺</m:t>
                      </m:r>
                      <m:r>
                        <a:rPr kumimoji="1" lang="en-US" altLang="zh-CN" sz="20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en-US" altLang="zh-CN" sz="20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kumimoji="1"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en-US" altLang="zh-CN" sz="200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kumimoji="1" lang="en-US" altLang="zh-CN" sz="2000" i="1" dirty="0"/>
                    <a:t> </a:t>
                  </a:r>
                  <a:endParaRPr kumimoji="1" lang="zh-CN" altLang="en-US" sz="2000" i="1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B04AD9D-5CFA-DEB2-2950-415BD5072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170" y="2864785"/>
                  <a:ext cx="3135987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2918" b="-4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FBD1057-E989-54AA-950A-99801D82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33</a:t>
            </a:fld>
            <a:endParaRPr 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C16615-FC96-083F-3DF9-78728DBFDBEC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有限域上的椭圆曲线离散对数问题</a:t>
            </a:r>
          </a:p>
          <a:p>
            <a:endParaRPr lang="zh-CN" altLang="en-US" sz="3600" b="1" dirty="0">
              <a:solidFill>
                <a:srgbClr val="2A50A1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26BCF34-3D12-AD47-3374-7430427196EC}"/>
              </a:ext>
            </a:extLst>
          </p:cNvPr>
          <p:cNvGrpSpPr/>
          <p:nvPr/>
        </p:nvGrpSpPr>
        <p:grpSpPr>
          <a:xfrm>
            <a:off x="7007341" y="97795"/>
            <a:ext cx="425713" cy="442041"/>
            <a:chOff x="5823870" y="1767426"/>
            <a:chExt cx="425713" cy="442041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88FF347D-D449-62A8-ABF7-CCF9E8EDE2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6683C779-2C42-4609-78BE-F765CBC7B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2">
                <a:extLst>
                  <a:ext uri="{FF2B5EF4-FFF2-40B4-BE49-F238E27FC236}">
                    <a16:creationId xmlns:a16="http://schemas.microsoft.com/office/drawing/2014/main" id="{18760398-97B6-D865-696D-39E5334290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7AF3162F-8669-6097-D852-CED21B49E6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CFFD8795-BC1E-4808-0CB2-03D11C7CF3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E0D8CF55-C073-ABB8-9B00-19A270E24A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DE3AC9B-B0C1-E097-9EE8-36B0C512A172}"/>
              </a:ext>
            </a:extLst>
          </p:cNvPr>
          <p:cNvGrpSpPr/>
          <p:nvPr/>
        </p:nvGrpSpPr>
        <p:grpSpPr>
          <a:xfrm>
            <a:off x="6535964" y="3645826"/>
            <a:ext cx="2685700" cy="2651268"/>
            <a:chOff x="6669927" y="1880372"/>
            <a:chExt cx="4317049" cy="4261702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4F16317D-82FB-E4D8-9091-D582DD297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69927" y="1880372"/>
              <a:ext cx="4317049" cy="4261702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27F29EFB-0381-F811-5D6F-F0C9E00A8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58820" y="5068185"/>
              <a:ext cx="463468" cy="704471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2B758F67-D9E9-DF55-3407-EFBAF8D85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53657" y="3214576"/>
              <a:ext cx="463468" cy="704471"/>
            </a:xfrm>
            <a:prstGeom prst="rect">
              <a:avLst/>
            </a:prstGeom>
          </p:spPr>
        </p:pic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C43A792E-4532-DAA9-762F-E00CACB988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3703" y="3645827"/>
            <a:ext cx="2852297" cy="265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8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D78A-BA7F-284A-3CFB-784B08B14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D02C757B-E7F4-043A-F36D-A0EEAEEC8156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47A392-8CE9-0D6A-D374-ACEE2ADBBA4C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2E464824-22A4-1D52-2E30-3AF9F3FF825D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4B0624A7-398E-A347-1B6C-6FFA39D675E7}"/>
              </a:ext>
            </a:extLst>
          </p:cNvPr>
          <p:cNvSpPr txBox="1"/>
          <p:nvPr/>
        </p:nvSpPr>
        <p:spPr>
          <a:xfrm>
            <a:off x="1567652" y="1675454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63A70E2E-6B21-BE97-4717-CBD80094F65C}"/>
              </a:ext>
            </a:extLst>
          </p:cNvPr>
          <p:cNvSpPr txBox="1"/>
          <p:nvPr/>
        </p:nvSpPr>
        <p:spPr>
          <a:xfrm>
            <a:off x="2973028" y="1675454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C211D013-5550-C2F9-55CB-D3A6410CC0F6}"/>
              </a:ext>
            </a:extLst>
          </p:cNvPr>
          <p:cNvSpPr txBox="1"/>
          <p:nvPr/>
        </p:nvSpPr>
        <p:spPr>
          <a:xfrm>
            <a:off x="7808547" y="1669833"/>
            <a:ext cx="1405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公开信息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DBA52239-8D04-8DE8-CE94-9AD79A093FD6}"/>
              </a:ext>
            </a:extLst>
          </p:cNvPr>
          <p:cNvSpPr txBox="1"/>
          <p:nvPr/>
        </p:nvSpPr>
        <p:spPr>
          <a:xfrm>
            <a:off x="9213923" y="1669833"/>
            <a:ext cx="1405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私密信息</a:t>
            </a:r>
          </a:p>
        </p:txBody>
      </p:sp>
      <p:cxnSp>
        <p:nvCxnSpPr>
          <p:cNvPr id="217" name="直线箭头连接符 216">
            <a:extLst>
              <a:ext uri="{FF2B5EF4-FFF2-40B4-BE49-F238E27FC236}">
                <a16:creationId xmlns:a16="http://schemas.microsoft.com/office/drawing/2014/main" id="{846DA81D-AF2A-94BF-9F9F-2D2A66BEBC7E}"/>
              </a:ext>
            </a:extLst>
          </p:cNvPr>
          <p:cNvCxnSpPr>
            <a:cxnSpLocks/>
            <a:stCxn id="15" idx="2"/>
            <a:endCxn id="226" idx="0"/>
          </p:cNvCxnSpPr>
          <p:nvPr/>
        </p:nvCxnSpPr>
        <p:spPr>
          <a:xfrm>
            <a:off x="2262233" y="2666559"/>
            <a:ext cx="1416266" cy="30400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线箭头连接符 218">
            <a:extLst>
              <a:ext uri="{FF2B5EF4-FFF2-40B4-BE49-F238E27FC236}">
                <a16:creationId xmlns:a16="http://schemas.microsoft.com/office/drawing/2014/main" id="{34F406B0-B110-F3DB-6C15-B936B6FB3BA3}"/>
              </a:ext>
            </a:extLst>
          </p:cNvPr>
          <p:cNvCxnSpPr>
            <a:cxnSpLocks/>
            <a:stCxn id="28" idx="2"/>
            <a:endCxn id="226" idx="0"/>
          </p:cNvCxnSpPr>
          <p:nvPr/>
        </p:nvCxnSpPr>
        <p:spPr>
          <a:xfrm>
            <a:off x="3434609" y="2669664"/>
            <a:ext cx="243890" cy="30090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文本框 225">
            <a:extLst>
              <a:ext uri="{FF2B5EF4-FFF2-40B4-BE49-F238E27FC236}">
                <a16:creationId xmlns:a16="http://schemas.microsoft.com/office/drawing/2014/main" id="{B28274E2-D9CF-E190-F4E5-D0897EDC9434}"/>
              </a:ext>
            </a:extLst>
          </p:cNvPr>
          <p:cNvSpPr txBox="1"/>
          <p:nvPr/>
        </p:nvSpPr>
        <p:spPr>
          <a:xfrm>
            <a:off x="3446753" y="2970568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33E9F669-C74F-7588-4AF3-3C2B8ACB88F6}"/>
              </a:ext>
            </a:extLst>
          </p:cNvPr>
          <p:cNvSpPr txBox="1"/>
          <p:nvPr/>
        </p:nvSpPr>
        <p:spPr>
          <a:xfrm>
            <a:off x="2033297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A8CE6ED0-4DF1-07B0-40C9-ACAA4C812798}"/>
              </a:ext>
            </a:extLst>
          </p:cNvPr>
          <p:cNvSpPr txBox="1"/>
          <p:nvPr/>
        </p:nvSpPr>
        <p:spPr>
          <a:xfrm>
            <a:off x="8325410" y="2966479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F3A4F536-EEDF-9E1C-3D7C-95534CDE8EAF}"/>
              </a:ext>
            </a:extLst>
          </p:cNvPr>
          <p:cNvSpPr txBox="1"/>
          <p:nvPr/>
        </p:nvSpPr>
        <p:spPr>
          <a:xfrm>
            <a:off x="9692988" y="5191954"/>
            <a:ext cx="4634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计算</a:t>
            </a:r>
          </a:p>
        </p:txBody>
      </p:sp>
      <p:cxnSp>
        <p:nvCxnSpPr>
          <p:cNvPr id="289" name="直线箭头连接符 288">
            <a:extLst>
              <a:ext uri="{FF2B5EF4-FFF2-40B4-BE49-F238E27FC236}">
                <a16:creationId xmlns:a16="http://schemas.microsoft.com/office/drawing/2014/main" id="{F63F5F26-308D-B74F-0576-A387E3FEBF48}"/>
              </a:ext>
            </a:extLst>
          </p:cNvPr>
          <p:cNvCxnSpPr>
            <a:cxnSpLocks/>
            <a:endCxn id="235" idx="0"/>
          </p:cNvCxnSpPr>
          <p:nvPr/>
        </p:nvCxnSpPr>
        <p:spPr>
          <a:xfrm>
            <a:off x="2263627" y="5002033"/>
            <a:ext cx="1416" cy="189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线箭头连接符 291">
            <a:extLst>
              <a:ext uri="{FF2B5EF4-FFF2-40B4-BE49-F238E27FC236}">
                <a16:creationId xmlns:a16="http://schemas.microsoft.com/office/drawing/2014/main" id="{0C626F43-4F6B-378B-A7F1-35D1E0498520}"/>
              </a:ext>
            </a:extLst>
          </p:cNvPr>
          <p:cNvCxnSpPr>
            <a:cxnSpLocks/>
            <a:endCxn id="235" idx="0"/>
          </p:cNvCxnSpPr>
          <p:nvPr/>
        </p:nvCxnSpPr>
        <p:spPr>
          <a:xfrm flipH="1">
            <a:off x="2265043" y="5013257"/>
            <a:ext cx="1409914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线箭头连接符 296">
            <a:extLst>
              <a:ext uri="{FF2B5EF4-FFF2-40B4-BE49-F238E27FC236}">
                <a16:creationId xmlns:a16="http://schemas.microsoft.com/office/drawing/2014/main" id="{6CD6C1BC-0D0B-20FC-475A-01BC4697CFC1}"/>
              </a:ext>
            </a:extLst>
          </p:cNvPr>
          <p:cNvCxnSpPr>
            <a:cxnSpLocks/>
            <a:stCxn id="226" idx="2"/>
            <a:endCxn id="35" idx="0"/>
          </p:cNvCxnSpPr>
          <p:nvPr/>
        </p:nvCxnSpPr>
        <p:spPr>
          <a:xfrm>
            <a:off x="3678499" y="3216789"/>
            <a:ext cx="11938" cy="24590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线箭头连接符 299">
            <a:extLst>
              <a:ext uri="{FF2B5EF4-FFF2-40B4-BE49-F238E27FC236}">
                <a16:creationId xmlns:a16="http://schemas.microsoft.com/office/drawing/2014/main" id="{79E6A3BC-CCC2-C773-66EA-921609691B01}"/>
              </a:ext>
            </a:extLst>
          </p:cNvPr>
          <p:cNvCxnSpPr>
            <a:cxnSpLocks/>
            <a:stCxn id="235" idx="2"/>
          </p:cNvCxnSpPr>
          <p:nvPr/>
        </p:nvCxnSpPr>
        <p:spPr>
          <a:xfrm>
            <a:off x="2265043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线箭头连接符 302">
            <a:extLst>
              <a:ext uri="{FF2B5EF4-FFF2-40B4-BE49-F238E27FC236}">
                <a16:creationId xmlns:a16="http://schemas.microsoft.com/office/drawing/2014/main" id="{1917D4EC-0A32-5A73-F399-32FACDA8B000}"/>
              </a:ext>
            </a:extLst>
          </p:cNvPr>
          <p:cNvCxnSpPr>
            <a:cxnSpLocks/>
            <a:stCxn id="16" idx="2"/>
            <a:endCxn id="242" idx="0"/>
          </p:cNvCxnSpPr>
          <p:nvPr/>
        </p:nvCxnSpPr>
        <p:spPr>
          <a:xfrm flipH="1">
            <a:off x="8557156" y="2666558"/>
            <a:ext cx="1401196" cy="2999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线箭头连接符 305">
            <a:extLst>
              <a:ext uri="{FF2B5EF4-FFF2-40B4-BE49-F238E27FC236}">
                <a16:creationId xmlns:a16="http://schemas.microsoft.com/office/drawing/2014/main" id="{43F432B8-2EBE-8227-3EC7-7236C4EAF974}"/>
              </a:ext>
            </a:extLst>
          </p:cNvPr>
          <p:cNvCxnSpPr>
            <a:cxnSpLocks/>
            <a:stCxn id="32" idx="2"/>
            <a:endCxn id="242" idx="0"/>
          </p:cNvCxnSpPr>
          <p:nvPr/>
        </p:nvCxnSpPr>
        <p:spPr>
          <a:xfrm>
            <a:off x="8367953" y="2670799"/>
            <a:ext cx="189203" cy="2956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线箭头连接符 308">
            <a:extLst>
              <a:ext uri="{FF2B5EF4-FFF2-40B4-BE49-F238E27FC236}">
                <a16:creationId xmlns:a16="http://schemas.microsoft.com/office/drawing/2014/main" id="{EF97677A-C342-7CD7-C9F6-F6C2D5379886}"/>
              </a:ext>
            </a:extLst>
          </p:cNvPr>
          <p:cNvCxnSpPr>
            <a:cxnSpLocks/>
            <a:stCxn id="242" idx="2"/>
            <a:endCxn id="36" idx="0"/>
          </p:cNvCxnSpPr>
          <p:nvPr/>
        </p:nvCxnSpPr>
        <p:spPr>
          <a:xfrm>
            <a:off x="8557156" y="3212700"/>
            <a:ext cx="13883" cy="24254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线箭头连接符 311">
            <a:extLst>
              <a:ext uri="{FF2B5EF4-FFF2-40B4-BE49-F238E27FC236}">
                <a16:creationId xmlns:a16="http://schemas.microsoft.com/office/drawing/2014/main" id="{0A4A622A-2977-2320-7FE8-ACE892409F2E}"/>
              </a:ext>
            </a:extLst>
          </p:cNvPr>
          <p:cNvCxnSpPr>
            <a:cxnSpLocks/>
            <a:endCxn id="243" idx="0"/>
          </p:cNvCxnSpPr>
          <p:nvPr/>
        </p:nvCxnSpPr>
        <p:spPr>
          <a:xfrm>
            <a:off x="9921968" y="5013257"/>
            <a:ext cx="276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线箭头连接符 314">
            <a:extLst>
              <a:ext uri="{FF2B5EF4-FFF2-40B4-BE49-F238E27FC236}">
                <a16:creationId xmlns:a16="http://schemas.microsoft.com/office/drawing/2014/main" id="{A3EB69D8-2C70-8F50-FE5F-504A7B32FA5A}"/>
              </a:ext>
            </a:extLst>
          </p:cNvPr>
          <p:cNvCxnSpPr>
            <a:cxnSpLocks/>
            <a:endCxn id="243" idx="0"/>
          </p:cNvCxnSpPr>
          <p:nvPr/>
        </p:nvCxnSpPr>
        <p:spPr>
          <a:xfrm>
            <a:off x="8549958" y="5013257"/>
            <a:ext cx="1374776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线箭头连接符 317">
            <a:extLst>
              <a:ext uri="{FF2B5EF4-FFF2-40B4-BE49-F238E27FC236}">
                <a16:creationId xmlns:a16="http://schemas.microsoft.com/office/drawing/2014/main" id="{2D42104F-65E9-9986-E3B8-AFE28E448E16}"/>
              </a:ext>
            </a:extLst>
          </p:cNvPr>
          <p:cNvCxnSpPr>
            <a:cxnSpLocks/>
            <a:stCxn id="243" idx="2"/>
          </p:cNvCxnSpPr>
          <p:nvPr/>
        </p:nvCxnSpPr>
        <p:spPr>
          <a:xfrm>
            <a:off x="9924734" y="5438175"/>
            <a:ext cx="2" cy="178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328">
            <a:extLst>
              <a:ext uri="{FF2B5EF4-FFF2-40B4-BE49-F238E27FC236}">
                <a16:creationId xmlns:a16="http://schemas.microsoft.com/office/drawing/2014/main" id="{9708447F-85DA-755F-E6FC-E594CB691CF6}"/>
              </a:ext>
            </a:extLst>
          </p:cNvPr>
          <p:cNvSpPr txBox="1"/>
          <p:nvPr/>
        </p:nvSpPr>
        <p:spPr>
          <a:xfrm>
            <a:off x="1508638" y="225463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62A663B1-4EAC-80D4-7298-F60DE0673FF1}"/>
              </a:ext>
            </a:extLst>
          </p:cNvPr>
          <p:cNvSpPr txBox="1"/>
          <p:nvPr/>
        </p:nvSpPr>
        <p:spPr>
          <a:xfrm>
            <a:off x="1508637" y="345071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9CA4FAB7-1921-101A-CFF1-4E48A4DDF6EC}"/>
              </a:ext>
            </a:extLst>
          </p:cNvPr>
          <p:cNvSpPr txBox="1"/>
          <p:nvPr/>
        </p:nvSpPr>
        <p:spPr>
          <a:xfrm>
            <a:off x="1508637" y="451741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168068AF-84DB-AD17-D4D6-2BC7A6EF6457}"/>
              </a:ext>
            </a:extLst>
          </p:cNvPr>
          <p:cNvSpPr txBox="1"/>
          <p:nvPr/>
        </p:nvSpPr>
        <p:spPr>
          <a:xfrm>
            <a:off x="10248356" y="2235671"/>
            <a:ext cx="41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①</a:t>
            </a:r>
            <a:endParaRPr lang="zh-CN" altLang="en-US" dirty="0"/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ED324FEC-B8F9-53CA-5AB1-8A2743434D5B}"/>
              </a:ext>
            </a:extLst>
          </p:cNvPr>
          <p:cNvSpPr txBox="1"/>
          <p:nvPr/>
        </p:nvSpPr>
        <p:spPr>
          <a:xfrm>
            <a:off x="10248355" y="3431750"/>
            <a:ext cx="3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②</a:t>
            </a:r>
            <a:endParaRPr lang="zh-CN" altLang="en-US" dirty="0"/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398DF76D-3152-A916-B0AE-567F7060A8B1}"/>
              </a:ext>
            </a:extLst>
          </p:cNvPr>
          <p:cNvSpPr txBox="1"/>
          <p:nvPr/>
        </p:nvSpPr>
        <p:spPr>
          <a:xfrm>
            <a:off x="10248355" y="4498451"/>
            <a:ext cx="380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  <p:sp>
        <p:nvSpPr>
          <p:cNvPr id="339" name="右箭头 338">
            <a:extLst>
              <a:ext uri="{FF2B5EF4-FFF2-40B4-BE49-F238E27FC236}">
                <a16:creationId xmlns:a16="http://schemas.microsoft.com/office/drawing/2014/main" id="{A0F21F3D-0A6B-A6B1-2263-F75D13F3F4B3}"/>
              </a:ext>
            </a:extLst>
          </p:cNvPr>
          <p:cNvSpPr/>
          <p:nvPr/>
        </p:nvSpPr>
        <p:spPr>
          <a:xfrm>
            <a:off x="4031160" y="2410307"/>
            <a:ext cx="4169652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1" name="右箭头 340">
            <a:extLst>
              <a:ext uri="{FF2B5EF4-FFF2-40B4-BE49-F238E27FC236}">
                <a16:creationId xmlns:a16="http://schemas.microsoft.com/office/drawing/2014/main" id="{A8A993AA-79D3-9C3B-85B7-61C2E2FE7DA2}"/>
              </a:ext>
            </a:extLst>
          </p:cNvPr>
          <p:cNvSpPr/>
          <p:nvPr/>
        </p:nvSpPr>
        <p:spPr>
          <a:xfrm rot="10079758">
            <a:off x="3992528" y="4251057"/>
            <a:ext cx="4246916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0" name="右箭头 339">
            <a:extLst>
              <a:ext uri="{FF2B5EF4-FFF2-40B4-BE49-F238E27FC236}">
                <a16:creationId xmlns:a16="http://schemas.microsoft.com/office/drawing/2014/main" id="{95DD11D3-44E9-C6F9-F8C3-07FEEAA5B1DE}"/>
              </a:ext>
            </a:extLst>
          </p:cNvPr>
          <p:cNvSpPr/>
          <p:nvPr/>
        </p:nvSpPr>
        <p:spPr>
          <a:xfrm rot="723826">
            <a:off x="4000250" y="4214558"/>
            <a:ext cx="4246916" cy="15297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57D25200-F726-86A6-4B1E-41E3EEDF6735}"/>
              </a:ext>
            </a:extLst>
          </p:cNvPr>
          <p:cNvSpPr/>
          <p:nvPr/>
        </p:nvSpPr>
        <p:spPr>
          <a:xfrm>
            <a:off x="5434895" y="5720556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31FF3477-04EE-FA02-149F-4AA0ADD65335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A3CB88A2-35D1-13CF-A024-7E25B48F7332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4CB33D0-7F1A-13EA-BC41-466631C6A64B}"/>
              </a:ext>
            </a:extLst>
          </p:cNvPr>
          <p:cNvSpPr txBox="1"/>
          <p:nvPr/>
        </p:nvSpPr>
        <p:spPr>
          <a:xfrm>
            <a:off x="2082696" y="2174116"/>
            <a:ext cx="35907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倍数</a:t>
            </a:r>
            <a:endParaRPr kumimoji="1"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4F18ACB-AC71-88CB-FF40-25620B168B5D}"/>
              </a:ext>
            </a:extLst>
          </p:cNvPr>
          <p:cNvSpPr txBox="1"/>
          <p:nvPr/>
        </p:nvSpPr>
        <p:spPr>
          <a:xfrm>
            <a:off x="9778816" y="2174115"/>
            <a:ext cx="359073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倍数</a:t>
            </a:r>
            <a:endParaRPr kumimoji="1"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926A3B3-A4D8-719C-613C-48274A2D5A38}"/>
              </a:ext>
            </a:extLst>
          </p:cNvPr>
          <p:cNvGrpSpPr/>
          <p:nvPr/>
        </p:nvGrpSpPr>
        <p:grpSpPr>
          <a:xfrm>
            <a:off x="3218527" y="2174114"/>
            <a:ext cx="805933" cy="495550"/>
            <a:chOff x="1694526" y="2174114"/>
            <a:chExt cx="805933" cy="49555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E92F110-D592-9D4C-CCCE-3F85486B1554}"/>
                </a:ext>
              </a:extLst>
            </p:cNvPr>
            <p:cNvGrpSpPr/>
            <p:nvPr/>
          </p:nvGrpSpPr>
          <p:grpSpPr>
            <a:xfrm>
              <a:off x="1694526" y="2174114"/>
              <a:ext cx="805933" cy="492443"/>
              <a:chOff x="1694526" y="2174114"/>
              <a:chExt cx="805933" cy="492443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F71D2ED-55BD-D987-736C-A139D89FE939}"/>
                  </a:ext>
                </a:extLst>
              </p:cNvPr>
              <p:cNvSpPr txBox="1"/>
              <p:nvPr/>
            </p:nvSpPr>
            <p:spPr>
              <a:xfrm>
                <a:off x="1694526" y="2174114"/>
                <a:ext cx="3590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起点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E3BC74A-EE25-AB0E-A939-78335E7F1381}"/>
                  </a:ext>
                </a:extLst>
              </p:cNvPr>
              <p:cNvSpPr txBox="1"/>
              <p:nvPr/>
            </p:nvSpPr>
            <p:spPr>
              <a:xfrm>
                <a:off x="2141386" y="2174114"/>
                <a:ext cx="359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47818793-EDC5-BE37-BF1B-4DB5B72DE9A4}"/>
                    </a:ext>
                  </a:extLst>
                </p:cNvPr>
                <p:cNvSpPr txBox="1"/>
                <p:nvPr/>
              </p:nvSpPr>
              <p:spPr>
                <a:xfrm>
                  <a:off x="1800546" y="2392665"/>
                  <a:ext cx="2201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47818793-EDC5-BE37-BF1B-4DB5B72DE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546" y="2392665"/>
                  <a:ext cx="22012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2222" r="-19444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80790EB-D9C9-275C-0674-460B30C694B0}"/>
              </a:ext>
            </a:extLst>
          </p:cNvPr>
          <p:cNvGrpSpPr/>
          <p:nvPr/>
        </p:nvGrpSpPr>
        <p:grpSpPr>
          <a:xfrm>
            <a:off x="8151871" y="2175249"/>
            <a:ext cx="805933" cy="495550"/>
            <a:chOff x="1694526" y="2174114"/>
            <a:chExt cx="805933" cy="495550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C257188-0B2E-65E9-A254-B154433E60B3}"/>
                </a:ext>
              </a:extLst>
            </p:cNvPr>
            <p:cNvGrpSpPr/>
            <p:nvPr/>
          </p:nvGrpSpPr>
          <p:grpSpPr>
            <a:xfrm>
              <a:off x="1694526" y="2174114"/>
              <a:ext cx="805933" cy="492443"/>
              <a:chOff x="1694526" y="2174114"/>
              <a:chExt cx="805933" cy="492443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D139A36-2AED-F857-EEAC-63C390DF1656}"/>
                  </a:ext>
                </a:extLst>
              </p:cNvPr>
              <p:cNvSpPr txBox="1"/>
              <p:nvPr/>
            </p:nvSpPr>
            <p:spPr>
              <a:xfrm>
                <a:off x="1694526" y="2174114"/>
                <a:ext cx="3590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起点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AD2B0AC-5995-D9C1-7D54-643B88F09957}"/>
                  </a:ext>
                </a:extLst>
              </p:cNvPr>
              <p:cNvSpPr txBox="1"/>
              <p:nvPr/>
            </p:nvSpPr>
            <p:spPr>
              <a:xfrm>
                <a:off x="2141386" y="2174114"/>
                <a:ext cx="359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素数</a:t>
                </a:r>
                <a:endParaRPr kumimoji="1"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kumimoji="1"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kumimoji="1"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DF7B107-E8B8-17B3-65C9-26FC02E25477}"/>
                    </a:ext>
                  </a:extLst>
                </p:cNvPr>
                <p:cNvSpPr txBox="1"/>
                <p:nvPr/>
              </p:nvSpPr>
              <p:spPr>
                <a:xfrm>
                  <a:off x="1800546" y="2392665"/>
                  <a:ext cx="2201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4DF7B107-E8B8-17B3-65C9-26FC02E25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546" y="2392665"/>
                  <a:ext cx="22012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000" r="-16667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9EF49D0-1D15-F845-9354-46E1BEA00DAD}"/>
                  </a:ext>
                </a:extLst>
              </p:cNvPr>
              <p:cNvSpPr txBox="1"/>
              <p:nvPr/>
            </p:nvSpPr>
            <p:spPr>
              <a:xfrm>
                <a:off x="3152565" y="3462696"/>
                <a:ext cx="1075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𝑎𝐺</m:t>
                      </m:r>
                      <m:r>
                        <a:rPr kumimoji="1"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9EF49D0-1D15-F845-9354-46E1BEA00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565" y="3462696"/>
                <a:ext cx="1075744" cy="276999"/>
              </a:xfrm>
              <a:prstGeom prst="rect">
                <a:avLst/>
              </a:prstGeom>
              <a:blipFill>
                <a:blip r:embed="rId5"/>
                <a:stretch>
                  <a:fillRect l="-3955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A9F4C3-D8C8-46AC-2A30-D093BE41AA04}"/>
                  </a:ext>
                </a:extLst>
              </p:cNvPr>
              <p:cNvSpPr txBox="1"/>
              <p:nvPr/>
            </p:nvSpPr>
            <p:spPr>
              <a:xfrm>
                <a:off x="8034770" y="3455247"/>
                <a:ext cx="10725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8A9F4C3-D8C8-46AC-2A30-D093BE41A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4770" y="3455247"/>
                <a:ext cx="1072538" cy="276999"/>
              </a:xfrm>
              <a:prstGeom prst="rect">
                <a:avLst/>
              </a:prstGeom>
              <a:blipFill>
                <a:blip r:embed="rId6"/>
                <a:stretch>
                  <a:fillRect l="-4545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0990511C-90EC-C089-A919-B24FF6834C95}"/>
              </a:ext>
            </a:extLst>
          </p:cNvPr>
          <p:cNvCxnSpPr>
            <a:cxnSpLocks/>
            <a:stCxn id="19" idx="2"/>
            <a:endCxn id="226" idx="0"/>
          </p:cNvCxnSpPr>
          <p:nvPr/>
        </p:nvCxnSpPr>
        <p:spPr>
          <a:xfrm flipH="1">
            <a:off x="3678499" y="2666557"/>
            <a:ext cx="166424" cy="3040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B83034AA-389D-6BAE-D88C-37D8F6862E06}"/>
              </a:ext>
            </a:extLst>
          </p:cNvPr>
          <p:cNvCxnSpPr>
            <a:cxnSpLocks/>
            <a:stCxn id="34" idx="2"/>
            <a:endCxn id="242" idx="0"/>
          </p:cNvCxnSpPr>
          <p:nvPr/>
        </p:nvCxnSpPr>
        <p:spPr>
          <a:xfrm flipH="1">
            <a:off x="8557157" y="2667692"/>
            <a:ext cx="221111" cy="29878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6F3A11DA-6A76-D158-64B4-8EBAAED82C49}"/>
              </a:ext>
            </a:extLst>
          </p:cNvPr>
          <p:cNvSpPr txBox="1"/>
          <p:nvPr/>
        </p:nvSpPr>
        <p:spPr>
          <a:xfrm>
            <a:off x="2200857" y="4502264"/>
            <a:ext cx="11541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DC09ABF-40F6-E0A6-F306-C2405EF05B02}"/>
                  </a:ext>
                </a:extLst>
              </p:cNvPr>
              <p:cNvSpPr txBox="1"/>
              <p:nvPr/>
            </p:nvSpPr>
            <p:spPr>
              <a:xfrm>
                <a:off x="3113481" y="4712770"/>
                <a:ext cx="10725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𝑏𝐺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DC09ABF-40F6-E0A6-F306-C2405EF05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481" y="4712770"/>
                <a:ext cx="1072538" cy="276999"/>
              </a:xfrm>
              <a:prstGeom prst="rect">
                <a:avLst/>
              </a:prstGeom>
              <a:blipFill>
                <a:blip r:embed="rId7"/>
                <a:stretch>
                  <a:fillRect l="-4545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BF44231-E0D7-5F34-BF67-6FE966688C86}"/>
                  </a:ext>
                </a:extLst>
              </p:cNvPr>
              <p:cNvSpPr txBox="1"/>
              <p:nvPr/>
            </p:nvSpPr>
            <p:spPr>
              <a:xfrm>
                <a:off x="8008591" y="4736257"/>
                <a:ext cx="1075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𝑎𝐺</m:t>
                      </m:r>
                      <m:r>
                        <a:rPr kumimoji="1"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BF44231-E0D7-5F34-BF67-6FE966688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591" y="4736257"/>
                <a:ext cx="1075744" cy="276999"/>
              </a:xfrm>
              <a:prstGeom prst="rect">
                <a:avLst/>
              </a:prstGeom>
              <a:blipFill>
                <a:blip r:embed="rId8"/>
                <a:stretch>
                  <a:fillRect l="-4545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>
            <a:extLst>
              <a:ext uri="{FF2B5EF4-FFF2-40B4-BE49-F238E27FC236}">
                <a16:creationId xmlns:a16="http://schemas.microsoft.com/office/drawing/2014/main" id="{D3868483-B0C0-9400-F4A2-19C6D1C6288B}"/>
              </a:ext>
            </a:extLst>
          </p:cNvPr>
          <p:cNvSpPr txBox="1"/>
          <p:nvPr/>
        </p:nvSpPr>
        <p:spPr>
          <a:xfrm>
            <a:off x="9865642" y="4511449"/>
            <a:ext cx="11541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kumimoji="1"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7C6C244D-BE65-458D-1319-AA1A67C523DD}"/>
                  </a:ext>
                </a:extLst>
              </p:cNvPr>
              <p:cNvSpPr txBox="1"/>
              <p:nvPr/>
            </p:nvSpPr>
            <p:spPr>
              <a:xfrm>
                <a:off x="1675748" y="5692076"/>
                <a:ext cx="12007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𝑏𝐺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7C6C244D-BE65-458D-1319-AA1A67C52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748" y="5692076"/>
                <a:ext cx="1200778" cy="276999"/>
              </a:xfrm>
              <a:prstGeom prst="rect">
                <a:avLst/>
              </a:prstGeom>
              <a:blipFill>
                <a:blip r:embed="rId9"/>
                <a:stretch>
                  <a:fillRect l="-2030" b="-2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624D7FE-2E05-495B-6711-59D65EE8F109}"/>
                  </a:ext>
                </a:extLst>
              </p:cNvPr>
              <p:cNvSpPr txBox="1"/>
              <p:nvPr/>
            </p:nvSpPr>
            <p:spPr>
              <a:xfrm>
                <a:off x="9307761" y="5692075"/>
                <a:ext cx="1219180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𝑎𝑏𝐺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624D7FE-2E05-495B-6711-59D65EE8F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761" y="5692075"/>
                <a:ext cx="1219180" cy="281937"/>
              </a:xfrm>
              <a:prstGeom prst="rect">
                <a:avLst/>
              </a:prstGeom>
              <a:blipFill>
                <a:blip r:embed="rId10"/>
                <a:stretch>
                  <a:fillRect l="-3000" b="-26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E302F2BD-AAA4-B58A-511A-C3C05B655989}"/>
              </a:ext>
            </a:extLst>
          </p:cNvPr>
          <p:cNvGrpSpPr/>
          <p:nvPr/>
        </p:nvGrpSpPr>
        <p:grpSpPr>
          <a:xfrm>
            <a:off x="5530901" y="6273362"/>
            <a:ext cx="1255363" cy="369332"/>
            <a:chOff x="4006900" y="6273362"/>
            <a:chExt cx="1255363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A05A3250-F60D-0A0C-CE6C-47234414070D}"/>
                    </a:ext>
                  </a:extLst>
                </p:cNvPr>
                <p:cNvSpPr txBox="1"/>
                <p:nvPr/>
              </p:nvSpPr>
              <p:spPr>
                <a:xfrm>
                  <a:off x="4584809" y="6317060"/>
                  <a:ext cx="34836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𝑎𝐺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A05A3250-F60D-0A0C-CE6C-472344140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4809" y="6317060"/>
                  <a:ext cx="348365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4035" r="-12281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CFBD2C5-3C52-C162-E4C3-8EEC48C2C328}"/>
                    </a:ext>
                  </a:extLst>
                </p:cNvPr>
                <p:cNvSpPr txBox="1"/>
                <p:nvPr/>
              </p:nvSpPr>
              <p:spPr>
                <a:xfrm>
                  <a:off x="4917104" y="6326813"/>
                  <a:ext cx="34515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𝑏𝐺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CFBD2C5-3C52-C162-E4C3-8EEC48C2C3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104" y="6326813"/>
                  <a:ext cx="345159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6071" r="-12500"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0D29C5D5-34E8-5432-698C-DF6BD330D6F0}"/>
                    </a:ext>
                  </a:extLst>
                </p:cNvPr>
                <p:cNvSpPr txBox="1"/>
                <p:nvPr/>
              </p:nvSpPr>
              <p:spPr>
                <a:xfrm>
                  <a:off x="4006900" y="6321998"/>
                  <a:ext cx="2201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0D29C5D5-34E8-5432-698C-DF6BD330D6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6900" y="6321998"/>
                  <a:ext cx="220124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2222" r="-19444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2E221810-CFEC-D1AB-4708-166693624BB4}"/>
                </a:ext>
              </a:extLst>
            </p:cNvPr>
            <p:cNvSpPr txBox="1"/>
            <p:nvPr/>
          </p:nvSpPr>
          <p:spPr>
            <a:xfrm>
              <a:off x="4243987" y="6273362"/>
              <a:ext cx="2733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kumimoji="1"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圆角矩形 5">
            <a:extLst>
              <a:ext uri="{FF2B5EF4-FFF2-40B4-BE49-F238E27FC236}">
                <a16:creationId xmlns:a16="http://schemas.microsoft.com/office/drawing/2014/main" id="{430B32E6-5D59-6E05-1F37-4F1923E7817B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DD8A1EFE-F214-1A89-D27A-C95D4497C965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AE026ED-2A86-7E7D-9B03-C43A7356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34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139B74-AD34-C9B8-316B-5BBBB6C1384B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椭圆曲线密钥交换协议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4A54468-ABC5-BF16-9518-218601F77087}"/>
              </a:ext>
            </a:extLst>
          </p:cNvPr>
          <p:cNvGrpSpPr/>
          <p:nvPr/>
        </p:nvGrpSpPr>
        <p:grpSpPr>
          <a:xfrm>
            <a:off x="4590519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93FC1F68-CD1D-0220-EE20-98388A0DAE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5D900D1E-0EA5-903A-FBF8-AEA87F4F4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B35FC062-6FC3-7DF9-F401-350466D462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037C1A6E-2B33-E544-8428-696CDE8927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E5C71EDD-017F-7326-4275-463FE4D521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9316FF28-CEDA-2016-826E-8CB46A9953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5105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" grpId="0" animBg="1"/>
      <p:bldP spid="235" grpId="0" animBg="1"/>
      <p:bldP spid="242" grpId="0" animBg="1"/>
      <p:bldP spid="243" grpId="0" animBg="1"/>
      <p:bldP spid="329" grpId="0"/>
      <p:bldP spid="331" grpId="0"/>
      <p:bldP spid="333" grpId="0"/>
      <p:bldP spid="336" grpId="0"/>
      <p:bldP spid="337" grpId="0"/>
      <p:bldP spid="338" grpId="0"/>
      <p:bldP spid="339" grpId="0" animBg="1"/>
      <p:bldP spid="341" grpId="0" animBg="1"/>
      <p:bldP spid="340" grpId="0" animBg="1"/>
      <p:bldP spid="15" grpId="0"/>
      <p:bldP spid="16" grpId="0"/>
      <p:bldP spid="35" grpId="0"/>
      <p:bldP spid="36" grpId="0"/>
      <p:bldP spid="51" grpId="0"/>
      <p:bldP spid="52" grpId="0"/>
      <p:bldP spid="53" grpId="0"/>
      <p:bldP spid="54" grpId="0"/>
      <p:bldP spid="60" grpId="0"/>
      <p:bldP spid="6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A9EA4-9314-B328-9ADC-96D2AECE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73EE330-2C09-B377-F0DE-328DE526A013}"/>
              </a:ext>
            </a:extLst>
          </p:cNvPr>
          <p:cNvSpPr txBox="1"/>
          <p:nvPr/>
        </p:nvSpPr>
        <p:spPr>
          <a:xfrm>
            <a:off x="3352513" y="2754066"/>
            <a:ext cx="5482323" cy="6155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zh-CN" altLang="en-US" sz="4000" dirty="0">
                <a:solidFill>
                  <a:schemeClr val="accent1"/>
                </a:solidFill>
              </a:rPr>
              <a:t>椭圆曲线实现密钥交换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35565D-045E-61DD-B7EF-F860BD021570}"/>
              </a:ext>
            </a:extLst>
          </p:cNvPr>
          <p:cNvSpPr txBox="1"/>
          <p:nvPr/>
        </p:nvSpPr>
        <p:spPr>
          <a:xfrm>
            <a:off x="5720898" y="2041451"/>
            <a:ext cx="750205" cy="5386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4000" dirty="0">
                <a:solidFill>
                  <a:schemeClr val="accent1"/>
                </a:solidFill>
              </a:rPr>
              <a:t>#03</a:t>
            </a:r>
            <a:endParaRPr lang="zh-CN" altLang="en-US" sz="4000" dirty="0">
              <a:solidFill>
                <a:schemeClr val="accent1"/>
              </a:solidFill>
            </a:endParaRP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8BCE78D3-83B5-A779-3B93-9EBF1090FCAF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3100272" y="1534089"/>
            <a:ext cx="922672" cy="922974"/>
            <a:chOff x="14101" y="4437"/>
            <a:chExt cx="3056" cy="3057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11C008D6-6464-4F76-1EA3-440D65C7D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946A5EE3-F648-D5E4-8A44-D60352FC9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9694D84-6154-7638-E430-11A20D67B27A}"/>
              </a:ext>
            </a:extLst>
          </p:cNvPr>
          <p:cNvGrpSpPr/>
          <p:nvPr/>
        </p:nvGrpSpPr>
        <p:grpSpPr>
          <a:xfrm rot="18900000">
            <a:off x="7424365" y="-2902432"/>
            <a:ext cx="6098786" cy="6100199"/>
            <a:chOff x="18351500" y="3723568"/>
            <a:chExt cx="4878842" cy="4879972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D4589B8D-CED5-7A62-793B-DCF70CC59D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40EDC0C7-77A9-81AA-01C7-D50595EE11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C68DEE7-75E3-0D46-BBB5-ABF4A3EBE73F}"/>
              </a:ext>
            </a:extLst>
          </p:cNvPr>
          <p:cNvGrpSpPr/>
          <p:nvPr/>
        </p:nvGrpSpPr>
        <p:grpSpPr>
          <a:xfrm rot="8100000">
            <a:off x="6722596" y="2086183"/>
            <a:ext cx="8786687" cy="8788722"/>
            <a:chOff x="18351500" y="3723568"/>
            <a:chExt cx="4878842" cy="4879972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0C442FCD-0C6E-B633-6ECE-5A1C38BA09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74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AE7110C-0CA6-41D0-E984-73A942BBDF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D2AF6086-9B56-602D-C8B1-C20D958CBD00}"/>
              </a:ext>
            </a:extLst>
          </p:cNvPr>
          <p:cNvGrpSpPr>
            <a:grpSpLocks noChangeAspect="1"/>
          </p:cNvGrpSpPr>
          <p:nvPr/>
        </p:nvGrpSpPr>
        <p:grpSpPr bwMode="auto">
          <a:xfrm rot="8100000">
            <a:off x="10501205" y="2666453"/>
            <a:ext cx="4851400" cy="4852988"/>
            <a:chOff x="14101" y="4437"/>
            <a:chExt cx="3056" cy="3057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50C0438E-33E5-2A99-116B-BEC19CC19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5274BF68-7CD2-4061-D0AA-C92928E5EF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8127306-DEE2-02F3-B47D-59BF3CFDFC0D}"/>
              </a:ext>
            </a:extLst>
          </p:cNvPr>
          <p:cNvGrpSpPr/>
          <p:nvPr/>
        </p:nvGrpSpPr>
        <p:grpSpPr>
          <a:xfrm rot="18900000">
            <a:off x="-2098325" y="3005269"/>
            <a:ext cx="6098786" cy="6100199"/>
            <a:chOff x="18351500" y="3723568"/>
            <a:chExt cx="4878842" cy="4879972"/>
          </a:xfrm>
        </p:grpSpPr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AE982EF1-8FD1-0482-5284-55324313AA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00952" y="3796591"/>
              <a:ext cx="4578350" cy="3860800"/>
            </a:xfrm>
            <a:custGeom>
              <a:avLst/>
              <a:gdLst>
                <a:gd name="T0" fmla="*/ 2025 w 2137"/>
                <a:gd name="T1" fmla="*/ 1366 h 1802"/>
                <a:gd name="T2" fmla="*/ 1320 w 2137"/>
                <a:gd name="T3" fmla="*/ 145 h 1802"/>
                <a:gd name="T4" fmla="*/ 1068 w 2137"/>
                <a:gd name="T5" fmla="*/ 0 h 1802"/>
                <a:gd name="T6" fmla="*/ 816 w 2137"/>
                <a:gd name="T7" fmla="*/ 145 h 1802"/>
                <a:gd name="T8" fmla="*/ 111 w 2137"/>
                <a:gd name="T9" fmla="*/ 1366 h 1802"/>
                <a:gd name="T10" fmla="*/ 363 w 2137"/>
                <a:gd name="T11" fmla="*/ 1802 h 1802"/>
                <a:gd name="T12" fmla="*/ 1773 w 2137"/>
                <a:gd name="T13" fmla="*/ 1802 h 1802"/>
                <a:gd name="T14" fmla="*/ 2025 w 2137"/>
                <a:gd name="T15" fmla="*/ 1366 h 1802"/>
                <a:gd name="T16" fmla="*/ 1852 w 2137"/>
                <a:gd name="T17" fmla="*/ 1557 h 1802"/>
                <a:gd name="T18" fmla="*/ 1773 w 2137"/>
                <a:gd name="T19" fmla="*/ 1602 h 1802"/>
                <a:gd name="T20" fmla="*/ 363 w 2137"/>
                <a:gd name="T21" fmla="*/ 1602 h 1802"/>
                <a:gd name="T22" fmla="*/ 285 w 2137"/>
                <a:gd name="T23" fmla="*/ 1557 h 1802"/>
                <a:gd name="T24" fmla="*/ 285 w 2137"/>
                <a:gd name="T25" fmla="*/ 1466 h 1802"/>
                <a:gd name="T26" fmla="*/ 990 w 2137"/>
                <a:gd name="T27" fmla="*/ 245 h 1802"/>
                <a:gd name="T28" fmla="*/ 1068 w 2137"/>
                <a:gd name="T29" fmla="*/ 200 h 1802"/>
                <a:gd name="T30" fmla="*/ 1147 w 2137"/>
                <a:gd name="T31" fmla="*/ 245 h 1802"/>
                <a:gd name="T32" fmla="*/ 1852 w 2137"/>
                <a:gd name="T33" fmla="*/ 1466 h 1802"/>
                <a:gd name="T34" fmla="*/ 1852 w 2137"/>
                <a:gd name="T35" fmla="*/ 1557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37" h="1802">
                  <a:moveTo>
                    <a:pt x="2025" y="1366"/>
                  </a:moveTo>
                  <a:cubicBezTo>
                    <a:pt x="1320" y="145"/>
                    <a:pt x="1320" y="145"/>
                    <a:pt x="1320" y="145"/>
                  </a:cubicBezTo>
                  <a:cubicBezTo>
                    <a:pt x="1264" y="48"/>
                    <a:pt x="1166" y="0"/>
                    <a:pt x="1068" y="0"/>
                  </a:cubicBezTo>
                  <a:cubicBezTo>
                    <a:pt x="970" y="0"/>
                    <a:pt x="872" y="48"/>
                    <a:pt x="816" y="145"/>
                  </a:cubicBezTo>
                  <a:cubicBezTo>
                    <a:pt x="111" y="1366"/>
                    <a:pt x="111" y="1366"/>
                    <a:pt x="111" y="1366"/>
                  </a:cubicBezTo>
                  <a:cubicBezTo>
                    <a:pt x="0" y="1560"/>
                    <a:pt x="139" y="1802"/>
                    <a:pt x="363" y="1802"/>
                  </a:cubicBezTo>
                  <a:cubicBezTo>
                    <a:pt x="1773" y="1802"/>
                    <a:pt x="1773" y="1802"/>
                    <a:pt x="1773" y="1802"/>
                  </a:cubicBezTo>
                  <a:cubicBezTo>
                    <a:pt x="1997" y="1802"/>
                    <a:pt x="2137" y="1560"/>
                    <a:pt x="2025" y="1366"/>
                  </a:cubicBezTo>
                  <a:close/>
                  <a:moveTo>
                    <a:pt x="1852" y="1557"/>
                  </a:moveTo>
                  <a:cubicBezTo>
                    <a:pt x="1842" y="1574"/>
                    <a:pt x="1819" y="1602"/>
                    <a:pt x="1773" y="1602"/>
                  </a:cubicBezTo>
                  <a:cubicBezTo>
                    <a:pt x="363" y="1602"/>
                    <a:pt x="363" y="1602"/>
                    <a:pt x="363" y="1602"/>
                  </a:cubicBezTo>
                  <a:cubicBezTo>
                    <a:pt x="318" y="1602"/>
                    <a:pt x="294" y="1574"/>
                    <a:pt x="285" y="1557"/>
                  </a:cubicBezTo>
                  <a:cubicBezTo>
                    <a:pt x="275" y="1540"/>
                    <a:pt x="262" y="1505"/>
                    <a:pt x="285" y="1466"/>
                  </a:cubicBezTo>
                  <a:cubicBezTo>
                    <a:pt x="990" y="245"/>
                    <a:pt x="990" y="245"/>
                    <a:pt x="990" y="245"/>
                  </a:cubicBezTo>
                  <a:cubicBezTo>
                    <a:pt x="1012" y="205"/>
                    <a:pt x="1049" y="200"/>
                    <a:pt x="1068" y="200"/>
                  </a:cubicBezTo>
                  <a:cubicBezTo>
                    <a:pt x="1088" y="200"/>
                    <a:pt x="1124" y="205"/>
                    <a:pt x="1147" y="245"/>
                  </a:cubicBezTo>
                  <a:cubicBezTo>
                    <a:pt x="1852" y="1466"/>
                    <a:pt x="1852" y="1466"/>
                    <a:pt x="1852" y="1466"/>
                  </a:cubicBezTo>
                  <a:cubicBezTo>
                    <a:pt x="1875" y="1505"/>
                    <a:pt x="1862" y="1540"/>
                    <a:pt x="1852" y="1557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E42C1B90-8613-1951-4D71-55613D2022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1500" y="3723568"/>
              <a:ext cx="4878842" cy="4879972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7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7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7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7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09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09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3B019E9A-A47F-0778-08E0-66F6AAC2A850}"/>
              </a:ext>
            </a:extLst>
          </p:cNvPr>
          <p:cNvGrpSpPr>
            <a:grpSpLocks noChangeAspect="1"/>
          </p:cNvGrpSpPr>
          <p:nvPr/>
        </p:nvGrpSpPr>
        <p:grpSpPr bwMode="auto">
          <a:xfrm rot="18923445">
            <a:off x="2714211" y="1610357"/>
            <a:ext cx="1291038" cy="1291460"/>
            <a:chOff x="14101" y="4437"/>
            <a:chExt cx="3056" cy="3057"/>
          </a:xfrm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C5408B5B-FBD9-D23C-7283-B9BCE0DDB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7" y="4475"/>
              <a:ext cx="2884" cy="2432"/>
            </a:xfrm>
            <a:custGeom>
              <a:avLst/>
              <a:gdLst>
                <a:gd name="T0" fmla="*/ 1773 w 2137"/>
                <a:gd name="T1" fmla="*/ 1802 h 1802"/>
                <a:gd name="T2" fmla="*/ 363 w 2137"/>
                <a:gd name="T3" fmla="*/ 1802 h 1802"/>
                <a:gd name="T4" fmla="*/ 112 w 2137"/>
                <a:gd name="T5" fmla="*/ 1366 h 1802"/>
                <a:gd name="T6" fmla="*/ 817 w 2137"/>
                <a:gd name="T7" fmla="*/ 145 h 1802"/>
                <a:gd name="T8" fmla="*/ 1068 w 2137"/>
                <a:gd name="T9" fmla="*/ 0 h 1802"/>
                <a:gd name="T10" fmla="*/ 1320 w 2137"/>
                <a:gd name="T11" fmla="*/ 145 h 1802"/>
                <a:gd name="T12" fmla="*/ 2025 w 2137"/>
                <a:gd name="T13" fmla="*/ 1366 h 1802"/>
                <a:gd name="T14" fmla="*/ 1773 w 2137"/>
                <a:gd name="T15" fmla="*/ 1802 h 1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7" h="1802">
                  <a:moveTo>
                    <a:pt x="1773" y="1802"/>
                  </a:moveTo>
                  <a:cubicBezTo>
                    <a:pt x="363" y="1802"/>
                    <a:pt x="363" y="1802"/>
                    <a:pt x="363" y="1802"/>
                  </a:cubicBezTo>
                  <a:cubicBezTo>
                    <a:pt x="140" y="1802"/>
                    <a:pt x="0" y="1560"/>
                    <a:pt x="112" y="1366"/>
                  </a:cubicBezTo>
                  <a:cubicBezTo>
                    <a:pt x="817" y="145"/>
                    <a:pt x="817" y="145"/>
                    <a:pt x="817" y="145"/>
                  </a:cubicBezTo>
                  <a:cubicBezTo>
                    <a:pt x="873" y="48"/>
                    <a:pt x="970" y="0"/>
                    <a:pt x="1068" y="0"/>
                  </a:cubicBezTo>
                  <a:cubicBezTo>
                    <a:pt x="1166" y="0"/>
                    <a:pt x="1264" y="48"/>
                    <a:pt x="1320" y="145"/>
                  </a:cubicBezTo>
                  <a:cubicBezTo>
                    <a:pt x="2025" y="1366"/>
                    <a:pt x="2025" y="1366"/>
                    <a:pt x="2025" y="1366"/>
                  </a:cubicBezTo>
                  <a:cubicBezTo>
                    <a:pt x="2137" y="1560"/>
                    <a:pt x="1997" y="1802"/>
                    <a:pt x="1773" y="1802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BD154B94-BBD6-7731-F369-D40F62AD24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01" y="4437"/>
              <a:ext cx="3056" cy="3057"/>
            </a:xfrm>
            <a:custGeom>
              <a:avLst/>
              <a:gdLst>
                <a:gd name="T0" fmla="*/ 1599 w 3199"/>
                <a:gd name="T1" fmla="*/ 4 h 3199"/>
                <a:gd name="T2" fmla="*/ 2220 w 3199"/>
                <a:gd name="T3" fmla="*/ 129 h 3199"/>
                <a:gd name="T4" fmla="*/ 2728 w 3199"/>
                <a:gd name="T5" fmla="*/ 471 h 3199"/>
                <a:gd name="T6" fmla="*/ 3069 w 3199"/>
                <a:gd name="T7" fmla="*/ 978 h 3199"/>
                <a:gd name="T8" fmla="*/ 3195 w 3199"/>
                <a:gd name="T9" fmla="*/ 1599 h 3199"/>
                <a:gd name="T10" fmla="*/ 3069 w 3199"/>
                <a:gd name="T11" fmla="*/ 2220 h 3199"/>
                <a:gd name="T12" fmla="*/ 2728 w 3199"/>
                <a:gd name="T13" fmla="*/ 2727 h 3199"/>
                <a:gd name="T14" fmla="*/ 2220 w 3199"/>
                <a:gd name="T15" fmla="*/ 3069 h 3199"/>
                <a:gd name="T16" fmla="*/ 1599 w 3199"/>
                <a:gd name="T17" fmla="*/ 3195 h 3199"/>
                <a:gd name="T18" fmla="*/ 978 w 3199"/>
                <a:gd name="T19" fmla="*/ 3069 h 3199"/>
                <a:gd name="T20" fmla="*/ 471 w 3199"/>
                <a:gd name="T21" fmla="*/ 2727 h 3199"/>
                <a:gd name="T22" fmla="*/ 129 w 3199"/>
                <a:gd name="T23" fmla="*/ 2220 h 3199"/>
                <a:gd name="T24" fmla="*/ 4 w 3199"/>
                <a:gd name="T25" fmla="*/ 1599 h 3199"/>
                <a:gd name="T26" fmla="*/ 129 w 3199"/>
                <a:gd name="T27" fmla="*/ 978 h 3199"/>
                <a:gd name="T28" fmla="*/ 471 w 3199"/>
                <a:gd name="T29" fmla="*/ 471 h 3199"/>
                <a:gd name="T30" fmla="*/ 978 w 3199"/>
                <a:gd name="T31" fmla="*/ 129 h 3199"/>
                <a:gd name="T32" fmla="*/ 1599 w 3199"/>
                <a:gd name="T33" fmla="*/ 4 h 3199"/>
                <a:gd name="T34" fmla="*/ 1599 w 3199"/>
                <a:gd name="T35" fmla="*/ 0 h 3199"/>
                <a:gd name="T36" fmla="*/ 0 w 3199"/>
                <a:gd name="T37" fmla="*/ 1599 h 3199"/>
                <a:gd name="T38" fmla="*/ 1599 w 3199"/>
                <a:gd name="T39" fmla="*/ 3199 h 3199"/>
                <a:gd name="T40" fmla="*/ 3199 w 3199"/>
                <a:gd name="T41" fmla="*/ 1599 h 3199"/>
                <a:gd name="T42" fmla="*/ 1599 w 3199"/>
                <a:gd name="T43" fmla="*/ 0 h 3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99" h="3199">
                  <a:moveTo>
                    <a:pt x="1599" y="4"/>
                  </a:moveTo>
                  <a:cubicBezTo>
                    <a:pt x="1815" y="4"/>
                    <a:pt x="2024" y="46"/>
                    <a:pt x="2220" y="129"/>
                  </a:cubicBezTo>
                  <a:cubicBezTo>
                    <a:pt x="2410" y="210"/>
                    <a:pt x="2581" y="325"/>
                    <a:pt x="2728" y="471"/>
                  </a:cubicBezTo>
                  <a:cubicBezTo>
                    <a:pt x="2874" y="618"/>
                    <a:pt x="2989" y="788"/>
                    <a:pt x="3069" y="978"/>
                  </a:cubicBezTo>
                  <a:cubicBezTo>
                    <a:pt x="3153" y="1175"/>
                    <a:pt x="3195" y="1384"/>
                    <a:pt x="3195" y="1599"/>
                  </a:cubicBezTo>
                  <a:cubicBezTo>
                    <a:pt x="3195" y="1815"/>
                    <a:pt x="3153" y="2024"/>
                    <a:pt x="3069" y="2220"/>
                  </a:cubicBezTo>
                  <a:cubicBezTo>
                    <a:pt x="2989" y="2410"/>
                    <a:pt x="2874" y="2581"/>
                    <a:pt x="2728" y="2727"/>
                  </a:cubicBezTo>
                  <a:cubicBezTo>
                    <a:pt x="2581" y="2874"/>
                    <a:pt x="2410" y="2989"/>
                    <a:pt x="2220" y="3069"/>
                  </a:cubicBezTo>
                  <a:cubicBezTo>
                    <a:pt x="2024" y="3153"/>
                    <a:pt x="1815" y="3195"/>
                    <a:pt x="1599" y="3195"/>
                  </a:cubicBezTo>
                  <a:cubicBezTo>
                    <a:pt x="1384" y="3195"/>
                    <a:pt x="1175" y="3153"/>
                    <a:pt x="978" y="3069"/>
                  </a:cubicBezTo>
                  <a:cubicBezTo>
                    <a:pt x="788" y="2989"/>
                    <a:pt x="618" y="2874"/>
                    <a:pt x="471" y="2727"/>
                  </a:cubicBezTo>
                  <a:cubicBezTo>
                    <a:pt x="325" y="2581"/>
                    <a:pt x="210" y="2410"/>
                    <a:pt x="129" y="2220"/>
                  </a:cubicBezTo>
                  <a:cubicBezTo>
                    <a:pt x="46" y="2024"/>
                    <a:pt x="4" y="1815"/>
                    <a:pt x="4" y="1599"/>
                  </a:cubicBezTo>
                  <a:cubicBezTo>
                    <a:pt x="4" y="1384"/>
                    <a:pt x="46" y="1175"/>
                    <a:pt x="129" y="978"/>
                  </a:cubicBezTo>
                  <a:cubicBezTo>
                    <a:pt x="210" y="788"/>
                    <a:pt x="325" y="618"/>
                    <a:pt x="471" y="471"/>
                  </a:cubicBezTo>
                  <a:cubicBezTo>
                    <a:pt x="618" y="325"/>
                    <a:pt x="788" y="210"/>
                    <a:pt x="978" y="129"/>
                  </a:cubicBezTo>
                  <a:cubicBezTo>
                    <a:pt x="1175" y="46"/>
                    <a:pt x="1384" y="4"/>
                    <a:pt x="1599" y="4"/>
                  </a:cubicBezTo>
                  <a:moveTo>
                    <a:pt x="1599" y="0"/>
                  </a:moveTo>
                  <a:cubicBezTo>
                    <a:pt x="716" y="0"/>
                    <a:pt x="0" y="716"/>
                    <a:pt x="0" y="1599"/>
                  </a:cubicBezTo>
                  <a:cubicBezTo>
                    <a:pt x="0" y="2483"/>
                    <a:pt x="716" y="3199"/>
                    <a:pt x="1599" y="3199"/>
                  </a:cubicBezTo>
                  <a:cubicBezTo>
                    <a:pt x="2483" y="3199"/>
                    <a:pt x="3199" y="2483"/>
                    <a:pt x="3199" y="1599"/>
                  </a:cubicBezTo>
                  <a:cubicBezTo>
                    <a:pt x="3199" y="716"/>
                    <a:pt x="2483" y="0"/>
                    <a:pt x="1599" y="0"/>
                  </a:cubicBezTo>
                  <a:close/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028450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590F-2BFF-7B0D-AA1B-5FD481C4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C0A4EA-7602-EB90-09A8-5D459D4C0C63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EAA8531-CA2C-9261-1EE6-0868C14E499B}"/>
              </a:ext>
            </a:extLst>
          </p:cNvPr>
          <p:cNvGrpSpPr/>
          <p:nvPr/>
        </p:nvGrpSpPr>
        <p:grpSpPr>
          <a:xfrm>
            <a:off x="3401799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90574B5A-0CD6-E1E5-BC3A-21DCB6361A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C3EF3199-D62A-959B-A2F4-24A3A823C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2FE4EBDD-0959-9AE8-5715-2BA74D7E2A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FCFBC4A2-8702-67C5-0F06-EF9D70C0E1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4B8A8BFB-7D37-0753-1CA3-09E07DA7E9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EA061C6E-92DF-4D91-81BA-65A9572EBFE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61F71E-E9CD-E04F-68A1-A7D21B54EA35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  <a:ea typeface="+mn-ea"/>
                      </a:rPr>
                      <m:t>RSA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加密与解密流程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3E786EB-52FF-8E0B-FD25-E23CF515F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C04C3689-1B50-CDF0-A6A1-1ED1D15EFA0A}"/>
              </a:ext>
            </a:extLst>
          </p:cNvPr>
          <p:cNvGraphicFramePr>
            <a:graphicFrameLocks noGrp="1"/>
          </p:cNvGraphicFramePr>
          <p:nvPr/>
        </p:nvGraphicFramePr>
        <p:xfrm>
          <a:off x="261618" y="3934473"/>
          <a:ext cx="11668761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96062">
                  <a:extLst>
                    <a:ext uri="{9D8B030D-6E8A-4147-A177-3AD203B41FA5}">
                      <a16:colId xmlns:a16="http://schemas.microsoft.com/office/drawing/2014/main" val="2908313444"/>
                    </a:ext>
                  </a:extLst>
                </a:gridCol>
                <a:gridCol w="6283112">
                  <a:extLst>
                    <a:ext uri="{9D8B030D-6E8A-4147-A177-3AD203B41FA5}">
                      <a16:colId xmlns:a16="http://schemas.microsoft.com/office/drawing/2014/main" val="2526696859"/>
                    </a:ext>
                  </a:extLst>
                </a:gridCol>
                <a:gridCol w="3889587">
                  <a:extLst>
                    <a:ext uri="{9D8B030D-6E8A-4147-A177-3AD203B41FA5}">
                      <a16:colId xmlns:a16="http://schemas.microsoft.com/office/drawing/2014/main" val="3446144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描述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433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随机选择一对足够大的质数，并计算乘积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459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计算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的欧拉函数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 -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511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选一个与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zh-CN" altLang="en-US" sz="2400" dirty="0"/>
                        <a:t>互质的整数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&lt; e &lt;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83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计算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对 </a:t>
                      </a:r>
                      <a: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φ</a:t>
                      </a:r>
                      <a:r>
                        <a:rPr lang="el-G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的模反元素 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</a:t>
                      </a:r>
                      <a:r>
                        <a:rPr lang="zh-CN" alt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倒数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</a:t>
                      </a:r>
                      <a:r>
                        <a:rPr lang="en-US" altLang="zh-CN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φ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pt-B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4999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7132AA4D-FA71-0EBF-2644-39A7898DCCE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1618" y="1422388"/>
              <a:ext cx="11668762" cy="19583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4381">
                      <a:extLst>
                        <a:ext uri="{9D8B030D-6E8A-4147-A177-3AD203B41FA5}">
                          <a16:colId xmlns:a16="http://schemas.microsoft.com/office/drawing/2014/main" val="3740394943"/>
                        </a:ext>
                      </a:extLst>
                    </a:gridCol>
                    <a:gridCol w="5834381">
                      <a:extLst>
                        <a:ext uri="{9D8B030D-6E8A-4147-A177-3AD203B41FA5}">
                          <a16:colId xmlns:a16="http://schemas.microsoft.com/office/drawing/2014/main" val="11578668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2400" dirty="0"/>
                            <a:t>加密：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28474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明文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a-DK" sz="2400" dirty="0"/>
                            <a:t>解密：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altLang="zh-CN" sz="24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26953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公钥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93709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私钥</a:t>
                          </a: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475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B41E152D-C220-6390-BCDC-0A34D5EF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1535299"/>
                  </p:ext>
                </p:extLst>
              </p:nvPr>
            </p:nvGraphicFramePr>
            <p:xfrm>
              <a:off x="261618" y="1422388"/>
              <a:ext cx="11668762" cy="1958340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834381">
                      <a:extLst>
                        <a:ext uri="{9D8B030D-6E8A-4147-A177-3AD203B41FA5}">
                          <a16:colId xmlns:a16="http://schemas.microsoft.com/office/drawing/2014/main" val="3740394943"/>
                        </a:ext>
                      </a:extLst>
                    </a:gridCol>
                    <a:gridCol w="5834381">
                      <a:extLst>
                        <a:ext uri="{9D8B030D-6E8A-4147-A177-3AD203B41FA5}">
                          <a16:colId xmlns:a16="http://schemas.microsoft.com/office/drawing/2014/main" val="115786680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密文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04" t="-7059" r="-209" b="-30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284740"/>
                      </a:ext>
                    </a:extLst>
                  </a:tr>
                  <a:tr h="5257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明文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en-US" sz="24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104" t="-104598" r="-209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26953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公钥</a:t>
                          </a: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pk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793709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altLang="en-US" sz="2400" dirty="0"/>
                            <a:t>私钥</a:t>
                          </a: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endParaRPr lang="zh-CN" alt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zh-CN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sk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r>
                            <a:rPr lang="en-US" sz="240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en-US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n)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34757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1358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12828-E622-F6B6-341B-94EE14444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6628DF-488B-4A2C-1C0F-10D9CC4997DD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3600" b="1" dirty="0">
                <a:solidFill>
                  <a:srgbClr val="2A50A1"/>
                </a:solidFill>
              </a:rPr>
              <a:t>椭圆曲线加密与解密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657EE7C-8BB6-04D1-DFE9-E4FA7B6EC7D0}"/>
              </a:ext>
            </a:extLst>
          </p:cNvPr>
          <p:cNvGrpSpPr/>
          <p:nvPr/>
        </p:nvGrpSpPr>
        <p:grpSpPr>
          <a:xfrm>
            <a:off x="4181518" y="107955"/>
            <a:ext cx="425713" cy="442041"/>
            <a:chOff x="5823870" y="1767426"/>
            <a:chExt cx="425713" cy="442041"/>
          </a:xfrm>
        </p:grpSpPr>
        <p:grpSp>
          <p:nvGrpSpPr>
            <p:cNvPr id="4" name="Group 10">
              <a:extLst>
                <a:ext uri="{FF2B5EF4-FFF2-40B4-BE49-F238E27FC236}">
                  <a16:creationId xmlns:a16="http://schemas.microsoft.com/office/drawing/2014/main" id="{C8CCCF77-8A19-C2B3-2AD9-EDAE6CF4A3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CCE55EC4-412D-130D-B5B6-0F0DAA664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12">
                <a:extLst>
                  <a:ext uri="{FF2B5EF4-FFF2-40B4-BE49-F238E27FC236}">
                    <a16:creationId xmlns:a16="http://schemas.microsoft.com/office/drawing/2014/main" id="{3E2E85D2-814D-067B-2E15-F6C7AC10D5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" name="Group 10">
              <a:extLst>
                <a:ext uri="{FF2B5EF4-FFF2-40B4-BE49-F238E27FC236}">
                  <a16:creationId xmlns:a16="http://schemas.microsoft.com/office/drawing/2014/main" id="{96CB1404-4AE6-8DA3-FFF1-573140815E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6" name="Freeform 11">
                <a:extLst>
                  <a:ext uri="{FF2B5EF4-FFF2-40B4-BE49-F238E27FC236}">
                    <a16:creationId xmlns:a16="http://schemas.microsoft.com/office/drawing/2014/main" id="{6A2F7974-A881-2465-35FA-0F031D579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" name="Freeform 12">
                <a:extLst>
                  <a:ext uri="{FF2B5EF4-FFF2-40B4-BE49-F238E27FC236}">
                    <a16:creationId xmlns:a16="http://schemas.microsoft.com/office/drawing/2014/main" id="{EACB1A28-90FB-65C6-9D3A-201D39946F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C1FC6C8-B521-11FF-3441-9ABCA146C67E}"/>
                  </a:ext>
                </a:extLst>
              </p:cNvPr>
              <p:cNvSpPr txBox="1"/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kumimoji="1" sz="210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ea typeface="+mn-ea"/>
                      </a:rPr>
                      <m:t>椭圆</m:t>
                    </m:r>
                  </m:oMath>
                </a14:m>
                <a:r>
                  <a:rPr lang="zh-CN" altLang="en-US" sz="2800" dirty="0">
                    <a:latin typeface="+mn-lt"/>
                    <a:ea typeface="+mn-ea"/>
                  </a:rPr>
                  <a:t>曲线加密与解密流程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C1FC6C8-B521-11FF-3441-9ABCA146C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25098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3AB22A7-1FF5-02F3-3A49-083331D49D48}"/>
                  </a:ext>
                </a:extLst>
              </p:cNvPr>
              <p:cNvSpPr txBox="1"/>
              <p:nvPr/>
            </p:nvSpPr>
            <p:spPr>
              <a:xfrm>
                <a:off x="598797" y="2027345"/>
                <a:ext cx="11338022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zh-CN" altLang="en-US" sz="2400" b="1" dirty="0"/>
                  <a:t>选择椭圆曲线</a:t>
                </a:r>
                <a:br>
                  <a:rPr lang="zh-CN" altLang="en-US" sz="2400" dirty="0"/>
                </a:br>
                <a:r>
                  <a:rPr lang="zh-CN" altLang="en-US" sz="2400" dirty="0"/>
                  <a:t>选一条椭圆曲线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sepChr m:val=",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2400" dirty="0"/>
                  <a:t>，并取椭圆曲线上一点作为基点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。</a:t>
                </a:r>
              </a:p>
              <a:p>
                <a:pPr>
                  <a:buFont typeface="+mj-lt"/>
                  <a:buAutoNum type="arabicPeriod"/>
                </a:pPr>
                <a:r>
                  <a:rPr lang="zh-CN" altLang="en-US" sz="2400" b="1" dirty="0"/>
                  <a:t>生成密钥</a:t>
                </a:r>
                <a:br>
                  <a:rPr lang="zh-CN" altLang="en-US" sz="2400" dirty="0"/>
                </a:br>
                <a:r>
                  <a:rPr lang="zh-CN" altLang="en-US" sz="2400" dirty="0"/>
                  <a:t>选定一个大数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/>
                  <a:t>作为私钥，并生成公钥：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zh-CN" altLang="en-US" sz="2400" dirty="0"/>
              </a:p>
              <a:p>
                <a:r>
                  <a:rPr lang="en-US" altLang="zh-CN" sz="2400" b="1" dirty="0"/>
                  <a:t>3.</a:t>
                </a:r>
                <a:r>
                  <a:rPr lang="zh-CN" altLang="en-US" sz="2400" b="1" dirty="0"/>
                  <a:t>加密</a:t>
                </a:r>
                <a:br>
                  <a:rPr lang="zh-CN" altLang="en-US" sz="2400" dirty="0"/>
                </a:br>
                <a:r>
                  <a:rPr lang="zh-CN" altLang="en-US" sz="2400" dirty="0"/>
                  <a:t>使用公钥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进行</m:t>
                    </m:r>
                  </m:oMath>
                </a14:m>
                <a:r>
                  <a:rPr lang="zh-CN" altLang="en-US" sz="2400" dirty="0"/>
                  <a:t>加密，即由消息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/>
                  <a:t>计算生成密文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/>
                  <a:t>。</a:t>
                </a:r>
                <a:br>
                  <a:rPr lang="zh-CN" altLang="en-US" sz="2400" dirty="0"/>
                </a:br>
                <a:r>
                  <a:rPr lang="zh-CN" altLang="en-US" sz="2400" dirty="0"/>
                  <a:t>密文是一个点对，选择随机数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400" dirty="0"/>
                  <a:t>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𝑟𝑃</m:t>
                          </m:r>
                        </m:e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𝑟𝑄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  <a:p>
                <a:r>
                  <a:rPr lang="en-US" altLang="zh-CN" sz="2400" b="1" dirty="0"/>
                  <a:t>4.</a:t>
                </a:r>
                <a:r>
                  <a:rPr lang="zh-CN" altLang="en-US" sz="2400" b="1" dirty="0"/>
                  <a:t>解密</a:t>
                </a:r>
                <a:br>
                  <a:rPr lang="zh-CN" altLang="en-US" sz="2400" dirty="0"/>
                </a:br>
                <a:r>
                  <a:rPr lang="zh-CN" altLang="en-US" sz="2400" dirty="0"/>
                  <a:t>使用私钥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进行</m:t>
                    </m:r>
                  </m:oMath>
                </a14:m>
                <a:r>
                  <a:rPr lang="zh-CN" altLang="en-US" sz="2400" dirty="0"/>
                  <a:t>解密，即由密文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/>
                  <a:t>计算生成消息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/>
                  <a:t>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𝑟𝑄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𝑟𝑃</m:t>
                          </m:r>
                        </m:e>
                      </m:d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𝑟𝑃</m:t>
                          </m:r>
                        </m:e>
                      </m:d>
                      <m:r>
                        <a:rPr lang="en-US" altLang="zh-C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3AB22A7-1FF5-02F3-3A49-083331D49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97" y="2027345"/>
                <a:ext cx="11338022" cy="4524315"/>
              </a:xfrm>
              <a:prstGeom prst="rect">
                <a:avLst/>
              </a:prstGeom>
              <a:blipFill>
                <a:blip r:embed="rId4"/>
                <a:stretch>
                  <a:fillRect l="-806" t="-1482" b="-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F8A8DF-9A02-B68A-03C9-977551187D50}"/>
              </a:ext>
            </a:extLst>
          </p:cNvPr>
          <p:cNvGrpSpPr/>
          <p:nvPr/>
        </p:nvGrpSpPr>
        <p:grpSpPr>
          <a:xfrm>
            <a:off x="3138475" y="1422388"/>
            <a:ext cx="5794340" cy="430887"/>
            <a:chOff x="1666121" y="2235594"/>
            <a:chExt cx="5794340" cy="43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C48302CD-A482-5A49-FA46-2FC9DC99C8D5}"/>
                    </a:ext>
                  </a:extLst>
                </p:cNvPr>
                <p:cNvSpPr txBox="1"/>
                <p:nvPr/>
              </p:nvSpPr>
              <p:spPr>
                <a:xfrm>
                  <a:off x="1666121" y="2235594"/>
                  <a:ext cx="283462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" altLang="zh-CN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𝑥𝐺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80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C48302CD-A482-5A49-FA46-2FC9DC99C8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6121" y="2235594"/>
                  <a:ext cx="2834622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CF6FA31-7FAF-765A-6D07-72077F0139B3}"/>
                    </a:ext>
                  </a:extLst>
                </p:cNvPr>
                <p:cNvSpPr txBox="1"/>
                <p:nvPr/>
              </p:nvSpPr>
              <p:spPr>
                <a:xfrm>
                  <a:off x="5592129" y="2235594"/>
                  <a:ext cx="186833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CF6FA31-7FAF-765A-6D07-72077F013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129" y="2235594"/>
                  <a:ext cx="1868332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8AE455D-D192-AF66-4D56-B0CFD8AFF93D}"/>
                </a:ext>
              </a:extLst>
            </p:cNvPr>
            <p:cNvSpPr txBox="1"/>
            <p:nvPr/>
          </p:nvSpPr>
          <p:spPr>
            <a:xfrm>
              <a:off x="4897418" y="2318799"/>
              <a:ext cx="798393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377">
                <a:lnSpc>
                  <a:spcPct val="90000"/>
                </a:lnSpc>
                <a:spcBef>
                  <a:spcPct val="0"/>
                </a:spcBef>
              </a:pPr>
              <a:r>
                <a:rPr kumimoji="1" lang="zh-CN" altLang="en-US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其中</a:t>
              </a:r>
              <a:r>
                <a:rPr kumimoji="1" lang="en-US" altLang="zh-CN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,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8601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4F96-5495-4868-35EB-00812E18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>
            <a:extLst>
              <a:ext uri="{FF2B5EF4-FFF2-40B4-BE49-F238E27FC236}">
                <a16:creationId xmlns:a16="http://schemas.microsoft.com/office/drawing/2014/main" id="{7A77C6D4-0538-CDF8-667A-A6B6F31F85D6}"/>
              </a:ext>
            </a:extLst>
          </p:cNvPr>
          <p:cNvSpPr/>
          <p:nvPr/>
        </p:nvSpPr>
        <p:spPr>
          <a:xfrm>
            <a:off x="2976045" y="914399"/>
            <a:ext cx="6225142" cy="5451709"/>
          </a:xfrm>
          <a:prstGeom prst="rect">
            <a:avLst/>
          </a:prstGeom>
          <a:solidFill>
            <a:srgbClr val="F0C0C3">
              <a:alpha val="80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C4E159-86C9-96C1-EE5E-53980F303322}"/>
              </a:ext>
            </a:extLst>
          </p:cNvPr>
          <p:cNvSpPr/>
          <p:nvPr/>
        </p:nvSpPr>
        <p:spPr>
          <a:xfrm>
            <a:off x="1567653" y="914401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4C4F821C-1F03-EC11-C9F9-5E2201F326EB}"/>
              </a:ext>
            </a:extLst>
          </p:cNvPr>
          <p:cNvSpPr/>
          <p:nvPr/>
        </p:nvSpPr>
        <p:spPr>
          <a:xfrm>
            <a:off x="7808527" y="914400"/>
            <a:ext cx="2810787" cy="54419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2" name="圆角矩形 341">
            <a:extLst>
              <a:ext uri="{FF2B5EF4-FFF2-40B4-BE49-F238E27FC236}">
                <a16:creationId xmlns:a16="http://schemas.microsoft.com/office/drawing/2014/main" id="{0BA9458B-2916-9074-4863-A131FB243B66}"/>
              </a:ext>
            </a:extLst>
          </p:cNvPr>
          <p:cNvSpPr/>
          <p:nvPr/>
        </p:nvSpPr>
        <p:spPr>
          <a:xfrm>
            <a:off x="5434895" y="965685"/>
            <a:ext cx="1317174" cy="596504"/>
          </a:xfrm>
          <a:prstGeom prst="roundRect">
            <a:avLst>
              <a:gd name="adj" fmla="val 50000"/>
            </a:avLst>
          </a:prstGeom>
          <a:solidFill>
            <a:srgbClr val="F3CDC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敌手</a:t>
            </a:r>
            <a:endParaRPr kumimoji="1"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Adv</a:t>
            </a:r>
          </a:p>
        </p:txBody>
      </p: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79E0071B-A158-9A15-2877-9182F7DD45CF}"/>
              </a:ext>
            </a:extLst>
          </p:cNvPr>
          <p:cNvCxnSpPr>
            <a:cxnSpLocks/>
            <a:stCxn id="139" idx="2"/>
            <a:endCxn id="140" idx="2"/>
          </p:cNvCxnSpPr>
          <p:nvPr/>
        </p:nvCxnSpPr>
        <p:spPr>
          <a:xfrm>
            <a:off x="9213920" y="1593178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74E62C86-AF97-2484-8220-978C8F0DEC76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>
            <a:off x="2973046" y="1593179"/>
            <a:ext cx="1" cy="476317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A83B30D6-3828-DEE3-48B1-2F0E862F5830}"/>
              </a:ext>
            </a:extLst>
          </p:cNvPr>
          <p:cNvSpPr/>
          <p:nvPr/>
        </p:nvSpPr>
        <p:spPr>
          <a:xfrm>
            <a:off x="2314458" y="996675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Alice</a:t>
            </a:r>
          </a:p>
        </p:txBody>
      </p:sp>
      <p:sp>
        <p:nvSpPr>
          <p:cNvPr id="139" name="圆角矩形 138">
            <a:extLst>
              <a:ext uri="{FF2B5EF4-FFF2-40B4-BE49-F238E27FC236}">
                <a16:creationId xmlns:a16="http://schemas.microsoft.com/office/drawing/2014/main" id="{6A9BE2CD-6860-0169-EC92-F4348D7B453F}"/>
              </a:ext>
            </a:extLst>
          </p:cNvPr>
          <p:cNvSpPr/>
          <p:nvPr/>
        </p:nvSpPr>
        <p:spPr>
          <a:xfrm>
            <a:off x="8555332" y="996674"/>
            <a:ext cx="1317174" cy="59650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Bob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857B7C-7A37-2E2B-A29F-CD4DAAFE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17C6-53CA-944D-9421-F2F3A04C57E0}" type="slidenum">
              <a:rPr lang="en-US" smtClean="0"/>
              <a:t>38</a:t>
            </a:fld>
            <a:endParaRPr 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908B9F-D9C6-4F1C-23B5-BD7D8CC39497}"/>
              </a:ext>
            </a:extLst>
          </p:cNvPr>
          <p:cNvSpPr txBox="1"/>
          <p:nvPr/>
        </p:nvSpPr>
        <p:spPr>
          <a:xfrm>
            <a:off x="73871" y="89363"/>
            <a:ext cx="1545295" cy="46166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3600" b="1" dirty="0">
                <a:solidFill>
                  <a:srgbClr val="2A50A1"/>
                </a:solidFill>
              </a:rPr>
              <a:t>RSA</a:t>
            </a:r>
            <a:r>
              <a:rPr lang="zh-CN" altLang="en-US" sz="3600" b="1" dirty="0">
                <a:solidFill>
                  <a:srgbClr val="2A50A1"/>
                </a:solidFill>
              </a:rPr>
              <a:t>加密算法缺陷</a:t>
            </a:r>
            <a:r>
              <a:rPr lang="en-US" altLang="zh-CN" sz="3600" b="1" dirty="0">
                <a:solidFill>
                  <a:srgbClr val="2A50A1"/>
                </a:solidFill>
              </a:rPr>
              <a:t>——</a:t>
            </a:r>
            <a:r>
              <a:rPr lang="zh-CN" altLang="en-US" sz="3600" b="1" dirty="0">
                <a:solidFill>
                  <a:srgbClr val="2A50A1"/>
                </a:solidFill>
              </a:rPr>
              <a:t>中间人攻击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86FC68-D9E9-D4C2-3CB6-77A3E32023F4}"/>
              </a:ext>
            </a:extLst>
          </p:cNvPr>
          <p:cNvGrpSpPr/>
          <p:nvPr/>
        </p:nvGrpSpPr>
        <p:grpSpPr>
          <a:xfrm>
            <a:off x="7236896" y="97795"/>
            <a:ext cx="425713" cy="442041"/>
            <a:chOff x="5823870" y="1767426"/>
            <a:chExt cx="425713" cy="442041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2A6C05E6-B1DB-2014-84CB-F9B26BD254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963891" y="1767426"/>
              <a:ext cx="285692" cy="285786"/>
              <a:chOff x="14101" y="4437"/>
              <a:chExt cx="3056" cy="3057"/>
            </a:xfrm>
          </p:grpSpPr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D5224DEA-7515-E2C5-DD60-6C4CF5587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C06EC46F-4C39-3B21-5D6D-05FD021EB2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3F385BAD-6BA1-B45B-3EC0-8A9C89E6DF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8923445">
              <a:off x="5823870" y="1809585"/>
              <a:ext cx="399751" cy="399882"/>
              <a:chOff x="14101" y="4437"/>
              <a:chExt cx="3056" cy="3057"/>
            </a:xfrm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B96E0EA0-8EC8-8156-F78A-422A94419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7" y="4475"/>
                <a:ext cx="2884" cy="2432"/>
              </a:xfrm>
              <a:custGeom>
                <a:avLst/>
                <a:gdLst>
                  <a:gd name="T0" fmla="*/ 1773 w 2137"/>
                  <a:gd name="T1" fmla="*/ 1802 h 1802"/>
                  <a:gd name="T2" fmla="*/ 363 w 2137"/>
                  <a:gd name="T3" fmla="*/ 1802 h 1802"/>
                  <a:gd name="T4" fmla="*/ 112 w 2137"/>
                  <a:gd name="T5" fmla="*/ 1366 h 1802"/>
                  <a:gd name="T6" fmla="*/ 817 w 2137"/>
                  <a:gd name="T7" fmla="*/ 145 h 1802"/>
                  <a:gd name="T8" fmla="*/ 1068 w 2137"/>
                  <a:gd name="T9" fmla="*/ 0 h 1802"/>
                  <a:gd name="T10" fmla="*/ 1320 w 2137"/>
                  <a:gd name="T11" fmla="*/ 145 h 1802"/>
                  <a:gd name="T12" fmla="*/ 2025 w 2137"/>
                  <a:gd name="T13" fmla="*/ 1366 h 1802"/>
                  <a:gd name="T14" fmla="*/ 1773 w 2137"/>
                  <a:gd name="T15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1802">
                    <a:moveTo>
                      <a:pt x="1773" y="1802"/>
                    </a:moveTo>
                    <a:cubicBezTo>
                      <a:pt x="363" y="1802"/>
                      <a:pt x="363" y="1802"/>
                      <a:pt x="363" y="1802"/>
                    </a:cubicBezTo>
                    <a:cubicBezTo>
                      <a:pt x="140" y="1802"/>
                      <a:pt x="0" y="1560"/>
                      <a:pt x="112" y="1366"/>
                    </a:cubicBezTo>
                    <a:cubicBezTo>
                      <a:pt x="817" y="145"/>
                      <a:pt x="817" y="145"/>
                      <a:pt x="817" y="145"/>
                    </a:cubicBezTo>
                    <a:cubicBezTo>
                      <a:pt x="873" y="48"/>
                      <a:pt x="970" y="0"/>
                      <a:pt x="1068" y="0"/>
                    </a:cubicBezTo>
                    <a:cubicBezTo>
                      <a:pt x="1166" y="0"/>
                      <a:pt x="1264" y="48"/>
                      <a:pt x="1320" y="145"/>
                    </a:cubicBezTo>
                    <a:cubicBezTo>
                      <a:pt x="2025" y="1366"/>
                      <a:pt x="2025" y="1366"/>
                      <a:pt x="2025" y="1366"/>
                    </a:cubicBezTo>
                    <a:cubicBezTo>
                      <a:pt x="2137" y="1560"/>
                      <a:pt x="1997" y="1802"/>
                      <a:pt x="1773" y="1802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E87C405B-13A2-1067-66E1-1F5B2193A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101" y="4437"/>
                <a:ext cx="3056" cy="3057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8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8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8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8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10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10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5397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463D-FD1F-712A-01F2-1B2A7162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92CF5A2B-ADB0-D484-15D1-1D07414F546A}"/>
              </a:ext>
            </a:extLst>
          </p:cNvPr>
          <p:cNvGrpSpPr/>
          <p:nvPr/>
        </p:nvGrpSpPr>
        <p:grpSpPr>
          <a:xfrm rot="637793">
            <a:off x="6717963" y="-2695151"/>
            <a:ext cx="8786687" cy="13156983"/>
            <a:chOff x="14552960" y="-177472"/>
            <a:chExt cx="7029080" cy="10525183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9DCBD846-D10E-CA12-DABB-76BF359C3CCB}"/>
                </a:ext>
              </a:extLst>
            </p:cNvPr>
            <p:cNvGrpSpPr/>
            <p:nvPr/>
          </p:nvGrpSpPr>
          <p:grpSpPr>
            <a:xfrm rot="1495231">
              <a:off x="15166450" y="-177472"/>
              <a:ext cx="4878842" cy="4879972"/>
              <a:chOff x="18351500" y="3723568"/>
              <a:chExt cx="4878842" cy="4879972"/>
            </a:xfrm>
          </p:grpSpPr>
          <p:sp>
            <p:nvSpPr>
              <p:cNvPr id="32" name="Freeform 6">
                <a:extLst>
                  <a:ext uri="{FF2B5EF4-FFF2-40B4-BE49-F238E27FC236}">
                    <a16:creationId xmlns:a16="http://schemas.microsoft.com/office/drawing/2014/main" id="{17A3DBDD-BA99-BADE-B095-F559C87B0C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7">
                <a:extLst>
                  <a:ext uri="{FF2B5EF4-FFF2-40B4-BE49-F238E27FC236}">
                    <a16:creationId xmlns:a16="http://schemas.microsoft.com/office/drawing/2014/main" id="{FCD0E32D-CAB4-0FC3-69A9-79DCA6ECD8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BFE5E8B-CF18-1BF9-3570-488F05659F11}"/>
                </a:ext>
              </a:extLst>
            </p:cNvPr>
            <p:cNvGrpSpPr/>
            <p:nvPr/>
          </p:nvGrpSpPr>
          <p:grpSpPr>
            <a:xfrm rot="12295231">
              <a:off x="14552960" y="3317003"/>
              <a:ext cx="7029080" cy="7030708"/>
              <a:chOff x="18351500" y="3723568"/>
              <a:chExt cx="4878842" cy="4879972"/>
            </a:xfrm>
          </p:grpSpPr>
          <p:sp>
            <p:nvSpPr>
              <p:cNvPr id="30" name="Freeform 6">
                <a:extLst>
                  <a:ext uri="{FF2B5EF4-FFF2-40B4-BE49-F238E27FC236}">
                    <a16:creationId xmlns:a16="http://schemas.microsoft.com/office/drawing/2014/main" id="{8D0C7612-9F21-1273-29DC-1D8DD93BD0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500952" y="3796591"/>
                <a:ext cx="4578350" cy="3860800"/>
              </a:xfrm>
              <a:custGeom>
                <a:avLst/>
                <a:gdLst>
                  <a:gd name="T0" fmla="*/ 2025 w 2137"/>
                  <a:gd name="T1" fmla="*/ 1366 h 1802"/>
                  <a:gd name="T2" fmla="*/ 1320 w 2137"/>
                  <a:gd name="T3" fmla="*/ 145 h 1802"/>
                  <a:gd name="T4" fmla="*/ 1068 w 2137"/>
                  <a:gd name="T5" fmla="*/ 0 h 1802"/>
                  <a:gd name="T6" fmla="*/ 816 w 2137"/>
                  <a:gd name="T7" fmla="*/ 145 h 1802"/>
                  <a:gd name="T8" fmla="*/ 111 w 2137"/>
                  <a:gd name="T9" fmla="*/ 1366 h 1802"/>
                  <a:gd name="T10" fmla="*/ 363 w 2137"/>
                  <a:gd name="T11" fmla="*/ 1802 h 1802"/>
                  <a:gd name="T12" fmla="*/ 1773 w 2137"/>
                  <a:gd name="T13" fmla="*/ 1802 h 1802"/>
                  <a:gd name="T14" fmla="*/ 2025 w 2137"/>
                  <a:gd name="T15" fmla="*/ 1366 h 1802"/>
                  <a:gd name="T16" fmla="*/ 1852 w 2137"/>
                  <a:gd name="T17" fmla="*/ 1557 h 1802"/>
                  <a:gd name="T18" fmla="*/ 1773 w 2137"/>
                  <a:gd name="T19" fmla="*/ 1602 h 1802"/>
                  <a:gd name="T20" fmla="*/ 363 w 2137"/>
                  <a:gd name="T21" fmla="*/ 1602 h 1802"/>
                  <a:gd name="T22" fmla="*/ 285 w 2137"/>
                  <a:gd name="T23" fmla="*/ 1557 h 1802"/>
                  <a:gd name="T24" fmla="*/ 285 w 2137"/>
                  <a:gd name="T25" fmla="*/ 1466 h 1802"/>
                  <a:gd name="T26" fmla="*/ 990 w 2137"/>
                  <a:gd name="T27" fmla="*/ 245 h 1802"/>
                  <a:gd name="T28" fmla="*/ 1068 w 2137"/>
                  <a:gd name="T29" fmla="*/ 200 h 1802"/>
                  <a:gd name="T30" fmla="*/ 1147 w 2137"/>
                  <a:gd name="T31" fmla="*/ 245 h 1802"/>
                  <a:gd name="T32" fmla="*/ 1852 w 2137"/>
                  <a:gd name="T33" fmla="*/ 1466 h 1802"/>
                  <a:gd name="T34" fmla="*/ 1852 w 2137"/>
                  <a:gd name="T35" fmla="*/ 1557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37" h="1802">
                    <a:moveTo>
                      <a:pt x="2025" y="1366"/>
                    </a:moveTo>
                    <a:cubicBezTo>
                      <a:pt x="1320" y="145"/>
                      <a:pt x="1320" y="145"/>
                      <a:pt x="1320" y="145"/>
                    </a:cubicBezTo>
                    <a:cubicBezTo>
                      <a:pt x="1264" y="48"/>
                      <a:pt x="1166" y="0"/>
                      <a:pt x="1068" y="0"/>
                    </a:cubicBezTo>
                    <a:cubicBezTo>
                      <a:pt x="970" y="0"/>
                      <a:pt x="872" y="48"/>
                      <a:pt x="816" y="145"/>
                    </a:cubicBezTo>
                    <a:cubicBezTo>
                      <a:pt x="111" y="1366"/>
                      <a:pt x="111" y="1366"/>
                      <a:pt x="111" y="1366"/>
                    </a:cubicBezTo>
                    <a:cubicBezTo>
                      <a:pt x="0" y="1560"/>
                      <a:pt x="139" y="1802"/>
                      <a:pt x="363" y="1802"/>
                    </a:cubicBezTo>
                    <a:cubicBezTo>
                      <a:pt x="1773" y="1802"/>
                      <a:pt x="1773" y="1802"/>
                      <a:pt x="1773" y="1802"/>
                    </a:cubicBezTo>
                    <a:cubicBezTo>
                      <a:pt x="1997" y="1802"/>
                      <a:pt x="2137" y="1560"/>
                      <a:pt x="2025" y="1366"/>
                    </a:cubicBezTo>
                    <a:close/>
                    <a:moveTo>
                      <a:pt x="1852" y="1557"/>
                    </a:moveTo>
                    <a:cubicBezTo>
                      <a:pt x="1842" y="1574"/>
                      <a:pt x="1819" y="1602"/>
                      <a:pt x="1773" y="1602"/>
                    </a:cubicBezTo>
                    <a:cubicBezTo>
                      <a:pt x="363" y="1602"/>
                      <a:pt x="363" y="1602"/>
                      <a:pt x="363" y="1602"/>
                    </a:cubicBezTo>
                    <a:cubicBezTo>
                      <a:pt x="318" y="1602"/>
                      <a:pt x="294" y="1574"/>
                      <a:pt x="285" y="1557"/>
                    </a:cubicBezTo>
                    <a:cubicBezTo>
                      <a:pt x="275" y="1540"/>
                      <a:pt x="262" y="1505"/>
                      <a:pt x="285" y="1466"/>
                    </a:cubicBezTo>
                    <a:cubicBezTo>
                      <a:pt x="990" y="245"/>
                      <a:pt x="990" y="245"/>
                      <a:pt x="990" y="245"/>
                    </a:cubicBezTo>
                    <a:cubicBezTo>
                      <a:pt x="1012" y="205"/>
                      <a:pt x="1049" y="200"/>
                      <a:pt x="1068" y="200"/>
                    </a:cubicBezTo>
                    <a:cubicBezTo>
                      <a:pt x="1088" y="200"/>
                      <a:pt x="1124" y="205"/>
                      <a:pt x="1147" y="245"/>
                    </a:cubicBezTo>
                    <a:cubicBezTo>
                      <a:pt x="1852" y="1466"/>
                      <a:pt x="1852" y="1466"/>
                      <a:pt x="1852" y="1466"/>
                    </a:cubicBezTo>
                    <a:cubicBezTo>
                      <a:pt x="1875" y="1505"/>
                      <a:pt x="1862" y="1540"/>
                      <a:pt x="1852" y="15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7">
                <a:extLst>
                  <a:ext uri="{FF2B5EF4-FFF2-40B4-BE49-F238E27FC236}">
                    <a16:creationId xmlns:a16="http://schemas.microsoft.com/office/drawing/2014/main" id="{BED75DFB-C591-C02B-79FE-389E3E9353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351500" y="3723568"/>
                <a:ext cx="4878842" cy="4879972"/>
              </a:xfrm>
              <a:custGeom>
                <a:avLst/>
                <a:gdLst>
                  <a:gd name="T0" fmla="*/ 1599 w 3199"/>
                  <a:gd name="T1" fmla="*/ 4 h 3199"/>
                  <a:gd name="T2" fmla="*/ 2220 w 3199"/>
                  <a:gd name="T3" fmla="*/ 129 h 3199"/>
                  <a:gd name="T4" fmla="*/ 2727 w 3199"/>
                  <a:gd name="T5" fmla="*/ 471 h 3199"/>
                  <a:gd name="T6" fmla="*/ 3069 w 3199"/>
                  <a:gd name="T7" fmla="*/ 978 h 3199"/>
                  <a:gd name="T8" fmla="*/ 3195 w 3199"/>
                  <a:gd name="T9" fmla="*/ 1599 h 3199"/>
                  <a:gd name="T10" fmla="*/ 3069 w 3199"/>
                  <a:gd name="T11" fmla="*/ 2220 h 3199"/>
                  <a:gd name="T12" fmla="*/ 2727 w 3199"/>
                  <a:gd name="T13" fmla="*/ 2727 h 3199"/>
                  <a:gd name="T14" fmla="*/ 2220 w 3199"/>
                  <a:gd name="T15" fmla="*/ 3069 h 3199"/>
                  <a:gd name="T16" fmla="*/ 1599 w 3199"/>
                  <a:gd name="T17" fmla="*/ 3195 h 3199"/>
                  <a:gd name="T18" fmla="*/ 978 w 3199"/>
                  <a:gd name="T19" fmla="*/ 3069 h 3199"/>
                  <a:gd name="T20" fmla="*/ 471 w 3199"/>
                  <a:gd name="T21" fmla="*/ 2727 h 3199"/>
                  <a:gd name="T22" fmla="*/ 129 w 3199"/>
                  <a:gd name="T23" fmla="*/ 2220 h 3199"/>
                  <a:gd name="T24" fmla="*/ 4 w 3199"/>
                  <a:gd name="T25" fmla="*/ 1599 h 3199"/>
                  <a:gd name="T26" fmla="*/ 129 w 3199"/>
                  <a:gd name="T27" fmla="*/ 978 h 3199"/>
                  <a:gd name="T28" fmla="*/ 471 w 3199"/>
                  <a:gd name="T29" fmla="*/ 471 h 3199"/>
                  <a:gd name="T30" fmla="*/ 978 w 3199"/>
                  <a:gd name="T31" fmla="*/ 129 h 3199"/>
                  <a:gd name="T32" fmla="*/ 1599 w 3199"/>
                  <a:gd name="T33" fmla="*/ 4 h 3199"/>
                  <a:gd name="T34" fmla="*/ 1599 w 3199"/>
                  <a:gd name="T35" fmla="*/ 0 h 3199"/>
                  <a:gd name="T36" fmla="*/ 0 w 3199"/>
                  <a:gd name="T37" fmla="*/ 1599 h 3199"/>
                  <a:gd name="T38" fmla="*/ 1599 w 3199"/>
                  <a:gd name="T39" fmla="*/ 3199 h 3199"/>
                  <a:gd name="T40" fmla="*/ 3199 w 3199"/>
                  <a:gd name="T41" fmla="*/ 1599 h 3199"/>
                  <a:gd name="T42" fmla="*/ 1599 w 3199"/>
                  <a:gd name="T43" fmla="*/ 0 h 3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199" h="3199">
                    <a:moveTo>
                      <a:pt x="1599" y="4"/>
                    </a:moveTo>
                    <a:cubicBezTo>
                      <a:pt x="1815" y="4"/>
                      <a:pt x="2024" y="46"/>
                      <a:pt x="2220" y="129"/>
                    </a:cubicBezTo>
                    <a:cubicBezTo>
                      <a:pt x="2410" y="210"/>
                      <a:pt x="2581" y="325"/>
                      <a:pt x="2727" y="471"/>
                    </a:cubicBezTo>
                    <a:cubicBezTo>
                      <a:pt x="2874" y="618"/>
                      <a:pt x="2989" y="788"/>
                      <a:pt x="3069" y="978"/>
                    </a:cubicBezTo>
                    <a:cubicBezTo>
                      <a:pt x="3153" y="1175"/>
                      <a:pt x="3195" y="1384"/>
                      <a:pt x="3195" y="1599"/>
                    </a:cubicBezTo>
                    <a:cubicBezTo>
                      <a:pt x="3195" y="1815"/>
                      <a:pt x="3153" y="2024"/>
                      <a:pt x="3069" y="2220"/>
                    </a:cubicBezTo>
                    <a:cubicBezTo>
                      <a:pt x="2989" y="2410"/>
                      <a:pt x="2874" y="2581"/>
                      <a:pt x="2727" y="2727"/>
                    </a:cubicBezTo>
                    <a:cubicBezTo>
                      <a:pt x="2581" y="2874"/>
                      <a:pt x="2410" y="2989"/>
                      <a:pt x="2220" y="3069"/>
                    </a:cubicBezTo>
                    <a:cubicBezTo>
                      <a:pt x="2024" y="3153"/>
                      <a:pt x="1815" y="3195"/>
                      <a:pt x="1599" y="3195"/>
                    </a:cubicBezTo>
                    <a:cubicBezTo>
                      <a:pt x="1384" y="3195"/>
                      <a:pt x="1175" y="3153"/>
                      <a:pt x="978" y="3069"/>
                    </a:cubicBezTo>
                    <a:cubicBezTo>
                      <a:pt x="788" y="2989"/>
                      <a:pt x="618" y="2874"/>
                      <a:pt x="471" y="2727"/>
                    </a:cubicBezTo>
                    <a:cubicBezTo>
                      <a:pt x="325" y="2581"/>
                      <a:pt x="209" y="2410"/>
                      <a:pt x="129" y="2220"/>
                    </a:cubicBezTo>
                    <a:cubicBezTo>
                      <a:pt x="46" y="2024"/>
                      <a:pt x="4" y="1815"/>
                      <a:pt x="4" y="1599"/>
                    </a:cubicBezTo>
                    <a:cubicBezTo>
                      <a:pt x="4" y="1384"/>
                      <a:pt x="46" y="1175"/>
                      <a:pt x="129" y="978"/>
                    </a:cubicBezTo>
                    <a:cubicBezTo>
                      <a:pt x="209" y="788"/>
                      <a:pt x="325" y="618"/>
                      <a:pt x="471" y="471"/>
                    </a:cubicBezTo>
                    <a:cubicBezTo>
                      <a:pt x="618" y="325"/>
                      <a:pt x="788" y="210"/>
                      <a:pt x="978" y="129"/>
                    </a:cubicBezTo>
                    <a:cubicBezTo>
                      <a:pt x="1175" y="46"/>
                      <a:pt x="1384" y="4"/>
                      <a:pt x="1599" y="4"/>
                    </a:cubicBezTo>
                    <a:moveTo>
                      <a:pt x="1599" y="0"/>
                    </a:moveTo>
                    <a:cubicBezTo>
                      <a:pt x="716" y="0"/>
                      <a:pt x="0" y="716"/>
                      <a:pt x="0" y="1599"/>
                    </a:cubicBezTo>
                    <a:cubicBezTo>
                      <a:pt x="0" y="2483"/>
                      <a:pt x="716" y="3199"/>
                      <a:pt x="1599" y="3199"/>
                    </a:cubicBezTo>
                    <a:cubicBezTo>
                      <a:pt x="2483" y="3199"/>
                      <a:pt x="3199" y="2483"/>
                      <a:pt x="3199" y="1599"/>
                    </a:cubicBezTo>
                    <a:cubicBezTo>
                      <a:pt x="3199" y="716"/>
                      <a:pt x="2483" y="0"/>
                      <a:pt x="1599" y="0"/>
                    </a:cubicBezTo>
                    <a:close/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7645A2DD-17A6-D0C7-1F7D-2C6B0784F537}"/>
              </a:ext>
            </a:extLst>
          </p:cNvPr>
          <p:cNvSpPr txBox="1"/>
          <p:nvPr/>
        </p:nvSpPr>
        <p:spPr>
          <a:xfrm>
            <a:off x="652513" y="752752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4000" b="1" dirty="0">
                <a:solidFill>
                  <a:schemeClr val="bg2">
                    <a:lumMod val="25000"/>
                  </a:schemeClr>
                </a:solidFill>
              </a:rPr>
              <a:t>课程小结</a:t>
            </a:r>
            <a:endParaRPr lang="en-US" altLang="zh-CN" sz="4000" b="1" dirty="0">
              <a:solidFill>
                <a:schemeClr val="bg2">
                  <a:lumMod val="25000"/>
                </a:schemeClr>
              </a:solidFill>
            </a:endParaRPr>
          </a:p>
          <a:p>
            <a:endParaRPr lang="zh-CN" altLang="en-US" sz="4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F2DEEF-7BEB-E47E-2909-6903AAC1E669}"/>
              </a:ext>
            </a:extLst>
          </p:cNvPr>
          <p:cNvSpPr txBox="1"/>
          <p:nvPr/>
        </p:nvSpPr>
        <p:spPr>
          <a:xfrm>
            <a:off x="735264" y="453303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</a:rPr>
              <a:t>SUMMARY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DC8267A-57EB-A5AA-DBE6-14E5063AD447}"/>
              </a:ext>
            </a:extLst>
          </p:cNvPr>
          <p:cNvCxnSpPr>
            <a:cxnSpLocks/>
          </p:cNvCxnSpPr>
          <p:nvPr/>
        </p:nvCxnSpPr>
        <p:spPr>
          <a:xfrm>
            <a:off x="2857189" y="453303"/>
            <a:ext cx="0" cy="289377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C79DB8D2-56C2-223C-BE1B-BFC779779DB9}"/>
              </a:ext>
            </a:extLst>
          </p:cNvPr>
          <p:cNvSpPr txBox="1"/>
          <p:nvPr/>
        </p:nvSpPr>
        <p:spPr>
          <a:xfrm>
            <a:off x="647976" y="3993520"/>
            <a:ext cx="1288814" cy="76944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4000" b="1" dirty="0">
                <a:solidFill>
                  <a:schemeClr val="bg2">
                    <a:lumMod val="25000"/>
                  </a:schemeClr>
                </a:solidFill>
              </a:rPr>
              <a:t>下节预告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45BBD0D-1166-B19D-3818-E6FB5E8865A8}"/>
              </a:ext>
            </a:extLst>
          </p:cNvPr>
          <p:cNvSpPr txBox="1"/>
          <p:nvPr/>
        </p:nvSpPr>
        <p:spPr>
          <a:xfrm>
            <a:off x="730727" y="3694071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000" b="1">
                <a:solidFill>
                  <a:schemeClr val="bg2">
                    <a:lumMod val="25000"/>
                  </a:schemeClr>
                </a:solidFill>
              </a:rPr>
              <a:t>PREVIEW</a:t>
            </a:r>
            <a:endParaRPr lang="zh-CN" altLang="en-US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6" name="直接连接符 2">
            <a:extLst>
              <a:ext uri="{FF2B5EF4-FFF2-40B4-BE49-F238E27FC236}">
                <a16:creationId xmlns:a16="http://schemas.microsoft.com/office/drawing/2014/main" id="{29F12E77-47DB-470B-1C73-53D882634A31}"/>
              </a:ext>
            </a:extLst>
          </p:cNvPr>
          <p:cNvCxnSpPr>
            <a:cxnSpLocks/>
          </p:cNvCxnSpPr>
          <p:nvPr/>
        </p:nvCxnSpPr>
        <p:spPr>
          <a:xfrm>
            <a:off x="2852652" y="3694071"/>
            <a:ext cx="0" cy="289377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DDDF648A-C093-0702-4269-5EBD7F6C1B0E}"/>
              </a:ext>
            </a:extLst>
          </p:cNvPr>
          <p:cNvCxnSpPr>
            <a:cxnSpLocks/>
          </p:cNvCxnSpPr>
          <p:nvPr/>
        </p:nvCxnSpPr>
        <p:spPr>
          <a:xfrm>
            <a:off x="7004" y="3493551"/>
            <a:ext cx="7773285" cy="0"/>
          </a:xfrm>
          <a:prstGeom prst="line">
            <a:avLst/>
          </a:prstGeom>
          <a:ln w="76200">
            <a:solidFill>
              <a:srgbClr val="001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5D0853C-0D5C-C43E-560C-BB9A10B0E764}"/>
              </a:ext>
            </a:extLst>
          </p:cNvPr>
          <p:cNvSpPr txBox="1"/>
          <p:nvPr/>
        </p:nvSpPr>
        <p:spPr>
          <a:xfrm>
            <a:off x="0" y="5708061"/>
            <a:ext cx="269152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作业提醒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D6632D5-B896-D835-C21A-2C7743A2D3F1}"/>
              </a:ext>
            </a:extLst>
          </p:cNvPr>
          <p:cNvGrpSpPr/>
          <p:nvPr/>
        </p:nvGrpSpPr>
        <p:grpSpPr>
          <a:xfrm>
            <a:off x="3329762" y="3680278"/>
            <a:ext cx="3989097" cy="538609"/>
            <a:chOff x="3667674" y="1375533"/>
            <a:chExt cx="3989097" cy="538609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FD6CAF05-6566-1564-7D92-4FD1363C20CC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数字签名原理</a:t>
              </a:r>
              <a:endParaRPr lang="zh-CN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085D25A-34C2-49D3-5063-3C5EEA0DE2AD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A8047A4-E915-EF15-B41F-53C2101CDCC6}"/>
              </a:ext>
            </a:extLst>
          </p:cNvPr>
          <p:cNvGrpSpPr/>
          <p:nvPr/>
        </p:nvGrpSpPr>
        <p:grpSpPr>
          <a:xfrm>
            <a:off x="3329150" y="4447867"/>
            <a:ext cx="3604376" cy="538609"/>
            <a:chOff x="3667674" y="2504618"/>
            <a:chExt cx="3604376" cy="538609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151E2C1-AC09-1DBB-F8A6-79D0A8617BA6}"/>
                </a:ext>
              </a:extLst>
            </p:cNvPr>
            <p:cNvSpPr txBox="1"/>
            <p:nvPr/>
          </p:nvSpPr>
          <p:spPr>
            <a:xfrm>
              <a:off x="4579005" y="2534411"/>
              <a:ext cx="2693045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实现数字签名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97A6513-3A14-B4EA-60A0-BFBAD252B495}"/>
                </a:ext>
              </a:extLst>
            </p:cNvPr>
            <p:cNvSpPr txBox="1"/>
            <p:nvPr/>
          </p:nvSpPr>
          <p:spPr>
            <a:xfrm>
              <a:off x="3667674" y="2504618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FF692B5-EEA8-46FE-111B-E5D79694B03E}"/>
              </a:ext>
            </a:extLst>
          </p:cNvPr>
          <p:cNvGrpSpPr/>
          <p:nvPr/>
        </p:nvGrpSpPr>
        <p:grpSpPr>
          <a:xfrm>
            <a:off x="3348076" y="677382"/>
            <a:ext cx="3989097" cy="538609"/>
            <a:chOff x="3667674" y="1375533"/>
            <a:chExt cx="3989097" cy="5386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B6544E9-60DA-B2F3-D261-450C996A0C2C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椭圆曲线公钥加密算法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6EFBDEE-F695-E875-A874-5E1CF43F4D83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#01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5CBE595-115E-F893-F0B0-1E54B129A280}"/>
              </a:ext>
            </a:extLst>
          </p:cNvPr>
          <p:cNvGrpSpPr/>
          <p:nvPr/>
        </p:nvGrpSpPr>
        <p:grpSpPr>
          <a:xfrm>
            <a:off x="3327860" y="1490760"/>
            <a:ext cx="3989097" cy="538609"/>
            <a:chOff x="3667674" y="1375533"/>
            <a:chExt cx="3989097" cy="538609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DA2912A-74B6-FB14-49CB-16465F5FB34E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数字签名原理及其实现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1103F7B-EB83-CECF-BECF-CF3A5BA8104A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C026017-222C-618D-305B-9D197C0D123D}"/>
              </a:ext>
            </a:extLst>
          </p:cNvPr>
          <p:cNvGrpSpPr/>
          <p:nvPr/>
        </p:nvGrpSpPr>
        <p:grpSpPr>
          <a:xfrm>
            <a:off x="3327860" y="2298723"/>
            <a:ext cx="3989097" cy="538609"/>
            <a:chOff x="3667674" y="1375533"/>
            <a:chExt cx="3989097" cy="538609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5C80B21-2C6B-57E3-0789-36F7BBB1F610}"/>
                </a:ext>
              </a:extLst>
            </p:cNvPr>
            <p:cNvSpPr txBox="1"/>
            <p:nvPr/>
          </p:nvSpPr>
          <p:spPr>
            <a:xfrm>
              <a:off x="4579005" y="1405326"/>
              <a:ext cx="3077766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</a:rPr>
                <a:t>RSA</a:t>
              </a:r>
              <a:r>
                <a:rPr lang="zh-CN" altLang="en-US" sz="2400" dirty="0">
                  <a:solidFill>
                    <a:schemeClr val="accent1"/>
                  </a:solidFill>
                </a:rPr>
                <a:t>实现数字签名</a:t>
              </a:r>
              <a:endParaRPr lang="en-US" altLang="zh-CN" sz="24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6FDA144-7FF8-1E2D-A405-7255C7047F24}"/>
                </a:ext>
              </a:extLst>
            </p:cNvPr>
            <p:cNvSpPr txBox="1"/>
            <p:nvPr/>
          </p:nvSpPr>
          <p:spPr>
            <a:xfrm>
              <a:off x="3667674" y="1375533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#03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B06A924-2264-0803-77BA-0FC14165C74A}"/>
              </a:ext>
            </a:extLst>
          </p:cNvPr>
          <p:cNvGrpSpPr/>
          <p:nvPr/>
        </p:nvGrpSpPr>
        <p:grpSpPr>
          <a:xfrm>
            <a:off x="3329150" y="5245249"/>
            <a:ext cx="3604376" cy="538609"/>
            <a:chOff x="3667674" y="2504618"/>
            <a:chExt cx="3604376" cy="538609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828CE88-EA16-ED00-11F7-988F8F87C6CF}"/>
                </a:ext>
              </a:extLst>
            </p:cNvPr>
            <p:cNvSpPr txBox="1"/>
            <p:nvPr/>
          </p:nvSpPr>
          <p:spPr>
            <a:xfrm>
              <a:off x="4579005" y="2534411"/>
              <a:ext cx="2693045" cy="4616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</a:rPr>
                <a:t>椭圆曲线实现数字签名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0B69F89-D69E-30A1-6CFD-75A10DF0E470}"/>
                </a:ext>
              </a:extLst>
            </p:cNvPr>
            <p:cNvSpPr txBox="1"/>
            <p:nvPr/>
          </p:nvSpPr>
          <p:spPr>
            <a:xfrm>
              <a:off x="3667674" y="2504618"/>
              <a:ext cx="750205" cy="5386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altLang="zh-CN" sz="2800" dirty="0">
                  <a:solidFill>
                    <a:schemeClr val="accent1"/>
                  </a:solidFill>
                </a:rPr>
                <a:t>#02</a:t>
              </a: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321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E5EF0D9-74F0-4CBD-8EB3-E06F15247A89}"/>
              </a:ext>
            </a:extLst>
          </p:cNvPr>
          <p:cNvGrpSpPr/>
          <p:nvPr/>
        </p:nvGrpSpPr>
        <p:grpSpPr>
          <a:xfrm>
            <a:off x="731838" y="1656965"/>
            <a:ext cx="3125794" cy="1606508"/>
            <a:chOff x="3834754" y="2495699"/>
            <a:chExt cx="3125794" cy="160650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BDE1650-85C7-4A9B-8F63-E81D3F1E0338}"/>
                </a:ext>
              </a:extLst>
            </p:cNvPr>
            <p:cNvSpPr txBox="1"/>
            <p:nvPr/>
          </p:nvSpPr>
          <p:spPr>
            <a:xfrm>
              <a:off x="3839501" y="2495699"/>
              <a:ext cx="3121047" cy="9233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4400" b="1" dirty="0">
                  <a:solidFill>
                    <a:schemeClr val="bg1"/>
                  </a:solidFill>
                  <a:latin typeface="Courier New" panose="02070309020205020404" pitchFamily="49" charset="0"/>
                </a:rPr>
                <a:t>感谢各位同学！</a:t>
              </a: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73685BA-9C3E-4785-BA25-027DA8C0D4EA}"/>
                </a:ext>
              </a:extLst>
            </p:cNvPr>
            <p:cNvGrpSpPr/>
            <p:nvPr userDrawn="1"/>
          </p:nvGrpSpPr>
          <p:grpSpPr>
            <a:xfrm>
              <a:off x="3834754" y="3397344"/>
              <a:ext cx="1124118" cy="704863"/>
              <a:chOff x="2468044" y="3339787"/>
              <a:chExt cx="1124118" cy="704863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02CDF5C-630B-4176-91E0-EC7A84F82601}"/>
                  </a:ext>
                </a:extLst>
              </p:cNvPr>
              <p:cNvSpPr txBox="1"/>
              <p:nvPr/>
            </p:nvSpPr>
            <p:spPr>
              <a:xfrm>
                <a:off x="2552710" y="3339787"/>
                <a:ext cx="10394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200" dirty="0">
                    <a:solidFill>
                      <a:schemeClr val="bg1"/>
                    </a:solidFill>
                  </a:rPr>
                  <a:t>欢迎交流学习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30F1DBB-3DD4-4747-B5B3-412C2675D383}"/>
                  </a:ext>
                </a:extLst>
              </p:cNvPr>
              <p:cNvSpPr txBox="1"/>
              <p:nvPr/>
            </p:nvSpPr>
            <p:spPr>
              <a:xfrm>
                <a:off x="2468044" y="3736873"/>
                <a:ext cx="10114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endParaRPr lang="zh-CN" altLang="en-US" sz="2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48690384-B2B0-E128-55A6-CB6A9F742EB1}"/>
              </a:ext>
            </a:extLst>
          </p:cNvPr>
          <p:cNvSpPr txBox="1"/>
          <p:nvPr/>
        </p:nvSpPr>
        <p:spPr>
          <a:xfrm>
            <a:off x="884238" y="5105840"/>
            <a:ext cx="1991309" cy="74896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刘广睿</a:t>
            </a:r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哈尔滨工业大学 计算学部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2331C9-B0B7-14CB-E360-31C2F2AE29DB}"/>
              </a:ext>
            </a:extLst>
          </p:cNvPr>
          <p:cNvSpPr txBox="1"/>
          <p:nvPr/>
        </p:nvSpPr>
        <p:spPr>
          <a:xfrm>
            <a:off x="884238" y="6098001"/>
            <a:ext cx="1510029" cy="2308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2025</a:t>
            </a:r>
            <a:r>
              <a:rPr lang="zh-CN" altLang="en-US" sz="2400" dirty="0">
                <a:solidFill>
                  <a:schemeClr val="bg1"/>
                </a:solidFill>
              </a:rPr>
              <a:t>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21D443F-15AB-F188-107A-3C93554ED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66988"/>
            <a:ext cx="4707689" cy="129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826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55f52171-deb4-4d87-9864-47bd9ea656bf&quot;,&quot;Name&quot;:&quot;2&quot;,&quot;Kind&quot;:&quot;Custom&quot;,&quot;OldGuidesSetting&quot;:{&quot;HeaderHeight&quot;:0.0,&quot;FooterHeight&quot;:0.0,&quot;SideMargin&quot;:6.0,&quot;TopMargin&quot;:4.0,&quot;BottomMargin&quot;:8.0,&quot;IntervalMargin&quot;:0.0}}"/>
</p:tagLst>
</file>

<file path=ppt/theme/theme1.xml><?xml version="1.0" encoding="utf-8"?>
<a:theme xmlns:a="http://schemas.openxmlformats.org/drawingml/2006/main" name="主题1">
  <a:themeElements>
    <a:clrScheme name="蓝紫渐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50A1"/>
      </a:accent1>
      <a:accent2>
        <a:srgbClr val="8891C8"/>
      </a:accent2>
      <a:accent3>
        <a:srgbClr val="B8D6E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1" id="{2B54C7FC-80FA-4268-B1AB-7A4718C2F40B}" vid="{49D17BBD-BC41-4722-83BC-2CAB04E0C72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26080</TotalTime>
  <Words>2817</Words>
  <Application>Microsoft Macintosh PowerPoint</Application>
  <PresentationFormat>宽屏</PresentationFormat>
  <Paragraphs>619</Paragraphs>
  <Slides>40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等线</vt:lpstr>
      <vt:lpstr>Arial</vt:lpstr>
      <vt:lpstr>Cambria Math</vt:lpstr>
      <vt:lpstr>Courier New</vt:lpstr>
      <vt:lpstr>Times New Roman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滚筒洗衣机, WeChat:cooljyh</dc:creator>
  <cp:lastModifiedBy>广睿 刘</cp:lastModifiedBy>
  <cp:revision>824</cp:revision>
  <cp:lastPrinted>2025-11-24T13:27:28Z</cp:lastPrinted>
  <dcterms:created xsi:type="dcterms:W3CDTF">2022-03-15T01:56:04Z</dcterms:created>
  <dcterms:modified xsi:type="dcterms:W3CDTF">2025-12-02T07:31:17Z</dcterms:modified>
</cp:coreProperties>
</file>